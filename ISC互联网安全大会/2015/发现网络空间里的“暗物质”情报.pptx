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handoutMasterIdLst>
    <p:handoutMasterId r:id="rId64"/>
  </p:handoutMasterIdLst>
  <p:sldIdLst>
    <p:sldId id="256" r:id="rId2"/>
    <p:sldId id="263" r:id="rId3"/>
    <p:sldId id="264" r:id="rId4"/>
    <p:sldId id="337" r:id="rId5"/>
    <p:sldId id="338" r:id="rId6"/>
    <p:sldId id="269" r:id="rId7"/>
    <p:sldId id="266" r:id="rId8"/>
    <p:sldId id="270" r:id="rId9"/>
    <p:sldId id="268" r:id="rId10"/>
    <p:sldId id="339" r:id="rId11"/>
    <p:sldId id="271" r:id="rId12"/>
    <p:sldId id="273" r:id="rId13"/>
    <p:sldId id="275" r:id="rId14"/>
    <p:sldId id="276" r:id="rId15"/>
    <p:sldId id="274" r:id="rId16"/>
    <p:sldId id="336" r:id="rId17"/>
    <p:sldId id="312" r:id="rId18"/>
    <p:sldId id="287" r:id="rId19"/>
    <p:sldId id="298" r:id="rId20"/>
    <p:sldId id="297" r:id="rId21"/>
    <p:sldId id="299" r:id="rId22"/>
    <p:sldId id="300" r:id="rId23"/>
    <p:sldId id="301" r:id="rId24"/>
    <p:sldId id="302" r:id="rId25"/>
    <p:sldId id="304" r:id="rId26"/>
    <p:sldId id="341" r:id="rId27"/>
    <p:sldId id="314" r:id="rId28"/>
    <p:sldId id="309" r:id="rId29"/>
    <p:sldId id="323" r:id="rId30"/>
    <p:sldId id="310" r:id="rId31"/>
    <p:sldId id="281" r:id="rId32"/>
    <p:sldId id="342" r:id="rId33"/>
    <p:sldId id="315" r:id="rId34"/>
    <p:sldId id="311" r:id="rId35"/>
    <p:sldId id="313" r:id="rId36"/>
    <p:sldId id="316" r:id="rId37"/>
    <p:sldId id="321" r:id="rId38"/>
    <p:sldId id="317" r:id="rId39"/>
    <p:sldId id="322" r:id="rId40"/>
    <p:sldId id="324" r:id="rId41"/>
    <p:sldId id="318" r:id="rId42"/>
    <p:sldId id="325" r:id="rId43"/>
    <p:sldId id="326" r:id="rId44"/>
    <p:sldId id="283" r:id="rId45"/>
    <p:sldId id="327" r:id="rId46"/>
    <p:sldId id="328" r:id="rId47"/>
    <p:sldId id="343" r:id="rId48"/>
    <p:sldId id="329" r:id="rId49"/>
    <p:sldId id="330" r:id="rId50"/>
    <p:sldId id="340" r:id="rId51"/>
    <p:sldId id="332" r:id="rId52"/>
    <p:sldId id="334" r:id="rId53"/>
    <p:sldId id="278" r:id="rId54"/>
    <p:sldId id="295" r:id="rId55"/>
    <p:sldId id="296" r:id="rId56"/>
    <p:sldId id="272" r:id="rId57"/>
    <p:sldId id="294" r:id="rId58"/>
    <p:sldId id="293" r:id="rId59"/>
    <p:sldId id="333" r:id="rId60"/>
    <p:sldId id="335" r:id="rId61"/>
    <p:sldId id="258" r:id="rId6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2432">
          <p15:clr>
            <a:srgbClr val="A4A3A4"/>
          </p15:clr>
        </p15:guide>
        <p15:guide id="3" orient="horz" pos="2750">
          <p15:clr>
            <a:srgbClr val="A4A3A4"/>
          </p15:clr>
        </p15:guide>
        <p15:guide id="4" orient="horz" pos="3974">
          <p15:clr>
            <a:srgbClr val="A4A3A4"/>
          </p15:clr>
        </p15:guide>
        <p15:guide id="5" orient="horz" pos="436">
          <p15:clr>
            <a:srgbClr val="A4A3A4"/>
          </p15:clr>
        </p15:guide>
        <p15:guide id="6" pos="2880">
          <p15:clr>
            <a:srgbClr val="A4A3A4"/>
          </p15:clr>
        </p15:guide>
        <p15:guide id="7" pos="2562">
          <p15:clr>
            <a:srgbClr val="A4A3A4"/>
          </p15:clr>
        </p15:guide>
        <p15:guide id="8" pos="532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66"/>
      </p:cViewPr>
      <p:guideLst>
        <p:guide orient="horz" pos="2160"/>
        <p:guide orient="horz" pos="2432"/>
        <p:guide orient="horz" pos="2750"/>
        <p:guide orient="horz" pos="3974"/>
        <p:guide orient="horz" pos="436"/>
        <p:guide pos="2880"/>
        <p:guide pos="2562"/>
        <p:guide pos="532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51" d="100"/>
          <a:sy n="51" d="100"/>
        </p:scale>
        <p:origin x="-291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3F081A-8786-4472-8816-0FD7D4098F0C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C0EA766-E784-4A45-9223-E0393288CBAC}">
      <dgm:prSet phldrT="[文本]"/>
      <dgm:spPr/>
      <dgm:t>
        <a:bodyPr/>
        <a:lstStyle/>
        <a:p>
          <a:r>
            <a:rPr lang="en-US" altLang="zh-CN" dirty="0" smtClean="0"/>
            <a:t>12h</a:t>
          </a:r>
          <a:endParaRPr lang="zh-CN" altLang="en-US" dirty="0"/>
        </a:p>
      </dgm:t>
    </dgm:pt>
    <dgm:pt modelId="{6FFE3F16-36EF-443D-827C-871E44C8E82A}" type="parTrans" cxnId="{D850934B-9C00-4261-B82A-7F692AE36DB2}">
      <dgm:prSet/>
      <dgm:spPr/>
      <dgm:t>
        <a:bodyPr/>
        <a:lstStyle/>
        <a:p>
          <a:endParaRPr lang="zh-CN" altLang="en-US"/>
        </a:p>
      </dgm:t>
    </dgm:pt>
    <dgm:pt modelId="{DC2F7A7C-25FC-427A-B8D9-4DCA94F17713}" type="sibTrans" cxnId="{D850934B-9C00-4261-B82A-7F692AE36DB2}">
      <dgm:prSet/>
      <dgm:spPr/>
      <dgm:t>
        <a:bodyPr/>
        <a:lstStyle/>
        <a:p>
          <a:r>
            <a:rPr lang="en-US" altLang="zh-CN" dirty="0" smtClean="0"/>
            <a:t>24h</a:t>
          </a:r>
          <a:endParaRPr lang="zh-CN" altLang="en-US" dirty="0"/>
        </a:p>
      </dgm:t>
    </dgm:pt>
    <dgm:pt modelId="{76FBFF6B-BC91-4A1C-ABCB-C38FB6E89640}">
      <dgm:prSet phldrT="[文本]"/>
      <dgm:spPr/>
      <dgm:t>
        <a:bodyPr/>
        <a:lstStyle/>
        <a:p>
          <a:r>
            <a:rPr lang="en-US" altLang="zh-CN" dirty="0" smtClean="0"/>
            <a:t>6h</a:t>
          </a:r>
          <a:endParaRPr lang="zh-CN" altLang="en-US" dirty="0"/>
        </a:p>
      </dgm:t>
    </dgm:pt>
    <dgm:pt modelId="{3D7F12DF-FE4B-4D51-A70D-D70F575AD3FE}" type="parTrans" cxnId="{7D3BEDCF-C237-45F4-B22F-C9FD65C577E2}">
      <dgm:prSet/>
      <dgm:spPr/>
      <dgm:t>
        <a:bodyPr/>
        <a:lstStyle/>
        <a:p>
          <a:endParaRPr lang="zh-CN" altLang="en-US"/>
        </a:p>
      </dgm:t>
    </dgm:pt>
    <dgm:pt modelId="{1C91441E-5881-4287-9C47-A51F4111ED65}" type="sibTrans" cxnId="{7D3BEDCF-C237-45F4-B22F-C9FD65C577E2}">
      <dgm:prSet/>
      <dgm:spPr/>
      <dgm:t>
        <a:bodyPr/>
        <a:lstStyle/>
        <a:p>
          <a:r>
            <a:rPr lang="en-US" altLang="zh-CN" dirty="0" smtClean="0"/>
            <a:t>1h</a:t>
          </a:r>
          <a:endParaRPr lang="zh-CN" altLang="en-US" dirty="0"/>
        </a:p>
      </dgm:t>
    </dgm:pt>
    <dgm:pt modelId="{C3B47380-9125-43EB-A832-B95861E34635}" type="pres">
      <dgm:prSet presAssocID="{1E3F081A-8786-4472-8816-0FD7D4098F0C}" presName="Name0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9A471425-9768-4D72-9367-5BDA9D9DDFF9}" type="pres">
      <dgm:prSet presAssocID="{2C0EA766-E784-4A45-9223-E0393288CBAC}" presName="composite" presStyleCnt="0"/>
      <dgm:spPr/>
      <dgm:t>
        <a:bodyPr/>
        <a:lstStyle/>
        <a:p>
          <a:endParaRPr lang="zh-CN" altLang="en-US"/>
        </a:p>
      </dgm:t>
    </dgm:pt>
    <dgm:pt modelId="{AE5E0B07-C4F1-4593-9AFA-9E53D6D87FB6}" type="pres">
      <dgm:prSet presAssocID="{2C0EA766-E784-4A45-9223-E0393288CBAC}" presName="Parent1" presStyleLbl="node1" presStyleIdx="0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A5EAE45-2B89-4870-8ECB-67561B016170}" type="pres">
      <dgm:prSet presAssocID="{2C0EA766-E784-4A45-9223-E0393288CBAC}" presName="Childtext1" presStyleLbl="revTx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9F764AA-7B91-40D4-BB69-DD650E5C20E2}" type="pres">
      <dgm:prSet presAssocID="{2C0EA766-E784-4A45-9223-E0393288CBAC}" presName="BalanceSpacing" presStyleCnt="0"/>
      <dgm:spPr/>
      <dgm:t>
        <a:bodyPr/>
        <a:lstStyle/>
        <a:p>
          <a:endParaRPr lang="zh-CN" altLang="en-US"/>
        </a:p>
      </dgm:t>
    </dgm:pt>
    <dgm:pt modelId="{FF0C5597-C038-439F-9B03-B561F759A526}" type="pres">
      <dgm:prSet presAssocID="{2C0EA766-E784-4A45-9223-E0393288CBAC}" presName="BalanceSpacing1" presStyleCnt="0"/>
      <dgm:spPr/>
      <dgm:t>
        <a:bodyPr/>
        <a:lstStyle/>
        <a:p>
          <a:endParaRPr lang="zh-CN" altLang="en-US"/>
        </a:p>
      </dgm:t>
    </dgm:pt>
    <dgm:pt modelId="{7CE5D2E9-0EC8-47F3-AC24-986A48DCA0EA}" type="pres">
      <dgm:prSet presAssocID="{DC2F7A7C-25FC-427A-B8D9-4DCA94F17713}" presName="Accent1Text" presStyleLbl="node1" presStyleIdx="1" presStyleCnt="4"/>
      <dgm:spPr/>
      <dgm:t>
        <a:bodyPr/>
        <a:lstStyle/>
        <a:p>
          <a:endParaRPr lang="zh-CN" altLang="en-US"/>
        </a:p>
      </dgm:t>
    </dgm:pt>
    <dgm:pt modelId="{A614E2A4-74DF-4F74-B452-2EE128A10661}" type="pres">
      <dgm:prSet presAssocID="{DC2F7A7C-25FC-427A-B8D9-4DCA94F17713}" presName="spaceBetweenRectangles" presStyleCnt="0"/>
      <dgm:spPr/>
      <dgm:t>
        <a:bodyPr/>
        <a:lstStyle/>
        <a:p>
          <a:endParaRPr lang="zh-CN" altLang="en-US"/>
        </a:p>
      </dgm:t>
    </dgm:pt>
    <dgm:pt modelId="{7F27094F-4AC1-4EA4-9295-D2C65B422EAC}" type="pres">
      <dgm:prSet presAssocID="{76FBFF6B-BC91-4A1C-ABCB-C38FB6E89640}" presName="composite" presStyleCnt="0"/>
      <dgm:spPr/>
      <dgm:t>
        <a:bodyPr/>
        <a:lstStyle/>
        <a:p>
          <a:endParaRPr lang="zh-CN" altLang="en-US"/>
        </a:p>
      </dgm:t>
    </dgm:pt>
    <dgm:pt modelId="{5538FDF4-3008-482C-BA7A-E5A9D6EBC890}" type="pres">
      <dgm:prSet presAssocID="{76FBFF6B-BC91-4A1C-ABCB-C38FB6E89640}" presName="Parent1" presStyleLbl="node1" presStyleIdx="2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777BFA8-45FC-4F2F-A293-8DD150BBA3CB}" type="pres">
      <dgm:prSet presAssocID="{76FBFF6B-BC91-4A1C-ABCB-C38FB6E89640}" presName="Childtext1" presStyleLbl="revTx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29F48EC-18CC-40D0-9F89-197990B6E23F}" type="pres">
      <dgm:prSet presAssocID="{76FBFF6B-BC91-4A1C-ABCB-C38FB6E89640}" presName="BalanceSpacing" presStyleCnt="0"/>
      <dgm:spPr/>
      <dgm:t>
        <a:bodyPr/>
        <a:lstStyle/>
        <a:p>
          <a:endParaRPr lang="zh-CN" altLang="en-US"/>
        </a:p>
      </dgm:t>
    </dgm:pt>
    <dgm:pt modelId="{FFC21355-E982-42AE-921A-9754CFAC5205}" type="pres">
      <dgm:prSet presAssocID="{76FBFF6B-BC91-4A1C-ABCB-C38FB6E89640}" presName="BalanceSpacing1" presStyleCnt="0"/>
      <dgm:spPr/>
      <dgm:t>
        <a:bodyPr/>
        <a:lstStyle/>
        <a:p>
          <a:endParaRPr lang="zh-CN" altLang="en-US"/>
        </a:p>
      </dgm:t>
    </dgm:pt>
    <dgm:pt modelId="{27999769-BEC1-4ED3-8FFE-4DB6D5AB66CB}" type="pres">
      <dgm:prSet presAssocID="{1C91441E-5881-4287-9C47-A51F4111ED65}" presName="Accent1Text" presStyleLbl="node1" presStyleIdx="3" presStyleCnt="4"/>
      <dgm:spPr/>
      <dgm:t>
        <a:bodyPr/>
        <a:lstStyle/>
        <a:p>
          <a:endParaRPr lang="zh-CN" altLang="en-US"/>
        </a:p>
      </dgm:t>
    </dgm:pt>
  </dgm:ptLst>
  <dgm:cxnLst>
    <dgm:cxn modelId="{7D3BEDCF-C237-45F4-B22F-C9FD65C577E2}" srcId="{1E3F081A-8786-4472-8816-0FD7D4098F0C}" destId="{76FBFF6B-BC91-4A1C-ABCB-C38FB6E89640}" srcOrd="1" destOrd="0" parTransId="{3D7F12DF-FE4B-4D51-A70D-D70F575AD3FE}" sibTransId="{1C91441E-5881-4287-9C47-A51F4111ED65}"/>
    <dgm:cxn modelId="{F4DE3D9F-1D47-4DFD-B5A7-D24A0EC6BDA2}" type="presOf" srcId="{1E3F081A-8786-4472-8816-0FD7D4098F0C}" destId="{C3B47380-9125-43EB-A832-B95861E34635}" srcOrd="0" destOrd="0" presId="urn:microsoft.com/office/officeart/2008/layout/AlternatingHexagons"/>
    <dgm:cxn modelId="{D850934B-9C00-4261-B82A-7F692AE36DB2}" srcId="{1E3F081A-8786-4472-8816-0FD7D4098F0C}" destId="{2C0EA766-E784-4A45-9223-E0393288CBAC}" srcOrd="0" destOrd="0" parTransId="{6FFE3F16-36EF-443D-827C-871E44C8E82A}" sibTransId="{DC2F7A7C-25FC-427A-B8D9-4DCA94F17713}"/>
    <dgm:cxn modelId="{60DAAD82-EBED-4559-9EF8-4A3FF9DE1549}" type="presOf" srcId="{DC2F7A7C-25FC-427A-B8D9-4DCA94F17713}" destId="{7CE5D2E9-0EC8-47F3-AC24-986A48DCA0EA}" srcOrd="0" destOrd="0" presId="urn:microsoft.com/office/officeart/2008/layout/AlternatingHexagons"/>
    <dgm:cxn modelId="{3D79253D-E36B-4CAA-BC93-A82181E3CB49}" type="presOf" srcId="{76FBFF6B-BC91-4A1C-ABCB-C38FB6E89640}" destId="{5538FDF4-3008-482C-BA7A-E5A9D6EBC890}" srcOrd="0" destOrd="0" presId="urn:microsoft.com/office/officeart/2008/layout/AlternatingHexagons"/>
    <dgm:cxn modelId="{EE12AE64-0D28-4FBD-855A-04B84BA06478}" type="presOf" srcId="{2C0EA766-E784-4A45-9223-E0393288CBAC}" destId="{AE5E0B07-C4F1-4593-9AFA-9E53D6D87FB6}" srcOrd="0" destOrd="0" presId="urn:microsoft.com/office/officeart/2008/layout/AlternatingHexagons"/>
    <dgm:cxn modelId="{E1CA4B36-8D63-496A-84E2-B10206EE6B49}" type="presOf" srcId="{1C91441E-5881-4287-9C47-A51F4111ED65}" destId="{27999769-BEC1-4ED3-8FFE-4DB6D5AB66CB}" srcOrd="0" destOrd="0" presId="urn:microsoft.com/office/officeart/2008/layout/AlternatingHexagons"/>
    <dgm:cxn modelId="{B89957F4-20AB-48DC-9552-CECB72E5D146}" type="presParOf" srcId="{C3B47380-9125-43EB-A832-B95861E34635}" destId="{9A471425-9768-4D72-9367-5BDA9D9DDFF9}" srcOrd="0" destOrd="0" presId="urn:microsoft.com/office/officeart/2008/layout/AlternatingHexagons"/>
    <dgm:cxn modelId="{52C2BFEF-3141-4614-A16B-50502FF93761}" type="presParOf" srcId="{9A471425-9768-4D72-9367-5BDA9D9DDFF9}" destId="{AE5E0B07-C4F1-4593-9AFA-9E53D6D87FB6}" srcOrd="0" destOrd="0" presId="urn:microsoft.com/office/officeart/2008/layout/AlternatingHexagons"/>
    <dgm:cxn modelId="{C1D5F88E-105B-48BF-BE50-8049FC7BE3D3}" type="presParOf" srcId="{9A471425-9768-4D72-9367-5BDA9D9DDFF9}" destId="{2A5EAE45-2B89-4870-8ECB-67561B016170}" srcOrd="1" destOrd="0" presId="urn:microsoft.com/office/officeart/2008/layout/AlternatingHexagons"/>
    <dgm:cxn modelId="{0F2254C3-EBCA-4FBA-B56A-028D59B94318}" type="presParOf" srcId="{9A471425-9768-4D72-9367-5BDA9D9DDFF9}" destId="{19F764AA-7B91-40D4-BB69-DD650E5C20E2}" srcOrd="2" destOrd="0" presId="urn:microsoft.com/office/officeart/2008/layout/AlternatingHexagons"/>
    <dgm:cxn modelId="{438067B8-5C8A-4255-81A3-F7A2B492163B}" type="presParOf" srcId="{9A471425-9768-4D72-9367-5BDA9D9DDFF9}" destId="{FF0C5597-C038-439F-9B03-B561F759A526}" srcOrd="3" destOrd="0" presId="urn:microsoft.com/office/officeart/2008/layout/AlternatingHexagons"/>
    <dgm:cxn modelId="{9AE97B74-2C21-4B7C-8AF7-E70F32BFD4BD}" type="presParOf" srcId="{9A471425-9768-4D72-9367-5BDA9D9DDFF9}" destId="{7CE5D2E9-0EC8-47F3-AC24-986A48DCA0EA}" srcOrd="4" destOrd="0" presId="urn:microsoft.com/office/officeart/2008/layout/AlternatingHexagons"/>
    <dgm:cxn modelId="{FE0AB5FD-EEB8-423D-AD8D-CC526FF9D621}" type="presParOf" srcId="{C3B47380-9125-43EB-A832-B95861E34635}" destId="{A614E2A4-74DF-4F74-B452-2EE128A10661}" srcOrd="1" destOrd="0" presId="urn:microsoft.com/office/officeart/2008/layout/AlternatingHexagons"/>
    <dgm:cxn modelId="{5318F569-1CB3-4816-870B-5DB09E42E7D7}" type="presParOf" srcId="{C3B47380-9125-43EB-A832-B95861E34635}" destId="{7F27094F-4AC1-4EA4-9295-D2C65B422EAC}" srcOrd="2" destOrd="0" presId="urn:microsoft.com/office/officeart/2008/layout/AlternatingHexagons"/>
    <dgm:cxn modelId="{BE4AEBEE-72F6-4449-8397-CF57B7221518}" type="presParOf" srcId="{7F27094F-4AC1-4EA4-9295-D2C65B422EAC}" destId="{5538FDF4-3008-482C-BA7A-E5A9D6EBC890}" srcOrd="0" destOrd="0" presId="urn:microsoft.com/office/officeart/2008/layout/AlternatingHexagons"/>
    <dgm:cxn modelId="{8C462644-2E93-49B4-8835-11CCF2F03889}" type="presParOf" srcId="{7F27094F-4AC1-4EA4-9295-D2C65B422EAC}" destId="{4777BFA8-45FC-4F2F-A293-8DD150BBA3CB}" srcOrd="1" destOrd="0" presId="urn:microsoft.com/office/officeart/2008/layout/AlternatingHexagons"/>
    <dgm:cxn modelId="{33E04976-47CE-4B4B-899E-73BFAA1BE4A4}" type="presParOf" srcId="{7F27094F-4AC1-4EA4-9295-D2C65B422EAC}" destId="{F29F48EC-18CC-40D0-9F89-197990B6E23F}" srcOrd="2" destOrd="0" presId="urn:microsoft.com/office/officeart/2008/layout/AlternatingHexagons"/>
    <dgm:cxn modelId="{DDDCBF59-37AF-4222-98B0-CEEB7F77A3CA}" type="presParOf" srcId="{7F27094F-4AC1-4EA4-9295-D2C65B422EAC}" destId="{FFC21355-E982-42AE-921A-9754CFAC5205}" srcOrd="3" destOrd="0" presId="urn:microsoft.com/office/officeart/2008/layout/AlternatingHexagons"/>
    <dgm:cxn modelId="{29758231-4F30-4663-80EF-F9EB33C08509}" type="presParOf" srcId="{7F27094F-4AC1-4EA4-9295-D2C65B422EAC}" destId="{27999769-BEC1-4ED3-8FFE-4DB6D5AB66CB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5E0B07-C4F1-4593-9AFA-9E53D6D87FB6}">
      <dsp:nvSpPr>
        <dsp:cNvPr id="0" name=""/>
        <dsp:cNvSpPr/>
      </dsp:nvSpPr>
      <dsp:spPr>
        <a:xfrm rot="5400000">
          <a:off x="2578269" y="576749"/>
          <a:ext cx="1693333" cy="147320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500" kern="1200" dirty="0" smtClean="0"/>
            <a:t>12h</a:t>
          </a:r>
          <a:endParaRPr lang="zh-CN" altLang="en-US" sz="3500" kern="1200" dirty="0"/>
        </a:p>
      </dsp:txBody>
      <dsp:txXfrm rot="-5400000">
        <a:off x="2917909" y="730561"/>
        <a:ext cx="1014052" cy="1165577"/>
      </dsp:txXfrm>
    </dsp:sp>
    <dsp:sp modelId="{2A5EAE45-2B89-4870-8ECB-67561B016170}">
      <dsp:nvSpPr>
        <dsp:cNvPr id="0" name=""/>
        <dsp:cNvSpPr/>
      </dsp:nvSpPr>
      <dsp:spPr>
        <a:xfrm>
          <a:off x="4206240" y="805349"/>
          <a:ext cx="1889760" cy="101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E5D2E9-0EC8-47F3-AC24-986A48DCA0EA}">
      <dsp:nvSpPr>
        <dsp:cNvPr id="0" name=""/>
        <dsp:cNvSpPr/>
      </dsp:nvSpPr>
      <dsp:spPr>
        <a:xfrm rot="5400000">
          <a:off x="987213" y="576749"/>
          <a:ext cx="1693333" cy="147320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600" kern="1200" dirty="0" smtClean="0"/>
            <a:t>24h</a:t>
          </a:r>
          <a:endParaRPr lang="zh-CN" altLang="en-US" sz="3600" kern="1200" dirty="0"/>
        </a:p>
      </dsp:txBody>
      <dsp:txXfrm rot="-5400000">
        <a:off x="1326853" y="730561"/>
        <a:ext cx="1014052" cy="1165577"/>
      </dsp:txXfrm>
    </dsp:sp>
    <dsp:sp modelId="{5538FDF4-3008-482C-BA7A-E5A9D6EBC890}">
      <dsp:nvSpPr>
        <dsp:cNvPr id="0" name=""/>
        <dsp:cNvSpPr/>
      </dsp:nvSpPr>
      <dsp:spPr>
        <a:xfrm rot="5400000">
          <a:off x="1779693" y="2014050"/>
          <a:ext cx="1693333" cy="147320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500" kern="1200" dirty="0" smtClean="0"/>
            <a:t>6h</a:t>
          </a:r>
          <a:endParaRPr lang="zh-CN" altLang="en-US" sz="3500" kern="1200" dirty="0"/>
        </a:p>
      </dsp:txBody>
      <dsp:txXfrm rot="-5400000">
        <a:off x="2119333" y="2167862"/>
        <a:ext cx="1014052" cy="1165577"/>
      </dsp:txXfrm>
    </dsp:sp>
    <dsp:sp modelId="{4777BFA8-45FC-4F2F-A293-8DD150BBA3CB}">
      <dsp:nvSpPr>
        <dsp:cNvPr id="0" name=""/>
        <dsp:cNvSpPr/>
      </dsp:nvSpPr>
      <dsp:spPr>
        <a:xfrm>
          <a:off x="0" y="2242650"/>
          <a:ext cx="1828800" cy="101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999769-BEC1-4ED3-8FFE-4DB6D5AB66CB}">
      <dsp:nvSpPr>
        <dsp:cNvPr id="0" name=""/>
        <dsp:cNvSpPr/>
      </dsp:nvSpPr>
      <dsp:spPr>
        <a:xfrm rot="5400000">
          <a:off x="3370749" y="2014050"/>
          <a:ext cx="1693333" cy="147320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600" kern="1200" dirty="0" smtClean="0"/>
            <a:t>1h</a:t>
          </a:r>
          <a:endParaRPr lang="zh-CN" altLang="en-US" sz="3600" kern="1200" dirty="0"/>
        </a:p>
      </dsp:txBody>
      <dsp:txXfrm rot="-5400000">
        <a:off x="3710389" y="2167862"/>
        <a:ext cx="1014052" cy="11655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1C0F9-36FF-414E-94AF-99BDD5C61F32}" type="datetimeFigureOut">
              <a:rPr lang="zh-CN" altLang="en-US" smtClean="0"/>
              <a:t>2015/9/29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134CD8-CB0D-4DFA-812F-89A480014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7091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1698D0-20A0-48FA-99E0-120CE815CA01}" type="datetimeFigureOut">
              <a:rPr lang="zh-CN" altLang="en-US" smtClean="0"/>
              <a:t>2015/9/29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5A7B0A-3627-4729-987F-95A749D87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501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80512" cy="6885384"/>
          </a:xfrm>
          <a:prstGeom prst="rect">
            <a:avLst/>
          </a:prstGeom>
        </p:spPr>
      </p:pic>
      <p:sp>
        <p:nvSpPr>
          <p:cNvPr id="8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067174" y="3861048"/>
            <a:ext cx="4607773" cy="9168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4000" b="0" cap="all" baseline="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GB" noProof="0" dirty="0" smtClean="0"/>
              <a:t>XXXXXXXXXX</a:t>
            </a:r>
            <a:r>
              <a:rPr lang="zh-CN" altLang="en-US" noProof="0" dirty="0" smtClean="0"/>
              <a:t>论坛</a:t>
            </a:r>
            <a:endParaRPr lang="en-US" altLang="zh-CN" noProof="0" dirty="0" smtClean="0"/>
          </a:p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zh-CN" altLang="en-US" sz="4000" dirty="0" smtClean="0">
                <a:solidFill>
                  <a:schemeClr val="bg1"/>
                </a:solidFill>
              </a:rPr>
              <a:t>主标题 </a:t>
            </a:r>
            <a:r>
              <a:rPr lang="en-US" altLang="zh-CN" sz="4000" dirty="0" smtClean="0">
                <a:solidFill>
                  <a:schemeClr val="bg1"/>
                </a:solidFill>
              </a:rPr>
              <a:t>40</a:t>
            </a:r>
            <a:r>
              <a:rPr lang="zh-CN" altLang="en-US" sz="4000" dirty="0" smtClean="0">
                <a:solidFill>
                  <a:schemeClr val="bg1"/>
                </a:solidFill>
              </a:rPr>
              <a:t>号字</a:t>
            </a:r>
          </a:p>
          <a:p>
            <a:pPr lvl="0"/>
            <a:endParaRPr lang="en-GB" noProof="0" dirty="0" smtClean="0"/>
          </a:p>
        </p:txBody>
      </p:sp>
      <p:sp>
        <p:nvSpPr>
          <p:cNvPr id="11" name="Textplatzhalter 8"/>
          <p:cNvSpPr>
            <a:spLocks noGrp="1"/>
          </p:cNvSpPr>
          <p:nvPr>
            <p:ph type="body" sz="quarter" idx="14" hasCustomPrompt="1"/>
          </p:nvPr>
        </p:nvSpPr>
        <p:spPr>
          <a:xfrm>
            <a:off x="4067175" y="4797152"/>
            <a:ext cx="4607773" cy="9168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4000" b="0" cap="all" baseline="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GB" noProof="0" dirty="0" smtClean="0"/>
              <a:t>XXXXXXXXXX</a:t>
            </a:r>
            <a:r>
              <a:rPr lang="zh-CN" altLang="en-US" noProof="0" dirty="0" smtClean="0"/>
              <a:t>论坛</a:t>
            </a:r>
            <a:endParaRPr lang="en-US" altLang="zh-CN" noProof="0" dirty="0" smtClean="0"/>
          </a:p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zh-CN" altLang="en-US" sz="4000" dirty="0" smtClean="0">
                <a:solidFill>
                  <a:schemeClr val="bg1"/>
                </a:solidFill>
              </a:rPr>
              <a:t>主标题 </a:t>
            </a:r>
            <a:r>
              <a:rPr lang="en-US" altLang="zh-CN" sz="4000" dirty="0" smtClean="0">
                <a:solidFill>
                  <a:schemeClr val="bg1"/>
                </a:solidFill>
              </a:rPr>
              <a:t>40</a:t>
            </a:r>
            <a:r>
              <a:rPr lang="zh-CN" altLang="en-US" sz="4000" dirty="0" smtClean="0">
                <a:solidFill>
                  <a:schemeClr val="bg1"/>
                </a:solidFill>
              </a:rPr>
              <a:t>号字</a:t>
            </a:r>
          </a:p>
          <a:p>
            <a:pPr lvl="0"/>
            <a:endParaRPr lang="en-GB" noProof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2015/9/29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extplatzhalter 24"/>
          <p:cNvSpPr>
            <a:spLocks noGrp="1"/>
          </p:cNvSpPr>
          <p:nvPr>
            <p:ph type="body" sz="quarter" idx="18" hasCustomPrompt="1"/>
          </p:nvPr>
        </p:nvSpPr>
        <p:spPr>
          <a:xfrm>
            <a:off x="251520" y="1927173"/>
            <a:ext cx="8208268" cy="37908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lang="de-DE" sz="2400" baseline="0">
                <a:latin typeface="+mj-ea"/>
                <a:ea typeface="+mj-ea"/>
              </a:defRPr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zh-CN" altLang="en-US" noProof="0" dirty="0" smtClean="0"/>
              <a:t>二级标题  </a:t>
            </a:r>
            <a:r>
              <a:rPr lang="en-US" altLang="zh-CN" noProof="0" dirty="0" smtClean="0"/>
              <a:t>24</a:t>
            </a:r>
            <a:r>
              <a:rPr lang="zh-CN" altLang="en-US" noProof="0" dirty="0" smtClean="0"/>
              <a:t>号字</a:t>
            </a:r>
            <a:endParaRPr lang="en-GB" noProof="0" dirty="0" smtClean="0"/>
          </a:p>
        </p:txBody>
      </p:sp>
      <p:sp>
        <p:nvSpPr>
          <p:cNvPr id="7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261678" y="692696"/>
            <a:ext cx="8218362" cy="58146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None/>
              <a:defRPr sz="4000" b="1" cap="all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noProof="0" dirty="0" smtClean="0"/>
              <a:t>主标题 </a:t>
            </a:r>
            <a:r>
              <a:rPr lang="en-US" altLang="zh-CN" noProof="0" dirty="0" smtClean="0"/>
              <a:t>40</a:t>
            </a:r>
            <a:r>
              <a:rPr lang="zh-CN" altLang="en-US" noProof="0" dirty="0" smtClean="0"/>
              <a:t>号字</a:t>
            </a:r>
            <a:endParaRPr lang="en-GB" noProof="0" dirty="0" smtClean="0"/>
          </a:p>
        </p:txBody>
      </p:sp>
      <p:sp>
        <p:nvSpPr>
          <p:cNvPr id="8" name="Textplatzhalt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73405" y="1351109"/>
            <a:ext cx="8206635" cy="53405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2100"/>
              </a:lnSpc>
              <a:spcBef>
                <a:spcPts val="0"/>
              </a:spcBef>
              <a:buNone/>
              <a:defRPr sz="3200" b="1" cap="all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 smtClean="0"/>
              <a:t>一级标题 </a:t>
            </a:r>
            <a:r>
              <a:rPr lang="en-US" altLang="zh-CN" dirty="0" smtClean="0"/>
              <a:t>32</a:t>
            </a:r>
            <a:r>
              <a:rPr lang="zh-CN" altLang="en-US" dirty="0" smtClean="0"/>
              <a:t>号字</a:t>
            </a:r>
            <a:endParaRPr lang="de-DE" dirty="0" smtClean="0"/>
          </a:p>
        </p:txBody>
      </p:sp>
      <p:sp>
        <p:nvSpPr>
          <p:cNvPr id="9" name="Textplatzhalter 24"/>
          <p:cNvSpPr>
            <a:spLocks noGrp="1"/>
          </p:cNvSpPr>
          <p:nvPr>
            <p:ph type="body" sz="quarter" idx="19" hasCustomPrompt="1"/>
          </p:nvPr>
        </p:nvSpPr>
        <p:spPr>
          <a:xfrm>
            <a:off x="251520" y="2348880"/>
            <a:ext cx="8208268" cy="37908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lang="de-DE" sz="1600" baseline="0">
                <a:latin typeface="+mj-ea"/>
                <a:ea typeface="+mj-ea"/>
              </a:defRPr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zh-CN" altLang="en-US" noProof="0" dirty="0" smtClean="0"/>
              <a:t>内容     </a:t>
            </a:r>
            <a:r>
              <a:rPr lang="en-US" altLang="zh-CN" noProof="0" dirty="0" smtClean="0"/>
              <a:t>16</a:t>
            </a:r>
            <a:r>
              <a:rPr lang="zh-CN" altLang="en-US" noProof="0" dirty="0" smtClean="0"/>
              <a:t>号字</a:t>
            </a:r>
            <a:endParaRPr lang="en-GB" noProof="0" dirty="0" smtClean="0"/>
          </a:p>
        </p:txBody>
      </p:sp>
    </p:spTree>
    <p:extLst>
      <p:ext uri="{BB962C8B-B14F-4D97-AF65-F5344CB8AC3E}">
        <p14:creationId xmlns:p14="http://schemas.microsoft.com/office/powerpoint/2010/main" val="12146300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2015/9/29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extplatzhalter 24"/>
          <p:cNvSpPr>
            <a:spLocks noGrp="1"/>
          </p:cNvSpPr>
          <p:nvPr>
            <p:ph type="body" sz="quarter" idx="18" hasCustomPrompt="1"/>
          </p:nvPr>
        </p:nvSpPr>
        <p:spPr>
          <a:xfrm>
            <a:off x="251520" y="2276872"/>
            <a:ext cx="8208268" cy="37908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lang="de-DE" sz="2400" baseline="0">
                <a:latin typeface="+mj-ea"/>
                <a:ea typeface="+mj-ea"/>
              </a:defRPr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zh-CN" altLang="en-US" noProof="0" dirty="0" smtClean="0"/>
              <a:t>二级标题  </a:t>
            </a:r>
            <a:r>
              <a:rPr lang="en-US" altLang="zh-CN" noProof="0" dirty="0" smtClean="0"/>
              <a:t>24</a:t>
            </a:r>
            <a:r>
              <a:rPr lang="zh-CN" altLang="en-US" noProof="0" dirty="0" smtClean="0"/>
              <a:t>号字</a:t>
            </a:r>
            <a:endParaRPr lang="en-GB" noProof="0" dirty="0" smtClean="0"/>
          </a:p>
        </p:txBody>
      </p:sp>
      <p:sp>
        <p:nvSpPr>
          <p:cNvPr id="7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261678" y="692696"/>
            <a:ext cx="8218362" cy="96549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4000" b="1" cap="all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noProof="0" dirty="0" smtClean="0"/>
              <a:t>主标题 </a:t>
            </a:r>
            <a:r>
              <a:rPr lang="en-US" altLang="zh-CN" noProof="0" dirty="0" smtClean="0"/>
              <a:t>40</a:t>
            </a:r>
            <a:r>
              <a:rPr lang="zh-CN" altLang="en-US" noProof="0" dirty="0" smtClean="0"/>
              <a:t>号字</a:t>
            </a:r>
            <a:endParaRPr lang="en-US" altLang="zh-CN" noProof="0" dirty="0" smtClean="0"/>
          </a:p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zh-CN" altLang="en-US" noProof="0" dirty="0" smtClean="0"/>
              <a:t>主标题 </a:t>
            </a:r>
            <a:r>
              <a:rPr lang="en-US" altLang="zh-CN" noProof="0" dirty="0" smtClean="0"/>
              <a:t>40</a:t>
            </a:r>
            <a:r>
              <a:rPr lang="zh-CN" altLang="en-US" noProof="0" dirty="0" smtClean="0"/>
              <a:t>号字</a:t>
            </a:r>
            <a:endParaRPr lang="en-US" altLang="zh-CN" noProof="0" dirty="0" smtClean="0"/>
          </a:p>
        </p:txBody>
      </p:sp>
      <p:sp>
        <p:nvSpPr>
          <p:cNvPr id="8" name="Textplatzhalt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73405" y="1700808"/>
            <a:ext cx="8206635" cy="53405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2100"/>
              </a:lnSpc>
              <a:spcBef>
                <a:spcPts val="0"/>
              </a:spcBef>
              <a:buNone/>
              <a:defRPr sz="3200" b="1" cap="all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 smtClean="0"/>
              <a:t>一级标题 </a:t>
            </a:r>
            <a:r>
              <a:rPr lang="en-US" altLang="zh-CN" dirty="0" smtClean="0"/>
              <a:t>32</a:t>
            </a:r>
            <a:r>
              <a:rPr lang="zh-CN" altLang="en-US" dirty="0" smtClean="0"/>
              <a:t>号字</a:t>
            </a:r>
            <a:endParaRPr lang="de-DE" dirty="0" smtClean="0"/>
          </a:p>
        </p:txBody>
      </p:sp>
      <p:sp>
        <p:nvSpPr>
          <p:cNvPr id="9" name="Textplatzhalter 24"/>
          <p:cNvSpPr>
            <a:spLocks noGrp="1"/>
          </p:cNvSpPr>
          <p:nvPr>
            <p:ph type="body" sz="quarter" idx="19" hasCustomPrompt="1"/>
          </p:nvPr>
        </p:nvSpPr>
        <p:spPr>
          <a:xfrm>
            <a:off x="251520" y="2689873"/>
            <a:ext cx="8208268" cy="37908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lang="de-DE" sz="1600" baseline="0">
                <a:latin typeface="+mj-ea"/>
                <a:ea typeface="+mj-ea"/>
              </a:defRPr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zh-CN" altLang="en-US" noProof="0" dirty="0" smtClean="0"/>
              <a:t>内容     </a:t>
            </a:r>
            <a:r>
              <a:rPr lang="en-US" altLang="zh-CN" noProof="0" dirty="0" smtClean="0"/>
              <a:t>16</a:t>
            </a:r>
            <a:r>
              <a:rPr lang="zh-CN" altLang="en-US" noProof="0" dirty="0" smtClean="0"/>
              <a:t>号字</a:t>
            </a:r>
            <a:endParaRPr lang="en-GB" noProof="0" dirty="0" smtClean="0"/>
          </a:p>
        </p:txBody>
      </p:sp>
    </p:spTree>
    <p:extLst>
      <p:ext uri="{BB962C8B-B14F-4D97-AF65-F5344CB8AC3E}">
        <p14:creationId xmlns:p14="http://schemas.microsoft.com/office/powerpoint/2010/main" val="9325963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4" hasCustomPrompt="1"/>
          </p:nvPr>
        </p:nvSpPr>
        <p:spPr>
          <a:xfrm>
            <a:off x="250826" y="1934775"/>
            <a:ext cx="8641654" cy="4373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lang="de-DE" sz="1400" smtClean="0">
                <a:latin typeface="微软雅黑" pitchFamily="34" charset="-122"/>
                <a:ea typeface="微软雅黑" pitchFamily="34" charset="-122"/>
              </a:defRPr>
            </a:lvl1pPr>
            <a:lvl2pPr marL="2857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mbol" pitchFamily="18" charset="2"/>
              <a:buChar char="-"/>
              <a:defRPr sz="1400">
                <a:latin typeface="微软雅黑" pitchFamily="34" charset="-122"/>
                <a:ea typeface="微软雅黑" pitchFamily="34" charset="-122"/>
                <a:cs typeface="BMW Type Global Pro Regular" pitchFamily="2" charset="0"/>
              </a:defRPr>
            </a:lvl2pPr>
            <a:lvl3pPr marL="633413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mbol" pitchFamily="18" charset="2"/>
              <a:buChar char="-"/>
              <a:defRPr sz="1400">
                <a:latin typeface="微软雅黑" pitchFamily="34" charset="-122"/>
                <a:ea typeface="微软雅黑" pitchFamily="34" charset="-122"/>
                <a:cs typeface="BMW Type Global Pro Regular" pitchFamily="2" charset="0"/>
              </a:defRPr>
            </a:lvl3pPr>
            <a:lvl4pPr marL="985838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mbol" pitchFamily="18" charset="2"/>
              <a:buChar char="-"/>
              <a:defRPr sz="1400">
                <a:latin typeface="微软雅黑" pitchFamily="34" charset="-122"/>
                <a:ea typeface="微软雅黑" pitchFamily="34" charset="-122"/>
                <a:cs typeface="BMW Type Global Pro Regular" pitchFamily="2" charset="0"/>
              </a:defRPr>
            </a:lvl4pPr>
            <a:lvl5pPr marL="1349375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mbol" pitchFamily="18" charset="2"/>
              <a:buChar char="-"/>
              <a:defRPr sz="1400">
                <a:latin typeface="微软雅黑" pitchFamily="34" charset="-122"/>
                <a:ea typeface="微软雅黑" pitchFamily="34" charset="-122"/>
                <a:cs typeface="BMW Type Global Pro Regular" pitchFamily="2" charset="0"/>
              </a:defRPr>
            </a:lvl5pPr>
          </a:lstStyle>
          <a:p>
            <a:pPr lvl="0"/>
            <a:r>
              <a:rPr lang="en-GB" noProof="0" dirty="0" smtClean="0"/>
              <a:t>Edit body copy by clicking</a:t>
            </a:r>
          </a:p>
          <a:p>
            <a:pPr lvl="1"/>
            <a:r>
              <a:rPr lang="en-GB" dirty="0" smtClean="0"/>
              <a:t>Second layer</a:t>
            </a:r>
          </a:p>
          <a:p>
            <a:pPr lvl="2"/>
            <a:r>
              <a:rPr lang="en-GB" dirty="0" smtClean="0"/>
              <a:t>Third layer</a:t>
            </a:r>
          </a:p>
          <a:p>
            <a:pPr lvl="3"/>
            <a:r>
              <a:rPr lang="en-GB" dirty="0" smtClean="0"/>
              <a:t>Fourth layer</a:t>
            </a:r>
          </a:p>
          <a:p>
            <a:pPr lvl="4"/>
            <a:r>
              <a:rPr lang="en-GB" dirty="0" smtClean="0"/>
              <a:t>Fifth layer</a:t>
            </a:r>
            <a:endParaRPr lang="en-GB" dirty="0"/>
          </a:p>
        </p:txBody>
      </p:sp>
      <p:sp>
        <p:nvSpPr>
          <p:cNvPr id="8" name="Textplatzhalter 24"/>
          <p:cNvSpPr>
            <a:spLocks noGrp="1"/>
          </p:cNvSpPr>
          <p:nvPr>
            <p:ph type="body" sz="quarter" idx="18" hasCustomPrompt="1"/>
          </p:nvPr>
        </p:nvSpPr>
        <p:spPr>
          <a:xfrm>
            <a:off x="252164" y="1321721"/>
            <a:ext cx="8208268" cy="37908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lang="de-DE" sz="2400" baseline="0">
                <a:latin typeface="+mj-ea"/>
                <a:ea typeface="+mj-ea"/>
              </a:defRPr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zh-CN" altLang="en-US" noProof="0" dirty="0" smtClean="0"/>
              <a:t>二级标题  </a:t>
            </a:r>
            <a:r>
              <a:rPr lang="en-US" altLang="zh-CN" noProof="0" dirty="0" smtClean="0"/>
              <a:t>24</a:t>
            </a:r>
            <a:r>
              <a:rPr lang="zh-CN" altLang="en-US" noProof="0" dirty="0" smtClean="0"/>
              <a:t>号字</a:t>
            </a:r>
            <a:endParaRPr lang="en-GB" noProof="0" dirty="0" smtClean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 hasCustomPrompt="1"/>
          </p:nvPr>
        </p:nvSpPr>
        <p:spPr>
          <a:xfrm>
            <a:off x="253153" y="692150"/>
            <a:ext cx="8206635" cy="53405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2100"/>
              </a:lnSpc>
              <a:spcBef>
                <a:spcPts val="0"/>
              </a:spcBef>
              <a:buNone/>
              <a:defRPr sz="3200" b="1" cap="all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 smtClean="0"/>
              <a:t>一级标题 </a:t>
            </a:r>
            <a:r>
              <a:rPr lang="en-US" altLang="zh-CN" dirty="0" smtClean="0"/>
              <a:t>32</a:t>
            </a:r>
            <a:r>
              <a:rPr lang="zh-CN" altLang="en-US" dirty="0" smtClean="0"/>
              <a:t>号字</a:t>
            </a:r>
            <a:endParaRPr lang="de-DE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5984" y="69215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2015/9/29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2015/9/29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2015/9/29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2015/9/29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2015/9/29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772816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2015/9/29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559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51520" y="692696"/>
            <a:ext cx="820826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2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1" r:id="rId1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j-ea"/>
          <a:ea typeface="+mj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g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emf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4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4067175" y="3860800"/>
            <a:ext cx="440930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000" dirty="0">
                <a:solidFill>
                  <a:schemeClr val="bg1"/>
                </a:solidFill>
                <a:latin typeface="+mn-lt"/>
              </a:rPr>
              <a:t>发现网络空间里</a:t>
            </a:r>
            <a:r>
              <a:rPr lang="zh-CN" altLang="en-US" sz="4000" dirty="0" smtClean="0">
                <a:solidFill>
                  <a:schemeClr val="bg1"/>
                </a:solidFill>
                <a:latin typeface="+mn-lt"/>
              </a:rPr>
              <a:t>的「暗</a:t>
            </a:r>
            <a:r>
              <a:rPr lang="zh-CN" altLang="en-US" sz="4000" dirty="0">
                <a:solidFill>
                  <a:schemeClr val="bg1"/>
                </a:solidFill>
                <a:latin typeface="+mn-lt"/>
              </a:rPr>
              <a:t>物</a:t>
            </a:r>
            <a:r>
              <a:rPr lang="zh-CN" altLang="en-US" sz="4000" dirty="0" smtClean="0">
                <a:solidFill>
                  <a:schemeClr val="bg1"/>
                </a:solidFill>
                <a:latin typeface="+mn-lt"/>
              </a:rPr>
              <a:t>质」情</a:t>
            </a:r>
            <a:r>
              <a:rPr lang="zh-CN" altLang="en-US" sz="4000" dirty="0">
                <a:solidFill>
                  <a:schemeClr val="bg1"/>
                </a:solidFill>
                <a:latin typeface="+mn-lt"/>
              </a:rPr>
              <a:t>报</a:t>
            </a:r>
            <a:endParaRPr lang="en-US" altLang="zh-CN" sz="4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192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>
          <a:xfrm>
            <a:off x="250826" y="1556792"/>
            <a:ext cx="8641654" cy="43739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余</a:t>
            </a:r>
            <a:r>
              <a:rPr lang="zh-CN" altLang="en-US" sz="2000" dirty="0" smtClean="0"/>
              <a:t>弦，</a:t>
            </a:r>
            <a:r>
              <a:rPr lang="en-US" altLang="zh-CN" sz="2000" dirty="0" err="1" smtClean="0"/>
              <a:t>ZoomEye</a:t>
            </a:r>
            <a:r>
              <a:rPr lang="zh-CN" altLang="en-US" sz="2000" dirty="0" smtClean="0"/>
              <a:t>船长</a:t>
            </a:r>
            <a:endParaRPr lang="en-US" altLang="zh-CN" sz="2000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9"/>
          </p:nvPr>
        </p:nvSpPr>
        <p:spPr>
          <a:xfrm>
            <a:off x="253153" y="878717"/>
            <a:ext cx="8206635" cy="534059"/>
          </a:xfrm>
        </p:spPr>
        <p:txBody>
          <a:bodyPr/>
          <a:lstStyle/>
          <a:p>
            <a:r>
              <a:rPr lang="zh-CN" altLang="en-US" dirty="0" smtClean="0"/>
              <a:t>关于我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25" y="1988840"/>
            <a:ext cx="8034855" cy="468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887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>
          <a:xfrm>
            <a:off x="250826" y="1556792"/>
            <a:ext cx="8641654" cy="43739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透视网络空间</a:t>
            </a:r>
            <a:endParaRPr lang="en-US" altLang="zh-CN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我</a:t>
            </a:r>
            <a:r>
              <a:rPr lang="zh-CN" altLang="en-US" sz="2000" dirty="0" smtClean="0"/>
              <a:t>们的情报体系概览</a:t>
            </a:r>
            <a:endParaRPr lang="en-US" altLang="zh-CN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枚举暗</a:t>
            </a:r>
            <a:r>
              <a:rPr lang="zh-CN" altLang="en-US" sz="2000" dirty="0"/>
              <a:t>物</a:t>
            </a:r>
            <a:r>
              <a:rPr lang="zh-CN" altLang="en-US" sz="2000" dirty="0" smtClean="0"/>
              <a:t>质与对应的情报经验</a:t>
            </a:r>
            <a:endParaRPr lang="en-US" altLang="zh-CN" sz="2000" dirty="0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9"/>
          </p:nvPr>
        </p:nvSpPr>
        <p:spPr>
          <a:xfrm>
            <a:off x="253153" y="878717"/>
            <a:ext cx="8206635" cy="534059"/>
          </a:xfrm>
        </p:spPr>
        <p:txBody>
          <a:bodyPr/>
          <a:lstStyle/>
          <a:p>
            <a:r>
              <a:rPr lang="zh-CN" altLang="en-US" dirty="0"/>
              <a:t>分</a:t>
            </a:r>
            <a:r>
              <a:rPr lang="zh-CN" altLang="en-US" dirty="0" smtClean="0"/>
              <a:t>享内容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080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8138" y="-180975"/>
            <a:ext cx="9820275" cy="7219950"/>
          </a:xfrm>
          <a:prstGeom prst="rect">
            <a:avLst/>
          </a:prstGeom>
        </p:spPr>
      </p:pic>
      <p:sp>
        <p:nvSpPr>
          <p:cNvPr id="7" name="文本占位符 3"/>
          <p:cNvSpPr txBox="1">
            <a:spLocks/>
          </p:cNvSpPr>
          <p:nvPr/>
        </p:nvSpPr>
        <p:spPr>
          <a:xfrm>
            <a:off x="468683" y="5733256"/>
            <a:ext cx="8206635" cy="53405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Arial" pitchFamily="34" charset="0"/>
              <a:buNone/>
              <a:defRPr sz="3200" b="1" kern="1200" cap="all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bg1"/>
                </a:solidFill>
              </a:rPr>
              <a:t>透</a:t>
            </a:r>
            <a:r>
              <a:rPr lang="zh-CN" altLang="en-US" dirty="0" smtClean="0">
                <a:solidFill>
                  <a:schemeClr val="bg1"/>
                </a:solidFill>
              </a:rPr>
              <a:t>视网络空间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808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/>
              <a:t>这</a:t>
            </a:r>
            <a:r>
              <a:rPr lang="zh-CN" altLang="en-US" dirty="0" smtClean="0"/>
              <a:t>张「航海图」很关键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 smtClean="0"/>
              <a:t>透视网络空间</a:t>
            </a:r>
            <a:endParaRPr lang="zh-CN" altLang="en-US" dirty="0"/>
          </a:p>
        </p:txBody>
      </p:sp>
      <p:pic>
        <p:nvPicPr>
          <p:cNvPr id="4098" name="Picture 2" descr="http://i16.static.olcdn.com/766app_ku/201204/13/Z3Vlc3Q=_7264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354" y="1888025"/>
            <a:ext cx="5956598" cy="4467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9264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>
          <a:xfrm>
            <a:off x="250826" y="1934775"/>
            <a:ext cx="3441093" cy="4373950"/>
          </a:xfrm>
        </p:spPr>
        <p:txBody>
          <a:bodyPr/>
          <a:lstStyle/>
          <a:p>
            <a:r>
              <a:rPr lang="en-US" altLang="zh-CN" dirty="0"/>
              <a:t>http://internetcensus2012.bitbucket.org/hilbert.html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希尔伯特曲线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 smtClean="0"/>
              <a:t>透视网络空间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6" y="3084251"/>
            <a:ext cx="3441093" cy="34410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690" y="1868014"/>
            <a:ext cx="4652790" cy="4657330"/>
          </a:xfrm>
          <a:prstGeom prst="rect">
            <a:avLst/>
          </a:prstGeom>
        </p:spPr>
      </p:pic>
      <p:pic>
        <p:nvPicPr>
          <p:cNvPr id="7" name="Picture 2" descr="https://upload.wikimedia.org/wikipedia/commons/4/46/Hilbert_curve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817" y="2410159"/>
            <a:ext cx="3744961" cy="374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24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组件是网络空间里的最小识别单元</a:t>
            </a:r>
            <a:endParaRPr lang="en-US" altLang="zh-CN" sz="2000" dirty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en-US" altLang="zh-CN" sz="1800" dirty="0"/>
              <a:t>IP -&gt; </a:t>
            </a:r>
            <a:r>
              <a:rPr lang="zh-CN" altLang="en-US" sz="1800" dirty="0"/>
              <a:t>端口</a:t>
            </a:r>
            <a:r>
              <a:rPr lang="en-US" altLang="zh-CN" sz="1800" dirty="0"/>
              <a:t> -&gt; </a:t>
            </a:r>
            <a:r>
              <a:rPr lang="zh-CN" altLang="en-US" sz="1800" dirty="0"/>
              <a:t>服务</a:t>
            </a:r>
            <a:r>
              <a:rPr lang="en-US" altLang="zh-CN" sz="1800" dirty="0"/>
              <a:t> -&gt; </a:t>
            </a:r>
            <a:r>
              <a:rPr lang="zh-CN" altLang="en-US" sz="1800" dirty="0"/>
              <a:t>组件</a:t>
            </a:r>
            <a:endParaRPr lang="en-US" altLang="zh-CN" sz="1800" dirty="0"/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组件</a:t>
            </a:r>
            <a:r>
              <a:rPr lang="zh-CN" altLang="en-US" dirty="0"/>
              <a:t>识别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 smtClean="0"/>
              <a:t>透视网络空间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186" y="2780928"/>
            <a:ext cx="6312318" cy="394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482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组件识别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组件之间的层级关系，比如</a:t>
            </a:r>
            <a:r>
              <a:rPr lang="en-US" altLang="zh-CN" sz="2000" dirty="0" smtClean="0"/>
              <a:t>Web</a:t>
            </a:r>
            <a:r>
              <a:rPr lang="zh-CN" altLang="en-US" sz="2000" dirty="0" smtClean="0"/>
              <a:t>组件的</a:t>
            </a:r>
            <a:r>
              <a:rPr lang="en-US" altLang="zh-CN" sz="2000" dirty="0" smtClean="0"/>
              <a:t>8+1</a:t>
            </a:r>
            <a:r>
              <a:rPr lang="zh-CN" altLang="en-US" sz="2000" dirty="0" smtClean="0"/>
              <a:t>层结构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组件高一维度的设备信息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设备之间的网络层级关系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设备高一维度的使用方信息（人）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人高一维度的社交信息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物理位置信息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漏洞信息 </a:t>
            </a:r>
            <a:r>
              <a:rPr lang="en-US" altLang="zh-CN" sz="2000" dirty="0" smtClean="0"/>
              <a:t>- </a:t>
            </a:r>
            <a:r>
              <a:rPr lang="zh-CN" altLang="en-US" sz="2000" dirty="0" smtClean="0"/>
              <a:t>开启上帝视角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 smtClean="0"/>
              <a:t>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 smtClean="0"/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真正的透视需</a:t>
            </a:r>
            <a:r>
              <a:rPr lang="zh-CN" altLang="en-US" dirty="0"/>
              <a:t>要做到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 smtClean="0"/>
              <a:t>透视网络空间</a:t>
            </a:r>
            <a:endParaRPr lang="zh-CN" altLang="en-US" dirty="0"/>
          </a:p>
        </p:txBody>
      </p:sp>
      <p:pic>
        <p:nvPicPr>
          <p:cNvPr id="6" name="Picture 2" descr="http://i16.static.olcdn.com/766app_ku/201204/13/Z3Vlc3Q=_7264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852" y="3140968"/>
            <a:ext cx="4762356" cy="3571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6362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 smtClean="0"/>
              <a:t>IPv4</a:t>
            </a:r>
            <a:r>
              <a:rPr lang="zh-CN" altLang="en-US" sz="2000" dirty="0" smtClean="0"/>
              <a:t>空间里有大量地址</a:t>
            </a:r>
            <a:r>
              <a:rPr lang="zh-CN" altLang="en-US" sz="2000" dirty="0" smtClean="0"/>
              <a:t>未</a:t>
            </a:r>
            <a:r>
              <a:rPr lang="zh-CN" altLang="en-US" sz="2000" dirty="0" smtClean="0"/>
              <a:t>被探测到</a:t>
            </a:r>
            <a:r>
              <a:rPr lang="zh-CN" altLang="en-US" sz="2000" dirty="0" smtClean="0"/>
              <a:t>（</a:t>
            </a:r>
            <a:r>
              <a:rPr lang="zh-CN" altLang="en-US" sz="2000" dirty="0" smtClean="0"/>
              <a:t>历史）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这个比例</a:t>
            </a:r>
            <a:r>
              <a:rPr lang="zh-CN" altLang="en-US" sz="1800" dirty="0"/>
              <a:t>可能</a:t>
            </a:r>
            <a:r>
              <a:rPr lang="zh-CN" altLang="en-US" sz="1800" dirty="0" smtClean="0"/>
              <a:t>是</a:t>
            </a:r>
            <a:r>
              <a:rPr lang="en-US" altLang="zh-CN" sz="1800" dirty="0" smtClean="0"/>
              <a:t>2/3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2000" dirty="0" smtClean="0"/>
              <a:t>IPv4</a:t>
            </a:r>
            <a:r>
              <a:rPr lang="zh-CN" altLang="en-US" sz="2000" dirty="0" smtClean="0"/>
              <a:t>空间里当前</a:t>
            </a:r>
            <a:r>
              <a:rPr lang="zh-CN" altLang="en-US" sz="2000" dirty="0"/>
              <a:t>能很好探</a:t>
            </a:r>
            <a:r>
              <a:rPr lang="zh-CN" altLang="en-US" sz="2000" dirty="0" smtClean="0"/>
              <a:t>知主流组</a:t>
            </a:r>
            <a:r>
              <a:rPr lang="zh-CN" altLang="en-US" sz="2000" dirty="0"/>
              <a:t>件</a:t>
            </a:r>
            <a:r>
              <a:rPr lang="zh-CN" altLang="en-US" sz="2000" dirty="0" smtClean="0"/>
              <a:t>的</a:t>
            </a:r>
            <a:r>
              <a:rPr lang="en-US" altLang="zh-CN" sz="2000" dirty="0" smtClean="0"/>
              <a:t>IP</a:t>
            </a:r>
            <a:r>
              <a:rPr lang="zh-CN" altLang="en-US" sz="2000" dirty="0"/>
              <a:t>总</a:t>
            </a:r>
            <a:r>
              <a:rPr lang="zh-CN" altLang="en-US" sz="2000" dirty="0" smtClean="0"/>
              <a:t>量可能不</a:t>
            </a:r>
            <a:r>
              <a:rPr lang="zh-CN" altLang="en-US" sz="2000" dirty="0"/>
              <a:t>超过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亿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透视网络空间需要以组件识别为出发点</a:t>
            </a:r>
            <a:endParaRPr lang="en-US" altLang="zh-CN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透</a:t>
            </a:r>
            <a:r>
              <a:rPr lang="zh-CN" altLang="en-US" sz="2000" dirty="0" smtClean="0"/>
              <a:t>视网络空间是一件极其复杂的工程问题</a:t>
            </a:r>
            <a:endParaRPr lang="en-US" altLang="zh-CN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网络空间里那些我们还没法认识的东西我们这里定义为「暗物质」</a:t>
            </a:r>
            <a:endParaRPr lang="en-US" altLang="zh-CN" sz="2000" dirty="0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小结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 smtClean="0"/>
              <a:t>透视网络空间</a:t>
            </a:r>
            <a:endParaRPr lang="zh-CN" altLang="en-US" dirty="0"/>
          </a:p>
        </p:txBody>
      </p:sp>
      <p:sp>
        <p:nvSpPr>
          <p:cNvPr id="5" name="流程图: 过程 4"/>
          <p:cNvSpPr/>
          <p:nvPr/>
        </p:nvSpPr>
        <p:spPr>
          <a:xfrm>
            <a:off x="539552" y="4869160"/>
            <a:ext cx="8021907" cy="1008112"/>
          </a:xfrm>
          <a:prstGeom prst="flowChartProcess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透视网络空</a:t>
            </a:r>
            <a:r>
              <a:rPr lang="zh-CN" altLang="en-US" sz="2800" dirty="0" smtClean="0"/>
              <a:t>间</a:t>
            </a:r>
            <a:r>
              <a:rPr lang="zh-CN" altLang="en-US" sz="2800" dirty="0"/>
              <a:t>要</a:t>
            </a:r>
            <a:r>
              <a:rPr lang="zh-CN" altLang="en-US" sz="2800" dirty="0" smtClean="0"/>
              <a:t>求我们</a:t>
            </a:r>
            <a:r>
              <a:rPr lang="zh-CN" altLang="en-US" sz="2800" dirty="0"/>
              <a:t>逐步</a:t>
            </a:r>
            <a:r>
              <a:rPr lang="zh-CN" altLang="en-US" sz="2800" dirty="0" smtClean="0"/>
              <a:t>消除这些「</a:t>
            </a:r>
            <a:r>
              <a:rPr lang="zh-CN" altLang="en-US" sz="2800" dirty="0"/>
              <a:t>暗物质</a:t>
            </a:r>
            <a:r>
              <a:rPr lang="zh-CN" altLang="en-US" sz="2800" dirty="0" smtClean="0"/>
              <a:t>」！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84670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00" y="-180975"/>
            <a:ext cx="11049000" cy="7219950"/>
          </a:xfrm>
          <a:prstGeom prst="rect">
            <a:avLst/>
          </a:prstGeom>
        </p:spPr>
      </p:pic>
      <p:sp>
        <p:nvSpPr>
          <p:cNvPr id="6" name="文本占位符 3"/>
          <p:cNvSpPr txBox="1">
            <a:spLocks/>
          </p:cNvSpPr>
          <p:nvPr/>
        </p:nvSpPr>
        <p:spPr>
          <a:xfrm>
            <a:off x="468683" y="5733256"/>
            <a:ext cx="8206635" cy="53405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Arial" pitchFamily="34" charset="0"/>
              <a:buNone/>
              <a:defRPr sz="3200" b="1" kern="1200" cap="all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 smtClean="0">
                <a:solidFill>
                  <a:schemeClr val="bg1"/>
                </a:solidFill>
              </a:rPr>
              <a:t>我们的情报体系概览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602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 err="1" smtClean="0"/>
              <a:t>ZoomEye</a:t>
            </a:r>
            <a:r>
              <a:rPr lang="zh-CN" altLang="en-US" dirty="0" smtClean="0"/>
              <a:t>架构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 smtClean="0"/>
              <a:t>我们的情报体系概览</a:t>
            </a:r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415834" y="2420888"/>
            <a:ext cx="8312333" cy="3168352"/>
            <a:chOff x="1601788" y="232392"/>
            <a:chExt cx="9192875" cy="3324225"/>
          </a:xfrm>
        </p:grpSpPr>
        <p:cxnSp>
          <p:nvCxnSpPr>
            <p:cNvPr id="8" name="直接连接符 7"/>
            <p:cNvCxnSpPr/>
            <p:nvPr/>
          </p:nvCxnSpPr>
          <p:spPr>
            <a:xfrm flipH="1" flipV="1">
              <a:off x="2760663" y="1003917"/>
              <a:ext cx="2493962" cy="850900"/>
            </a:xfrm>
            <a:prstGeom prst="line">
              <a:avLst/>
            </a:prstGeom>
            <a:ln w="3492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H="1">
              <a:off x="3465513" y="2102467"/>
              <a:ext cx="2330450" cy="544513"/>
            </a:xfrm>
            <a:prstGeom prst="line">
              <a:avLst/>
            </a:prstGeom>
            <a:ln w="3492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H="1">
              <a:off x="6438900" y="710230"/>
              <a:ext cx="900113" cy="784225"/>
            </a:xfrm>
            <a:prstGeom prst="line">
              <a:avLst/>
            </a:prstGeom>
            <a:ln w="3492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H="1">
              <a:off x="6677025" y="1696067"/>
              <a:ext cx="1758950" cy="242888"/>
            </a:xfrm>
            <a:prstGeom prst="line">
              <a:avLst/>
            </a:prstGeom>
            <a:ln w="3492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 flipV="1">
              <a:off x="6343650" y="2548555"/>
              <a:ext cx="792163" cy="323850"/>
            </a:xfrm>
            <a:prstGeom prst="line">
              <a:avLst/>
            </a:prstGeom>
            <a:ln w="3492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/>
            <p:cNvSpPr/>
            <p:nvPr/>
          </p:nvSpPr>
          <p:spPr>
            <a:xfrm>
              <a:off x="5002213" y="1235692"/>
              <a:ext cx="1716087" cy="17145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indent="-2603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indent="-209550">
                <a:spcBef>
                  <a:spcPct val="20000"/>
                </a:spcBef>
                <a:buChar char="•"/>
                <a:defRPr sz="21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07963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07963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indent="-2079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indent="-2079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indent="-2079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indent="-2079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1800" smtClean="0"/>
            </a:p>
          </p:txBody>
        </p:sp>
        <p:sp>
          <p:nvSpPr>
            <p:cNvPr id="14" name="椭圆 13"/>
            <p:cNvSpPr/>
            <p:nvPr/>
          </p:nvSpPr>
          <p:spPr>
            <a:xfrm>
              <a:off x="8435975" y="1029317"/>
              <a:ext cx="1073150" cy="1073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indent="-2603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indent="-209550">
                <a:spcBef>
                  <a:spcPct val="20000"/>
                </a:spcBef>
                <a:buChar char="•"/>
                <a:defRPr sz="21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07963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07963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indent="-2079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indent="-2079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indent="-2079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indent="-2079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1800" smtClean="0"/>
            </a:p>
          </p:txBody>
        </p:sp>
        <p:sp>
          <p:nvSpPr>
            <p:cNvPr id="15" name="椭圆 14"/>
            <p:cNvSpPr/>
            <p:nvPr/>
          </p:nvSpPr>
          <p:spPr>
            <a:xfrm>
              <a:off x="1601788" y="365742"/>
              <a:ext cx="1303337" cy="13033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indent="-2603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indent="-209550">
                <a:spcBef>
                  <a:spcPct val="20000"/>
                </a:spcBef>
                <a:buChar char="•"/>
                <a:defRPr sz="21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07963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07963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indent="-2079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indent="-2079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indent="-2079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indent="-2079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1800" smtClean="0"/>
            </a:p>
          </p:txBody>
        </p:sp>
        <p:sp>
          <p:nvSpPr>
            <p:cNvPr id="16" name="椭圆 15"/>
            <p:cNvSpPr/>
            <p:nvPr/>
          </p:nvSpPr>
          <p:spPr>
            <a:xfrm>
              <a:off x="2386013" y="2192955"/>
              <a:ext cx="1265237" cy="126682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indent="-2603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indent="-209550">
                <a:spcBef>
                  <a:spcPct val="20000"/>
                </a:spcBef>
                <a:buChar char="•"/>
                <a:defRPr sz="21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07963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07963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indent="-2079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indent="-2079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indent="-2079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indent="-2079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1800" smtClean="0"/>
            </a:p>
          </p:txBody>
        </p:sp>
        <p:sp>
          <p:nvSpPr>
            <p:cNvPr id="17" name="椭圆 16"/>
            <p:cNvSpPr/>
            <p:nvPr/>
          </p:nvSpPr>
          <p:spPr>
            <a:xfrm>
              <a:off x="7197725" y="232392"/>
              <a:ext cx="830263" cy="83026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indent="-2603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indent="-209550">
                <a:spcBef>
                  <a:spcPct val="20000"/>
                </a:spcBef>
                <a:buChar char="•"/>
                <a:defRPr sz="21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07963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07963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indent="-2079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indent="-2079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indent="-2079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indent="-2079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1800" smtClean="0"/>
            </a:p>
          </p:txBody>
        </p:sp>
        <p:sp>
          <p:nvSpPr>
            <p:cNvPr id="18" name="椭圆 17"/>
            <p:cNvSpPr/>
            <p:nvPr/>
          </p:nvSpPr>
          <p:spPr>
            <a:xfrm>
              <a:off x="7092950" y="2394567"/>
              <a:ext cx="1162050" cy="116205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indent="-2603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indent="-209550">
                <a:spcBef>
                  <a:spcPct val="20000"/>
                </a:spcBef>
                <a:buChar char="•"/>
                <a:defRPr sz="21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07963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07963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indent="-2079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indent="-2079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indent="-2079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indent="-2079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1800" smtClean="0"/>
            </a:p>
          </p:txBody>
        </p:sp>
        <p:sp>
          <p:nvSpPr>
            <p:cNvPr id="19" name="矩形 30"/>
            <p:cNvSpPr>
              <a:spLocks noChangeArrowheads="1"/>
            </p:cNvSpPr>
            <p:nvPr/>
          </p:nvSpPr>
          <p:spPr bwMode="auto">
            <a:xfrm>
              <a:off x="2911476" y="341930"/>
              <a:ext cx="1892238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latin typeface="Adobe 黑体 Std R" pitchFamily="34" charset="-122"/>
                  <a:ea typeface="Adobe 黑体 Std R" pitchFamily="34" charset="-122"/>
                </a:rPr>
                <a:t>组件指纹识别引</a:t>
              </a:r>
              <a:r>
                <a:rPr lang="zh-CN" altLang="en-US" dirty="0" smtClean="0">
                  <a:latin typeface="Adobe 黑体 Std R" pitchFamily="34" charset="-122"/>
                  <a:ea typeface="Adobe 黑体 Std R" pitchFamily="34" charset="-122"/>
                </a:rPr>
                <a:t>擎</a:t>
              </a:r>
              <a:r>
                <a:rPr lang="en-US" altLang="zh-CN" dirty="0" err="1" smtClean="0">
                  <a:latin typeface="Adobe 黑体 Std R" pitchFamily="34" charset="-122"/>
                  <a:ea typeface="Adobe 黑体 Std R" pitchFamily="34" charset="-122"/>
                </a:rPr>
                <a:t>Wmap</a:t>
              </a:r>
              <a:r>
                <a:rPr lang="en-US" altLang="zh-CN" dirty="0" smtClean="0">
                  <a:latin typeface="Adobe 黑体 Std R" pitchFamily="34" charset="-122"/>
                  <a:ea typeface="Adobe 黑体 Std R" pitchFamily="34" charset="-122"/>
                </a:rPr>
                <a:t>/</a:t>
              </a:r>
              <a:r>
                <a:rPr lang="en-US" altLang="zh-CN" dirty="0" err="1" smtClean="0">
                  <a:latin typeface="Adobe 黑体 Std R" pitchFamily="34" charset="-122"/>
                  <a:ea typeface="Adobe 黑体 Std R" pitchFamily="34" charset="-122"/>
                </a:rPr>
                <a:t>Xmap</a:t>
              </a:r>
              <a:endParaRPr lang="zh-CN" altLang="en-US" dirty="0">
                <a:latin typeface="Helvetica LT Light" pitchFamily="2" charset="0"/>
              </a:endParaRPr>
            </a:p>
          </p:txBody>
        </p:sp>
        <p:sp>
          <p:nvSpPr>
            <p:cNvPr id="20" name="Freeform 258"/>
            <p:cNvSpPr>
              <a:spLocks/>
            </p:cNvSpPr>
            <p:nvPr/>
          </p:nvSpPr>
          <p:spPr bwMode="auto">
            <a:xfrm>
              <a:off x="5462588" y="1696067"/>
              <a:ext cx="835025" cy="752475"/>
            </a:xfrm>
            <a:custGeom>
              <a:avLst/>
              <a:gdLst>
                <a:gd name="T0" fmla="*/ 2147483647 w 86"/>
                <a:gd name="T1" fmla="*/ 0 h 77"/>
                <a:gd name="T2" fmla="*/ 2147483647 w 86"/>
                <a:gd name="T3" fmla="*/ 2147483647 h 77"/>
                <a:gd name="T4" fmla="*/ 2147483647 w 86"/>
                <a:gd name="T5" fmla="*/ 2147483647 h 77"/>
                <a:gd name="T6" fmla="*/ 2147483647 w 86"/>
                <a:gd name="T7" fmla="*/ 2147483647 h 77"/>
                <a:gd name="T8" fmla="*/ 0 w 86"/>
                <a:gd name="T9" fmla="*/ 2147483647 h 77"/>
                <a:gd name="T10" fmla="*/ 0 w 86"/>
                <a:gd name="T11" fmla="*/ 2147483647 h 77"/>
                <a:gd name="T12" fmla="*/ 2147483647 w 86"/>
                <a:gd name="T13" fmla="*/ 2147483647 h 77"/>
                <a:gd name="T14" fmla="*/ 2147483647 w 86"/>
                <a:gd name="T15" fmla="*/ 2147483647 h 77"/>
                <a:gd name="T16" fmla="*/ 2147483647 w 86"/>
                <a:gd name="T17" fmla="*/ 2147483647 h 77"/>
                <a:gd name="T18" fmla="*/ 2147483647 w 86"/>
                <a:gd name="T19" fmla="*/ 2147483647 h 77"/>
                <a:gd name="T20" fmla="*/ 2147483647 w 86"/>
                <a:gd name="T21" fmla="*/ 2147483647 h 77"/>
                <a:gd name="T22" fmla="*/ 2147483647 w 86"/>
                <a:gd name="T23" fmla="*/ 2147483647 h 77"/>
                <a:gd name="T24" fmla="*/ 2147483647 w 86"/>
                <a:gd name="T25" fmla="*/ 2147483647 h 77"/>
                <a:gd name="T26" fmla="*/ 2147483647 w 86"/>
                <a:gd name="T27" fmla="*/ 2147483647 h 77"/>
                <a:gd name="T28" fmla="*/ 2147483647 w 86"/>
                <a:gd name="T29" fmla="*/ 2147483647 h 77"/>
                <a:gd name="T30" fmla="*/ 2147483647 w 86"/>
                <a:gd name="T31" fmla="*/ 2147483647 h 77"/>
                <a:gd name="T32" fmla="*/ 2147483647 w 86"/>
                <a:gd name="T33" fmla="*/ 2147483647 h 77"/>
                <a:gd name="T34" fmla="*/ 2147483647 w 86"/>
                <a:gd name="T35" fmla="*/ 2147483647 h 77"/>
                <a:gd name="T36" fmla="*/ 2147483647 w 86"/>
                <a:gd name="T37" fmla="*/ 2147483647 h 77"/>
                <a:gd name="T38" fmla="*/ 2147483647 w 86"/>
                <a:gd name="T39" fmla="*/ 2147483647 h 77"/>
                <a:gd name="T40" fmla="*/ 2147483647 w 86"/>
                <a:gd name="T41" fmla="*/ 2147483647 h 77"/>
                <a:gd name="T42" fmla="*/ 2147483647 w 86"/>
                <a:gd name="T43" fmla="*/ 2147483647 h 77"/>
                <a:gd name="T44" fmla="*/ 2147483647 w 86"/>
                <a:gd name="T45" fmla="*/ 2147483647 h 77"/>
                <a:gd name="T46" fmla="*/ 2147483647 w 86"/>
                <a:gd name="T47" fmla="*/ 2147483647 h 77"/>
                <a:gd name="T48" fmla="*/ 2147483647 w 86"/>
                <a:gd name="T49" fmla="*/ 2147483647 h 77"/>
                <a:gd name="T50" fmla="*/ 2147483647 w 86"/>
                <a:gd name="T51" fmla="*/ 2147483647 h 77"/>
                <a:gd name="T52" fmla="*/ 2147483647 w 86"/>
                <a:gd name="T53" fmla="*/ 2147483647 h 77"/>
                <a:gd name="T54" fmla="*/ 2147483647 w 86"/>
                <a:gd name="T55" fmla="*/ 2147483647 h 77"/>
                <a:gd name="T56" fmla="*/ 2147483647 w 86"/>
                <a:gd name="T57" fmla="*/ 0 h 7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6" h="77">
                  <a:moveTo>
                    <a:pt x="30" y="0"/>
                  </a:moveTo>
                  <a:cubicBezTo>
                    <a:pt x="2" y="7"/>
                    <a:pt x="34" y="28"/>
                    <a:pt x="34" y="28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3" y="28"/>
                    <a:pt x="0" y="31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8"/>
                    <a:pt x="2" y="40"/>
                    <a:pt x="4" y="41"/>
                  </a:cubicBezTo>
                  <a:cubicBezTo>
                    <a:pt x="2" y="42"/>
                    <a:pt x="1" y="45"/>
                    <a:pt x="1" y="47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1" y="50"/>
                    <a:pt x="3" y="53"/>
                    <a:pt x="6" y="54"/>
                  </a:cubicBezTo>
                  <a:cubicBezTo>
                    <a:pt x="5" y="55"/>
                    <a:pt x="4" y="56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62"/>
                    <a:pt x="7" y="65"/>
                    <a:pt x="11" y="65"/>
                  </a:cubicBezTo>
                  <a:cubicBezTo>
                    <a:pt x="11" y="65"/>
                    <a:pt x="11" y="65"/>
                    <a:pt x="11" y="65"/>
                  </a:cubicBezTo>
                  <a:cubicBezTo>
                    <a:pt x="10" y="66"/>
                    <a:pt x="9" y="68"/>
                    <a:pt x="9" y="70"/>
                  </a:cubicBezTo>
                  <a:cubicBezTo>
                    <a:pt x="9" y="70"/>
                    <a:pt x="9" y="70"/>
                    <a:pt x="9" y="70"/>
                  </a:cubicBezTo>
                  <a:cubicBezTo>
                    <a:pt x="9" y="73"/>
                    <a:pt x="12" y="76"/>
                    <a:pt x="16" y="76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52" y="71"/>
                    <a:pt x="52" y="71"/>
                    <a:pt x="52" y="71"/>
                  </a:cubicBezTo>
                  <a:cubicBezTo>
                    <a:pt x="66" y="69"/>
                    <a:pt x="66" y="69"/>
                    <a:pt x="66" y="69"/>
                  </a:cubicBezTo>
                  <a:cubicBezTo>
                    <a:pt x="66" y="77"/>
                    <a:pt x="66" y="77"/>
                    <a:pt x="66" y="77"/>
                  </a:cubicBezTo>
                  <a:cubicBezTo>
                    <a:pt x="86" y="77"/>
                    <a:pt x="86" y="77"/>
                    <a:pt x="86" y="77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66" y="25"/>
                    <a:pt x="66" y="25"/>
                    <a:pt x="66" y="25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2" y="32"/>
                    <a:pt x="62" y="32"/>
                    <a:pt x="62" y="32"/>
                  </a:cubicBezTo>
                  <a:cubicBezTo>
                    <a:pt x="58" y="16"/>
                    <a:pt x="32" y="17"/>
                    <a:pt x="3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21" name="图片 5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8588" y="2478705"/>
              <a:ext cx="768350" cy="768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矩形 58"/>
            <p:cNvSpPr>
              <a:spLocks noChangeArrowheads="1"/>
            </p:cNvSpPr>
            <p:nvPr/>
          </p:nvSpPr>
          <p:spPr bwMode="auto">
            <a:xfrm>
              <a:off x="3692525" y="2983530"/>
              <a:ext cx="1800163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latin typeface="Adobe 黑体 Std R" pitchFamily="34" charset="-122"/>
                  <a:ea typeface="Adobe 黑体 Std R" pitchFamily="34" charset="-122"/>
                </a:rPr>
                <a:t>调度框</a:t>
              </a:r>
              <a:r>
                <a:rPr lang="zh-CN" altLang="en-US" dirty="0" smtClean="0">
                  <a:latin typeface="Adobe 黑体 Std R" pitchFamily="34" charset="-122"/>
                  <a:ea typeface="Adobe 黑体 Std R" pitchFamily="34" charset="-122"/>
                </a:rPr>
                <a:t>架</a:t>
              </a:r>
              <a:r>
                <a:rPr lang="en-US" altLang="zh-CN" dirty="0" smtClean="0">
                  <a:latin typeface="Adobe 黑体 Std R" pitchFamily="34" charset="-122"/>
                  <a:ea typeface="Adobe 黑体 Std R" pitchFamily="34" charset="-122"/>
                </a:rPr>
                <a:t>Lucifer</a:t>
              </a:r>
              <a:endParaRPr lang="zh-CN" altLang="en-US" dirty="0">
                <a:latin typeface="Helvetica LT Light" pitchFamily="2" charset="0"/>
              </a:endParaRPr>
            </a:p>
          </p:txBody>
        </p:sp>
        <p:sp>
          <p:nvSpPr>
            <p:cNvPr id="23" name="矩形 59"/>
            <p:cNvSpPr>
              <a:spLocks noChangeArrowheads="1"/>
            </p:cNvSpPr>
            <p:nvPr/>
          </p:nvSpPr>
          <p:spPr bwMode="auto">
            <a:xfrm>
              <a:off x="8085138" y="435592"/>
              <a:ext cx="2478229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latin typeface="Adobe 黑体 Std R" pitchFamily="34" charset="-122"/>
                  <a:ea typeface="Adobe 黑体 Std R" pitchFamily="34" charset="-122"/>
                </a:rPr>
                <a:t>高性能存</a:t>
              </a:r>
              <a:r>
                <a:rPr lang="zh-CN" altLang="en-US" dirty="0" smtClean="0">
                  <a:latin typeface="Adobe 黑体 Std R" pitchFamily="34" charset="-122"/>
                  <a:ea typeface="Adobe 黑体 Std R" pitchFamily="34" charset="-122"/>
                </a:rPr>
                <a:t>储</a:t>
              </a:r>
              <a:r>
                <a:rPr lang="en-US" altLang="zh-CN" dirty="0" err="1" smtClean="0">
                  <a:latin typeface="Adobe 黑体 Std R" pitchFamily="34" charset="-122"/>
                  <a:ea typeface="Adobe 黑体 Std R" pitchFamily="34" charset="-122"/>
                </a:rPr>
                <a:t>Hadoop</a:t>
              </a:r>
              <a:r>
                <a:rPr lang="en-US" altLang="zh-CN" dirty="0" smtClean="0">
                  <a:latin typeface="Adobe 黑体 Std R" pitchFamily="34" charset="-122"/>
                  <a:ea typeface="Adobe 黑体 Std R" pitchFamily="34" charset="-122"/>
                </a:rPr>
                <a:t>/ES</a:t>
              </a:r>
              <a:endParaRPr lang="zh-CN" altLang="en-US" dirty="0">
                <a:latin typeface="Helvetica LT Light" pitchFamily="2" charset="0"/>
              </a:endParaRPr>
            </a:p>
          </p:txBody>
        </p:sp>
        <p:pic>
          <p:nvPicPr>
            <p:cNvPr id="24" name="图片 5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407017"/>
              <a:ext cx="531812" cy="544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" name="图片 5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93138" y="1178542"/>
              <a:ext cx="804862" cy="825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矩形 62"/>
            <p:cNvSpPr>
              <a:spLocks noChangeArrowheads="1"/>
            </p:cNvSpPr>
            <p:nvPr/>
          </p:nvSpPr>
          <p:spPr bwMode="auto">
            <a:xfrm>
              <a:off x="9238400" y="2004042"/>
              <a:ext cx="1556263" cy="34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latin typeface="Adobe 黑体 Std R" pitchFamily="34" charset="-122"/>
                  <a:ea typeface="Adobe 黑体 Std R" pitchFamily="34" charset="-122"/>
                </a:rPr>
                <a:t>数据深度挖掘</a:t>
              </a:r>
            </a:p>
          </p:txBody>
        </p:sp>
        <p:pic>
          <p:nvPicPr>
            <p:cNvPr id="27" name="图片 6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4738" y="2669205"/>
              <a:ext cx="646112" cy="647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矩形 65"/>
            <p:cNvSpPr>
              <a:spLocks noChangeArrowheads="1"/>
            </p:cNvSpPr>
            <p:nvPr/>
          </p:nvSpPr>
          <p:spPr bwMode="auto">
            <a:xfrm>
              <a:off x="8301038" y="2975592"/>
              <a:ext cx="1315056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latin typeface="Adobe 黑体 Std R" pitchFamily="34" charset="-122"/>
                  <a:ea typeface="Adobe 黑体 Std R" pitchFamily="34" charset="-122"/>
                </a:rPr>
                <a:t>可视化组件</a:t>
              </a:r>
            </a:p>
          </p:txBody>
        </p:sp>
        <p:pic>
          <p:nvPicPr>
            <p:cNvPr id="29" name="图片 28"/>
            <p:cNvPicPr>
              <a:picLocks noChangeAspect="1"/>
            </p:cNvPicPr>
            <p:nvPr/>
          </p:nvPicPr>
          <p:blipFill rotWithShape="1">
            <a:blip r:embed="rId6"/>
            <a:srcRect l="17565" t="22216" r="20889" b="22503"/>
            <a:stretch/>
          </p:blipFill>
          <p:spPr>
            <a:xfrm>
              <a:off x="1820111" y="630681"/>
              <a:ext cx="886601" cy="768387"/>
            </a:xfrm>
            <a:prstGeom prst="flowChartConnector">
              <a:avLst/>
            </a:prstGeom>
          </p:spPr>
        </p:pic>
        <p:sp>
          <p:nvSpPr>
            <p:cNvPr id="30" name="矩形 2"/>
            <p:cNvSpPr>
              <a:spLocks noChangeArrowheads="1"/>
            </p:cNvSpPr>
            <p:nvPr/>
          </p:nvSpPr>
          <p:spPr bwMode="auto">
            <a:xfrm>
              <a:off x="5492688" y="741980"/>
              <a:ext cx="8002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 dirty="0">
                  <a:latin typeface="Adobe 黑体 Std R" pitchFamily="34" charset="-122"/>
                  <a:ea typeface="Adobe 黑体 Std R" pitchFamily="34" charset="-122"/>
                </a:rPr>
                <a:t>架构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337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每</a:t>
            </a:r>
            <a:r>
              <a:rPr lang="zh-CN" altLang="en-US" sz="2000" dirty="0" smtClean="0"/>
              <a:t>次搜索都将诞生一个</a:t>
            </a:r>
            <a:r>
              <a:rPr lang="en-US" altLang="zh-CN" sz="2000" dirty="0" smtClean="0"/>
              <a:t>Dork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 smtClean="0"/>
              <a:t>Dork</a:t>
            </a:r>
            <a:r>
              <a:rPr lang="zh-CN" altLang="en-US" dirty="0" smtClean="0"/>
              <a:t>体系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 smtClean="0"/>
              <a:t>我们的情报体系概览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596" y="2348880"/>
            <a:ext cx="6192114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665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http://www.zoomeye.org/search/dork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 smtClean="0"/>
              <a:t>Dork</a:t>
            </a:r>
            <a:r>
              <a:rPr lang="zh-CN" altLang="en-US" dirty="0" smtClean="0"/>
              <a:t>体系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 smtClean="0"/>
              <a:t>我们的情报体系概览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44" y="2340802"/>
            <a:ext cx="8596712" cy="430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17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http://www.sebug.net/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有意义的漏洞情报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 smtClean="0"/>
              <a:t>我们的情报体系概览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82" y="2348880"/>
            <a:ext cx="8600837" cy="398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732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透</a:t>
            </a:r>
            <a:r>
              <a:rPr lang="zh-CN" altLang="en-US" sz="2000" dirty="0" smtClean="0"/>
              <a:t>视网络空间后结合有意义的漏洞情报 </a:t>
            </a:r>
            <a:r>
              <a:rPr lang="en-US" altLang="zh-CN" sz="2000" dirty="0" smtClean="0"/>
              <a:t>-&gt; </a:t>
            </a:r>
            <a:r>
              <a:rPr lang="zh-CN" altLang="en-US" sz="2000" dirty="0" smtClean="0"/>
              <a:t>及时预</a:t>
            </a:r>
            <a:r>
              <a:rPr lang="zh-CN" altLang="en-US" sz="2000" dirty="0"/>
              <a:t>警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跟进每个有意义漏洞的生命周期</a:t>
            </a:r>
            <a:endParaRPr lang="en-US" altLang="zh-CN" sz="18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/>
              <a:t>黄</a:t>
            </a:r>
            <a:r>
              <a:rPr lang="zh-CN" altLang="en-US" sz="1800" dirty="0" smtClean="0"/>
              <a:t>金应急时间</a:t>
            </a:r>
            <a:endParaRPr lang="en-US" altLang="zh-C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小结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 smtClean="0"/>
              <a:t>我们的情报体系概览</a:t>
            </a:r>
            <a:endParaRPr lang="zh-CN" altLang="en-US" dirty="0"/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1215866916"/>
              </p:ext>
            </p:extLst>
          </p:nvPr>
        </p:nvGraphicFramePr>
        <p:xfrm>
          <a:off x="1524000" y="241980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3549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2576" y="5320"/>
            <a:ext cx="10377210" cy="6852680"/>
          </a:xfrm>
          <a:prstGeom prst="rect">
            <a:avLst/>
          </a:prstGeom>
        </p:spPr>
      </p:pic>
      <p:sp>
        <p:nvSpPr>
          <p:cNvPr id="8" name="文本占位符 3"/>
          <p:cNvSpPr txBox="1">
            <a:spLocks/>
          </p:cNvSpPr>
          <p:nvPr/>
        </p:nvSpPr>
        <p:spPr>
          <a:xfrm>
            <a:off x="468683" y="6275662"/>
            <a:ext cx="8206635" cy="53405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Arial" pitchFamily="34" charset="0"/>
              <a:buNone/>
              <a:defRPr sz="3200" b="1" kern="1200" cap="all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文本占位符 3"/>
          <p:cNvSpPr txBox="1">
            <a:spLocks/>
          </p:cNvSpPr>
          <p:nvPr/>
        </p:nvSpPr>
        <p:spPr>
          <a:xfrm>
            <a:off x="468683" y="5733256"/>
            <a:ext cx="8206635" cy="53405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Arial" pitchFamily="34" charset="0"/>
              <a:buNone/>
              <a:defRPr sz="3200" b="1" kern="1200" cap="all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bg1"/>
                </a:solidFill>
              </a:rPr>
              <a:t>枚举暗物质与对应的情报经验</a:t>
            </a:r>
          </a:p>
        </p:txBody>
      </p:sp>
    </p:spTree>
    <p:extLst>
      <p:ext uri="{BB962C8B-B14F-4D97-AF65-F5344CB8AC3E}">
        <p14:creationId xmlns:p14="http://schemas.microsoft.com/office/powerpoint/2010/main" val="1828014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>
          <a:xfrm>
            <a:off x="179512" y="3626523"/>
            <a:ext cx="8208268" cy="379087"/>
          </a:xfrm>
        </p:spPr>
        <p:txBody>
          <a:bodyPr/>
          <a:lstStyle/>
          <a:p>
            <a:pPr algn="ctr"/>
            <a:r>
              <a:rPr lang="zh-CN" altLang="en-US" dirty="0" smtClean="0"/>
              <a:t>之物联网屠宰场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>
          <a:xfrm>
            <a:off x="180501" y="2996952"/>
            <a:ext cx="8206635" cy="534059"/>
          </a:xfrm>
        </p:spPr>
        <p:txBody>
          <a:bodyPr/>
          <a:lstStyle/>
          <a:p>
            <a:pPr algn="ctr"/>
            <a:r>
              <a:rPr lang="zh-CN" altLang="en-US" dirty="0"/>
              <a:t>枚举暗物质与对应的情报经验</a:t>
            </a:r>
          </a:p>
        </p:txBody>
      </p:sp>
    </p:spTree>
    <p:extLst>
      <p:ext uri="{BB962C8B-B14F-4D97-AF65-F5344CB8AC3E}">
        <p14:creationId xmlns:p14="http://schemas.microsoft.com/office/powerpoint/2010/main" val="3687587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摄像头</a:t>
            </a:r>
            <a:r>
              <a:rPr lang="zh-CN" altLang="en-US" dirty="0"/>
              <a:t>威胁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</a:t>
            </a:r>
            <a:r>
              <a:rPr lang="zh-CN" altLang="en-US" dirty="0" smtClean="0"/>
              <a:t>验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73771"/>
            <a:ext cx="8229600" cy="38195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12" y="4147542"/>
            <a:ext cx="7648575" cy="10096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760" y="2964631"/>
            <a:ext cx="5486400" cy="1657350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4521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摄像头威胁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</a:t>
            </a:r>
            <a:r>
              <a:rPr lang="zh-CN" altLang="en-US" dirty="0" smtClean="0"/>
              <a:t>验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0" y="1806872"/>
            <a:ext cx="8909116" cy="5078512"/>
          </a:xfrm>
          <a:prstGeom prst="rect">
            <a:avLst/>
          </a:prstGeom>
        </p:spPr>
      </p:pic>
      <p:pic>
        <p:nvPicPr>
          <p:cNvPr id="9" name="Picture 6" descr="Macintosh SSD:Users:ryan:Desktop:WorkSpaces:ZoomEye:Z-Lab:Camera:Hacking The cameras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495" y="2655440"/>
            <a:ext cx="5568315" cy="3381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64698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思</a:t>
            </a:r>
            <a:r>
              <a:rPr lang="zh-CN" altLang="en-US" sz="2000" dirty="0" smtClean="0"/>
              <a:t>考个问题：你有全球某摄像头控制权，你能如何？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/>
              <a:t>如果</a:t>
            </a:r>
            <a:r>
              <a:rPr lang="zh-CN" altLang="en-US" sz="1800" dirty="0" smtClean="0"/>
              <a:t>没法提炼所需目标情报，这么多控制下来有何用？</a:t>
            </a:r>
            <a:endParaRPr lang="en-US" altLang="zh-CN" sz="1800" dirty="0" smtClean="0"/>
          </a:p>
          <a:p>
            <a:pPr marL="919163" lvl="2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当普通嵌入式系统用？</a:t>
            </a:r>
            <a:r>
              <a:rPr lang="en-US" altLang="zh-CN" sz="1600" dirty="0" smtClean="0"/>
              <a:t>...</a:t>
            </a:r>
            <a:r>
              <a:rPr lang="zh-CN" altLang="en-US" sz="1600" dirty="0" smtClean="0"/>
              <a:t>别跑题！</a:t>
            </a:r>
            <a:endParaRPr lang="en-US" altLang="zh-CN" sz="16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思路？</a:t>
            </a:r>
            <a:endParaRPr lang="en-US" altLang="zh-CN" sz="1800" dirty="0" smtClean="0"/>
          </a:p>
          <a:p>
            <a:pPr marL="919163" lvl="2">
              <a:buFont typeface="Arial" panose="020B0604020202020204" pitchFamily="34" charset="0"/>
              <a:buChar char="•"/>
            </a:pPr>
            <a:r>
              <a:rPr lang="zh-CN" altLang="en-US" sz="1600" dirty="0"/>
              <a:t>批量取摄像头静态</a:t>
            </a:r>
            <a:r>
              <a:rPr lang="en-US" altLang="zh-CN" sz="1600" dirty="0"/>
              <a:t>/</a:t>
            </a:r>
            <a:r>
              <a:rPr lang="zh-CN" altLang="en-US" sz="1600" dirty="0"/>
              <a:t>动态图片下</a:t>
            </a:r>
            <a:r>
              <a:rPr lang="zh-CN" altLang="en-US" sz="1600" dirty="0" smtClean="0"/>
              <a:t>来，比较简单</a:t>
            </a:r>
            <a:endParaRPr lang="en-US" altLang="zh-CN" sz="1600" dirty="0"/>
          </a:p>
          <a:p>
            <a:pPr marL="919163" lvl="2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图片里的文字识别，</a:t>
            </a:r>
            <a:r>
              <a:rPr lang="zh-CN" altLang="en-US" sz="1600" dirty="0"/>
              <a:t>挺</a:t>
            </a:r>
            <a:r>
              <a:rPr lang="zh-CN" altLang="en-US" sz="1600" dirty="0" smtClean="0"/>
              <a:t>有挑战</a:t>
            </a:r>
            <a:endParaRPr lang="en-US" altLang="zh-CN" sz="1600" dirty="0" smtClean="0"/>
          </a:p>
          <a:p>
            <a:pPr marL="919163" lvl="2">
              <a:buFont typeface="Arial" panose="020B0604020202020204" pitchFamily="34" charset="0"/>
              <a:buChar char="•"/>
            </a:pPr>
            <a:r>
              <a:rPr lang="zh-CN" altLang="en-US" sz="1600" dirty="0"/>
              <a:t>图</a:t>
            </a:r>
            <a:r>
              <a:rPr lang="zh-CN" altLang="en-US" sz="1600" dirty="0" smtClean="0"/>
              <a:t>片里的人脸识别，非常有挑战</a:t>
            </a:r>
            <a:endParaRPr lang="en-US" altLang="zh-CN" sz="1600" dirty="0" smtClean="0"/>
          </a:p>
          <a:p>
            <a:pPr marL="919163" lvl="2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当这些挑战不再是挑战时，这类威胁就非常有意思了</a:t>
            </a:r>
            <a:r>
              <a:rPr lang="en-US" altLang="zh-CN" sz="1600" dirty="0" smtClean="0"/>
              <a:t>:)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摄像头威胁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</a:t>
            </a:r>
            <a:r>
              <a:rPr lang="zh-CN" altLang="en-US" dirty="0" smtClean="0"/>
              <a:t>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846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http://www.zoomeye.org/project/router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路由器威胁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</a:t>
            </a:r>
            <a:r>
              <a:rPr lang="zh-CN" altLang="en-US" dirty="0" smtClean="0"/>
              <a:t>验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57" y="2348880"/>
            <a:ext cx="8655323" cy="4125932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403" y="2345271"/>
            <a:ext cx="5270500" cy="438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31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 smtClean="0"/>
              <a:t>D-Link</a:t>
            </a:r>
            <a:r>
              <a:rPr lang="zh-CN" altLang="en-US" sz="2000" dirty="0"/>
              <a:t>后</a:t>
            </a:r>
            <a:r>
              <a:rPr lang="zh-CN" altLang="en-US" sz="2000" dirty="0" smtClean="0"/>
              <a:t>门</a:t>
            </a:r>
            <a:endParaRPr lang="en-US" altLang="zh-CN" sz="2000" dirty="0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路由器</a:t>
            </a:r>
            <a:r>
              <a:rPr lang="zh-CN" altLang="en-US" dirty="0"/>
              <a:t>威胁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</a:t>
            </a:r>
            <a:r>
              <a:rPr lang="zh-CN" altLang="en-US" dirty="0" smtClean="0"/>
              <a:t>验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090" y="2564904"/>
            <a:ext cx="6363126" cy="362414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26" y="2844962"/>
            <a:ext cx="6827052" cy="379280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8289" y="1321721"/>
            <a:ext cx="6581775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089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 smtClean="0"/>
              <a:t>D-Link</a:t>
            </a:r>
            <a:r>
              <a:rPr lang="zh-CN" altLang="en-US" sz="2000" dirty="0" smtClean="0"/>
              <a:t>后门不过瘾？来看看磊科</a:t>
            </a:r>
            <a:r>
              <a:rPr lang="en-US" altLang="zh-CN" sz="2000" dirty="0" smtClean="0"/>
              <a:t>(</a:t>
            </a:r>
            <a:r>
              <a:rPr lang="en-US" altLang="zh-CN" sz="2000" dirty="0" err="1" smtClean="0"/>
              <a:t>NetCore</a:t>
            </a:r>
            <a:r>
              <a:rPr lang="en-US" altLang="zh-CN" sz="2000" dirty="0" smtClean="0"/>
              <a:t>)</a:t>
            </a:r>
            <a:r>
              <a:rPr lang="zh-CN" altLang="en-US" sz="2000" dirty="0" smtClean="0"/>
              <a:t>的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en-US" altLang="zh-CN" sz="1800" dirty="0" smtClean="0"/>
              <a:t>2014/8/25</a:t>
            </a:r>
            <a:r>
              <a:rPr lang="zh-CN" altLang="en-US" sz="1800" dirty="0" smtClean="0"/>
              <a:t>，</a:t>
            </a:r>
            <a:r>
              <a:rPr lang="zh-CN" altLang="en-US" sz="1800" dirty="0"/>
              <a:t>趋势科技研究员</a:t>
            </a:r>
            <a:r>
              <a:rPr lang="en-US" altLang="zh-CN" sz="1800" dirty="0"/>
              <a:t>Tim </a:t>
            </a:r>
            <a:r>
              <a:rPr lang="en-US" altLang="zh-CN" sz="1800" dirty="0" err="1"/>
              <a:t>Yeh</a:t>
            </a:r>
            <a:r>
              <a:rPr lang="zh-CN" altLang="en-US" sz="1800" dirty="0"/>
              <a:t>发</a:t>
            </a:r>
            <a:r>
              <a:rPr lang="zh-CN" altLang="en-US" sz="1800" dirty="0" smtClean="0"/>
              <a:t>文描</a:t>
            </a:r>
            <a:r>
              <a:rPr lang="zh-CN" altLang="en-US" sz="1800" dirty="0"/>
              <a:t>述了磊</a:t>
            </a:r>
            <a:r>
              <a:rPr lang="zh-CN" altLang="en-US" sz="1800" dirty="0" smtClean="0"/>
              <a:t>科疑</a:t>
            </a:r>
            <a:r>
              <a:rPr lang="zh-CN" altLang="en-US" sz="1800" dirty="0"/>
              <a:t>似后</a:t>
            </a:r>
            <a:r>
              <a:rPr lang="zh-CN" altLang="en-US" sz="1800" dirty="0" smtClean="0"/>
              <a:t>门的</a:t>
            </a:r>
            <a:r>
              <a:rPr lang="en-US" altLang="zh-CN" sz="1800" dirty="0" err="1" smtClean="0"/>
              <a:t>igdmptd</a:t>
            </a:r>
            <a:r>
              <a:rPr lang="zh-CN" altLang="en-US" sz="1800" dirty="0"/>
              <a:t>程序</a:t>
            </a:r>
            <a:r>
              <a:rPr lang="zh-CN" altLang="en-US" sz="1800" dirty="0" smtClean="0"/>
              <a:t>，全</a:t>
            </a:r>
            <a:r>
              <a:rPr lang="zh-CN" altLang="en-US" sz="1800" dirty="0"/>
              <a:t>球有</a:t>
            </a:r>
            <a:r>
              <a:rPr lang="en-US" altLang="zh-CN" sz="1800" dirty="0"/>
              <a:t>200</a:t>
            </a:r>
            <a:r>
              <a:rPr lang="zh-CN" altLang="en-US" sz="1800" dirty="0"/>
              <a:t>多万台磊科路由</a:t>
            </a:r>
            <a:r>
              <a:rPr lang="zh-CN" altLang="en-US" sz="1800" dirty="0" smtClean="0"/>
              <a:t>受影响</a:t>
            </a:r>
            <a:endParaRPr lang="en-US" altLang="zh-CN" sz="18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en-US" altLang="zh-CN" sz="1800" dirty="0" smtClean="0"/>
              <a:t>2014/10/3</a:t>
            </a:r>
            <a:r>
              <a:rPr lang="zh-CN" altLang="en-US" sz="1800" dirty="0" smtClean="0"/>
              <a:t>，</a:t>
            </a:r>
            <a:r>
              <a:rPr lang="en-US" altLang="zh-CN" sz="1800" dirty="0"/>
              <a:t>Tim </a:t>
            </a:r>
            <a:r>
              <a:rPr lang="en-US" altLang="zh-CN" sz="1800" dirty="0" err="1"/>
              <a:t>Yeh</a:t>
            </a:r>
            <a:r>
              <a:rPr lang="zh-CN" altLang="en-US" sz="1800" dirty="0"/>
              <a:t>再次发</a:t>
            </a:r>
            <a:r>
              <a:rPr lang="zh-CN" altLang="en-US" sz="1800" dirty="0" smtClean="0"/>
              <a:t>文称</a:t>
            </a:r>
            <a:r>
              <a:rPr lang="zh-CN" altLang="en-US" sz="1800" dirty="0"/>
              <a:t>磊科官方发布了新版固件，但新固件中只是默认关闭</a:t>
            </a:r>
            <a:r>
              <a:rPr lang="zh-CN" altLang="en-US" sz="1800" dirty="0" smtClean="0"/>
              <a:t>了「后门」程</a:t>
            </a:r>
            <a:r>
              <a:rPr lang="zh-CN" altLang="en-US" sz="1800" dirty="0"/>
              <a:t>序，而并未将其删除</a:t>
            </a:r>
            <a:r>
              <a:rPr lang="zh-CN" altLang="en-US" sz="1800" dirty="0" smtClean="0"/>
              <a:t>。</a:t>
            </a:r>
            <a:r>
              <a:rPr lang="en-US" altLang="zh-CN" sz="1800" dirty="0" err="1" smtClean="0"/>
              <a:t>ShadowServer</a:t>
            </a:r>
            <a:r>
              <a:rPr lang="zh-CN" altLang="en-US" sz="1800" dirty="0" smtClean="0"/>
              <a:t>的</a:t>
            </a:r>
            <a:r>
              <a:rPr lang="zh-CN" altLang="en-US" sz="1800" dirty="0"/>
              <a:t>统计</a:t>
            </a:r>
            <a:r>
              <a:rPr lang="zh-CN" altLang="en-US" sz="1800" dirty="0" smtClean="0"/>
              <a:t>受</a:t>
            </a:r>
            <a:r>
              <a:rPr lang="zh-CN" altLang="en-US" sz="1800" dirty="0"/>
              <a:t>影响路由器仍有</a:t>
            </a:r>
            <a:r>
              <a:rPr lang="en-US" altLang="zh-CN" sz="1800" dirty="0"/>
              <a:t>100</a:t>
            </a:r>
            <a:r>
              <a:rPr lang="zh-CN" altLang="en-US" sz="1800" dirty="0"/>
              <a:t>多万</a:t>
            </a:r>
            <a:r>
              <a:rPr lang="zh-CN" altLang="en-US" sz="1800" dirty="0" smtClean="0"/>
              <a:t>台</a:t>
            </a:r>
            <a:endParaRPr lang="en-US" altLang="zh-CN" sz="1800" dirty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en-US" altLang="zh-CN" sz="1800" dirty="0" smtClean="0"/>
              <a:t>2014/12/28</a:t>
            </a:r>
            <a:r>
              <a:rPr lang="zh-CN" altLang="zh-CN" sz="1800" dirty="0" smtClean="0"/>
              <a:t>，</a:t>
            </a:r>
            <a:r>
              <a:rPr lang="zh-CN" altLang="zh-CN" sz="1800" dirty="0"/>
              <a:t>国内研究员</a:t>
            </a:r>
            <a:r>
              <a:rPr lang="en-US" altLang="zh-CN" sz="1800" dirty="0"/>
              <a:t>h4ckmp</a:t>
            </a:r>
            <a:r>
              <a:rPr lang="zh-CN" altLang="zh-CN" sz="1800" dirty="0"/>
              <a:t>发</a:t>
            </a:r>
            <a:r>
              <a:rPr lang="zh-CN" altLang="zh-CN" sz="1800" dirty="0" smtClean="0"/>
              <a:t>文详</a:t>
            </a:r>
            <a:r>
              <a:rPr lang="zh-CN" altLang="zh-CN" sz="1800" dirty="0"/>
              <a:t>细分析了</a:t>
            </a:r>
            <a:r>
              <a:rPr lang="zh-CN" altLang="zh-CN" sz="1800" dirty="0" smtClean="0"/>
              <a:t>该</a:t>
            </a:r>
            <a:r>
              <a:rPr lang="zh-CN" altLang="en-US" sz="1800" dirty="0" smtClean="0"/>
              <a:t>「</a:t>
            </a:r>
            <a:r>
              <a:rPr lang="zh-CN" altLang="zh-CN" sz="1800" dirty="0" smtClean="0"/>
              <a:t>后门</a:t>
            </a:r>
            <a:r>
              <a:rPr lang="zh-CN" altLang="en-US" sz="1800" dirty="0" smtClean="0"/>
              <a:t>」</a:t>
            </a:r>
            <a:endParaRPr lang="en-US" altLang="zh-CN" sz="18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en-US" altLang="zh-CN" sz="1800" dirty="0" smtClean="0"/>
              <a:t>2014/12/31</a:t>
            </a:r>
            <a:r>
              <a:rPr lang="zh-CN" altLang="en-US" sz="1800" dirty="0" smtClean="0"/>
              <a:t>，</a:t>
            </a:r>
            <a:r>
              <a:rPr lang="en-US" altLang="zh-CN" sz="1800" dirty="0" err="1" smtClean="0"/>
              <a:t>ZoomEye</a:t>
            </a:r>
            <a:r>
              <a:rPr lang="en-US" altLang="zh-CN" sz="1800" dirty="0" smtClean="0"/>
              <a:t> Team</a:t>
            </a:r>
            <a:r>
              <a:rPr lang="zh-CN" altLang="en-US" sz="1800" dirty="0" smtClean="0"/>
              <a:t>进行了细节验证并发文</a:t>
            </a:r>
            <a:endParaRPr lang="en-US" altLang="zh-CN" sz="18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en-US" altLang="zh-CN" sz="1800" dirty="0" smtClean="0"/>
              <a:t>2015/9</a:t>
            </a:r>
            <a:r>
              <a:rPr lang="zh-CN" altLang="en-US" sz="1800" dirty="0" smtClean="0"/>
              <a:t>，</a:t>
            </a:r>
            <a:r>
              <a:rPr lang="en-US" altLang="zh-CN" sz="1800" dirty="0" err="1" smtClean="0"/>
              <a:t>ZoomEye</a:t>
            </a:r>
            <a:r>
              <a:rPr lang="en-US" altLang="zh-CN" sz="1800" dirty="0" smtClean="0"/>
              <a:t> Team</a:t>
            </a:r>
            <a:r>
              <a:rPr lang="zh-CN" altLang="en-US" sz="1800" dirty="0" smtClean="0"/>
              <a:t>的探测发现</a:t>
            </a:r>
            <a:r>
              <a:rPr lang="en-US" altLang="zh-CN" sz="1800" dirty="0" smtClean="0"/>
              <a:t>UDP </a:t>
            </a:r>
            <a:r>
              <a:rPr lang="en-US" altLang="zh-CN" sz="1800" dirty="0"/>
              <a:t>53413</a:t>
            </a:r>
            <a:r>
              <a:rPr lang="zh-CN" altLang="en-US" sz="1800" dirty="0"/>
              <a:t>端口的</a:t>
            </a:r>
            <a:r>
              <a:rPr lang="en-US" altLang="zh-CN" sz="1800" dirty="0"/>
              <a:t>IP</a:t>
            </a:r>
            <a:r>
              <a:rPr lang="zh-CN" altLang="en-US" sz="1800" dirty="0"/>
              <a:t>总数约为</a:t>
            </a:r>
            <a:r>
              <a:rPr lang="en-US" altLang="zh-CN" sz="1800" dirty="0"/>
              <a:t>140</a:t>
            </a:r>
            <a:r>
              <a:rPr lang="zh-CN" altLang="en-US" sz="1800" dirty="0"/>
              <a:t>万，其中</a:t>
            </a:r>
            <a:r>
              <a:rPr lang="en-US" altLang="zh-CN" sz="1800" dirty="0"/>
              <a:t>110</a:t>
            </a:r>
            <a:r>
              <a:rPr lang="zh-CN" altLang="en-US" sz="1800" dirty="0"/>
              <a:t>万左右是存在后门的磊科路由器，占比近</a:t>
            </a:r>
            <a:r>
              <a:rPr lang="en-US" altLang="zh-CN" sz="1800" dirty="0"/>
              <a:t>80</a:t>
            </a:r>
            <a:r>
              <a:rPr lang="en-US" altLang="zh-CN" sz="1800" dirty="0" smtClean="0"/>
              <a:t>%</a:t>
            </a:r>
          </a:p>
          <a:p>
            <a:pPr marL="919163" lvl="2"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FF0000"/>
                </a:solidFill>
              </a:rPr>
              <a:t>其中</a:t>
            </a:r>
            <a:r>
              <a:rPr lang="en-US" altLang="zh-CN" sz="1600" dirty="0" smtClean="0">
                <a:solidFill>
                  <a:srgbClr val="FF0000"/>
                </a:solidFill>
              </a:rPr>
              <a:t>95%</a:t>
            </a:r>
            <a:r>
              <a:rPr lang="zh-CN" altLang="en-US" sz="1600" dirty="0" smtClean="0">
                <a:solidFill>
                  <a:srgbClr val="FF0000"/>
                </a:solidFill>
              </a:rPr>
              <a:t>在中国</a:t>
            </a:r>
            <a:r>
              <a:rPr lang="en-US" altLang="zh-CN" sz="1600" dirty="0" smtClean="0">
                <a:solidFill>
                  <a:srgbClr val="FF0000"/>
                </a:solidFill>
              </a:rPr>
              <a:t>:(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/>
              <a:t>路由</a:t>
            </a:r>
            <a:r>
              <a:rPr lang="zh-CN" altLang="en-US" dirty="0" smtClean="0"/>
              <a:t>器威胁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枚举暗物质与对应的情报经验</a:t>
            </a:r>
          </a:p>
        </p:txBody>
      </p:sp>
    </p:spTree>
    <p:extLst>
      <p:ext uri="{BB962C8B-B14F-4D97-AF65-F5344CB8AC3E}">
        <p14:creationId xmlns:p14="http://schemas.microsoft.com/office/powerpoint/2010/main" val="195932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磊科的</a:t>
            </a:r>
            <a:r>
              <a:rPr lang="en-US" altLang="zh-CN" sz="2000" dirty="0" err="1" smtClean="0"/>
              <a:t>igdmptd</a:t>
            </a:r>
            <a:r>
              <a:rPr lang="zh-CN" altLang="en-US" sz="2000" dirty="0" smtClean="0"/>
              <a:t>这个「后门」威力如何？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以</a:t>
            </a:r>
            <a:r>
              <a:rPr lang="en-US" altLang="zh-CN" sz="1800" dirty="0"/>
              <a:t>root</a:t>
            </a:r>
            <a:r>
              <a:rPr lang="zh-CN" altLang="en-US" sz="1800" dirty="0"/>
              <a:t>权限执行系统命令</a:t>
            </a:r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任</a:t>
            </a:r>
            <a:r>
              <a:rPr lang="zh-CN" altLang="en-US" sz="1800" dirty="0"/>
              <a:t>意文件上传、下载</a:t>
            </a:r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某</a:t>
            </a:r>
            <a:r>
              <a:rPr lang="zh-CN" altLang="en-US" sz="1800" dirty="0"/>
              <a:t>些常用路由配置功</a:t>
            </a:r>
            <a:r>
              <a:rPr lang="zh-CN" altLang="en-US" sz="1800" dirty="0" smtClean="0"/>
              <a:t>能</a:t>
            </a:r>
            <a:endParaRPr lang="en-US" altLang="zh-CN" sz="1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在我们取证分析中发现这些路由器早被虐遍了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绝</a:t>
            </a:r>
            <a:r>
              <a:rPr lang="zh-CN" altLang="en-US" sz="1800" dirty="0"/>
              <a:t>大多数木马为</a:t>
            </a:r>
            <a:r>
              <a:rPr lang="en-US" altLang="zh-CN" sz="1800" dirty="0"/>
              <a:t>MIPS</a:t>
            </a:r>
            <a:r>
              <a:rPr lang="zh-CN" altLang="en-US" sz="1800" dirty="0"/>
              <a:t>平台上的</a:t>
            </a:r>
            <a:r>
              <a:rPr lang="en-US" altLang="zh-CN" sz="1800" dirty="0"/>
              <a:t>ELF</a:t>
            </a:r>
            <a:r>
              <a:rPr lang="zh-CN" altLang="en-US" sz="1800" dirty="0"/>
              <a:t>可执行程序，大都采用了随机文件</a:t>
            </a:r>
            <a:r>
              <a:rPr lang="zh-CN" altLang="en-US" sz="1800" dirty="0" smtClean="0"/>
              <a:t>名</a:t>
            </a:r>
            <a:endParaRPr lang="zh-CN" altLang="en-US" sz="1800" dirty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其</a:t>
            </a:r>
            <a:r>
              <a:rPr lang="zh-CN" altLang="en-US" sz="1800" dirty="0"/>
              <a:t>中少数为</a:t>
            </a:r>
            <a:r>
              <a:rPr lang="en-US" altLang="zh-CN" sz="1800" dirty="0"/>
              <a:t>.</a:t>
            </a:r>
            <a:r>
              <a:rPr lang="en-US" altLang="zh-CN" sz="1800" dirty="0" err="1"/>
              <a:t>sh</a:t>
            </a:r>
            <a:r>
              <a:rPr lang="zh-CN" altLang="en-US" sz="1800" dirty="0"/>
              <a:t>程序，多用于进一步下载相关</a:t>
            </a:r>
            <a:r>
              <a:rPr lang="en-US" altLang="zh-CN" sz="1800" dirty="0"/>
              <a:t>ELF</a:t>
            </a:r>
            <a:r>
              <a:rPr lang="zh-CN" altLang="en-US" sz="1800" dirty="0"/>
              <a:t>木</a:t>
            </a:r>
            <a:r>
              <a:rPr lang="zh-CN" altLang="en-US" sz="1800" dirty="0" smtClean="0"/>
              <a:t>马</a:t>
            </a:r>
            <a:endParaRPr lang="zh-CN" altLang="en-US" sz="1800" dirty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在</a:t>
            </a:r>
            <a:r>
              <a:rPr lang="en-US" altLang="zh-CN" sz="1800" dirty="0"/>
              <a:t>3</a:t>
            </a:r>
            <a:r>
              <a:rPr lang="zh-CN" altLang="en-US" sz="1800" dirty="0"/>
              <a:t>次扫描中，共抓取到近</a:t>
            </a:r>
            <a:r>
              <a:rPr lang="en-US" altLang="zh-CN" sz="1800" dirty="0"/>
              <a:t>1400</a:t>
            </a:r>
            <a:r>
              <a:rPr lang="zh-CN" altLang="en-US" sz="1800" dirty="0"/>
              <a:t>个木马样本，其中不同</a:t>
            </a:r>
            <a:r>
              <a:rPr lang="en-US" altLang="zh-CN" sz="1800" dirty="0"/>
              <a:t>md5</a:t>
            </a:r>
            <a:r>
              <a:rPr lang="zh-CN" altLang="en-US" sz="1800" dirty="0"/>
              <a:t>值的一共有</a:t>
            </a:r>
            <a:r>
              <a:rPr lang="en-US" altLang="zh-CN" sz="1800" dirty="0"/>
              <a:t>583</a:t>
            </a:r>
            <a:r>
              <a:rPr lang="zh-CN" altLang="en-US" sz="1800" dirty="0" smtClean="0"/>
              <a:t>个</a:t>
            </a:r>
            <a:endParaRPr lang="en-US" altLang="zh-CN" sz="18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en-US" altLang="zh-CN" sz="1800" dirty="0" smtClean="0"/>
              <a:t>...</a:t>
            </a:r>
            <a:endParaRPr lang="zh-CN" altLang="en-US" sz="1800" dirty="0"/>
          </a:p>
          <a:p>
            <a:pPr marL="571500" lvl="1">
              <a:buFont typeface="Arial" panose="020B0604020202020204" pitchFamily="34" charset="0"/>
              <a:buChar char="•"/>
            </a:pPr>
            <a:endParaRPr lang="en-US" altLang="zh-CN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/>
              <a:t>路由器威胁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枚举暗物质与对应的情报经验</a:t>
            </a:r>
          </a:p>
        </p:txBody>
      </p:sp>
    </p:spTree>
    <p:extLst>
      <p:ext uri="{BB962C8B-B14F-4D97-AF65-F5344CB8AC3E}">
        <p14:creationId xmlns:p14="http://schemas.microsoft.com/office/powerpoint/2010/main" val="538884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磊科「后门」木马的特点：</a:t>
            </a:r>
            <a:endParaRPr lang="en-US" altLang="zh-CN" sz="2000" dirty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基</a:t>
            </a:r>
            <a:r>
              <a:rPr lang="zh-CN" altLang="en-US" sz="1800" dirty="0"/>
              <a:t>于弱口令（</a:t>
            </a:r>
            <a:r>
              <a:rPr lang="en-US" altLang="zh-CN" sz="1800" dirty="0"/>
              <a:t>telnet</a:t>
            </a:r>
            <a:r>
              <a:rPr lang="zh-CN" altLang="en-US" sz="1800" dirty="0"/>
              <a:t>、</a:t>
            </a:r>
            <a:r>
              <a:rPr lang="en-US" altLang="zh-CN" sz="1800" dirty="0" err="1"/>
              <a:t>ssh</a:t>
            </a:r>
            <a:r>
              <a:rPr lang="zh-CN" altLang="en-US" sz="1800" dirty="0"/>
              <a:t>等）的蠕虫式传</a:t>
            </a:r>
            <a:r>
              <a:rPr lang="zh-CN" altLang="en-US" sz="1800" dirty="0" smtClean="0"/>
              <a:t>播</a:t>
            </a:r>
            <a:endParaRPr lang="en-US" altLang="zh-CN" sz="18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支</a:t>
            </a:r>
            <a:r>
              <a:rPr lang="zh-CN" altLang="en-US" sz="1800" dirty="0"/>
              <a:t>持多个嵌入式</a:t>
            </a:r>
            <a:r>
              <a:rPr lang="en-US" altLang="zh-CN" sz="1800" dirty="0"/>
              <a:t>CPU</a:t>
            </a:r>
            <a:r>
              <a:rPr lang="zh-CN" altLang="en-US" sz="1800" dirty="0"/>
              <a:t>架构（</a:t>
            </a:r>
            <a:r>
              <a:rPr lang="en-US" altLang="zh-CN" sz="1800" dirty="0"/>
              <a:t>ARM</a:t>
            </a:r>
            <a:r>
              <a:rPr lang="zh-CN" altLang="en-US" sz="1800" dirty="0"/>
              <a:t>、</a:t>
            </a:r>
            <a:r>
              <a:rPr lang="en-US" altLang="zh-CN" sz="1800" dirty="0"/>
              <a:t>MIPS</a:t>
            </a:r>
            <a:r>
              <a:rPr lang="zh-CN" altLang="en-US" sz="1800" dirty="0"/>
              <a:t>、</a:t>
            </a:r>
            <a:r>
              <a:rPr lang="en-US" altLang="zh-CN" sz="1800" dirty="0" smtClean="0"/>
              <a:t>PowerPC</a:t>
            </a:r>
            <a:r>
              <a:rPr lang="zh-CN" altLang="en-US" sz="1800" dirty="0" smtClean="0"/>
              <a:t>）</a:t>
            </a:r>
            <a:endParaRPr lang="en-US" altLang="zh-CN" sz="18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变</a:t>
            </a:r>
            <a:r>
              <a:rPr lang="zh-CN" altLang="en-US" sz="1800" dirty="0"/>
              <a:t>种多样、变化频</a:t>
            </a:r>
            <a:r>
              <a:rPr lang="zh-CN" altLang="en-US" sz="1800" dirty="0" smtClean="0"/>
              <a:t>繁</a:t>
            </a:r>
            <a:endParaRPr lang="en-US" altLang="zh-CN" sz="18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大</a:t>
            </a:r>
            <a:r>
              <a:rPr lang="zh-CN" altLang="en-US" sz="1800" dirty="0"/>
              <a:t>多利用嵌入式设备进行扫描、</a:t>
            </a:r>
            <a:r>
              <a:rPr lang="en-US" altLang="zh-CN" sz="1800" dirty="0" err="1"/>
              <a:t>DDoS</a:t>
            </a:r>
            <a:r>
              <a:rPr lang="zh-CN" altLang="en-US" sz="1800" dirty="0" smtClean="0"/>
              <a:t>等，少数的呢？</a:t>
            </a:r>
            <a:endParaRPr lang="zh-CN" altLang="en-US" sz="1800" dirty="0"/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/>
              <a:t>路由器威</a:t>
            </a:r>
            <a:r>
              <a:rPr lang="zh-CN" altLang="en-US" dirty="0" smtClean="0"/>
              <a:t>胁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枚举暗物质与对应的情报经验</a:t>
            </a:r>
          </a:p>
        </p:txBody>
      </p:sp>
    </p:spTree>
    <p:extLst>
      <p:ext uri="{BB962C8B-B14F-4D97-AF65-F5344CB8AC3E}">
        <p14:creationId xmlns:p14="http://schemas.microsoft.com/office/powerpoint/2010/main" val="666541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思</a:t>
            </a:r>
            <a:r>
              <a:rPr lang="zh-CN" altLang="en-US" sz="2000" dirty="0" smtClean="0"/>
              <a:t>考个问题：你有全球某路由器控制权，你能如何？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黑产守则一：流量即钱？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en-US" altLang="zh-CN" sz="2000" dirty="0" err="1" smtClean="0"/>
              <a:t>DDoS</a:t>
            </a:r>
            <a:r>
              <a:rPr lang="en-US" altLang="zh-CN" sz="2000" dirty="0" smtClean="0"/>
              <a:t>/CC</a:t>
            </a:r>
            <a:r>
              <a:rPr lang="zh-CN" altLang="en-US" sz="2000" dirty="0" smtClean="0"/>
              <a:t>资源？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2000" dirty="0"/>
              <a:t>跳</a:t>
            </a:r>
            <a:r>
              <a:rPr lang="zh-CN" altLang="en-US" sz="2000" dirty="0" smtClean="0"/>
              <a:t>板 </a:t>
            </a:r>
            <a:r>
              <a:rPr lang="en-US" altLang="zh-CN" sz="2000" dirty="0" smtClean="0"/>
              <a:t>- </a:t>
            </a:r>
            <a:r>
              <a:rPr lang="zh-CN" altLang="en-US" sz="2000" dirty="0" smtClean="0"/>
              <a:t>密网？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拿用户各类隐私？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你思考的问题，地下黑客不仅早思考了还行动了</a:t>
            </a:r>
            <a:r>
              <a:rPr lang="en-US" altLang="zh-CN" sz="2000" dirty="0" smtClean="0"/>
              <a:t>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路由器威胁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</a:t>
            </a:r>
            <a:r>
              <a:rPr lang="zh-CN" altLang="en-US" dirty="0" smtClean="0"/>
              <a:t>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150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>
          <a:xfrm>
            <a:off x="250826" y="1934775"/>
            <a:ext cx="2448966" cy="43739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最重要的脆弱系统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工控威胁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枚举暗物质与对应的情报经验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1346837"/>
            <a:ext cx="6147268" cy="535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428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工控</a:t>
            </a:r>
            <a:r>
              <a:rPr lang="zh-CN" altLang="en-US" dirty="0"/>
              <a:t>威胁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</a:t>
            </a:r>
            <a:r>
              <a:rPr lang="zh-CN" altLang="en-US" dirty="0" smtClean="0"/>
              <a:t>验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55" y="1798591"/>
            <a:ext cx="8696325" cy="46005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4300" y="2154138"/>
            <a:ext cx="9372600" cy="38671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32" y="1772816"/>
            <a:ext cx="6705600" cy="50577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3842" y="1755601"/>
            <a:ext cx="6686550" cy="505777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2349" y="1208041"/>
            <a:ext cx="6696075" cy="578167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4980" y="2398666"/>
            <a:ext cx="6696075" cy="340042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1150" y="3817987"/>
            <a:ext cx="598170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059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危害还能更直接些吗？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工控威胁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枚举暗物质与对应的情报经验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6" y="2409374"/>
            <a:ext cx="5686425" cy="28479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57333"/>
            <a:ext cx="9144000" cy="122805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757" y="2752723"/>
            <a:ext cx="7363789" cy="384433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740" y="2272159"/>
            <a:ext cx="6981825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869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/>
              <a:t>工</a:t>
            </a:r>
            <a:r>
              <a:rPr lang="zh-CN" altLang="en-US" dirty="0" smtClean="0"/>
              <a:t>控威胁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 smtClean="0"/>
              <a:t>枚举暗物质与对应的情报经验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55" y="1955800"/>
            <a:ext cx="8296275" cy="46005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8588" y="2223095"/>
            <a:ext cx="9401175" cy="4086225"/>
          </a:xfrm>
          <a:prstGeom prst="rect">
            <a:avLst/>
          </a:prstGeom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55" y="2536826"/>
            <a:ext cx="8766175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454" y="2490788"/>
            <a:ext cx="5743575" cy="377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5" name="组合 14"/>
          <p:cNvGrpSpPr/>
          <p:nvPr/>
        </p:nvGrpSpPr>
        <p:grpSpPr>
          <a:xfrm>
            <a:off x="1547664" y="2276872"/>
            <a:ext cx="6347245" cy="3873617"/>
            <a:chOff x="2117725" y="758683"/>
            <a:chExt cx="8521700" cy="5200650"/>
          </a:xfrm>
        </p:grpSpPr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7725" y="758683"/>
              <a:ext cx="8521700" cy="28908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7" name="Picture 5"/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7725" y="3343133"/>
              <a:ext cx="8521700" cy="2616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41845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也</a:t>
            </a:r>
            <a:r>
              <a:rPr lang="zh-CN" altLang="en-US" sz="2000" dirty="0" smtClean="0"/>
              <a:t>可</a:t>
            </a:r>
            <a:r>
              <a:rPr lang="zh-CN" altLang="en-US" sz="2000" dirty="0"/>
              <a:t>以成</a:t>
            </a:r>
            <a:r>
              <a:rPr lang="zh-CN" altLang="en-US" sz="2000" dirty="0" smtClean="0"/>
              <a:t>为「蜜罐」</a:t>
            </a:r>
            <a:r>
              <a:rPr lang="zh-CN" altLang="en-US" sz="2000" dirty="0"/>
              <a:t>捕捉</a:t>
            </a:r>
            <a:r>
              <a:rPr lang="zh-CN" altLang="en-US" sz="2000" dirty="0" smtClean="0"/>
              <a:t>对手痕迹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/>
              <a:t>工</a:t>
            </a:r>
            <a:r>
              <a:rPr lang="zh-CN" altLang="en-US" dirty="0" smtClean="0"/>
              <a:t>控威胁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</a:t>
            </a:r>
            <a:r>
              <a:rPr lang="zh-CN" altLang="en-US" dirty="0" smtClean="0"/>
              <a:t>验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50" y="2420888"/>
            <a:ext cx="8632030" cy="389356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03" y="2924944"/>
            <a:ext cx="8572500" cy="31242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93" y="2665363"/>
            <a:ext cx="8372475" cy="330517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40" y="3147392"/>
            <a:ext cx="8582025" cy="30956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536" y="3429000"/>
            <a:ext cx="8524875" cy="2971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180" y="3790950"/>
            <a:ext cx="849630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818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思</a:t>
            </a:r>
            <a:r>
              <a:rPr lang="zh-CN" altLang="en-US" sz="2000" dirty="0" smtClean="0"/>
              <a:t>考个问题：你有全球某工控设备或工控网络的控制权，你能如何？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拿工控网络尽可能全面的情报信息</a:t>
            </a:r>
            <a:r>
              <a:rPr lang="zh-CN" altLang="en-US" sz="2000" dirty="0"/>
              <a:t>？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2000" dirty="0"/>
              <a:t>潜</a:t>
            </a:r>
            <a:r>
              <a:rPr lang="zh-CN" altLang="en-US" sz="2000" dirty="0" smtClean="0"/>
              <a:t>伏？你敢搞破坏试试</a:t>
            </a:r>
            <a:r>
              <a:rPr lang="zh-CN" altLang="en-US" sz="2000" dirty="0"/>
              <a:t>？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同样，你</a:t>
            </a:r>
            <a:r>
              <a:rPr lang="zh-CN" altLang="en-US" sz="2000" dirty="0"/>
              <a:t>思考的问题，地下黑客不仅早思考了还行动了</a:t>
            </a:r>
            <a:r>
              <a:rPr lang="en-US" altLang="zh-CN" sz="2000" dirty="0" smtClean="0"/>
              <a:t>...</a:t>
            </a:r>
          </a:p>
          <a:p>
            <a:pPr marL="571500" lvl="1">
              <a:buFont typeface="Arial" panose="020B0604020202020204" pitchFamily="34" charset="0"/>
              <a:buChar char="•"/>
            </a:pP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/>
              <a:t>工控</a:t>
            </a:r>
            <a:r>
              <a:rPr lang="zh-CN" altLang="en-US" dirty="0" smtClean="0"/>
              <a:t>威胁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</a:t>
            </a:r>
            <a:r>
              <a:rPr lang="zh-CN" altLang="en-US" dirty="0" smtClean="0"/>
              <a:t>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7475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全球这么多脆弱</a:t>
            </a:r>
            <a:r>
              <a:rPr lang="zh-CN" altLang="en-US" sz="2000" dirty="0" smtClean="0"/>
              <a:t>的物联网设备，</a:t>
            </a:r>
            <a:r>
              <a:rPr lang="zh-CN" altLang="en-US" sz="2000" dirty="0"/>
              <a:t>你有何感想？</a:t>
            </a:r>
            <a:endParaRPr lang="en-US" altLang="zh-CN" sz="2000" dirty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/>
              <a:t>像不像一个个屠宰场？菜市场</a:t>
            </a:r>
            <a:r>
              <a:rPr lang="zh-CN" altLang="en-US" sz="1800" dirty="0" smtClean="0"/>
              <a:t>？</a:t>
            </a:r>
            <a:endParaRPr lang="en-US" altLang="zh-CN" sz="18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肆虐一遍全球的成本越来越低</a:t>
            </a:r>
            <a:endParaRPr lang="en-US" altLang="zh-CN" sz="1800" dirty="0" smtClean="0"/>
          </a:p>
          <a:p>
            <a:pPr marL="919163" lvl="2">
              <a:buFont typeface="Arial" panose="020B0604020202020204" pitchFamily="34" charset="0"/>
              <a:buChar char="•"/>
            </a:pPr>
            <a:r>
              <a:rPr lang="zh-CN" altLang="en-US" sz="1600" dirty="0"/>
              <a:t>嵌入式木马技术的日臻成熟，蠕虫式感染传</a:t>
            </a:r>
            <a:r>
              <a:rPr lang="zh-CN" altLang="en-US" sz="1600" dirty="0" smtClean="0"/>
              <a:t>播</a:t>
            </a:r>
            <a:endParaRPr lang="en-US" altLang="zh-CN" sz="1600" dirty="0"/>
          </a:p>
          <a:p>
            <a:pPr marL="919163" lvl="2">
              <a:buFont typeface="Arial" panose="020B0604020202020204" pitchFamily="34" charset="0"/>
              <a:buChar char="•"/>
            </a:pPr>
            <a:r>
              <a:rPr lang="en-US" altLang="zh-CN" sz="1600" dirty="0" err="1" smtClean="0"/>
              <a:t>ZMap</a:t>
            </a:r>
            <a:r>
              <a:rPr lang="en-US" altLang="zh-CN" sz="1600" dirty="0" smtClean="0"/>
              <a:t>/MASSCAN</a:t>
            </a:r>
            <a:r>
              <a:rPr lang="zh-CN" altLang="en-US" sz="1600" dirty="0" smtClean="0"/>
              <a:t>的流行</a:t>
            </a:r>
            <a:endParaRPr lang="en-US" altLang="zh-CN" sz="1600" dirty="0"/>
          </a:p>
          <a:p>
            <a:pPr marL="919163" lvl="2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租用服务器与带宽是件很简单的事</a:t>
            </a:r>
            <a:endParaRPr lang="en-US" altLang="zh-CN" sz="1600" dirty="0"/>
          </a:p>
          <a:p>
            <a:pPr marL="919163" lvl="2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一个漏洞爆发，全球地下黑客都会第一时间</a:t>
            </a:r>
            <a:r>
              <a:rPr lang="en-US" altLang="zh-CN" sz="1600" dirty="0" smtClean="0"/>
              <a:t>/</a:t>
            </a:r>
            <a:r>
              <a:rPr lang="zh-CN" altLang="en-US" sz="1600" dirty="0" smtClean="0"/>
              <a:t>第二时间行动，甚至更早</a:t>
            </a:r>
            <a:endParaRPr lang="en-US" altLang="zh-CN" sz="1600" dirty="0" smtClean="0"/>
          </a:p>
          <a:p>
            <a:pPr marL="571500" lvl="1"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物联网屠宰场 </a:t>
            </a:r>
            <a:r>
              <a:rPr lang="en-US" altLang="zh-CN" dirty="0" smtClean="0"/>
              <a:t>- </a:t>
            </a:r>
            <a:r>
              <a:rPr lang="zh-CN" altLang="en-US" dirty="0" smtClean="0"/>
              <a:t>小</a:t>
            </a:r>
            <a:r>
              <a:rPr lang="zh-CN" altLang="en-US" dirty="0"/>
              <a:t>结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枚举暗物质与对应的情报经验</a:t>
            </a:r>
          </a:p>
        </p:txBody>
      </p:sp>
    </p:spTree>
    <p:extLst>
      <p:ext uri="{BB962C8B-B14F-4D97-AF65-F5344CB8AC3E}">
        <p14:creationId xmlns:p14="http://schemas.microsoft.com/office/powerpoint/2010/main" val="2847083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全球这么多脆弱</a:t>
            </a:r>
            <a:r>
              <a:rPr lang="zh-CN" altLang="en-US" sz="2000" dirty="0" smtClean="0"/>
              <a:t>的物联网设备，</a:t>
            </a:r>
            <a:r>
              <a:rPr lang="zh-CN" altLang="en-US" sz="2000" dirty="0"/>
              <a:t>你有何感想？</a:t>
            </a:r>
            <a:endParaRPr lang="en-US" altLang="zh-CN" sz="2000" dirty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我</a:t>
            </a:r>
            <a:r>
              <a:rPr lang="zh-CN" altLang="en-US" sz="1800" dirty="0"/>
              <a:t>们该做什么</a:t>
            </a:r>
            <a:r>
              <a:rPr lang="zh-CN" altLang="en-US" sz="1800" dirty="0" smtClean="0"/>
              <a:t>？</a:t>
            </a:r>
            <a:endParaRPr lang="en-US" altLang="zh-CN" sz="1800" dirty="0" smtClean="0"/>
          </a:p>
          <a:p>
            <a:pPr marL="919163" lvl="2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我们的应急响应呢？黄金应急时间呢？</a:t>
            </a:r>
            <a:endParaRPr lang="en-US" altLang="zh-CN" sz="1600" dirty="0"/>
          </a:p>
          <a:p>
            <a:pPr marL="919163" lvl="2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如何对抗这群地下黑客？</a:t>
            </a:r>
            <a:endParaRPr lang="en-US" altLang="zh-CN" sz="1600" dirty="0"/>
          </a:p>
          <a:p>
            <a:pPr marL="919163" lvl="2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我们必须像他们一样去思考，包括执行力！</a:t>
            </a:r>
            <a:endParaRPr lang="en-US" altLang="zh-CN" sz="1600" dirty="0"/>
          </a:p>
          <a:p>
            <a:pPr marL="919163" lvl="2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牢记：对抗是持续的！不是过了黄金时间就可以歇息，这种持续可能是</a:t>
            </a:r>
            <a:r>
              <a:rPr lang="en-US" altLang="zh-CN" sz="1600" dirty="0" smtClean="0"/>
              <a:t>N</a:t>
            </a:r>
            <a:r>
              <a:rPr lang="zh-CN" altLang="en-US" sz="1600" dirty="0" smtClean="0"/>
              <a:t>年</a:t>
            </a:r>
            <a:r>
              <a:rPr lang="en-US" altLang="zh-CN" sz="1600" dirty="0" smtClean="0"/>
              <a:t>...</a:t>
            </a:r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2000" dirty="0"/>
              <a:t>幻想</a:t>
            </a:r>
            <a:r>
              <a:rPr lang="zh-CN" altLang="en-US" sz="2000" dirty="0" smtClean="0"/>
              <a:t>着：这些物联网设备的升级（打补丁）是件非常容易的事</a:t>
            </a:r>
            <a:endParaRPr lang="en-US" altLang="zh-CN" sz="2000" dirty="0"/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物联网屠宰场 </a:t>
            </a:r>
            <a:r>
              <a:rPr lang="en-US" altLang="zh-CN" dirty="0" smtClean="0"/>
              <a:t>- </a:t>
            </a:r>
            <a:r>
              <a:rPr lang="zh-CN" altLang="en-US" dirty="0" smtClean="0"/>
              <a:t>小</a:t>
            </a:r>
            <a:r>
              <a:rPr lang="zh-CN" altLang="en-US" dirty="0"/>
              <a:t>结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枚举暗物质与对应的情报经验</a:t>
            </a:r>
          </a:p>
        </p:txBody>
      </p:sp>
    </p:spTree>
    <p:extLst>
      <p:ext uri="{BB962C8B-B14F-4D97-AF65-F5344CB8AC3E}">
        <p14:creationId xmlns:p14="http://schemas.microsoft.com/office/powerpoint/2010/main" val="305636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>
          <a:xfrm>
            <a:off x="179512" y="3626523"/>
            <a:ext cx="8208268" cy="379087"/>
          </a:xfrm>
        </p:spPr>
        <p:txBody>
          <a:bodyPr/>
          <a:lstStyle/>
          <a:p>
            <a:pPr algn="ctr"/>
            <a:r>
              <a:rPr lang="zh-CN" altLang="en-US" dirty="0" smtClean="0"/>
              <a:t>之心脏出血里的情报经验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>
          <a:xfrm>
            <a:off x="180501" y="2996952"/>
            <a:ext cx="8206635" cy="534059"/>
          </a:xfrm>
        </p:spPr>
        <p:txBody>
          <a:bodyPr/>
          <a:lstStyle/>
          <a:p>
            <a:pPr algn="ctr"/>
            <a:r>
              <a:rPr lang="zh-CN" altLang="en-US" dirty="0"/>
              <a:t>枚举暗物质与对应的情报经验</a:t>
            </a:r>
          </a:p>
        </p:txBody>
      </p:sp>
    </p:spTree>
    <p:extLst>
      <p:ext uri="{BB962C8B-B14F-4D97-AF65-F5344CB8AC3E}">
        <p14:creationId xmlns:p14="http://schemas.microsoft.com/office/powerpoint/2010/main" val="950267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 smtClean="0"/>
              <a:t>2014/4/8</a:t>
            </a:r>
            <a:r>
              <a:rPr lang="zh-CN" altLang="en-US" sz="2000" dirty="0" smtClean="0"/>
              <a:t>全面爆发</a:t>
            </a:r>
            <a:endParaRPr lang="en-US" altLang="zh-CN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我</a:t>
            </a:r>
            <a:r>
              <a:rPr lang="zh-CN" altLang="en-US" sz="2000" dirty="0" smtClean="0"/>
              <a:t>们用了</a:t>
            </a:r>
            <a:r>
              <a:rPr lang="en-US" altLang="zh-CN" sz="2000" dirty="0" smtClean="0"/>
              <a:t>6h</a:t>
            </a:r>
            <a:r>
              <a:rPr lang="zh-CN" altLang="en-US" sz="2000" dirty="0" smtClean="0"/>
              <a:t>完成第一轮全球应急，给出了</a:t>
            </a:r>
            <a:r>
              <a:rPr lang="zh-CN" altLang="en-US" sz="2000" dirty="0"/>
              <a:t>影响</a:t>
            </a:r>
            <a:r>
              <a:rPr lang="zh-CN" altLang="en-US" sz="2000" dirty="0" smtClean="0"/>
              <a:t>面</a:t>
            </a:r>
            <a:endParaRPr lang="en-US" altLang="zh-CN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我</a:t>
            </a:r>
            <a:r>
              <a:rPr lang="zh-CN" altLang="en-US" sz="2000" dirty="0" smtClean="0"/>
              <a:t>们持续监测全球修复趋势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周</a:t>
            </a:r>
            <a:endParaRPr lang="en-US" altLang="zh-CN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我</a:t>
            </a:r>
            <a:r>
              <a:rPr lang="zh-CN" altLang="en-US" sz="2000" dirty="0" smtClean="0"/>
              <a:t>们得出结论：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全球影响面至少</a:t>
            </a:r>
            <a:r>
              <a:rPr lang="en-US" altLang="zh-CN" sz="1800" dirty="0" smtClean="0"/>
              <a:t>2,433,550</a:t>
            </a:r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/>
              <a:t>美</a:t>
            </a:r>
            <a:r>
              <a:rPr lang="zh-CN" altLang="en-US" sz="1800" dirty="0" smtClean="0"/>
              <a:t>国受影响遥遥领先，中国全球</a:t>
            </a:r>
            <a:r>
              <a:rPr lang="zh-CN" altLang="en-US" sz="1800" dirty="0"/>
              <a:t>排</a:t>
            </a:r>
            <a:r>
              <a:rPr lang="zh-CN" altLang="en-US" sz="1800" dirty="0" smtClean="0"/>
              <a:t>名</a:t>
            </a:r>
            <a:r>
              <a:rPr lang="en-US" altLang="zh-CN" sz="1800" dirty="0" smtClean="0"/>
              <a:t>16</a:t>
            </a:r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en-US" altLang="zh-CN" sz="1800" dirty="0" smtClean="0"/>
              <a:t>3</a:t>
            </a:r>
            <a:r>
              <a:rPr lang="zh-CN" altLang="en-US" sz="1800" dirty="0" smtClean="0"/>
              <a:t>天的修补速率，新加坡第</a:t>
            </a:r>
            <a:r>
              <a:rPr lang="en-US" altLang="zh-CN" sz="1800" dirty="0" smtClean="0"/>
              <a:t>1</a:t>
            </a:r>
            <a:r>
              <a:rPr lang="zh-CN" altLang="en-US" sz="1800" dirty="0" smtClean="0"/>
              <a:t>，美国第</a:t>
            </a:r>
            <a:r>
              <a:rPr lang="en-US" altLang="zh-CN" sz="1800" dirty="0" smtClean="0"/>
              <a:t>2</a:t>
            </a:r>
            <a:r>
              <a:rPr lang="zh-CN" altLang="en-US" sz="1800" dirty="0" smtClean="0"/>
              <a:t>，而中国全球</a:t>
            </a:r>
            <a:r>
              <a:rPr lang="en-US" altLang="zh-CN" sz="1800" dirty="0" smtClean="0"/>
              <a:t>102</a:t>
            </a:r>
            <a:r>
              <a:rPr lang="zh-CN" altLang="en-US" sz="1800" dirty="0" smtClean="0"/>
              <a:t>垫底，才修复了</a:t>
            </a:r>
            <a:r>
              <a:rPr lang="en-US" altLang="zh-CN" sz="1800" dirty="0" smtClean="0"/>
              <a:t>18%</a:t>
            </a:r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从这样的情报里你能得出什么结论？</a:t>
            </a:r>
            <a:endParaRPr lang="en-US" altLang="zh-C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心脏出血里的情报经验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</a:t>
            </a:r>
            <a:r>
              <a:rPr lang="zh-CN" altLang="en-US" dirty="0" smtClean="0"/>
              <a:t>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4395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 smtClean="0"/>
              <a:t>2015/4/8</a:t>
            </a:r>
            <a:r>
              <a:rPr lang="zh-CN" altLang="en-US" sz="2000" dirty="0" smtClean="0"/>
              <a:t>我们完成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周年回顾</a:t>
            </a:r>
            <a:endParaRPr lang="en-US" altLang="zh-CN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结</a:t>
            </a:r>
            <a:r>
              <a:rPr lang="zh-CN" altLang="en-US" sz="2000" dirty="0" smtClean="0"/>
              <a:t>论如下：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en-US" altLang="zh-CN" sz="1800" dirty="0"/>
              <a:t>1</a:t>
            </a:r>
            <a:r>
              <a:rPr lang="zh-CN" altLang="en-US" sz="1800" dirty="0" smtClean="0"/>
              <a:t>年</a:t>
            </a:r>
            <a:r>
              <a:rPr lang="zh-CN" altLang="en-US" sz="1800" dirty="0"/>
              <a:t>的时间，全球受影响</a:t>
            </a:r>
            <a:r>
              <a:rPr lang="en-US" altLang="zh-CN" sz="1800" dirty="0"/>
              <a:t>IP</a:t>
            </a:r>
            <a:r>
              <a:rPr lang="zh-CN" altLang="en-US" sz="1800" dirty="0"/>
              <a:t>数量仅为爆发时</a:t>
            </a:r>
            <a:r>
              <a:rPr lang="zh-CN" altLang="en-US" sz="1800" dirty="0" smtClean="0"/>
              <a:t>的</a:t>
            </a:r>
            <a:r>
              <a:rPr lang="en-US" altLang="zh-CN" sz="1800" dirty="0" smtClean="0"/>
              <a:t>14.6%</a:t>
            </a:r>
            <a:endParaRPr lang="zh-CN" altLang="en-US" sz="1800" dirty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/>
              <a:t>协议依赖性明显，受影</a:t>
            </a:r>
            <a:r>
              <a:rPr lang="zh-CN" altLang="en-US" sz="1800" dirty="0" smtClean="0"/>
              <a:t>响</a:t>
            </a:r>
            <a:r>
              <a:rPr lang="en-US" altLang="zh-CN" sz="1800" dirty="0" smtClean="0"/>
              <a:t>IP</a:t>
            </a:r>
            <a:r>
              <a:rPr lang="zh-CN" altLang="en-US" sz="1800" dirty="0" smtClean="0"/>
              <a:t>中</a:t>
            </a:r>
            <a:r>
              <a:rPr lang="zh-CN" altLang="en-US" sz="1800" dirty="0"/>
              <a:t>， </a:t>
            </a:r>
            <a:r>
              <a:rPr lang="en-US" altLang="zh-CN" sz="1800" dirty="0" smtClean="0"/>
              <a:t>HTTPS</a:t>
            </a:r>
            <a:r>
              <a:rPr lang="zh-CN" altLang="en-US" sz="1800" dirty="0" smtClean="0"/>
              <a:t>两</a:t>
            </a:r>
            <a:r>
              <a:rPr lang="zh-CN" altLang="en-US" sz="1800" dirty="0"/>
              <a:t>次占比都超</a:t>
            </a:r>
            <a:r>
              <a:rPr lang="zh-CN" altLang="en-US" sz="1800" dirty="0" smtClean="0"/>
              <a:t>过</a:t>
            </a:r>
            <a:r>
              <a:rPr lang="en-US" altLang="zh-CN" sz="1800" dirty="0" smtClean="0"/>
              <a:t>50%</a:t>
            </a:r>
            <a:endParaRPr lang="zh-CN" altLang="en-US" sz="1800" dirty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/>
              <a:t>西方发达国家修复效率高于发展中国</a:t>
            </a:r>
            <a:r>
              <a:rPr lang="zh-CN" altLang="en-US" sz="1800" dirty="0" smtClean="0"/>
              <a:t>家</a:t>
            </a:r>
            <a:endParaRPr lang="en-US" altLang="zh-CN" sz="18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较</a:t>
            </a:r>
            <a:r>
              <a:rPr lang="zh-CN" altLang="en-US" sz="1800" dirty="0"/>
              <a:t>大规模站点对安全更为重视</a:t>
            </a:r>
            <a:r>
              <a:rPr lang="zh-CN" altLang="en-US" sz="1800" dirty="0" smtClean="0"/>
              <a:t>，国</a:t>
            </a:r>
            <a:r>
              <a:rPr lang="zh-CN" altLang="en-US" sz="1800" dirty="0"/>
              <a:t>内外知</a:t>
            </a:r>
            <a:r>
              <a:rPr lang="zh-CN" altLang="en-US" sz="1800" dirty="0" smtClean="0"/>
              <a:t>名大网站几乎未</a:t>
            </a:r>
            <a:r>
              <a:rPr lang="zh-CN" altLang="en-US" sz="1800" dirty="0"/>
              <a:t>发现相关漏</a:t>
            </a:r>
            <a:r>
              <a:rPr lang="zh-CN" altLang="en-US" sz="1800" dirty="0" smtClean="0"/>
              <a:t>洞</a:t>
            </a:r>
            <a:endParaRPr lang="zh-CN" altLang="en-US" sz="1800" dirty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/>
              <a:t>我国持续响应能力依然需要努力提高，虽然从最初</a:t>
            </a:r>
            <a:r>
              <a:rPr lang="zh-CN" altLang="en-US" sz="1800" dirty="0" smtClean="0"/>
              <a:t>的</a:t>
            </a:r>
            <a:r>
              <a:rPr lang="en-US" altLang="zh-CN" sz="1800" dirty="0" smtClean="0"/>
              <a:t>18%</a:t>
            </a:r>
            <a:r>
              <a:rPr lang="zh-CN" altLang="en-US" sz="1800" dirty="0" smtClean="0"/>
              <a:t>的</a:t>
            </a:r>
            <a:r>
              <a:rPr lang="zh-CN" altLang="en-US" sz="1800" dirty="0"/>
              <a:t>修复率，上升到了 </a:t>
            </a:r>
            <a:r>
              <a:rPr lang="en-US" altLang="zh-CN" sz="1800" dirty="0"/>
              <a:t>59.9% </a:t>
            </a:r>
            <a:r>
              <a:rPr lang="zh-CN" altLang="en-US" sz="1800" dirty="0"/>
              <a:t>，</a:t>
            </a:r>
            <a:r>
              <a:rPr lang="zh-CN" altLang="en-US" sz="1800" dirty="0" smtClean="0"/>
              <a:t>但还是垫底</a:t>
            </a:r>
            <a:endParaRPr lang="en-US" altLang="zh-CN" sz="18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/>
              <a:t>从这样的情报里你能得出什么结论？</a:t>
            </a:r>
            <a:endParaRPr lang="en-US" altLang="zh-C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心脏出血里的情报经验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</a:t>
            </a:r>
            <a:r>
              <a:rPr lang="zh-CN" altLang="en-US" dirty="0" smtClean="0"/>
              <a:t>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6746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 smtClean="0"/>
              <a:t>1</a:t>
            </a:r>
            <a:r>
              <a:rPr lang="zh-CN" altLang="en-US" sz="2000" dirty="0" smtClean="0"/>
              <a:t>周年的绵</a:t>
            </a:r>
            <a:r>
              <a:rPr lang="zh-CN" altLang="en-US" sz="2000" dirty="0"/>
              <a:t>羊墙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心脏出血里的情报经验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</a:t>
            </a:r>
            <a:r>
              <a:rPr lang="zh-CN" altLang="en-US" dirty="0" smtClean="0"/>
              <a:t>验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51" y="2348880"/>
            <a:ext cx="7315698" cy="411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469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 smtClean="0"/>
              <a:t>1</a:t>
            </a:r>
            <a:r>
              <a:rPr lang="zh-CN" altLang="en-US" sz="2000" dirty="0" smtClean="0"/>
              <a:t>周年的绵羊墙里的这些都是什么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/>
              <a:t>心脏出血里的情报经验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枚举暗物质与对应的情报经验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6" y="2374307"/>
            <a:ext cx="5472182" cy="376900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423881"/>
            <a:ext cx="7742509" cy="417347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52" y="2526833"/>
            <a:ext cx="8785422" cy="422488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04" y="2768580"/>
            <a:ext cx="8862957" cy="397278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93" y="2458410"/>
            <a:ext cx="7602261" cy="428984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080" y="2420888"/>
            <a:ext cx="81534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84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来个另类的小结吧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谁都不是预言家，但是成为马后炮太容易</a:t>
            </a:r>
            <a:r>
              <a:rPr lang="en-US" altLang="zh-CN" sz="1800" dirty="0" smtClean="0"/>
              <a:t>:)</a:t>
            </a:r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/>
              <a:t>比</a:t>
            </a:r>
            <a:r>
              <a:rPr lang="zh-CN" altLang="en-US" sz="1800" dirty="0" smtClean="0"/>
              <a:t>如：关于心脏出血应急响应的情报分析，有人说应该全球实时刷数据然后分析，并构建了各种高大上的方案</a:t>
            </a:r>
            <a:endParaRPr lang="en-US" altLang="zh-CN" sz="18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很多时候：高</a:t>
            </a:r>
            <a:r>
              <a:rPr lang="zh-CN" altLang="en-US" sz="1800" dirty="0"/>
              <a:t>大</a:t>
            </a:r>
            <a:r>
              <a:rPr lang="zh-CN" altLang="en-US" sz="1800" dirty="0" smtClean="0"/>
              <a:t>上 </a:t>
            </a:r>
            <a:r>
              <a:rPr lang="en-US" altLang="zh-CN" sz="1800" dirty="0" smtClean="0"/>
              <a:t>~= </a:t>
            </a:r>
            <a:r>
              <a:rPr lang="zh-CN" altLang="en-US" sz="1800" dirty="0" smtClean="0"/>
              <a:t>扯淡</a:t>
            </a:r>
            <a:endParaRPr lang="en-US" altLang="zh-C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心脏出血里的情报经验 </a:t>
            </a:r>
            <a:r>
              <a:rPr lang="en-US" altLang="zh-CN" dirty="0" smtClean="0"/>
              <a:t>- </a:t>
            </a:r>
            <a:r>
              <a:rPr lang="zh-CN" altLang="en-US" dirty="0" smtClean="0"/>
              <a:t>小结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</a:t>
            </a:r>
            <a:r>
              <a:rPr lang="zh-CN" altLang="en-US" dirty="0" smtClean="0"/>
              <a:t>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7463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来看看这个扯淡方案吧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en-US" altLang="zh-CN" sz="1800" dirty="0"/>
              <a:t>64K/S/IP * </a:t>
            </a:r>
            <a:r>
              <a:rPr lang="zh-CN" altLang="en-US" sz="1800" dirty="0"/>
              <a:t>全球</a:t>
            </a:r>
            <a:r>
              <a:rPr lang="en-US" altLang="zh-CN" sz="1800" dirty="0" smtClean="0"/>
              <a:t>240w</a:t>
            </a:r>
            <a:r>
              <a:rPr lang="zh-CN" altLang="en-US" sz="1800" dirty="0"/>
              <a:t>受影响的</a:t>
            </a:r>
            <a:r>
              <a:rPr lang="en-US" altLang="zh-CN" sz="1800" dirty="0"/>
              <a:t>IP = </a:t>
            </a:r>
            <a:r>
              <a:rPr lang="en-US" altLang="zh-CN" sz="1800" dirty="0" smtClean="0"/>
              <a:t>153600000K/S</a:t>
            </a:r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en-US" altLang="zh-CN" sz="1800" dirty="0"/>
              <a:t>= </a:t>
            </a:r>
            <a:r>
              <a:rPr lang="en-US" altLang="zh-CN" sz="1800" dirty="0" smtClean="0"/>
              <a:t>153.6G/S</a:t>
            </a:r>
            <a:r>
              <a:rPr lang="en-US" altLang="zh-CN" sz="1800" dirty="0"/>
              <a:t/>
            </a:r>
            <a:br>
              <a:rPr lang="en-US" altLang="zh-CN" sz="1800" dirty="0"/>
            </a:br>
            <a:r>
              <a:rPr lang="en-US" altLang="zh-CN" sz="1800" dirty="0" smtClean="0"/>
              <a:t>153.6G/S </a:t>
            </a:r>
            <a:r>
              <a:rPr lang="en-US" altLang="zh-CN" sz="1800" dirty="0"/>
              <a:t>* 24h = </a:t>
            </a:r>
            <a:r>
              <a:rPr lang="en-US" altLang="zh-CN" sz="1800" dirty="0" smtClean="0"/>
              <a:t>?</a:t>
            </a:r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en-US" altLang="zh-CN" sz="1800" dirty="0" smtClean="0"/>
              <a:t>= 13271040G/D</a:t>
            </a:r>
            <a:r>
              <a:rPr lang="en-US" altLang="zh-CN" sz="1800" dirty="0"/>
              <a:t/>
            </a:r>
            <a:br>
              <a:rPr lang="en-US" altLang="zh-CN" sz="1800" dirty="0"/>
            </a:br>
            <a:r>
              <a:rPr lang="en-US" altLang="zh-CN" sz="1800" dirty="0"/>
              <a:t>= </a:t>
            </a:r>
            <a:r>
              <a:rPr lang="en-US" altLang="zh-CN" sz="1800" dirty="0" smtClean="0"/>
              <a:t>13271T/D</a:t>
            </a:r>
            <a:r>
              <a:rPr lang="en-US" altLang="zh-CN" sz="1800" dirty="0"/>
              <a:t/>
            </a:r>
            <a:br>
              <a:rPr lang="en-US" altLang="zh-CN" sz="1800" dirty="0"/>
            </a:br>
            <a:r>
              <a:rPr lang="en-US" altLang="zh-CN" sz="1800" dirty="0"/>
              <a:t>= </a:t>
            </a:r>
            <a:r>
              <a:rPr lang="en-US" altLang="zh-CN" sz="1800" dirty="0" smtClean="0"/>
              <a:t>13.3P/D</a:t>
            </a:r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/>
              <a:t>每天要存储</a:t>
            </a:r>
            <a:r>
              <a:rPr lang="en-US" altLang="zh-CN" sz="1800" dirty="0" smtClean="0"/>
              <a:t>13.3P</a:t>
            </a:r>
            <a:r>
              <a:rPr lang="zh-CN" altLang="en-US" sz="1800" dirty="0"/>
              <a:t>的数据</a:t>
            </a:r>
            <a:endParaRPr lang="en-US" altLang="zh-C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这种方案带来的情报分析工作是一件极其复杂的工程问题</a:t>
            </a:r>
            <a:endParaRPr lang="en-US" altLang="zh-CN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等落实，黄花菜都凉了！</a:t>
            </a:r>
            <a:endParaRPr lang="en-US" altLang="zh-CN" sz="2000" dirty="0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心脏出血里的情报经验 </a:t>
            </a:r>
            <a:r>
              <a:rPr lang="en-US" altLang="zh-CN" dirty="0" smtClean="0"/>
              <a:t>- </a:t>
            </a:r>
            <a:r>
              <a:rPr lang="zh-CN" altLang="en-US" dirty="0" smtClean="0"/>
              <a:t>小结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</a:t>
            </a:r>
            <a:r>
              <a:rPr lang="zh-CN" altLang="en-US" dirty="0" smtClean="0"/>
              <a:t>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1441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我</a:t>
            </a:r>
            <a:r>
              <a:rPr lang="zh-CN" altLang="en-US" sz="2000" dirty="0" smtClean="0"/>
              <a:t>们的心得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/>
              <a:t>要知道中国全球应急能力排名</a:t>
            </a:r>
            <a:r>
              <a:rPr lang="en-US" altLang="zh-CN" sz="1800" dirty="0"/>
              <a:t>102</a:t>
            </a:r>
            <a:r>
              <a:rPr lang="zh-CN" altLang="en-US" sz="1800" dirty="0"/>
              <a:t>垫</a:t>
            </a:r>
            <a:r>
              <a:rPr lang="zh-CN" altLang="en-US" sz="1800" dirty="0" smtClean="0"/>
              <a:t>底</a:t>
            </a:r>
            <a:endParaRPr lang="en-US" altLang="zh-CN" sz="18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这是一个极其复杂的战场，需要一个高敏锐度与高执行力的指挥官</a:t>
            </a:r>
            <a:endParaRPr lang="en-US" altLang="zh-CN" sz="18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打硬战就得有打硬战的姿势</a:t>
            </a:r>
            <a:endParaRPr lang="en-US" altLang="zh-CN" sz="18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/>
              <a:t>时</a:t>
            </a:r>
            <a:r>
              <a:rPr lang="zh-CN" altLang="en-US" sz="1800" dirty="0" smtClean="0"/>
              <a:t>间就是一切</a:t>
            </a:r>
            <a:endParaRPr lang="en-US" altLang="zh-CN" sz="18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但如果没之前的人与架构的储备，也没辙</a:t>
            </a:r>
            <a:endParaRPr lang="en-US" altLang="zh-CN" sz="18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/>
              <a:t>需</a:t>
            </a:r>
            <a:r>
              <a:rPr lang="zh-CN" altLang="en-US" sz="1800" dirty="0" smtClean="0"/>
              <a:t>要盟军！</a:t>
            </a:r>
            <a:endParaRPr lang="en-US" altLang="zh-CN" sz="1800" dirty="0" smtClean="0"/>
          </a:p>
          <a:p>
            <a:pPr marL="919163" lvl="2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XCERT</a:t>
            </a:r>
            <a:r>
              <a:rPr lang="zh-CN" altLang="en-US" sz="1600" dirty="0" smtClean="0"/>
              <a:t>、各类媒体、国家机关</a:t>
            </a:r>
            <a:r>
              <a:rPr lang="en-US" altLang="zh-CN" sz="1600" dirty="0" smtClean="0"/>
              <a:t>...</a:t>
            </a:r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/>
              <a:t>我</a:t>
            </a:r>
            <a:r>
              <a:rPr lang="zh-CN" altLang="en-US" sz="1800" dirty="0" smtClean="0"/>
              <a:t>们的核心心得：粗暴美学</a:t>
            </a:r>
            <a:endParaRPr lang="en-US" altLang="zh-CN" sz="1800" dirty="0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心脏出血里的情报经验 </a:t>
            </a:r>
            <a:r>
              <a:rPr lang="en-US" altLang="zh-CN" dirty="0" smtClean="0"/>
              <a:t>- </a:t>
            </a:r>
            <a:r>
              <a:rPr lang="zh-CN" altLang="en-US" dirty="0" smtClean="0"/>
              <a:t>小结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</a:t>
            </a:r>
            <a:r>
              <a:rPr lang="zh-CN" altLang="en-US" dirty="0" smtClean="0"/>
              <a:t>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8916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>
          <a:xfrm>
            <a:off x="179512" y="3626523"/>
            <a:ext cx="8208268" cy="379087"/>
          </a:xfrm>
        </p:spPr>
        <p:txBody>
          <a:bodyPr/>
          <a:lstStyle/>
          <a:p>
            <a:pPr algn="ctr"/>
            <a:r>
              <a:rPr lang="zh-CN" altLang="en-US" dirty="0" smtClean="0"/>
              <a:t>之</a:t>
            </a:r>
            <a:r>
              <a:rPr lang="en-US" altLang="zh-CN" dirty="0" err="1" smtClean="0"/>
              <a:t>NoSQL</a:t>
            </a:r>
            <a:r>
              <a:rPr lang="zh-CN" altLang="en-US" dirty="0" smtClean="0"/>
              <a:t>之殇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>
          <a:xfrm>
            <a:off x="180501" y="2996952"/>
            <a:ext cx="8206635" cy="534059"/>
          </a:xfrm>
        </p:spPr>
        <p:txBody>
          <a:bodyPr/>
          <a:lstStyle/>
          <a:p>
            <a:pPr algn="ctr"/>
            <a:r>
              <a:rPr lang="zh-CN" altLang="en-US" dirty="0"/>
              <a:t>枚举暗物质与对应的情报经验</a:t>
            </a:r>
          </a:p>
        </p:txBody>
      </p:sp>
    </p:spTree>
    <p:extLst>
      <p:ext uri="{BB962C8B-B14F-4D97-AF65-F5344CB8AC3E}">
        <p14:creationId xmlns:p14="http://schemas.microsoft.com/office/powerpoint/2010/main" val="2753026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那些主流的</a:t>
            </a:r>
            <a:r>
              <a:rPr lang="en-US" altLang="zh-CN" sz="2000" dirty="0" err="1" smtClean="0"/>
              <a:t>NoSQL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en-US" altLang="zh-CN" sz="1800" dirty="0" err="1" smtClean="0"/>
              <a:t>Redis</a:t>
            </a:r>
            <a:r>
              <a:rPr lang="zh-CN" altLang="en-US" sz="1800" dirty="0" smtClean="0"/>
              <a:t>、</a:t>
            </a:r>
            <a:r>
              <a:rPr lang="en-US" altLang="zh-CN" sz="1800" dirty="0" err="1" smtClean="0"/>
              <a:t>Memcached</a:t>
            </a:r>
            <a:r>
              <a:rPr lang="zh-CN" altLang="en-US" sz="1800" dirty="0" smtClean="0"/>
              <a:t>、</a:t>
            </a:r>
            <a:r>
              <a:rPr lang="en-US" altLang="zh-CN" sz="1800" dirty="0" err="1" smtClean="0"/>
              <a:t>MongoDB</a:t>
            </a:r>
            <a:r>
              <a:rPr lang="zh-CN" altLang="en-US" sz="1800" dirty="0" smtClean="0"/>
              <a:t>、</a:t>
            </a:r>
            <a:r>
              <a:rPr lang="en-US" altLang="zh-CN" sz="1800" dirty="0" err="1" smtClean="0"/>
              <a:t>ElasticSearch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...</a:t>
            </a:r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无认证或脆弱的认证机制或远程任意命令执行等漏洞</a:t>
            </a:r>
            <a:r>
              <a:rPr lang="en-US" altLang="zh-CN" sz="1800" dirty="0" smtClean="0"/>
              <a:t>...</a:t>
            </a:r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/>
              <a:t>储</a:t>
            </a:r>
            <a:r>
              <a:rPr lang="zh-CN" altLang="en-US" sz="1800" dirty="0" smtClean="0"/>
              <a:t>备大量敏感数据</a:t>
            </a:r>
            <a:endParaRPr lang="en-US" altLang="zh-C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 err="1" smtClean="0"/>
              <a:t>NoSQL</a:t>
            </a:r>
            <a:r>
              <a:rPr lang="zh-CN" altLang="en-US" dirty="0" smtClean="0"/>
              <a:t>之殇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</a:t>
            </a:r>
            <a:r>
              <a:rPr lang="zh-CN" altLang="en-US" dirty="0" smtClean="0"/>
              <a:t>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4483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 err="1" smtClean="0"/>
              <a:t>NoSQL</a:t>
            </a:r>
            <a:r>
              <a:rPr lang="zh-CN" altLang="en-US" dirty="0" smtClean="0"/>
              <a:t>之殇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枚举暗物质与对应的情报经验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553" y="2204864"/>
            <a:ext cx="6172200" cy="38290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1934775"/>
            <a:ext cx="6219825" cy="3886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" y="3161506"/>
            <a:ext cx="8143875" cy="25717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640" y="2564904"/>
            <a:ext cx="7000875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47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比如：某厂</a:t>
            </a:r>
            <a:r>
              <a:rPr lang="en-US" altLang="zh-CN" sz="2000" dirty="0" err="1" smtClean="0"/>
              <a:t>Redis</a:t>
            </a:r>
            <a:r>
              <a:rPr lang="zh-CN" altLang="en-US" sz="2000" dirty="0" smtClean="0"/>
              <a:t>里百万用户隐私数据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 err="1" smtClean="0"/>
              <a:t>NoSQL</a:t>
            </a:r>
            <a:r>
              <a:rPr lang="zh-CN" altLang="en-US" dirty="0" smtClean="0"/>
              <a:t>之殇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枚举暗物质与对应的情报经验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2" y="3164383"/>
            <a:ext cx="8991102" cy="206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634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比如：</a:t>
            </a:r>
            <a:r>
              <a:rPr lang="zh-CN" altLang="en-US" sz="2000" dirty="0"/>
              <a:t>全</a:t>
            </a:r>
            <a:r>
              <a:rPr lang="zh-CN" altLang="en-US" sz="2000" dirty="0" smtClean="0"/>
              <a:t>球</a:t>
            </a:r>
            <a:r>
              <a:rPr lang="en-US" altLang="zh-CN" sz="2000" dirty="0" err="1" smtClean="0"/>
              <a:t>MongoDB</a:t>
            </a:r>
            <a:r>
              <a:rPr lang="zh-CN" altLang="en-US" sz="2000" dirty="0" smtClean="0"/>
              <a:t>的一组最新统计数据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- </a:t>
            </a:r>
            <a:r>
              <a:rPr lang="en-US" altLang="zh-CN" sz="2000" dirty="0" err="1" smtClean="0"/>
              <a:t>ZoomEye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至少</a:t>
            </a:r>
            <a:r>
              <a:rPr lang="en-US" altLang="zh-CN" sz="1800" dirty="0" smtClean="0"/>
              <a:t>4.7</a:t>
            </a:r>
            <a:r>
              <a:rPr lang="zh-CN" altLang="en-US" sz="1800" dirty="0" smtClean="0"/>
              <a:t>万个</a:t>
            </a:r>
            <a:r>
              <a:rPr lang="en-US" altLang="zh-CN" sz="1800" dirty="0" err="1" smtClean="0"/>
              <a:t>MongoDB</a:t>
            </a:r>
            <a:r>
              <a:rPr lang="en-US" altLang="zh-CN" sz="1800" dirty="0" smtClean="0"/>
              <a:t> </a:t>
            </a:r>
            <a:r>
              <a:rPr lang="en-US" altLang="zh-CN" sz="1800" dirty="0" smtClean="0"/>
              <a:t>IP</a:t>
            </a:r>
            <a:r>
              <a:rPr lang="zh-CN" altLang="en-US" sz="1800" dirty="0" smtClean="0"/>
              <a:t>在网络空间里暴露</a:t>
            </a:r>
            <a:endParaRPr lang="en-US" altLang="zh-CN" sz="18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/>
              <a:t>无</a:t>
            </a:r>
            <a:r>
              <a:rPr lang="zh-CN" altLang="en-US" sz="1800" dirty="0" smtClean="0"/>
              <a:t>口令的至少有</a:t>
            </a:r>
            <a:r>
              <a:rPr lang="en-US" altLang="zh-CN" sz="1800" dirty="0" smtClean="0"/>
              <a:t>3.8</a:t>
            </a:r>
            <a:r>
              <a:rPr lang="zh-CN" altLang="en-US" sz="1800" dirty="0" smtClean="0"/>
              <a:t>万</a:t>
            </a:r>
            <a:r>
              <a:rPr lang="en-US" altLang="zh-CN" sz="1800" dirty="0" smtClean="0"/>
              <a:t>IP</a:t>
            </a:r>
            <a:r>
              <a:rPr lang="zh-CN" altLang="en-US" sz="1800" dirty="0" smtClean="0"/>
              <a:t>，其</a:t>
            </a:r>
            <a:r>
              <a:rPr lang="zh-CN" altLang="en-US" sz="1800" dirty="0" smtClean="0"/>
              <a:t>中</a:t>
            </a:r>
            <a:r>
              <a:rPr lang="en-US" altLang="zh-CN" sz="1800" dirty="0" smtClean="0"/>
              <a:t>6</a:t>
            </a:r>
            <a:r>
              <a:rPr lang="en-US" altLang="zh-CN" sz="1800" dirty="0" smtClean="0"/>
              <a:t>.7</a:t>
            </a:r>
            <a:r>
              <a:rPr lang="zh-CN" altLang="en-US" sz="1800" dirty="0" smtClean="0"/>
              <a:t>万</a:t>
            </a:r>
            <a:r>
              <a:rPr lang="zh-CN" altLang="en-US" sz="1800" dirty="0" smtClean="0"/>
              <a:t>个</a:t>
            </a:r>
            <a:r>
              <a:rPr lang="en-US" altLang="zh-CN" sz="1800" dirty="0" smtClean="0"/>
              <a:t>DB</a:t>
            </a:r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/>
              <a:t>数</a:t>
            </a:r>
            <a:r>
              <a:rPr lang="zh-CN" altLang="en-US" sz="1800" dirty="0" smtClean="0"/>
              <a:t>据总量至</a:t>
            </a:r>
            <a:r>
              <a:rPr lang="zh-CN" altLang="en-US" sz="1800" dirty="0" smtClean="0"/>
              <a:t>少</a:t>
            </a:r>
            <a:r>
              <a:rPr lang="en-US" altLang="zh-CN" sz="1800" dirty="0" smtClean="0"/>
              <a:t>439</a:t>
            </a:r>
            <a:r>
              <a:rPr lang="en-US" altLang="zh-CN" sz="1800" dirty="0" smtClean="0"/>
              <a:t>TB</a:t>
            </a:r>
            <a:endParaRPr lang="en-US" altLang="zh-CN" sz="1800" dirty="0" smtClean="0"/>
          </a:p>
          <a:p>
            <a:pPr marL="919163" lvl="2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特别注下：</a:t>
            </a:r>
            <a:r>
              <a:rPr lang="en-US" altLang="zh-CN" sz="1600" dirty="0" err="1" smtClean="0"/>
              <a:t>Shodan</a:t>
            </a:r>
            <a:r>
              <a:rPr lang="zh-CN" altLang="en-US" sz="1600" dirty="0" smtClean="0"/>
              <a:t>说将近</a:t>
            </a:r>
            <a:r>
              <a:rPr lang="en-US" altLang="zh-CN" sz="1600" dirty="0" smtClean="0"/>
              <a:t>600TB</a:t>
            </a:r>
            <a:r>
              <a:rPr lang="zh-CN" altLang="en-US" sz="1600" dirty="0" smtClean="0"/>
              <a:t>，实际上大家统计维度不同</a:t>
            </a:r>
            <a:endParaRPr lang="en-US" altLang="zh-CN" sz="1600" dirty="0" smtClean="0"/>
          </a:p>
          <a:p>
            <a:pPr marL="919163" lvl="2">
              <a:buFont typeface="Arial" panose="020B0604020202020204" pitchFamily="34" charset="0"/>
              <a:buChar char="•"/>
            </a:pPr>
            <a:r>
              <a:rPr lang="en-US" altLang="zh-CN" sz="1600" dirty="0" err="1" smtClean="0"/>
              <a:t>Shodan</a:t>
            </a:r>
            <a:r>
              <a:rPr lang="en-US" altLang="zh-CN" sz="1600" dirty="0" smtClean="0"/>
              <a:t>(</a:t>
            </a:r>
            <a:r>
              <a:rPr lang="en-US" altLang="zh-CN" sz="1600" dirty="0" err="1" smtClean="0"/>
              <a:t>listDatabases</a:t>
            </a:r>
            <a:r>
              <a:rPr lang="en-US" altLang="zh-CN" sz="1600" dirty="0" smtClean="0"/>
              <a:t>-&gt;</a:t>
            </a:r>
            <a:r>
              <a:rPr lang="en-US" altLang="zh-CN" sz="1600" dirty="0" err="1" smtClean="0"/>
              <a:t>sizeOnDisk</a:t>
            </a:r>
            <a:r>
              <a:rPr lang="en-US" altLang="zh-CN" sz="1600" dirty="0" smtClean="0"/>
              <a:t>) </a:t>
            </a:r>
            <a:r>
              <a:rPr lang="en-US" altLang="zh-CN" sz="1600" dirty="0" err="1" smtClean="0"/>
              <a:t>vs</a:t>
            </a:r>
            <a:r>
              <a:rPr lang="en-US" altLang="zh-CN" sz="1600" dirty="0"/>
              <a:t> </a:t>
            </a:r>
            <a:r>
              <a:rPr lang="en-US" altLang="zh-CN" sz="1600" dirty="0" err="1"/>
              <a:t>ZoomEye</a:t>
            </a:r>
            <a:r>
              <a:rPr lang="en-US" altLang="zh-CN" sz="1600" dirty="0"/>
              <a:t>(</a:t>
            </a:r>
            <a:r>
              <a:rPr lang="en-US" altLang="zh-CN" sz="1600" dirty="0" err="1"/>
              <a:t>db.stats</a:t>
            </a:r>
            <a:r>
              <a:rPr lang="en-US" altLang="zh-CN" sz="1600" dirty="0" smtClean="0"/>
              <a:t>()-&gt;</a:t>
            </a:r>
            <a:r>
              <a:rPr lang="en-US" altLang="zh-CN" sz="1600" dirty="0" err="1" smtClean="0"/>
              <a:t>storageSize</a:t>
            </a:r>
            <a:r>
              <a:rPr lang="en-US" altLang="zh-CN" sz="1600" dirty="0" smtClean="0"/>
              <a:t>)</a:t>
            </a:r>
          </a:p>
          <a:p>
            <a:pPr marL="919163" lvl="2">
              <a:buFont typeface="Arial" panose="020B0604020202020204" pitchFamily="34" charset="0"/>
              <a:buChar char="•"/>
            </a:pPr>
            <a:r>
              <a:rPr lang="zh-CN" altLang="en-US" sz="1600" dirty="0"/>
              <a:t>严</a:t>
            </a:r>
            <a:r>
              <a:rPr lang="zh-CN" altLang="en-US" sz="1600" dirty="0" smtClean="0"/>
              <a:t>谨来说：</a:t>
            </a:r>
            <a:r>
              <a:rPr lang="en-US" altLang="zh-CN" sz="1600" dirty="0" err="1" smtClean="0"/>
              <a:t>ZoomEye</a:t>
            </a:r>
            <a:r>
              <a:rPr lang="zh-CN" altLang="en-US" sz="1600" dirty="0" smtClean="0"/>
              <a:t>的成果更为震撼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 err="1" smtClean="0"/>
              <a:t>NoSQL</a:t>
            </a:r>
            <a:r>
              <a:rPr lang="zh-CN" altLang="en-US" dirty="0" smtClean="0"/>
              <a:t>之殇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枚举暗物质与对应的情报经验</a:t>
            </a:r>
          </a:p>
        </p:txBody>
      </p:sp>
    </p:spTree>
    <p:extLst>
      <p:ext uri="{BB962C8B-B14F-4D97-AF65-F5344CB8AC3E}">
        <p14:creationId xmlns:p14="http://schemas.microsoft.com/office/powerpoint/2010/main" val="909451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再比如，只需做简单的分析就能发现很多亮点：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色</a:t>
            </a:r>
            <a:r>
              <a:rPr lang="zh-CN" altLang="en-US" sz="1800" dirty="0"/>
              <a:t>情站点</a:t>
            </a:r>
            <a:r>
              <a:rPr lang="zh-CN" altLang="en-US" sz="1800" dirty="0" smtClean="0"/>
              <a:t>，</a:t>
            </a:r>
            <a:r>
              <a:rPr lang="zh-CN" altLang="en-US" sz="1800" dirty="0"/>
              <a:t>包</a:t>
            </a:r>
            <a:r>
              <a:rPr lang="zh-CN" altLang="en-US" sz="1800" dirty="0" smtClean="0"/>
              <a:t>含账号信息</a:t>
            </a:r>
            <a:endParaRPr lang="en-US" altLang="zh-CN" sz="18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/>
              <a:t>若干天涯论坛有关的账号信</a:t>
            </a:r>
            <a:r>
              <a:rPr lang="zh-CN" altLang="en-US" sz="1800" dirty="0" smtClean="0"/>
              <a:t>息</a:t>
            </a:r>
            <a:endParaRPr lang="en-US" altLang="zh-CN" sz="1800" dirty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日</a:t>
            </a:r>
            <a:r>
              <a:rPr lang="zh-CN" altLang="en-US" sz="1800" dirty="0"/>
              <a:t>约交友站，包含账号信</a:t>
            </a:r>
            <a:r>
              <a:rPr lang="zh-CN" altLang="en-US" sz="1800" dirty="0" smtClean="0"/>
              <a:t>息</a:t>
            </a:r>
            <a:endParaRPr lang="en-US" altLang="zh-CN" sz="1800" dirty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在</a:t>
            </a:r>
            <a:r>
              <a:rPr lang="zh-CN" altLang="en-US" sz="1800" dirty="0"/>
              <a:t>线游戏站点，包含账号信</a:t>
            </a:r>
            <a:r>
              <a:rPr lang="zh-CN" altLang="en-US" sz="1800" dirty="0" smtClean="0"/>
              <a:t>息</a:t>
            </a:r>
            <a:endParaRPr lang="en-US" altLang="zh-CN" sz="1800" dirty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提</a:t>
            </a:r>
            <a:r>
              <a:rPr lang="zh-CN" altLang="en-US" sz="1800" dirty="0"/>
              <a:t>供在线预约车位服务的站点，包含账号信</a:t>
            </a:r>
            <a:r>
              <a:rPr lang="zh-CN" altLang="en-US" sz="1800" dirty="0" smtClean="0"/>
              <a:t>息</a:t>
            </a:r>
            <a:endParaRPr lang="en-US" altLang="zh-CN" sz="1800" dirty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包含「微</a:t>
            </a:r>
            <a:r>
              <a:rPr lang="zh-CN" altLang="en-US" sz="1800" dirty="0"/>
              <a:t>信玩家奖</a:t>
            </a:r>
            <a:r>
              <a:rPr lang="zh-CN" altLang="en-US" sz="1800" dirty="0" smtClean="0"/>
              <a:t>励」等</a:t>
            </a:r>
            <a:r>
              <a:rPr lang="zh-CN" altLang="en-US" sz="1800" dirty="0"/>
              <a:t>字符，最大表</a:t>
            </a:r>
            <a:r>
              <a:rPr lang="en-US" altLang="zh-CN" sz="1800" dirty="0" err="1"/>
              <a:t>appUser.mail</a:t>
            </a:r>
            <a:r>
              <a:rPr lang="zh-CN" altLang="en-US" sz="1800" dirty="0"/>
              <a:t>，行数</a:t>
            </a:r>
            <a:r>
              <a:rPr lang="en-US" altLang="zh-CN" sz="1800" dirty="0" smtClean="0"/>
              <a:t>685374</a:t>
            </a:r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包</a:t>
            </a:r>
            <a:r>
              <a:rPr lang="zh-CN" altLang="en-US" sz="1800" dirty="0"/>
              <a:t>含手机用户的支付日志（手机型号、系统版本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IP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MAC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IMEI</a:t>
            </a:r>
            <a:r>
              <a:rPr lang="zh-CN" altLang="en-US" sz="1800" dirty="0" smtClean="0"/>
              <a:t>等）</a:t>
            </a:r>
            <a:endParaRPr lang="en-US" altLang="zh-CN" sz="1800" dirty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订餐</a:t>
            </a:r>
            <a:r>
              <a:rPr lang="en-US" altLang="zh-CN" sz="1800" dirty="0" smtClean="0"/>
              <a:t>App</a:t>
            </a:r>
            <a:r>
              <a:rPr lang="zh-CN" altLang="en-US" sz="1800" dirty="0"/>
              <a:t>的数据库，其中包</a:t>
            </a:r>
            <a:r>
              <a:rPr lang="zh-CN" altLang="en-US" sz="1800" dirty="0" smtClean="0"/>
              <a:t>括账号信息</a:t>
            </a:r>
            <a:endParaRPr lang="en-US" altLang="zh-CN" sz="1800" dirty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en-US" altLang="zh-CN" sz="1800" dirty="0" smtClean="0"/>
              <a:t>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 err="1" smtClean="0"/>
              <a:t>NoSQL</a:t>
            </a:r>
            <a:r>
              <a:rPr lang="zh-CN" altLang="en-US" dirty="0" smtClean="0"/>
              <a:t>之殇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枚举暗物质与对应的情报经验</a:t>
            </a:r>
          </a:p>
        </p:txBody>
      </p:sp>
    </p:spTree>
    <p:extLst>
      <p:ext uri="{BB962C8B-B14F-4D97-AF65-F5344CB8AC3E}">
        <p14:creationId xmlns:p14="http://schemas.microsoft.com/office/powerpoint/2010/main" val="353555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这么</a:t>
            </a:r>
            <a:r>
              <a:rPr lang="zh-CN" altLang="en-US" sz="2000" dirty="0" smtClean="0"/>
              <a:t>多数据（秒</a:t>
            </a:r>
            <a:r>
              <a:rPr lang="en-US" altLang="zh-CN" sz="2000" dirty="0" smtClean="0"/>
              <a:t>PB</a:t>
            </a:r>
            <a:r>
              <a:rPr lang="zh-CN" altLang="en-US" sz="2000" dirty="0" smtClean="0"/>
              <a:t>），你有何感想？</a:t>
            </a:r>
            <a:endParaRPr lang="en-US" altLang="zh-CN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 err="1"/>
              <a:t>NoSQL</a:t>
            </a:r>
            <a:r>
              <a:rPr lang="zh-CN" altLang="en-US" dirty="0"/>
              <a:t>之</a:t>
            </a:r>
            <a:r>
              <a:rPr lang="zh-CN" altLang="en-US" dirty="0" smtClean="0"/>
              <a:t>殇 </a:t>
            </a:r>
            <a:r>
              <a:rPr lang="en-US" altLang="zh-CN" dirty="0" smtClean="0"/>
              <a:t>- </a:t>
            </a:r>
            <a:r>
              <a:rPr lang="zh-CN" altLang="en-US" dirty="0" smtClean="0"/>
              <a:t>小结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枚举暗物质与对应的情报经验</a:t>
            </a:r>
          </a:p>
        </p:txBody>
      </p:sp>
    </p:spTree>
    <p:extLst>
      <p:ext uri="{BB962C8B-B14F-4D97-AF65-F5344CB8AC3E}">
        <p14:creationId xmlns:p14="http://schemas.microsoft.com/office/powerpoint/2010/main" val="1592093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组件识别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组件之间的层级关系，比如</a:t>
            </a:r>
            <a:r>
              <a:rPr lang="en-US" altLang="zh-CN" sz="2000" dirty="0" smtClean="0"/>
              <a:t>Web</a:t>
            </a:r>
            <a:r>
              <a:rPr lang="zh-CN" altLang="en-US" sz="2000" dirty="0" smtClean="0"/>
              <a:t>组件的</a:t>
            </a:r>
            <a:r>
              <a:rPr lang="en-US" altLang="zh-CN" sz="2000" dirty="0" smtClean="0"/>
              <a:t>8+1</a:t>
            </a:r>
            <a:r>
              <a:rPr lang="zh-CN" altLang="en-US" sz="2000" dirty="0" smtClean="0"/>
              <a:t>层结构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组件高一维度的设备信息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设备之间的网络层级关系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设备高一维度的使用方信息（人）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人高一维度的社交信息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物理位置信息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漏洞信息 </a:t>
            </a:r>
            <a:r>
              <a:rPr lang="en-US" altLang="zh-CN" sz="2000" dirty="0" smtClean="0"/>
              <a:t>- </a:t>
            </a:r>
            <a:r>
              <a:rPr lang="zh-CN" altLang="en-US" sz="2000" dirty="0" smtClean="0"/>
              <a:t>开启上帝视角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 smtClean="0"/>
              <a:t>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 smtClean="0"/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真正的透视需</a:t>
            </a:r>
            <a:r>
              <a:rPr lang="zh-CN" altLang="en-US" dirty="0"/>
              <a:t>要做到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zh-CN" dirty="0" smtClean="0"/>
              <a:t>[</a:t>
            </a:r>
            <a:r>
              <a:rPr lang="zh-CN" altLang="en-US" dirty="0" smtClean="0"/>
              <a:t>回忆</a:t>
            </a:r>
            <a:r>
              <a:rPr lang="en-US" altLang="zh-CN" dirty="0" smtClean="0"/>
              <a:t>]</a:t>
            </a:r>
            <a:r>
              <a:rPr lang="zh-CN" altLang="en-US" dirty="0" smtClean="0"/>
              <a:t>透视网络空间</a:t>
            </a:r>
            <a:endParaRPr lang="zh-CN" altLang="en-US" dirty="0"/>
          </a:p>
        </p:txBody>
      </p:sp>
      <p:pic>
        <p:nvPicPr>
          <p:cNvPr id="6" name="Picture 2" descr="http://i16.static.olcdn.com/766app_ku/201204/13/Z3Vlc3Q=_7264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852" y="3140968"/>
            <a:ext cx="4762356" cy="3571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1127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这么</a:t>
            </a:r>
            <a:r>
              <a:rPr lang="zh-CN" altLang="en-US" sz="2000" dirty="0" smtClean="0"/>
              <a:t>多数据（秒</a:t>
            </a:r>
            <a:r>
              <a:rPr lang="en-US" altLang="zh-CN" sz="2000" dirty="0" smtClean="0"/>
              <a:t>PB</a:t>
            </a:r>
            <a:r>
              <a:rPr lang="zh-CN" altLang="en-US" sz="2000" dirty="0" smtClean="0"/>
              <a:t>），你有何感想？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别问了！我只想静静！</a:t>
            </a:r>
            <a:endParaRPr lang="en-US" altLang="zh-C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 err="1"/>
              <a:t>NoSQL</a:t>
            </a:r>
            <a:r>
              <a:rPr lang="zh-CN" altLang="en-US" dirty="0"/>
              <a:t>之</a:t>
            </a:r>
            <a:r>
              <a:rPr lang="zh-CN" altLang="en-US" dirty="0" smtClean="0"/>
              <a:t>殇 </a:t>
            </a:r>
            <a:r>
              <a:rPr lang="en-US" altLang="zh-CN" dirty="0" smtClean="0"/>
              <a:t>- </a:t>
            </a:r>
            <a:r>
              <a:rPr lang="zh-CN" altLang="en-US" dirty="0" smtClean="0"/>
              <a:t>小结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枚举暗物质与对应的情报经验</a:t>
            </a:r>
          </a:p>
        </p:txBody>
      </p:sp>
    </p:spTree>
    <p:extLst>
      <p:ext uri="{BB962C8B-B14F-4D97-AF65-F5344CB8AC3E}">
        <p14:creationId xmlns:p14="http://schemas.microsoft.com/office/powerpoint/2010/main" val="3106580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>
          <a:xfrm>
            <a:off x="179512" y="3626523"/>
            <a:ext cx="8208268" cy="379087"/>
          </a:xfrm>
        </p:spPr>
        <p:txBody>
          <a:bodyPr/>
          <a:lstStyle/>
          <a:p>
            <a:pPr algn="ctr"/>
            <a:r>
              <a:rPr lang="zh-CN" altLang="en-US" dirty="0" smtClean="0"/>
              <a:t>之</a:t>
            </a:r>
            <a:r>
              <a:rPr lang="zh-CN" altLang="en-US" dirty="0"/>
              <a:t>轻松一刻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>
          <a:xfrm>
            <a:off x="180501" y="2996952"/>
            <a:ext cx="8206635" cy="534059"/>
          </a:xfrm>
        </p:spPr>
        <p:txBody>
          <a:bodyPr/>
          <a:lstStyle/>
          <a:p>
            <a:pPr algn="ctr"/>
            <a:r>
              <a:rPr lang="zh-CN" altLang="en-US" dirty="0"/>
              <a:t>枚举暗物质与对应的情报经验</a:t>
            </a:r>
          </a:p>
        </p:txBody>
      </p:sp>
    </p:spTree>
    <p:extLst>
      <p:ext uri="{BB962C8B-B14F-4D97-AF65-F5344CB8AC3E}">
        <p14:creationId xmlns:p14="http://schemas.microsoft.com/office/powerpoint/2010/main" val="1386814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那些技巧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子</a:t>
            </a:r>
            <a:r>
              <a:rPr lang="zh-CN" altLang="en-US" sz="1800" dirty="0"/>
              <a:t>域名的</a:t>
            </a:r>
            <a:r>
              <a:rPr lang="en-US" altLang="zh-CN" sz="1800" dirty="0"/>
              <a:t>IP</a:t>
            </a:r>
            <a:r>
              <a:rPr lang="zh-CN" altLang="en-US" sz="1800" dirty="0"/>
              <a:t>如果不在</a:t>
            </a:r>
            <a:r>
              <a:rPr lang="en-US" altLang="zh-CN" sz="1800" dirty="0"/>
              <a:t>CDN</a:t>
            </a:r>
            <a:r>
              <a:rPr lang="zh-CN" altLang="en-US" sz="1800" dirty="0"/>
              <a:t>后面，那么</a:t>
            </a:r>
            <a:r>
              <a:rPr lang="en-US" altLang="zh-CN" sz="1800" dirty="0"/>
              <a:t>C</a:t>
            </a:r>
            <a:r>
              <a:rPr lang="zh-CN" altLang="en-US" sz="1800" dirty="0"/>
              <a:t>段一般可以发现目标域名的真实</a:t>
            </a:r>
            <a:r>
              <a:rPr lang="en-US" altLang="zh-CN" sz="1800" dirty="0" smtClean="0"/>
              <a:t>IP</a:t>
            </a:r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目</a:t>
            </a:r>
            <a:r>
              <a:rPr lang="zh-CN" altLang="en-US" sz="1800" dirty="0"/>
              <a:t>标域名如果有发邮件功能，查看邮件的详情，可能可以发现真实</a:t>
            </a:r>
            <a:r>
              <a:rPr lang="en-US" altLang="zh-CN" sz="1800" dirty="0" smtClean="0"/>
              <a:t>IP</a:t>
            </a:r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如</a:t>
            </a:r>
            <a:r>
              <a:rPr lang="zh-CN" altLang="en-US" sz="1800" dirty="0"/>
              <a:t>果目标网站有</a:t>
            </a:r>
            <a:r>
              <a:rPr lang="en-US" altLang="zh-CN" sz="1800" dirty="0" err="1"/>
              <a:t>phpinfo</a:t>
            </a:r>
            <a:r>
              <a:rPr lang="zh-CN" altLang="en-US" sz="1800" dirty="0"/>
              <a:t>这类的探针，也会暴</a:t>
            </a:r>
            <a:r>
              <a:rPr lang="zh-CN" altLang="en-US" sz="1800" dirty="0" smtClean="0"/>
              <a:t>露</a:t>
            </a:r>
            <a:endParaRPr lang="en-US" altLang="zh-CN" sz="18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如</a:t>
            </a:r>
            <a:r>
              <a:rPr lang="zh-CN" altLang="en-US" sz="1800" dirty="0"/>
              <a:t>果目标网站有相关漏洞可以执行系统命</a:t>
            </a:r>
            <a:r>
              <a:rPr lang="zh-CN" altLang="en-US" sz="1800" dirty="0" smtClean="0"/>
              <a:t>令或</a:t>
            </a:r>
            <a:r>
              <a:rPr lang="zh-CN" altLang="en-US" sz="1800" dirty="0"/>
              <a:t>系统报</a:t>
            </a:r>
            <a:r>
              <a:rPr lang="zh-CN" altLang="en-US" sz="1800" dirty="0" smtClean="0"/>
              <a:t>错等，</a:t>
            </a:r>
            <a:r>
              <a:rPr lang="zh-CN" altLang="en-US" sz="1800" dirty="0"/>
              <a:t>也有可能暴露真实</a:t>
            </a:r>
            <a:r>
              <a:rPr lang="en-US" altLang="zh-CN" sz="1800" dirty="0" smtClean="0"/>
              <a:t>IP</a:t>
            </a:r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善于</a:t>
            </a:r>
            <a:r>
              <a:rPr lang="en-US" altLang="zh-CN" sz="1800" dirty="0" smtClean="0"/>
              <a:t>Google</a:t>
            </a:r>
            <a:r>
              <a:rPr lang="zh-CN" altLang="en-US" sz="1800" dirty="0" smtClean="0"/>
              <a:t>，可能可以发现某些平台的历史记录里有真实</a:t>
            </a:r>
            <a:r>
              <a:rPr lang="en-US" altLang="zh-CN" sz="1800" dirty="0" smtClean="0"/>
              <a:t>IP</a:t>
            </a:r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善</a:t>
            </a:r>
            <a:r>
              <a:rPr lang="zh-CN" altLang="en-US" sz="1800" dirty="0"/>
              <a:t>于</a:t>
            </a:r>
            <a:r>
              <a:rPr lang="en-US" altLang="zh-CN" sz="1800" dirty="0" err="1"/>
              <a:t>whois</a:t>
            </a:r>
            <a:r>
              <a:rPr lang="zh-CN" altLang="en-US" sz="1800" dirty="0"/>
              <a:t>反查目标域名，一般会发现同一个人注册的多个域名，相似域名有可能是一个</a:t>
            </a:r>
            <a:r>
              <a:rPr lang="en-US" altLang="zh-CN" sz="1800" dirty="0"/>
              <a:t>IP</a:t>
            </a:r>
            <a:r>
              <a:rPr lang="zh-CN" altLang="en-US" sz="1800" dirty="0"/>
              <a:t>上或一个</a:t>
            </a:r>
            <a:r>
              <a:rPr lang="en-US" altLang="zh-CN" sz="1800" dirty="0"/>
              <a:t>C</a:t>
            </a:r>
            <a:r>
              <a:rPr lang="zh-CN" altLang="en-US" sz="1800" dirty="0" smtClean="0"/>
              <a:t>段</a:t>
            </a:r>
            <a:endParaRPr lang="en-US" altLang="zh-CN" sz="18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en-US" altLang="zh-CN" sz="1800" dirty="0" err="1" smtClean="0"/>
              <a:t>DDoS</a:t>
            </a:r>
            <a:r>
              <a:rPr lang="zh-CN" altLang="en-US" sz="1800" dirty="0"/>
              <a:t>打过去，一般流量够大，</a:t>
            </a:r>
            <a:r>
              <a:rPr lang="en-US" altLang="zh-CN" sz="1800" dirty="0"/>
              <a:t>CDN</a:t>
            </a:r>
            <a:r>
              <a:rPr lang="zh-CN" altLang="en-US" sz="1800" dirty="0"/>
              <a:t>平台如果对目标域名做回源处理那么就会暴露真实</a:t>
            </a:r>
            <a:r>
              <a:rPr lang="en-US" altLang="zh-CN" sz="1800" dirty="0" smtClean="0"/>
              <a:t>IP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/>
              <a:t>得</a:t>
            </a:r>
            <a:r>
              <a:rPr lang="zh-CN" altLang="en-US" dirty="0" smtClean="0"/>
              <a:t>到</a:t>
            </a:r>
            <a:r>
              <a:rPr lang="en-US" altLang="zh-CN" dirty="0" smtClean="0"/>
              <a:t>CDN</a:t>
            </a:r>
            <a:r>
              <a:rPr lang="zh-CN" altLang="en-US" dirty="0" smtClean="0"/>
              <a:t>背后网站的真实</a:t>
            </a:r>
            <a:r>
              <a:rPr lang="en-US" altLang="zh-CN" dirty="0" smtClean="0"/>
              <a:t>IP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</a:t>
            </a:r>
            <a:r>
              <a:rPr lang="zh-CN" altLang="en-US" dirty="0" smtClean="0"/>
              <a:t>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2952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>
          <a:xfrm>
            <a:off x="250826" y="1934775"/>
            <a:ext cx="3817118" cy="43739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一般真实</a:t>
            </a:r>
            <a:r>
              <a:rPr lang="en-US" altLang="zh-CN" sz="2000" dirty="0"/>
              <a:t>IP</a:t>
            </a:r>
            <a:r>
              <a:rPr lang="zh-CN" altLang="en-US" sz="2000" dirty="0"/>
              <a:t>会做</a:t>
            </a:r>
            <a:r>
              <a:rPr lang="en-US" altLang="zh-CN" sz="2000" dirty="0"/>
              <a:t>302</a:t>
            </a:r>
            <a:r>
              <a:rPr lang="zh-CN" altLang="en-US" sz="2000" dirty="0"/>
              <a:t>跳到对应的域名，所以在</a:t>
            </a:r>
            <a:r>
              <a:rPr lang="en-US" altLang="zh-CN" sz="2000" dirty="0" err="1"/>
              <a:t>ZoomEye</a:t>
            </a:r>
            <a:r>
              <a:rPr lang="zh-CN" altLang="en-US" sz="2000" dirty="0"/>
              <a:t>里搜相关域名，如</a:t>
            </a:r>
            <a:r>
              <a:rPr lang="en-US" altLang="zh-CN" sz="2000" dirty="0"/>
              <a:t>"</a:t>
            </a:r>
            <a:r>
              <a:rPr lang="en-US" altLang="zh-CN" sz="2000" dirty="0" smtClean="0"/>
              <a:t>xxx.net"</a:t>
            </a:r>
            <a:r>
              <a:rPr lang="zh-CN" altLang="en-US" sz="2000" dirty="0" smtClean="0"/>
              <a:t>，就</a:t>
            </a:r>
            <a:r>
              <a:rPr lang="zh-CN" altLang="en-US" sz="2000" dirty="0"/>
              <a:t>有可能发现真实</a:t>
            </a:r>
            <a:r>
              <a:rPr lang="en-US" altLang="zh-CN" sz="2000" dirty="0"/>
              <a:t>IP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/>
              <a:t>得</a:t>
            </a:r>
            <a:r>
              <a:rPr lang="zh-CN" altLang="en-US" dirty="0" smtClean="0"/>
              <a:t>到</a:t>
            </a:r>
            <a:r>
              <a:rPr lang="en-US" altLang="zh-CN" dirty="0" smtClean="0"/>
              <a:t>CDN</a:t>
            </a:r>
            <a:r>
              <a:rPr lang="zh-CN" altLang="en-US" dirty="0" smtClean="0"/>
              <a:t>背后网站的真实</a:t>
            </a:r>
            <a:r>
              <a:rPr lang="en-US" altLang="zh-CN" dirty="0" smtClean="0"/>
              <a:t>IP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</a:t>
            </a:r>
            <a:r>
              <a:rPr lang="zh-CN" altLang="en-US" dirty="0" smtClean="0"/>
              <a:t>验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4326" y="1707989"/>
            <a:ext cx="4892170" cy="495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02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这种技巧对于渗透测试来说是很需要的</a:t>
            </a:r>
            <a:endParaRPr lang="en-US" altLang="zh-CN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为了真的做好用户网站安全，需要考虑这类情报的获取</a:t>
            </a:r>
            <a:endParaRPr lang="en-US" altLang="zh-CN" sz="2000" dirty="0" smtClean="0"/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/>
              <a:t>得到</a:t>
            </a:r>
            <a:r>
              <a:rPr lang="en-US" altLang="zh-CN" dirty="0"/>
              <a:t>CDN</a:t>
            </a:r>
            <a:r>
              <a:rPr lang="zh-CN" altLang="en-US" dirty="0"/>
              <a:t>背后网站的真实</a:t>
            </a:r>
            <a:r>
              <a:rPr lang="en-US" altLang="zh-CN" dirty="0"/>
              <a:t>IP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枚举暗物质与对应的情报经验</a:t>
            </a:r>
          </a:p>
        </p:txBody>
      </p:sp>
    </p:spTree>
    <p:extLst>
      <p:ext uri="{BB962C8B-B14F-4D97-AF65-F5344CB8AC3E}">
        <p14:creationId xmlns:p14="http://schemas.microsoft.com/office/powerpoint/2010/main" val="3213290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/>
              <a:t>说说</a:t>
            </a:r>
            <a:r>
              <a:rPr lang="en-US" altLang="zh-CN" dirty="0" smtClean="0"/>
              <a:t>Google IP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枚举暗物质与对应的情报经验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210" y="2173887"/>
            <a:ext cx="9229725" cy="38957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26" y="1793747"/>
            <a:ext cx="8641654" cy="460342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870" y="3933056"/>
            <a:ext cx="5057775" cy="4953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473" y="4319313"/>
            <a:ext cx="5057775" cy="457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93162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/>
              <a:t>说说</a:t>
            </a:r>
            <a:r>
              <a:rPr lang="en-US" altLang="zh-CN" dirty="0"/>
              <a:t>Google </a:t>
            </a:r>
            <a:r>
              <a:rPr lang="en-US" altLang="zh-CN" dirty="0" smtClean="0"/>
              <a:t>IP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</a:t>
            </a:r>
            <a:r>
              <a:rPr lang="zh-CN" altLang="en-US" dirty="0" smtClean="0"/>
              <a:t>验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828" y="2226275"/>
            <a:ext cx="7105650" cy="37909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2" y="1988840"/>
            <a:ext cx="7915275" cy="42291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662" y="1844824"/>
            <a:ext cx="6924675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20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为什么好好的提这个？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2000" dirty="0"/>
              <a:t>墙已经是一个客观存在，无需避讳，且得正</a:t>
            </a:r>
            <a:r>
              <a:rPr lang="zh-CN" altLang="en-US" sz="2000" dirty="0" smtClean="0"/>
              <a:t>视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在情报的游戏规则里，墙是个可以被突破的障碍</a:t>
            </a:r>
            <a:endParaRPr lang="en-US" altLang="zh-CN" sz="2000" dirty="0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/>
              <a:t>说</a:t>
            </a:r>
            <a:r>
              <a:rPr lang="zh-CN" altLang="en-US" dirty="0" smtClean="0"/>
              <a:t>说</a:t>
            </a:r>
            <a:r>
              <a:rPr lang="en-US" altLang="zh-CN" dirty="0" smtClean="0"/>
              <a:t>Google IP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枚举暗物质与对应的情报经验</a:t>
            </a:r>
          </a:p>
        </p:txBody>
      </p:sp>
    </p:spTree>
    <p:extLst>
      <p:ext uri="{BB962C8B-B14F-4D97-AF65-F5344CB8AC3E}">
        <p14:creationId xmlns:p14="http://schemas.microsoft.com/office/powerpoint/2010/main" val="3878728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网</a:t>
            </a:r>
            <a:r>
              <a:rPr lang="zh-CN" altLang="en-US" sz="2000" dirty="0" smtClean="0"/>
              <a:t>络空间就是一个超级大宝藏，有太多的「暗物质」等着我们去消除</a:t>
            </a:r>
            <a:endParaRPr lang="en-US" altLang="zh-CN" sz="2000" dirty="0" smtClean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2000" dirty="0"/>
              <a:t>这</a:t>
            </a:r>
            <a:r>
              <a:rPr lang="zh-CN" altLang="en-US" sz="2000" dirty="0" smtClean="0"/>
              <a:t>次的分享仅仅是冰山一角</a:t>
            </a:r>
            <a:endParaRPr lang="en-US" altLang="zh-CN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每分每秒都有地下黑客的动静</a:t>
            </a:r>
            <a:endParaRPr lang="en-US" altLang="zh-CN" sz="2000" dirty="0"/>
          </a:p>
          <a:p>
            <a:pPr marL="571500" lvl="1">
              <a:buFont typeface="Arial" panose="020B0604020202020204" pitchFamily="34" charset="0"/>
              <a:buChar char="•"/>
            </a:pPr>
            <a:r>
              <a:rPr lang="zh-CN" altLang="en-US" sz="1800" dirty="0"/>
              <a:t>随便部署一些蜜罐系统即可知</a:t>
            </a:r>
            <a:r>
              <a:rPr lang="zh-CN" altLang="en-US" sz="1800" dirty="0" smtClean="0"/>
              <a:t>道</a:t>
            </a:r>
            <a:endParaRPr lang="en-US" altLang="zh-CN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我们的战场不应该只在我们的服务器集群里，应该在网络空间里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/>
              <a:t>整体</a:t>
            </a:r>
            <a:r>
              <a:rPr lang="zh-CN" altLang="en-US" dirty="0" smtClean="0"/>
              <a:t>小结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枚举暗物质与对应的情报经验</a:t>
            </a:r>
          </a:p>
        </p:txBody>
      </p:sp>
    </p:spTree>
    <p:extLst>
      <p:ext uri="{BB962C8B-B14F-4D97-AF65-F5344CB8AC3E}">
        <p14:creationId xmlns:p14="http://schemas.microsoft.com/office/powerpoint/2010/main" val="298659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/>
              <a:t>意犹未</a:t>
            </a:r>
            <a:r>
              <a:rPr lang="zh-CN" altLang="en-US" dirty="0" smtClean="0"/>
              <a:t>尽？和我们一起踏上征程吧！</a:t>
            </a:r>
            <a:r>
              <a:rPr lang="en-US" altLang="zh-CN" dirty="0" smtClean="0"/>
              <a:t>:)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枚举暗物质与对应的情报经验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25" y="1988840"/>
            <a:ext cx="8034855" cy="468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421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71600" y="2703344"/>
            <a:ext cx="7488188" cy="1143000"/>
          </a:xfrm>
        </p:spPr>
        <p:txBody>
          <a:bodyPr/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Q&amp;A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373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2206</TotalTime>
  <Words>3878</Words>
  <Application>Microsoft Office PowerPoint</Application>
  <PresentationFormat>全屏显示(4:3)</PresentationFormat>
  <Paragraphs>303</Paragraphs>
  <Slides>61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2" baseType="lpstr">
      <vt:lpstr>Adobe 黑体 Std R</vt:lpstr>
      <vt:lpstr>BMW Type Global Pro Regular</vt:lpstr>
      <vt:lpstr>Helvetica LT Light</vt:lpstr>
      <vt:lpstr>黑体</vt:lpstr>
      <vt:lpstr>宋体</vt:lpstr>
      <vt:lpstr>微软雅黑</vt:lpstr>
      <vt:lpstr>Arial</vt:lpstr>
      <vt:lpstr>Arial Black</vt:lpstr>
      <vt:lpstr>Calibri</vt:lpstr>
      <vt:lpstr>Symbol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Q&amp;A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Icy.Cheng</dc:creator>
  <cp:lastModifiedBy>mc hi</cp:lastModifiedBy>
  <cp:revision>263</cp:revision>
  <dcterms:created xsi:type="dcterms:W3CDTF">2015-08-27T11:38:35Z</dcterms:created>
  <dcterms:modified xsi:type="dcterms:W3CDTF">2015-09-29T12:49:31Z</dcterms:modified>
</cp:coreProperties>
</file>