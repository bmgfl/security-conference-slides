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embeddedFontLst>
    <p:embeddedFont>
      <p:font typeface="Roboto"/>
      <p:regular r:id="rId54"/>
      <p:bold r:id="rId55"/>
      <p:italic r:id="rId56"/>
      <p:boldItalic r:id="rId57"/>
    </p:embeddedFont>
    <p:embeddedFont>
      <p:font typeface="Changa"/>
      <p:regular r:id="rId58"/>
      <p:bold r:id="rId59"/>
    </p:embeddedFont>
    <p:embeddedFont>
      <p:font typeface="Roboto Mon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italic.fntdata"/><Relationship Id="rId61" Type="http://schemas.openxmlformats.org/officeDocument/2006/relationships/font" Target="fonts/RobotoMono-bold.fntdata"/><Relationship Id="rId20" Type="http://schemas.openxmlformats.org/officeDocument/2006/relationships/slide" Target="slides/slide15.xml"/><Relationship Id="rId63" Type="http://schemas.openxmlformats.org/officeDocument/2006/relationships/font" Target="fonts/RobotoMon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bold.fntdata"/><Relationship Id="rId10" Type="http://schemas.openxmlformats.org/officeDocument/2006/relationships/slide" Target="slides/slide5.xml"/><Relationship Id="rId54" Type="http://schemas.openxmlformats.org/officeDocument/2006/relationships/font" Target="fonts/Roboto-regular.fntdata"/><Relationship Id="rId13" Type="http://schemas.openxmlformats.org/officeDocument/2006/relationships/slide" Target="slides/slide8.xml"/><Relationship Id="rId57" Type="http://schemas.openxmlformats.org/officeDocument/2006/relationships/font" Target="fonts/Roboto-boldItalic.fntdata"/><Relationship Id="rId12" Type="http://schemas.openxmlformats.org/officeDocument/2006/relationships/slide" Target="slides/slide7.xml"/><Relationship Id="rId56" Type="http://schemas.openxmlformats.org/officeDocument/2006/relationships/font" Target="fonts/Roboto-italic.fntdata"/><Relationship Id="rId15" Type="http://schemas.openxmlformats.org/officeDocument/2006/relationships/slide" Target="slides/slide10.xml"/><Relationship Id="rId59" Type="http://schemas.openxmlformats.org/officeDocument/2006/relationships/font" Target="fonts/Changa-bold.fntdata"/><Relationship Id="rId14" Type="http://schemas.openxmlformats.org/officeDocument/2006/relationships/slide" Target="slides/slide9.xml"/><Relationship Id="rId58" Type="http://schemas.openxmlformats.org/officeDocument/2006/relationships/font" Target="fonts/Changa-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8ed3d785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8ed3d785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8ed3d785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8ed3d785b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58ed3d785b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58ed3d785b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592b1f89d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592b1f89d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5f2670f6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5f2670f6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58ed3d785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58ed3d785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Rapidly spreading destructive malware is found on an integral part of supply chain.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Individual actor finds a patch to this </a:t>
            </a:r>
            <a:r>
              <a:rPr lang="en" u="sng">
                <a:solidFill>
                  <a:schemeClr val="dk1"/>
                </a:solidFill>
              </a:rPr>
              <a:t>vulnerability</a:t>
            </a:r>
            <a:r>
              <a:rPr lang="en">
                <a:solidFill>
                  <a:schemeClr val="dk1"/>
                </a:solidFill>
              </a:rPr>
              <a:t>, and applies it at scale. Patch bricks legacy system in a hospital, shutting down critical patient records and requiring the hospital to reroute patients for 72 hours.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Attacker accepts Pwnie Award the next year “for shits and giggles” (prosecution brings Pwnie organizer as witness). forensic reports from malware link to a cloud service registered under an account that shares cookies with his personal gmail. FBI was able to get a subpoena for the cloud service information. DOJ charges researcher with CFAA Violation.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58ed3d785b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58ed3d785b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Rapidly spreading destructive malware is found on an integral part of supply chain.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Individual actor finds a patch to this </a:t>
            </a:r>
            <a:r>
              <a:rPr lang="en" u="sng">
                <a:solidFill>
                  <a:schemeClr val="dk1"/>
                </a:solidFill>
              </a:rPr>
              <a:t>vulnerability</a:t>
            </a:r>
            <a:r>
              <a:rPr lang="en">
                <a:solidFill>
                  <a:schemeClr val="dk1"/>
                </a:solidFill>
              </a:rPr>
              <a:t>, and applies it at scale. Patch bricks legacy system in a hospital, shutting down critical patient records and requiring the hospital to reroute patients for 72 hours.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Attacker accepts Pwnie Award the next year “for shits and giggles” (prosecution brings Pwnie organizer as witness). forensic reports from malware link to a cloud service registered under an account that shares cookies with his personal gmail. FBI was able to get a subpoena for the cloud service information. DOJ charges researcher with CFAA Violation.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8ed3d785b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8ed3d785b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Hospitals had to reroute patients, some of which were in critical condition.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58ed3d785b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58ed3d785b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39c50cda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39c50cda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58ed3d785b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58ed3d785b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Hospitals had to reroute patients, some of which were in critical condition.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58ed3d78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58ed3d78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1" marL="914400" rtl="0" algn="l">
              <a:lnSpc>
                <a:spcPct val="145454"/>
              </a:lnSpc>
              <a:spcBef>
                <a:spcPts val="2400"/>
              </a:spcBef>
              <a:spcAft>
                <a:spcPts val="0"/>
              </a:spcAft>
              <a:buClr>
                <a:schemeClr val="dk1"/>
              </a:buClr>
              <a:buSzPts val="1100"/>
              <a:buChar char="-"/>
            </a:pPr>
            <a:r>
              <a:rPr lang="en">
                <a:solidFill>
                  <a:schemeClr val="dk1"/>
                </a:solidFill>
              </a:rPr>
              <a:t>Pwnie award screenshot / an actual Pwnie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8ed3d785b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8ed3d785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58ed3d785b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58ed3d785b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Rapidly spreading destructive malware is found on an integral part of supply chain.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Individual actor finds a patch to this </a:t>
            </a:r>
            <a:r>
              <a:rPr lang="en" u="sng">
                <a:solidFill>
                  <a:schemeClr val="dk1"/>
                </a:solidFill>
              </a:rPr>
              <a:t>vulnerability</a:t>
            </a:r>
            <a:r>
              <a:rPr lang="en">
                <a:solidFill>
                  <a:schemeClr val="dk1"/>
                </a:solidFill>
              </a:rPr>
              <a:t>, and applies it at scale. Patch bricks legacy system in a hospital, shutting down critical patient records and requiring the hospital to reroute patients for 72 hours.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Attacker accepts Pwnie Award the next year “for shits and giggles” (prosecution brings Pwnie organizer as witness). forensic reports from malware link to a cloud service registered under an account that shares cookies with his personal gmail. FBI was able to get a subpoena for the cloud service information. DOJ charges researcher with CFAA Violation.</a:t>
            </a:r>
            <a:endParaRPr>
              <a:solidFill>
                <a:schemeClr val="dk1"/>
              </a:solidFill>
            </a:endParaRPr>
          </a:p>
          <a:p>
            <a:pPr indent="0" lvl="0" marL="0" rtl="0" algn="l">
              <a:lnSpc>
                <a:spcPct val="115000"/>
              </a:lnSpc>
              <a:spcBef>
                <a:spcPts val="0"/>
              </a:spcBef>
              <a:spcAft>
                <a:spcPts val="0"/>
              </a:spcAft>
              <a:buNone/>
            </a:pPr>
            <a:br>
              <a:rPr lang="en">
                <a:solidFill>
                  <a:schemeClr val="dk1"/>
                </a:solidFill>
              </a:rPr>
            </a:br>
            <a:r>
              <a:rPr lang="en">
                <a:solidFill>
                  <a:schemeClr val="dk1"/>
                </a:solidFill>
              </a:rPr>
              <a:t>altering the configuration of a computer may be considered “damage” under 1030(e)(8) because it affects the “integrity” of the machine by changing it without the owner’s knowledge or permission.</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58ed3d785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58ed3d785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58ed3d785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58ed3d785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rPr lang="en">
                <a:solidFill>
                  <a:schemeClr val="dk1"/>
                </a:solidFill>
              </a:rPr>
              <a:t>Prosecution: Talks about difference between the two worms</a:t>
            </a:r>
            <a:br>
              <a:rPr lang="en">
                <a:solidFill>
                  <a:schemeClr val="dk1"/>
                </a:solidFill>
              </a:rPr>
            </a:br>
            <a:r>
              <a:rPr lang="en">
                <a:solidFill>
                  <a:schemeClr val="dk1"/>
                </a:solidFill>
              </a:rPr>
              <a:t>Defense: “could have been targeted”</a:t>
            </a:r>
            <a:endParaRPr>
              <a:solidFill>
                <a:schemeClr val="dk1"/>
              </a:solidFill>
            </a:endParaRPr>
          </a:p>
          <a:p>
            <a:pPr indent="0" lvl="0" marL="0" rtl="0" algn="l">
              <a:lnSpc>
                <a:spcPct val="145454"/>
              </a:lnSpc>
              <a:spcBef>
                <a:spcPts val="2400"/>
              </a:spcBef>
              <a:spcAft>
                <a:spcPts val="0"/>
              </a:spcAft>
              <a:buNone/>
            </a:pPr>
            <a:r>
              <a:rPr lang="en">
                <a:solidFill>
                  <a:schemeClr val="dk1"/>
                </a:solidFill>
              </a:rPr>
              <a:t>\Package exploit alongside (authentication protocol -&gt; SMB / RDP) -&gt; port scan validation + exploit code. [implant has no exploitation code, it has ability to execute shellcode. (routes exploit through [wormed where exploit is put on top of implant -&gt; execution guardrails = looking for specific things). [Killswitch - innoculate their own machines against it, check if registry key exists. Worm exploits bug, adds registry key to make sure it won’t spread, won’t stop future infections. Exploitation is BSOD. [smb]</a:t>
            </a:r>
            <a:endParaRPr>
              <a:solidFill>
                <a:schemeClr val="dk1"/>
              </a:solidFill>
            </a:endParaRPr>
          </a:p>
          <a:p>
            <a:pPr indent="0" lvl="0" marL="0" rtl="0" algn="l">
              <a:spcBef>
                <a:spcPts val="0"/>
              </a:spcBef>
              <a:spcAft>
                <a:spcPts val="0"/>
              </a:spcAft>
              <a:buNone/>
            </a:pPr>
            <a:r>
              <a:rPr lang="en"/>
              <a:t>(stable from Win7 - Win11 , exists in Windows XP)</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58ed3d785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58ed3d785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1" marL="914400" rtl="0" algn="l">
              <a:lnSpc>
                <a:spcPct val="145454"/>
              </a:lnSpc>
              <a:spcBef>
                <a:spcPts val="2400"/>
              </a:spcBef>
              <a:spcAft>
                <a:spcPts val="0"/>
              </a:spcAft>
              <a:buClr>
                <a:schemeClr val="dk1"/>
              </a:buClr>
              <a:buSzPts val="1100"/>
              <a:buChar char="-"/>
            </a:pPr>
            <a:r>
              <a:rPr lang="en">
                <a:solidFill>
                  <a:schemeClr val="dk1"/>
                </a:solidFill>
              </a:rPr>
              <a:t>Fake CVE screenshot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39c50cdaa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39c50cdaa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Hospitals had to reroute patients, some of which were in critical condition.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58ed3d785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58ed3d785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us what happened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5f2670f63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5f2670f63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Tell us what happened</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58ed3d785b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58ed3d785b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5f2670f63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5f2670f63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58ed3d785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58ed3d785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rPr lang="en">
                <a:solidFill>
                  <a:schemeClr val="dk1"/>
                </a:solidFill>
              </a:rPr>
              <a:t>TTP diagrams of malware, TTP diagrams of the patch (and why the patch messed stuff up)</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58ed3d785b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58ed3d785b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rPr lang="en">
                <a:solidFill>
                  <a:schemeClr val="dk1"/>
                </a:solidFill>
              </a:rPr>
              <a:t>TTP diagrams of malware, TTP diagrams of the patch (and why the patch messed stuff up)</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58ed3d785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8ed3d785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8ed3d785b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8ed3d785b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ADADAD"/>
              </a:solidFill>
            </a:endParaRPr>
          </a:p>
          <a:p>
            <a:pPr indent="-342900" lvl="0" marL="457200" rtl="0" algn="l">
              <a:lnSpc>
                <a:spcPct val="115000"/>
              </a:lnSpc>
              <a:spcBef>
                <a:spcPts val="0"/>
              </a:spcBef>
              <a:spcAft>
                <a:spcPts val="0"/>
              </a:spcAft>
              <a:buClr>
                <a:srgbClr val="ADADAD"/>
              </a:buClr>
              <a:buSzPts val="1800"/>
              <a:buChar char="-"/>
            </a:pPr>
            <a:r>
              <a:rPr lang="en">
                <a:solidFill>
                  <a:schemeClr val="dk1"/>
                </a:solidFill>
              </a:rPr>
              <a:t>This is a case about the dual nature of offensive cyber tools and the imperative for companies who create such tools to ensure their products end up in the right hands.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today’s case, you will meet the Defendants, five young men who, after limited experience in the cybersecurity industry, decided to write an offensive security tool, and sold their tool indiscriminately in pursuit of profit.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Today we will show that Defendants were aware that criminal enterprises had previously purchased and “cracked” the offensive tool. They aided and abetted a violation of the Computer Fraud and Abuse Act (CFAA). </a:t>
            </a:r>
            <a:endParaRPr>
              <a:solidFill>
                <a:schemeClr val="dk1"/>
              </a:solidFill>
            </a:endParaRPr>
          </a:p>
          <a:p>
            <a:pPr indent="-342900" lvl="0" marL="457200" rtl="0" algn="l">
              <a:lnSpc>
                <a:spcPct val="115000"/>
              </a:lnSpc>
              <a:spcBef>
                <a:spcPts val="0"/>
              </a:spcBef>
              <a:spcAft>
                <a:spcPts val="0"/>
              </a:spcAft>
              <a:buClr>
                <a:srgbClr val="ADADAD"/>
              </a:buClr>
              <a:buSzPts val="1800"/>
              <a:buChar char="-"/>
            </a:pPr>
            <a:r>
              <a:rPr lang="en" sz="1800">
                <a:solidFill>
                  <a:srgbClr val="ADADAD"/>
                </a:solidFill>
              </a:rPr>
              <a:t>On July 13, 2023, Telecom Co. experienced a ruthless ransomware attack, resulting in services going down for 6 hours in parts of the Southern U.S., resulting in a loss of over $75,000</a:t>
            </a:r>
            <a:endParaRPr sz="1800">
              <a:solidFill>
                <a:srgbClr val="ADADAD"/>
              </a:solidFill>
            </a:endParaRPr>
          </a:p>
          <a:p>
            <a:pPr indent="-342900" lvl="0" marL="457200" rtl="0" algn="l">
              <a:lnSpc>
                <a:spcPct val="115000"/>
              </a:lnSpc>
              <a:spcBef>
                <a:spcPts val="0"/>
              </a:spcBef>
              <a:spcAft>
                <a:spcPts val="0"/>
              </a:spcAft>
              <a:buClr>
                <a:srgbClr val="ADADAD"/>
              </a:buClr>
              <a:buSzPts val="1800"/>
              <a:buChar char="-"/>
            </a:pPr>
            <a:r>
              <a:rPr lang="en" sz="1800">
                <a:solidFill>
                  <a:srgbClr val="ADADAD"/>
                </a:solidFill>
              </a:rPr>
              <a:t>A cracked version of the Offsec Software Start-up tool provided initial access.</a:t>
            </a:r>
            <a:endParaRPr sz="1800">
              <a:solidFill>
                <a:srgbClr val="ADADAD"/>
              </a:solidFill>
            </a:endParaRPr>
          </a:p>
          <a:p>
            <a:pPr indent="-342900" lvl="0" marL="457200" rtl="0" algn="l">
              <a:lnSpc>
                <a:spcPct val="115000"/>
              </a:lnSpc>
              <a:spcBef>
                <a:spcPts val="0"/>
              </a:spcBef>
              <a:spcAft>
                <a:spcPts val="0"/>
              </a:spcAft>
              <a:buClr>
                <a:srgbClr val="ADADAD"/>
              </a:buClr>
              <a:buSzPts val="1800"/>
              <a:buChar char="-"/>
            </a:pPr>
            <a:r>
              <a:rPr lang="en" sz="1800">
                <a:solidFill>
                  <a:srgbClr val="ADADAD"/>
                </a:solidFill>
              </a:rPr>
              <a:t>This isn’t the first time Offsec Software’s tool has been used in cyber attacks; Offsec Software bears responsibility for the damages caused to Telecom Co.</a:t>
            </a:r>
            <a:endParaRPr sz="1800">
              <a:solidFill>
                <a:srgbClr val="ADADAD"/>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58ed3d785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58ed3d785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Legitimate</a:t>
            </a:r>
            <a:r>
              <a:rPr lang="en"/>
              <a:t> company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8d613387e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8d613387e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Legitimate company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58ed3d785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58ed3d785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lang="en">
                <a:solidFill>
                  <a:schemeClr val="dk1"/>
                </a:solidFill>
              </a:rPr>
              <a:t>My client followed its incident response plan and worked to restore its systems from backups. The attackers not only encrypted my client’s systems, but exfiltrated sensitive customer data and financial data, including confidential Q4 financial predictions, and threatened to leak the data on the darkweb if my client did not pay the ransom. My client does not negotiate with criminals and did not pay the ransom. The files were ultimately leaked on the darkweb and my client has seen its stock suffer as a result. Telecom Co.’s forensic report revealed that a cracked version of Defendants’ tool undisputedly provided initial access for the attack.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58ed3d785b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58ed3d785b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lists that the </a:t>
            </a:r>
            <a:r>
              <a:rPr lang="en"/>
              <a:t>ransomware</a:t>
            </a:r>
            <a:r>
              <a:rPr lang="en"/>
              <a:t> group is using fake news, including the one that was used to purchase EntryLvl. </a:t>
            </a:r>
            <a:endParaRPr/>
          </a:p>
          <a:p>
            <a:pPr indent="0" lvl="0" marL="0" rtl="0" algn="l">
              <a:spcBef>
                <a:spcPts val="0"/>
              </a:spcBef>
              <a:spcAft>
                <a:spcPts val="0"/>
              </a:spcAft>
              <a:buNone/>
            </a:pPr>
            <a:r>
              <a:t/>
            </a:r>
            <a:endParaRPr/>
          </a:p>
          <a:p>
            <a:pPr indent="-317500" lvl="0" marL="457200" rtl="0" algn="l">
              <a:spcBef>
                <a:spcPts val="0"/>
              </a:spcBef>
              <a:spcAft>
                <a:spcPts val="0"/>
              </a:spcAft>
              <a:buClr>
                <a:schemeClr val="dk1"/>
              </a:buClr>
              <a:buSzPts val="1400"/>
              <a:buChar char="❏"/>
            </a:pPr>
            <a:r>
              <a:rPr lang="en" sz="1400">
                <a:solidFill>
                  <a:schemeClr val="dk1"/>
                </a:solidFill>
              </a:rPr>
              <a:t>This joint alert, issued by the Federal Bureau of Investigation (FBI) and the Cybersecurity and Infrastructure Security Agency (CISA), aims to raise awareness and provide crucial information regarding the escalating threat posed by ransomware gangs, particularly shad0wCrypt, who are actively exploiting a cracked tool obtained from Offsec Software Start-up Inc. The purpose of this alert is to ensure heightened vigilance, promote immediate defensive actions, and mitigate the risk of ransomware attacks targeting organizations and individuals.</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The utilization of the cracked tool by shad0wCrypt and other ransomware gangs has significantly increased the risk and impact of successful attacks. Organizations and individuals who have failed to implement appropriate security measures and patches are at high risk of falling victim to ransomware attacks, resulting in data breaches, financial losses, and operational disruptions.</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58ed3d785b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58ed3d785b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58ed3d785b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58ed3d785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8ed3d785b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58ed3d785b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58ed3d785b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58ed3d785b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592b1f89d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592b1f89d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Offsec Software knew about the proliferation of their tool and its role in criminal cyber activities. </a:t>
            </a:r>
            <a:endParaRPr/>
          </a:p>
          <a:p>
            <a:pPr indent="0" lvl="0" marL="0" rtl="0" algn="l">
              <a:spcBef>
                <a:spcPts val="0"/>
              </a:spcBef>
              <a:spcAft>
                <a:spcPts val="0"/>
              </a:spcAft>
              <a:buNone/>
            </a:pPr>
            <a:r>
              <a:rPr lang="en"/>
              <a:t>Exactly two weeks before shad0wCrypt </a:t>
            </a:r>
            <a:r>
              <a:rPr lang="en"/>
              <a:t>bought</a:t>
            </a:r>
            <a:r>
              <a:rPr lang="en"/>
              <a:t> the tool, a reputable security researcher reached out to Offsec</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592b1f89d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592b1f89d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 thread between defendants, showing (1) concern over the purchase of their tool and (2) awareness and disregard for the knowledge that the tool was being used by criminals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58ed3d785b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58ed3d785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Screenshot of darkweb forum convo re cracked tool; was surfaced during discovery because a security researcher for a local university emailed the screenshot to Offsec’s CEO.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5f2670f63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5f2670f63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58ed3d785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58ed3d785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Compliance policy; someone </a:t>
            </a:r>
            <a:r>
              <a:rPr lang="en"/>
              <a:t>likely</a:t>
            </a:r>
            <a:r>
              <a:rPr lang="en"/>
              <a:t> ran an OFAC check (Judge questions efficacy of a thin policy and proof that an OFAC check was actually submitted)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58ed3d785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58ed3d785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8d613387ea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8d613387ea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Legitimate company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5f2670f63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5f2670f63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5b3d16ba6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5b3d16ba6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 thread between defendants, showing (1) concern over the purchase of their tool and (2) awareness and disregard for the knowledge that the tool was being used by criminals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592b1f89d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592b1f89d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592b1f89d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592b1f89d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592b1f89d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592b1f89d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rPr lang="en">
                <a:solidFill>
                  <a:schemeClr val="dk1"/>
                </a:solidFill>
              </a:rPr>
              <a:t>TTP diagrams of malware, TTP diagrams of the patch (and why the patch messed stuff up)</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58ed3d785b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58ed3d785b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5454"/>
              </a:lnSpc>
              <a:spcBef>
                <a:spcPts val="2400"/>
              </a:spcBef>
              <a:spcAft>
                <a:spcPts val="0"/>
              </a:spcAft>
              <a:buNone/>
            </a:pPr>
            <a:r>
              <a:rPr lang="en">
                <a:solidFill>
                  <a:schemeClr val="dk1"/>
                </a:solidFill>
              </a:rPr>
              <a:t>TTP diagrams of malware, TTP diagrams of the patch (and why the patch messed stuff up)</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strawpoll.com/40ZmqxOxlZa" TargetMode="Externa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jp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strawpoll.com/BDyNEblbeZR" TargetMode="Externa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2716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00FF00"/>
                </a:solidFill>
                <a:latin typeface="Changa"/>
                <a:ea typeface="Changa"/>
                <a:cs typeface="Changa"/>
                <a:sym typeface="Changa"/>
              </a:rPr>
              <a:t>Hacker Court</a:t>
            </a:r>
            <a:endParaRPr>
              <a:solidFill>
                <a:srgbClr val="00FF00"/>
              </a:solidFill>
              <a:latin typeface="Changa"/>
              <a:ea typeface="Changa"/>
              <a:cs typeface="Changa"/>
              <a:sym typeface="Chang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subTitle"/>
          </p:nvPr>
        </p:nvSpPr>
        <p:spPr>
          <a:xfrm>
            <a:off x="311700" y="1176425"/>
            <a:ext cx="8520600" cy="38271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b="1" lang="en">
                <a:solidFill>
                  <a:srgbClr val="00FF00"/>
                </a:solidFill>
                <a:latin typeface="Changa"/>
                <a:ea typeface="Changa"/>
                <a:cs typeface="Changa"/>
                <a:sym typeface="Changa"/>
              </a:rPr>
              <a:t>whoami - </a:t>
            </a:r>
            <a:r>
              <a:rPr lang="en">
                <a:solidFill>
                  <a:srgbClr val="00FF00"/>
                </a:solidFill>
                <a:latin typeface="Changa"/>
                <a:ea typeface="Changa"/>
                <a:cs typeface="Changa"/>
                <a:sym typeface="Changa"/>
              </a:rPr>
              <a:t>Winnona </a:t>
            </a:r>
            <a:endParaRPr>
              <a:solidFill>
                <a:srgbClr val="00FF00"/>
              </a:solidFill>
              <a:latin typeface="Changa"/>
              <a:ea typeface="Changa"/>
              <a:cs typeface="Changa"/>
              <a:sym typeface="Changa"/>
            </a:endParaRPr>
          </a:p>
          <a:p>
            <a:pPr indent="0" lvl="0" marL="0" rtl="0" algn="r">
              <a:spcBef>
                <a:spcPts val="0"/>
              </a:spcBef>
              <a:spcAft>
                <a:spcPts val="0"/>
              </a:spcAft>
              <a:buNone/>
            </a:pPr>
            <a:r>
              <a:rPr lang="en" sz="2500">
                <a:solidFill>
                  <a:srgbClr val="00FF00"/>
                </a:solidFill>
                <a:latin typeface="Changa"/>
                <a:ea typeface="Changa"/>
                <a:cs typeface="Changa"/>
                <a:sym typeface="Changa"/>
              </a:rPr>
              <a:t>Hacker Court organizer</a:t>
            </a:r>
            <a:endParaRPr sz="2500">
              <a:solidFill>
                <a:srgbClr val="00FF00"/>
              </a:solidFill>
              <a:latin typeface="Changa"/>
              <a:ea typeface="Changa"/>
              <a:cs typeface="Changa"/>
              <a:sym typeface="Changa"/>
            </a:endParaRPr>
          </a:p>
          <a:p>
            <a:pPr indent="0" lvl="0" marL="0" rtl="0" algn="r">
              <a:spcBef>
                <a:spcPts val="0"/>
              </a:spcBef>
              <a:spcAft>
                <a:spcPts val="0"/>
              </a:spcAft>
              <a:buNone/>
            </a:pPr>
            <a:r>
              <a:rPr lang="en" sz="2500">
                <a:solidFill>
                  <a:srgbClr val="00FF00"/>
                </a:solidFill>
                <a:latin typeface="Changa"/>
                <a:ea typeface="Changa"/>
                <a:cs typeface="Changa"/>
                <a:sym typeface="Changa"/>
              </a:rPr>
              <a:t>Recovering threat analyst, law student</a:t>
            </a:r>
            <a:endParaRPr sz="2500">
              <a:solidFill>
                <a:srgbClr val="00FF00"/>
              </a:solidFill>
              <a:latin typeface="Changa"/>
              <a:ea typeface="Changa"/>
              <a:cs typeface="Changa"/>
              <a:sym typeface="Changa"/>
            </a:endParaRPr>
          </a:p>
          <a:p>
            <a:pPr indent="0" lvl="0" marL="0" rtl="0" algn="r">
              <a:spcBef>
                <a:spcPts val="0"/>
              </a:spcBef>
              <a:spcAft>
                <a:spcPts val="0"/>
              </a:spcAft>
              <a:buNone/>
            </a:pPr>
            <a:r>
              <a:rPr lang="en" sz="2500">
                <a:solidFill>
                  <a:srgbClr val="00FF00"/>
                </a:solidFill>
                <a:latin typeface="Changa"/>
                <a:ea typeface="Changa"/>
                <a:cs typeface="Changa"/>
                <a:sym typeface="Changa"/>
              </a:rPr>
              <a:t>Policy@ Goon - DEFCON</a:t>
            </a:r>
            <a:endParaRPr sz="2500">
              <a:solidFill>
                <a:srgbClr val="00FF00"/>
              </a:solidFill>
              <a:latin typeface="Changa"/>
              <a:ea typeface="Changa"/>
              <a:cs typeface="Changa"/>
              <a:sym typeface="Changa"/>
            </a:endParaRPr>
          </a:p>
          <a:p>
            <a:pPr indent="0" lvl="0" marL="0" rtl="0" algn="r">
              <a:spcBef>
                <a:spcPts val="0"/>
              </a:spcBef>
              <a:spcAft>
                <a:spcPts val="0"/>
              </a:spcAft>
              <a:buNone/>
            </a:pPr>
            <a:r>
              <a:rPr lang="en">
                <a:solidFill>
                  <a:srgbClr val="00FF00"/>
                </a:solidFill>
                <a:latin typeface="Changa"/>
                <a:ea typeface="Changa"/>
                <a:cs typeface="Changa"/>
                <a:sym typeface="Changa"/>
              </a:rPr>
              <a:t>—</a:t>
            </a:r>
            <a:endParaRPr>
              <a:solidFill>
                <a:srgbClr val="00FF00"/>
              </a:solidFill>
              <a:latin typeface="Changa"/>
              <a:ea typeface="Changa"/>
              <a:cs typeface="Changa"/>
              <a:sym typeface="Changa"/>
            </a:endParaRPr>
          </a:p>
          <a:p>
            <a:pPr indent="0" lvl="0" marL="0" rtl="0" algn="r">
              <a:spcBef>
                <a:spcPts val="0"/>
              </a:spcBef>
              <a:spcAft>
                <a:spcPts val="0"/>
              </a:spcAft>
              <a:buNone/>
            </a:pPr>
            <a:r>
              <a:rPr lang="en" sz="2500">
                <a:solidFill>
                  <a:srgbClr val="00FF00"/>
                </a:solidFill>
                <a:latin typeface="Changa"/>
                <a:ea typeface="Changa"/>
                <a:cs typeface="Changa"/>
                <a:sym typeface="Changa"/>
              </a:rPr>
              <a:t>Twitter: @__winn</a:t>
            </a:r>
            <a:endParaRPr sz="2500">
              <a:solidFill>
                <a:srgbClr val="00FF00"/>
              </a:solidFill>
              <a:latin typeface="Changa"/>
              <a:ea typeface="Changa"/>
              <a:cs typeface="Changa"/>
              <a:sym typeface="Changa"/>
            </a:endParaRPr>
          </a:p>
          <a:p>
            <a:pPr indent="0" lvl="0" marL="0" rtl="0" algn="r">
              <a:spcBef>
                <a:spcPts val="0"/>
              </a:spcBef>
              <a:spcAft>
                <a:spcPts val="0"/>
              </a:spcAft>
              <a:buNone/>
            </a:pPr>
            <a:r>
              <a:rPr lang="en" sz="2500">
                <a:solidFill>
                  <a:srgbClr val="00FF00"/>
                </a:solidFill>
                <a:latin typeface="Changa"/>
                <a:ea typeface="Changa"/>
                <a:cs typeface="Changa"/>
                <a:sym typeface="Changa"/>
              </a:rPr>
              <a:t>Bluesky: @winn0na</a:t>
            </a:r>
            <a:endParaRPr sz="2500">
              <a:solidFill>
                <a:srgbClr val="00FF00"/>
              </a:solidFill>
              <a:latin typeface="Changa"/>
              <a:ea typeface="Changa"/>
              <a:cs typeface="Changa"/>
              <a:sym typeface="Chang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1" type="subTitle"/>
          </p:nvPr>
        </p:nvSpPr>
        <p:spPr>
          <a:xfrm>
            <a:off x="311700" y="1176425"/>
            <a:ext cx="8520600" cy="38271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b="1" lang="en">
                <a:solidFill>
                  <a:srgbClr val="00FF00"/>
                </a:solidFill>
                <a:latin typeface="Changa"/>
                <a:ea typeface="Changa"/>
                <a:cs typeface="Changa"/>
                <a:sym typeface="Changa"/>
              </a:rPr>
              <a:t>The Dream Organizing Team</a:t>
            </a:r>
            <a:endParaRPr b="1">
              <a:solidFill>
                <a:srgbClr val="00FF00"/>
              </a:solidFill>
              <a:latin typeface="Changa"/>
              <a:ea typeface="Changa"/>
              <a:cs typeface="Changa"/>
              <a:sym typeface="Changa"/>
            </a:endParaRPr>
          </a:p>
          <a:p>
            <a:pPr indent="0" lvl="0" marL="0" rtl="0" algn="r">
              <a:spcBef>
                <a:spcPts val="0"/>
              </a:spcBef>
              <a:spcAft>
                <a:spcPts val="0"/>
              </a:spcAft>
              <a:buNone/>
            </a:pPr>
            <a:r>
              <a:rPr lang="en">
                <a:solidFill>
                  <a:srgbClr val="00FF00"/>
                </a:solidFill>
                <a:latin typeface="Changa"/>
                <a:ea typeface="Changa"/>
                <a:cs typeface="Changa"/>
                <a:sym typeface="Changa"/>
              </a:rPr>
              <a:t>Emma Plankey - Student, HLS ‘24</a:t>
            </a:r>
            <a:endParaRPr>
              <a:solidFill>
                <a:srgbClr val="00FF00"/>
              </a:solidFill>
              <a:latin typeface="Changa"/>
              <a:ea typeface="Changa"/>
              <a:cs typeface="Changa"/>
              <a:sym typeface="Changa"/>
            </a:endParaRPr>
          </a:p>
          <a:p>
            <a:pPr indent="0" lvl="0" marL="0" rtl="0" algn="r">
              <a:spcBef>
                <a:spcPts val="0"/>
              </a:spcBef>
              <a:spcAft>
                <a:spcPts val="0"/>
              </a:spcAft>
              <a:buNone/>
            </a:pPr>
            <a:r>
              <a:rPr lang="en">
                <a:solidFill>
                  <a:srgbClr val="00FF00"/>
                </a:solidFill>
                <a:latin typeface="Changa"/>
                <a:ea typeface="Changa"/>
                <a:cs typeface="Changa"/>
                <a:sym typeface="Changa"/>
              </a:rPr>
              <a:t>Mari Dugas - Associate, Cooley LLP</a:t>
            </a:r>
            <a:endParaRPr>
              <a:solidFill>
                <a:srgbClr val="00FF00"/>
              </a:solidFill>
              <a:latin typeface="Changa"/>
              <a:ea typeface="Changa"/>
              <a:cs typeface="Changa"/>
              <a:sym typeface="Changa"/>
            </a:endParaRPr>
          </a:p>
          <a:p>
            <a:pPr indent="0" lvl="0" marL="0" rtl="0" algn="ctr">
              <a:spcBef>
                <a:spcPts val="0"/>
              </a:spcBef>
              <a:spcAft>
                <a:spcPts val="0"/>
              </a:spcAft>
              <a:buNone/>
            </a:pPr>
            <a:r>
              <a:t/>
            </a:r>
            <a:endParaRPr>
              <a:solidFill>
                <a:srgbClr val="00FF00"/>
              </a:solidFill>
              <a:latin typeface="Changa"/>
              <a:ea typeface="Changa"/>
              <a:cs typeface="Changa"/>
              <a:sym typeface="Changa"/>
            </a:endParaRPr>
          </a:p>
          <a:p>
            <a:pPr indent="457200" lvl="0" marL="4114800" rtl="0" algn="ctr">
              <a:spcBef>
                <a:spcPts val="0"/>
              </a:spcBef>
              <a:spcAft>
                <a:spcPts val="0"/>
              </a:spcAft>
              <a:buNone/>
            </a:pPr>
            <a:r>
              <a:t/>
            </a:r>
            <a:endParaRPr>
              <a:solidFill>
                <a:srgbClr val="00FF00"/>
              </a:solidFill>
              <a:latin typeface="Changa"/>
              <a:ea typeface="Changa"/>
              <a:cs typeface="Changa"/>
              <a:sym typeface="Chang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idx="1" type="subTitle"/>
          </p:nvPr>
        </p:nvSpPr>
        <p:spPr>
          <a:xfrm>
            <a:off x="311700" y="121350"/>
            <a:ext cx="8520600" cy="4667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00FF00"/>
                </a:solidFill>
                <a:latin typeface="Changa"/>
                <a:ea typeface="Changa"/>
                <a:cs typeface="Changa"/>
                <a:sym typeface="Changa"/>
              </a:rPr>
              <a:t>Participants</a:t>
            </a:r>
            <a:endParaRPr b="1">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CASE 1</a:t>
            </a: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Harley Geiger - Prosecution</a:t>
            </a: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Kurt Opsahl - Defense</a:t>
            </a: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Ian Roos - Witness</a:t>
            </a:r>
            <a:br>
              <a:rPr lang="en" sz="2400">
                <a:solidFill>
                  <a:srgbClr val="00FF00"/>
                </a:solidFill>
                <a:latin typeface="Changa"/>
                <a:ea typeface="Changa"/>
                <a:cs typeface="Changa"/>
                <a:sym typeface="Changa"/>
              </a:rPr>
            </a:b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CASE 2</a:t>
            </a: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Mari Dugas- Plaintiffs Counsel</a:t>
            </a: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Kurt Opsahl - Defense</a:t>
            </a: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Silas Cutler - Defendant / Witness 1</a:t>
            </a:r>
            <a:endParaRPr sz="2400">
              <a:solidFill>
                <a:srgbClr val="00FF00"/>
              </a:solidFill>
              <a:latin typeface="Changa"/>
              <a:ea typeface="Changa"/>
              <a:cs typeface="Changa"/>
              <a:sym typeface="Changa"/>
            </a:endParaRPr>
          </a:p>
          <a:p>
            <a:pPr indent="0" lvl="0" marL="0" rtl="0" algn="ctr">
              <a:spcBef>
                <a:spcPts val="0"/>
              </a:spcBef>
              <a:spcAft>
                <a:spcPts val="0"/>
              </a:spcAft>
              <a:buNone/>
            </a:pPr>
            <a:r>
              <a:rPr lang="en" sz="2400">
                <a:solidFill>
                  <a:srgbClr val="00FF00"/>
                </a:solidFill>
                <a:latin typeface="Changa"/>
                <a:ea typeface="Changa"/>
                <a:cs typeface="Changa"/>
                <a:sym typeface="Changa"/>
              </a:rPr>
              <a:t>Grant Versfeld - Witness 2</a:t>
            </a:r>
            <a:endParaRPr sz="2400">
              <a:solidFill>
                <a:srgbClr val="00FF00"/>
              </a:solidFill>
              <a:latin typeface="Changa"/>
              <a:ea typeface="Changa"/>
              <a:cs typeface="Changa"/>
              <a:sym typeface="Chang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ph type="ctrTitle"/>
          </p:nvPr>
        </p:nvSpPr>
        <p:spPr>
          <a:xfrm>
            <a:off x="311708" y="13340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Changa"/>
                <a:ea typeface="Changa"/>
                <a:cs typeface="Changa"/>
                <a:sym typeface="Changa"/>
              </a:rPr>
              <a:t>United States </a:t>
            </a:r>
            <a:br>
              <a:rPr lang="en">
                <a:latin typeface="Changa"/>
                <a:ea typeface="Changa"/>
                <a:cs typeface="Changa"/>
                <a:sym typeface="Changa"/>
              </a:rPr>
            </a:br>
            <a:r>
              <a:rPr lang="en">
                <a:latin typeface="Changa"/>
                <a:ea typeface="Changa"/>
                <a:cs typeface="Changa"/>
                <a:sym typeface="Changa"/>
              </a:rPr>
              <a:t>v. </a:t>
            </a:r>
            <a:br>
              <a:rPr lang="en">
                <a:latin typeface="Changa"/>
                <a:ea typeface="Changa"/>
                <a:cs typeface="Changa"/>
                <a:sym typeface="Changa"/>
              </a:rPr>
            </a:br>
            <a:r>
              <a:rPr lang="en">
                <a:latin typeface="Changa"/>
                <a:ea typeface="Changa"/>
                <a:cs typeface="Changa"/>
                <a:sym typeface="Changa"/>
              </a:rPr>
              <a:t>John Doe Researcher</a:t>
            </a:r>
            <a:endParaRPr>
              <a:latin typeface="Changa"/>
              <a:ea typeface="Changa"/>
              <a:cs typeface="Changa"/>
              <a:sym typeface="Changa"/>
            </a:endParaRPr>
          </a:p>
        </p:txBody>
      </p:sp>
      <p:sp>
        <p:nvSpPr>
          <p:cNvPr id="75" name="Google Shape;75;p17"/>
          <p:cNvSpPr txBox="1"/>
          <p:nvPr/>
        </p:nvSpPr>
        <p:spPr>
          <a:xfrm>
            <a:off x="2213400" y="3524175"/>
            <a:ext cx="4717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Federal Criminal Case</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type="ctrTitle"/>
          </p:nvPr>
        </p:nvSpPr>
        <p:spPr>
          <a:xfrm>
            <a:off x="311708" y="13340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hanga"/>
                <a:ea typeface="Changa"/>
                <a:cs typeface="Changa"/>
                <a:sym typeface="Changa"/>
              </a:rPr>
              <a:t>Volunteer?</a:t>
            </a:r>
            <a:endParaRPr>
              <a:latin typeface="Changa"/>
              <a:ea typeface="Changa"/>
              <a:cs typeface="Changa"/>
              <a:sym typeface="Chang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Changa"/>
                <a:ea typeface="Changa"/>
                <a:cs typeface="Changa"/>
                <a:sym typeface="Changa"/>
              </a:rPr>
              <a:t>Statement of the Facts</a:t>
            </a:r>
            <a:endParaRPr>
              <a:solidFill>
                <a:srgbClr val="FF0000"/>
              </a:solidFill>
              <a:latin typeface="Changa"/>
              <a:ea typeface="Changa"/>
              <a:cs typeface="Changa"/>
              <a:sym typeface="Changa"/>
            </a:endParaRPr>
          </a:p>
        </p:txBody>
      </p:sp>
      <p:sp>
        <p:nvSpPr>
          <p:cNvPr id="86" name="Google Shape;8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Ransomware group has been exploiting a wormable RCE vuln.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John Doe</a:t>
            </a:r>
            <a:r>
              <a:rPr lang="en"/>
              <a:t> finds a patch to this vulnerability, and instead of informing law enforcement, applies it at scale.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20"/>
          <p:cNvPicPr preferRelativeResize="0"/>
          <p:nvPr/>
        </p:nvPicPr>
        <p:blipFill>
          <a:blip r:embed="rId3">
            <a:alphaModFix/>
          </a:blip>
          <a:stretch>
            <a:fillRect/>
          </a:stretch>
        </p:blipFill>
        <p:spPr>
          <a:xfrm>
            <a:off x="377688" y="0"/>
            <a:ext cx="8388625" cy="5438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descr="Hospitals Crushed By COVID May Have To Ration Care : Shots - Health News :  NPR" id="96" name="Google Shape;96;p21"/>
          <p:cNvPicPr preferRelativeResize="0"/>
          <p:nvPr/>
        </p:nvPicPr>
        <p:blipFill>
          <a:blip r:embed="rId3">
            <a:alphaModFix/>
          </a:blip>
          <a:stretch>
            <a:fillRect/>
          </a:stretch>
        </p:blipFill>
        <p:spPr>
          <a:xfrm>
            <a:off x="1058000" y="81600"/>
            <a:ext cx="6646000" cy="4980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ITW 0day exploitation</a:t>
            </a:r>
            <a:endParaRPr/>
          </a:p>
        </p:txBody>
      </p:sp>
      <p:sp>
        <p:nvSpPr>
          <p:cNvPr id="102" name="Google Shape;10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0day exploitation in the wild (EGO Worm) </a:t>
            </a:r>
            <a:endParaRPr/>
          </a:p>
          <a:p>
            <a:pPr indent="-342900" lvl="0" marL="457200" rtl="0" algn="l">
              <a:spcBef>
                <a:spcPts val="0"/>
              </a:spcBef>
              <a:spcAft>
                <a:spcPts val="0"/>
              </a:spcAft>
              <a:buSzPts val="1800"/>
              <a:buChar char="-"/>
            </a:pPr>
            <a:r>
              <a:rPr lang="en"/>
              <a:t>Ransomware / Triple Extortion. Exploit attached to implant, </a:t>
            </a:r>
            <a:r>
              <a:rPr lang="en"/>
              <a:t>native checks for environment, specifically targeting financial institution software.</a:t>
            </a:r>
            <a:endParaRPr/>
          </a:p>
          <a:p>
            <a:pPr indent="0" lvl="0" marL="0" rtl="0" algn="l">
              <a:spcBef>
                <a:spcPts val="1200"/>
              </a:spcBef>
              <a:spcAft>
                <a:spcPts val="1200"/>
              </a:spcAft>
              <a:buNone/>
            </a:pPr>
            <a:r>
              <a:t/>
            </a:r>
            <a:endParaRPr/>
          </a:p>
        </p:txBody>
      </p:sp>
      <p:pic>
        <p:nvPicPr>
          <p:cNvPr id="103" name="Google Shape;103;p22"/>
          <p:cNvPicPr preferRelativeResize="0"/>
          <p:nvPr/>
        </p:nvPicPr>
        <p:blipFill>
          <a:blip r:embed="rId3">
            <a:alphaModFix/>
          </a:blip>
          <a:stretch>
            <a:fillRect/>
          </a:stretch>
        </p:blipFill>
        <p:spPr>
          <a:xfrm>
            <a:off x="3125" y="323425"/>
            <a:ext cx="9137750" cy="45688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9" name="Google Shape;109;p23"/>
          <p:cNvPicPr preferRelativeResize="0"/>
          <p:nvPr/>
        </p:nvPicPr>
        <p:blipFill>
          <a:blip r:embed="rId3">
            <a:alphaModFix/>
          </a:blip>
          <a:stretch>
            <a:fillRect/>
          </a:stretch>
        </p:blipFill>
        <p:spPr>
          <a:xfrm>
            <a:off x="0" y="879928"/>
            <a:ext cx="9144001" cy="300819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4"/>
          <p:cNvPicPr preferRelativeResize="0"/>
          <p:nvPr/>
        </p:nvPicPr>
        <p:blipFill>
          <a:blip r:embed="rId3">
            <a:alphaModFix/>
          </a:blip>
          <a:stretch>
            <a:fillRect/>
          </a:stretch>
        </p:blipFill>
        <p:spPr>
          <a:xfrm>
            <a:off x="0" y="0"/>
            <a:ext cx="9143991"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311700" y="261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120" name="Google Shape;120;p25"/>
          <p:cNvPicPr preferRelativeResize="0"/>
          <p:nvPr/>
        </p:nvPicPr>
        <p:blipFill>
          <a:blip r:embed="rId3">
            <a:alphaModFix/>
          </a:blip>
          <a:stretch>
            <a:fillRect/>
          </a:stretch>
        </p:blipFill>
        <p:spPr>
          <a:xfrm>
            <a:off x="120875" y="261675"/>
            <a:ext cx="8902250" cy="3630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Changa"/>
                <a:ea typeface="Changa"/>
                <a:cs typeface="Changa"/>
                <a:sym typeface="Changa"/>
              </a:rPr>
              <a:t>Charge: Computer Fraud and Abuse Act</a:t>
            </a:r>
            <a:endParaRPr>
              <a:solidFill>
                <a:srgbClr val="FF0000"/>
              </a:solidFill>
              <a:latin typeface="Changa"/>
              <a:ea typeface="Changa"/>
              <a:cs typeface="Changa"/>
              <a:sym typeface="Changa"/>
            </a:endParaRPr>
          </a:p>
        </p:txBody>
      </p:sp>
      <p:sp>
        <p:nvSpPr>
          <p:cNvPr id="126" name="Google Shape;126;p26"/>
          <p:cNvSpPr txBox="1"/>
          <p:nvPr>
            <p:ph idx="1" type="body"/>
          </p:nvPr>
        </p:nvSpPr>
        <p:spPr>
          <a:xfrm>
            <a:off x="311700" y="1221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18 U.S.C 1030(a)(5)(A) and (B): Whoever…</a:t>
            </a:r>
            <a:endParaRPr/>
          </a:p>
          <a:p>
            <a:pPr indent="-342900" lvl="0" marL="457200" rtl="0" algn="l">
              <a:spcBef>
                <a:spcPts val="1200"/>
              </a:spcBef>
              <a:spcAft>
                <a:spcPts val="0"/>
              </a:spcAft>
              <a:buSzPts val="1800"/>
              <a:buAutoNum type="alphaUcParenBoth"/>
            </a:pPr>
            <a:r>
              <a:rPr b="1" lang="en"/>
              <a:t>knowingly causes the transmission </a:t>
            </a:r>
            <a:r>
              <a:rPr lang="en"/>
              <a:t>of a program, information, code, or command, and as a result of such conduct, </a:t>
            </a:r>
            <a:r>
              <a:rPr b="1" lang="en"/>
              <a:t>intentionally causes damage </a:t>
            </a:r>
            <a:r>
              <a:rPr lang="en"/>
              <a:t>without authorization, to a protected computer; or</a:t>
            </a:r>
            <a:br>
              <a:rPr lang="en"/>
            </a:br>
            <a:endParaRPr/>
          </a:p>
          <a:p>
            <a:pPr indent="-342900" lvl="0" marL="457200" rtl="0" algn="l">
              <a:spcBef>
                <a:spcPts val="0"/>
              </a:spcBef>
              <a:spcAft>
                <a:spcPts val="0"/>
              </a:spcAft>
              <a:buSzPts val="1800"/>
              <a:buAutoNum type="alphaUcParenBoth"/>
            </a:pPr>
            <a:r>
              <a:rPr lang="en"/>
              <a:t>intentionally accesses a protected computer without authorization, and as a result of such conduct, recklessly causes damage…</a:t>
            </a:r>
            <a:endParaRPr/>
          </a:p>
          <a:p>
            <a:pPr indent="0" lvl="0" marL="0" rtl="0" algn="l">
              <a:spcBef>
                <a:spcPts val="1200"/>
              </a:spcBef>
              <a:spcAft>
                <a:spcPts val="1200"/>
              </a:spcAft>
              <a:buNone/>
            </a:pPr>
            <a:r>
              <a:rPr lang="en"/>
              <a:t>Shall be punished [with] a fine or up to 10 years of imprisonment.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Changa"/>
                <a:ea typeface="Changa"/>
                <a:cs typeface="Changa"/>
                <a:sym typeface="Changa"/>
              </a:rPr>
              <a:t>Prosecution Opening Remarks</a:t>
            </a:r>
            <a:endParaRPr>
              <a:solidFill>
                <a:srgbClr val="FF0000"/>
              </a:solidFill>
              <a:latin typeface="Changa"/>
              <a:ea typeface="Changa"/>
              <a:cs typeface="Changa"/>
              <a:sym typeface="Changa"/>
            </a:endParaRPr>
          </a:p>
        </p:txBody>
      </p:sp>
      <p:sp>
        <p:nvSpPr>
          <p:cNvPr id="132" name="Google Shape;13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Reckless, damaging behavior, at Morris worm or NotPetya level scale.</a:t>
            </a:r>
            <a:br>
              <a:rPr lang="en"/>
            </a:br>
            <a:endParaRPr/>
          </a:p>
          <a:p>
            <a:pPr indent="-342900" lvl="0" marL="457200" rtl="0" algn="l">
              <a:spcBef>
                <a:spcPts val="0"/>
              </a:spcBef>
              <a:spcAft>
                <a:spcPts val="0"/>
              </a:spcAft>
              <a:buSzPts val="1800"/>
              <a:buChar char="-"/>
            </a:pPr>
            <a:r>
              <a:rPr lang="en"/>
              <a:t>Potential loss of life, </a:t>
            </a:r>
            <a:r>
              <a:rPr lang="en"/>
              <a:t>when </a:t>
            </a:r>
            <a:r>
              <a:rPr lang="en"/>
              <a:t>nobody asked him to do this. </a:t>
            </a:r>
            <a:br>
              <a:rPr lang="en"/>
            </a:br>
            <a:endParaRPr/>
          </a:p>
          <a:p>
            <a:pPr indent="-342900" lvl="0" marL="457200" rtl="0" algn="l">
              <a:spcBef>
                <a:spcPts val="0"/>
              </a:spcBef>
              <a:spcAft>
                <a:spcPts val="0"/>
              </a:spcAft>
              <a:buSzPts val="1800"/>
              <a:buChar char="-"/>
            </a:pPr>
            <a:r>
              <a:rPr lang="en"/>
              <a:t>Doe knowingly transmitted the program, and intentionally meant to change the registry key. Changes to a computer without user consent are “damage” under the law</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FF"/>
                </a:solidFill>
                <a:latin typeface="Changa"/>
                <a:ea typeface="Changa"/>
                <a:cs typeface="Changa"/>
                <a:sym typeface="Changa"/>
              </a:rPr>
              <a:t>Defense</a:t>
            </a:r>
            <a:r>
              <a:rPr lang="en">
                <a:solidFill>
                  <a:srgbClr val="00FFFF"/>
                </a:solidFill>
                <a:latin typeface="Changa"/>
                <a:ea typeface="Changa"/>
                <a:cs typeface="Changa"/>
                <a:sym typeface="Changa"/>
              </a:rPr>
              <a:t> Opening Remarks</a:t>
            </a:r>
            <a:endParaRPr>
              <a:solidFill>
                <a:srgbClr val="00FFFF"/>
              </a:solidFill>
              <a:latin typeface="Changa"/>
              <a:ea typeface="Changa"/>
              <a:cs typeface="Changa"/>
              <a:sym typeface="Changa"/>
            </a:endParaRPr>
          </a:p>
        </p:txBody>
      </p:sp>
      <p:sp>
        <p:nvSpPr>
          <p:cNvPr id="138" name="Google Shape;13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It is not a crime to be a good Samaritan - this guy is a hero.</a:t>
            </a:r>
            <a:br>
              <a:rPr lang="en"/>
            </a:br>
            <a:endParaRPr/>
          </a:p>
          <a:p>
            <a:pPr indent="-342900" lvl="0" marL="457200" rtl="0" algn="l">
              <a:spcBef>
                <a:spcPts val="0"/>
              </a:spcBef>
              <a:spcAft>
                <a:spcPts val="0"/>
              </a:spcAft>
              <a:buSzPts val="1800"/>
              <a:buChar char="-"/>
            </a:pPr>
            <a:r>
              <a:rPr lang="en"/>
              <a:t>Law enforcement was too slow, the EGO worm was wreaking havoc!</a:t>
            </a:r>
            <a:br>
              <a:rPr lang="en"/>
            </a:br>
            <a:endParaRPr/>
          </a:p>
          <a:p>
            <a:pPr indent="-342900" lvl="0" marL="457200" rtl="0" algn="l">
              <a:spcBef>
                <a:spcPts val="0"/>
              </a:spcBef>
              <a:spcAft>
                <a:spcPts val="0"/>
              </a:spcAft>
              <a:buSzPts val="1800"/>
              <a:buChar char="-"/>
            </a:pPr>
            <a:r>
              <a:rPr lang="en"/>
              <a:t>How can this be “intentional damage”, “reckless”, or “access?”</a:t>
            </a:r>
            <a:br>
              <a:rPr lang="en"/>
            </a:br>
            <a:endParaRPr/>
          </a:p>
          <a:p>
            <a:pPr indent="-342900" lvl="0" marL="457200" rtl="0" algn="l">
              <a:spcBef>
                <a:spcPts val="0"/>
              </a:spcBef>
              <a:spcAft>
                <a:spcPts val="0"/>
              </a:spcAft>
              <a:buSzPts val="1800"/>
              <a:buChar char="-"/>
            </a:pPr>
            <a:r>
              <a:rPr lang="en"/>
              <a:t>Defendant did not access any of these computers personally, their worm did.</a:t>
            </a:r>
            <a:endParaRPr/>
          </a:p>
          <a:p>
            <a:pPr indent="0" lvl="0" marL="45720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Government Witness 1 - Ian, Security Researcher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9" name="Google Shape;14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0" name="Google Shape;150;p30"/>
          <p:cNvPicPr preferRelativeResize="0"/>
          <p:nvPr/>
        </p:nvPicPr>
        <p:blipFill>
          <a:blip r:embed="rId3">
            <a:alphaModFix/>
          </a:blip>
          <a:stretch>
            <a:fillRect/>
          </a:stretch>
        </p:blipFill>
        <p:spPr>
          <a:xfrm>
            <a:off x="4159775" y="2806250"/>
            <a:ext cx="4819650" cy="2171700"/>
          </a:xfrm>
          <a:prstGeom prst="rect">
            <a:avLst/>
          </a:prstGeom>
          <a:noFill/>
          <a:ln>
            <a:noFill/>
          </a:ln>
        </p:spPr>
      </p:pic>
      <p:pic>
        <p:nvPicPr>
          <p:cNvPr id="151" name="Google Shape;151;p30"/>
          <p:cNvPicPr preferRelativeResize="0"/>
          <p:nvPr/>
        </p:nvPicPr>
        <p:blipFill>
          <a:blip r:embed="rId4">
            <a:alphaModFix/>
          </a:blip>
          <a:stretch>
            <a:fillRect/>
          </a:stretch>
        </p:blipFill>
        <p:spPr>
          <a:xfrm>
            <a:off x="121175" y="325425"/>
            <a:ext cx="8858250" cy="3695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31"/>
          <p:cNvPicPr preferRelativeResize="0"/>
          <p:nvPr/>
        </p:nvPicPr>
        <p:blipFill>
          <a:blip r:embed="rId3">
            <a:alphaModFix/>
          </a:blip>
          <a:stretch>
            <a:fillRect/>
          </a:stretch>
        </p:blipFill>
        <p:spPr>
          <a:xfrm>
            <a:off x="0" y="0"/>
            <a:ext cx="9143991"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Cross-examination</a:t>
            </a:r>
            <a:endParaRPr/>
          </a:p>
        </p:txBody>
      </p:sp>
      <p:sp>
        <p:nvSpPr>
          <p:cNvPr id="162" name="Google Shape;16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Defense</a:t>
            </a:r>
            <a:r>
              <a:rPr lang="en"/>
              <a:t> Witness 2 - Ian, Pwnie Award Organizer</a:t>
            </a:r>
            <a:endParaRPr/>
          </a:p>
        </p:txBody>
      </p:sp>
      <p:sp>
        <p:nvSpPr>
          <p:cNvPr id="168" name="Google Shape;16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9" name="Google Shape;169;p33"/>
          <p:cNvPicPr preferRelativeResize="0"/>
          <p:nvPr/>
        </p:nvPicPr>
        <p:blipFill>
          <a:blip r:embed="rId3">
            <a:alphaModFix/>
          </a:blip>
          <a:stretch>
            <a:fillRect/>
          </a:stretch>
        </p:blipFill>
        <p:spPr>
          <a:xfrm>
            <a:off x="120875" y="1302025"/>
            <a:ext cx="8902250" cy="3630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Defense Exhibit: Windows machines</a:t>
            </a:r>
            <a:endParaRPr>
              <a:solidFill>
                <a:srgbClr val="00FF00"/>
              </a:solidFill>
              <a:latin typeface="Changa"/>
              <a:ea typeface="Changa"/>
              <a:cs typeface="Changa"/>
              <a:sym typeface="Changa"/>
            </a:endParaRPr>
          </a:p>
        </p:txBody>
      </p:sp>
      <p:sp>
        <p:nvSpPr>
          <p:cNvPr id="175" name="Google Shape;175;p34"/>
          <p:cNvSpPr txBox="1"/>
          <p:nvPr>
            <p:ph idx="1" type="body"/>
          </p:nvPr>
        </p:nvSpPr>
        <p:spPr>
          <a:xfrm>
            <a:off x="247075" y="921450"/>
            <a:ext cx="4173900" cy="4087200"/>
          </a:xfrm>
          <a:prstGeom prst="rect">
            <a:avLst/>
          </a:prstGeom>
        </p:spPr>
        <p:txBody>
          <a:bodyPr anchorCtr="0" anchor="t" bIns="91425" lIns="91425" spcFirstLastPara="1" rIns="91425" wrap="square" tIns="91425">
            <a:normAutofit fontScale="25000" lnSpcReduction="20000"/>
          </a:bodyPr>
          <a:lstStyle/>
          <a:p>
            <a:pPr indent="-228600" lvl="0" marL="457200" rtl="0" algn="l">
              <a:spcBef>
                <a:spcPts val="1500"/>
              </a:spcBef>
              <a:spcAft>
                <a:spcPts val="0"/>
              </a:spcAft>
              <a:buClr>
                <a:schemeClr val="dk1"/>
              </a:buClr>
              <a:buSzPct val="100000"/>
              <a:buFont typeface="Roboto"/>
              <a:buNone/>
            </a:pPr>
            <a:r>
              <a:rPr b="1" lang="en" sz="3875" u="sng">
                <a:solidFill>
                  <a:schemeClr val="dk1"/>
                </a:solidFill>
                <a:latin typeface="Roboto"/>
                <a:ea typeface="Roboto"/>
                <a:cs typeface="Roboto"/>
                <a:sym typeface="Roboto"/>
              </a:rPr>
              <a:t>1. Windows XP Machine:</a:t>
            </a:r>
            <a:endParaRPr b="1" sz="3875" u="sng">
              <a:solidFill>
                <a:schemeClr val="dk1"/>
              </a:solidFill>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Operating System: Windows XP Professional</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CPU: Intel Pentium 4, 2.4 GHz</a:t>
            </a:r>
            <a:endParaRPr sz="3875">
              <a:latin typeface="Roboto"/>
              <a:ea typeface="Roboto"/>
              <a:cs typeface="Roboto"/>
              <a:sym typeface="Roboto"/>
            </a:endParaRPr>
          </a:p>
          <a:p>
            <a:pPr indent="-290130" lvl="1" marL="914400" rtl="0" algn="l">
              <a:spcBef>
                <a:spcPts val="0"/>
              </a:spcBef>
              <a:spcAft>
                <a:spcPts val="0"/>
              </a:spcAft>
              <a:buClr>
                <a:schemeClr val="dk1"/>
              </a:buClr>
              <a:buSzPct val="100000"/>
              <a:buFont typeface="Roboto"/>
              <a:buChar char="●"/>
            </a:pPr>
            <a:r>
              <a:rPr lang="en" sz="3875">
                <a:latin typeface="Roboto"/>
                <a:ea typeface="Roboto"/>
                <a:cs typeface="Roboto"/>
                <a:sym typeface="Roboto"/>
              </a:rPr>
              <a:t>RAM: 1 GB DDR2</a:t>
            </a:r>
            <a:br>
              <a:rPr lang="en" sz="3875">
                <a:solidFill>
                  <a:schemeClr val="dk1"/>
                </a:solidFill>
                <a:latin typeface="Roboto"/>
                <a:ea typeface="Roboto"/>
                <a:cs typeface="Roboto"/>
                <a:sym typeface="Roboto"/>
              </a:rPr>
            </a:br>
            <a:endParaRPr sz="3875">
              <a:solidFill>
                <a:schemeClr val="dk1"/>
              </a:solidFill>
              <a:latin typeface="Roboto"/>
              <a:ea typeface="Roboto"/>
              <a:cs typeface="Roboto"/>
              <a:sym typeface="Roboto"/>
            </a:endParaRPr>
          </a:p>
          <a:p>
            <a:pPr indent="-228600" lvl="0" marL="457200" rtl="0" algn="l">
              <a:spcBef>
                <a:spcPts val="0"/>
              </a:spcBef>
              <a:spcAft>
                <a:spcPts val="0"/>
              </a:spcAft>
              <a:buClr>
                <a:schemeClr val="dk1"/>
              </a:buClr>
              <a:buSzPct val="100000"/>
              <a:buFont typeface="Roboto"/>
              <a:buNone/>
            </a:pPr>
            <a:r>
              <a:rPr b="1" lang="en" sz="3875" u="sng">
                <a:solidFill>
                  <a:schemeClr val="dk1"/>
                </a:solidFill>
                <a:latin typeface="Roboto"/>
                <a:ea typeface="Roboto"/>
                <a:cs typeface="Roboto"/>
                <a:sym typeface="Roboto"/>
              </a:rPr>
              <a:t>2. Windows Server 2019:</a:t>
            </a:r>
            <a:endParaRPr b="1" sz="3875" u="sng">
              <a:solidFill>
                <a:schemeClr val="dk1"/>
              </a:solidFill>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Operating System: Windows Server 2019 Standard</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CPU: Intel Xeon E5-2620 v3, 2.4 GHz (6 cores, 12 threads)</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RAM: 16 GB DDR4 ECC</a:t>
            </a:r>
            <a:br>
              <a:rPr lang="en" sz="3875">
                <a:latin typeface="Roboto"/>
                <a:ea typeface="Roboto"/>
                <a:cs typeface="Roboto"/>
                <a:sym typeface="Roboto"/>
              </a:rPr>
            </a:br>
            <a:endParaRPr sz="3875">
              <a:latin typeface="Roboto"/>
              <a:ea typeface="Roboto"/>
              <a:cs typeface="Roboto"/>
              <a:sym typeface="Roboto"/>
            </a:endParaRPr>
          </a:p>
          <a:p>
            <a:pPr indent="-228600" lvl="0" marL="457200" rtl="0" algn="l">
              <a:spcBef>
                <a:spcPts val="0"/>
              </a:spcBef>
              <a:spcAft>
                <a:spcPts val="0"/>
              </a:spcAft>
              <a:buClr>
                <a:schemeClr val="dk1"/>
              </a:buClr>
              <a:buSzPct val="100000"/>
              <a:buFont typeface="Roboto"/>
              <a:buNone/>
            </a:pPr>
            <a:r>
              <a:rPr b="1" lang="en" sz="3875" u="sng">
                <a:solidFill>
                  <a:schemeClr val="dk1"/>
                </a:solidFill>
                <a:latin typeface="Roboto"/>
                <a:ea typeface="Roboto"/>
                <a:cs typeface="Roboto"/>
                <a:sym typeface="Roboto"/>
              </a:rPr>
              <a:t>3. Windows Server 2016:</a:t>
            </a:r>
            <a:endParaRPr b="1" sz="3875" u="sng">
              <a:solidFill>
                <a:schemeClr val="dk1"/>
              </a:solidFill>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Operating System: Windows Server 2016 Standard</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CPU: Intel Core i7-7700K, 4.2 GHz (4 cores, 8 threads)</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RAM: 32 GB DDR4</a:t>
            </a:r>
            <a:br>
              <a:rPr lang="en" sz="3875">
                <a:latin typeface="Roboto"/>
                <a:ea typeface="Roboto"/>
                <a:cs typeface="Roboto"/>
                <a:sym typeface="Roboto"/>
              </a:rPr>
            </a:br>
            <a:endParaRPr sz="3875">
              <a:latin typeface="Roboto"/>
              <a:ea typeface="Roboto"/>
              <a:cs typeface="Roboto"/>
              <a:sym typeface="Roboto"/>
            </a:endParaRPr>
          </a:p>
          <a:p>
            <a:pPr indent="-228600" lvl="0" marL="457200" rtl="0" algn="l">
              <a:spcBef>
                <a:spcPts val="0"/>
              </a:spcBef>
              <a:spcAft>
                <a:spcPts val="0"/>
              </a:spcAft>
              <a:buClr>
                <a:schemeClr val="dk1"/>
              </a:buClr>
              <a:buSzPct val="100000"/>
              <a:buFont typeface="Roboto"/>
              <a:buNone/>
            </a:pPr>
            <a:r>
              <a:rPr b="1" lang="en" sz="3875" u="sng">
                <a:solidFill>
                  <a:schemeClr val="dk1"/>
                </a:solidFill>
                <a:latin typeface="Roboto"/>
                <a:ea typeface="Roboto"/>
                <a:cs typeface="Roboto"/>
                <a:sym typeface="Roboto"/>
              </a:rPr>
              <a:t>4. Windows Server 2012 R2:</a:t>
            </a:r>
            <a:endParaRPr b="1" sz="3875" u="sng">
              <a:solidFill>
                <a:schemeClr val="dk1"/>
              </a:solidFill>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Operating System: Windows Server 2012 R2 Standard</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CPU: AMD Ryzen 5 3600, 3.6 GHz (6 cores, 12 threads)</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RAM: 24 GB DDR4</a:t>
            </a:r>
            <a:endParaRPr sz="3875">
              <a:latin typeface="Roboto"/>
              <a:ea typeface="Roboto"/>
              <a:cs typeface="Roboto"/>
              <a:sym typeface="Roboto"/>
            </a:endParaRPr>
          </a:p>
          <a:p>
            <a:pPr indent="-290130" lvl="1" marL="914400" rtl="0" algn="l">
              <a:spcBef>
                <a:spcPts val="0"/>
              </a:spcBef>
              <a:spcAft>
                <a:spcPts val="0"/>
              </a:spcAft>
              <a:buClr>
                <a:schemeClr val="dk1"/>
              </a:buClr>
              <a:buSzPct val="100000"/>
              <a:buFont typeface="Roboto"/>
              <a:buChar char="●"/>
            </a:pPr>
            <a:r>
              <a:rPr lang="en" sz="3875">
                <a:latin typeface="Roboto"/>
                <a:ea typeface="Roboto"/>
                <a:cs typeface="Roboto"/>
                <a:sym typeface="Roboto"/>
              </a:rPr>
              <a:t>Storage: 1 TB HDD (for lab data)</a:t>
            </a:r>
            <a:br>
              <a:rPr lang="en" sz="3875">
                <a:solidFill>
                  <a:schemeClr val="dk1"/>
                </a:solidFill>
                <a:latin typeface="Roboto"/>
                <a:ea typeface="Roboto"/>
                <a:cs typeface="Roboto"/>
                <a:sym typeface="Roboto"/>
              </a:rPr>
            </a:br>
            <a:endParaRPr sz="3875">
              <a:solidFill>
                <a:schemeClr val="dk1"/>
              </a:solidFill>
              <a:latin typeface="Roboto"/>
              <a:ea typeface="Roboto"/>
              <a:cs typeface="Roboto"/>
              <a:sym typeface="Roboto"/>
            </a:endParaRPr>
          </a:p>
          <a:p>
            <a:pPr indent="-228600" lvl="0" marL="457200" rtl="0" algn="l">
              <a:spcBef>
                <a:spcPts val="0"/>
              </a:spcBef>
              <a:spcAft>
                <a:spcPts val="0"/>
              </a:spcAft>
              <a:buClr>
                <a:schemeClr val="dk1"/>
              </a:buClr>
              <a:buSzPct val="100000"/>
              <a:buFont typeface="Roboto"/>
              <a:buNone/>
            </a:pPr>
            <a:r>
              <a:rPr b="1" lang="en" sz="3875" u="sng">
                <a:solidFill>
                  <a:schemeClr val="dk1"/>
                </a:solidFill>
                <a:latin typeface="Roboto"/>
                <a:ea typeface="Roboto"/>
                <a:cs typeface="Roboto"/>
                <a:sym typeface="Roboto"/>
              </a:rPr>
              <a:t>5. Windows Server 2008:</a:t>
            </a:r>
            <a:endParaRPr b="1" sz="3875" u="sng">
              <a:solidFill>
                <a:schemeClr val="dk1"/>
              </a:solidFill>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Operating System: Windows Server 2008 R2 Standard</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CPU: Intel Core 2 Quad Q9550, 2.83 GHz (4 cores)</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RAM: 8 GB DDR3</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Storage: 500 GB HDD (for lab purposes)</a:t>
            </a:r>
            <a:endParaRPr sz="3875">
              <a:latin typeface="Roboto"/>
              <a:ea typeface="Roboto"/>
              <a:cs typeface="Roboto"/>
              <a:sym typeface="Roboto"/>
            </a:endParaRPr>
          </a:p>
          <a:p>
            <a:pPr indent="-290130" lvl="1" marL="914400" rtl="0" algn="l">
              <a:spcBef>
                <a:spcPts val="0"/>
              </a:spcBef>
              <a:spcAft>
                <a:spcPts val="0"/>
              </a:spcAft>
              <a:buClr>
                <a:schemeClr val="lt2"/>
              </a:buClr>
              <a:buSzPct val="100000"/>
              <a:buFont typeface="Roboto"/>
              <a:buChar char="●"/>
            </a:pPr>
            <a:r>
              <a:rPr lang="en" sz="3875">
                <a:latin typeface="Roboto"/>
                <a:ea typeface="Roboto"/>
                <a:cs typeface="Roboto"/>
                <a:sym typeface="Roboto"/>
              </a:rPr>
              <a:t>Purpose: Familiarizing with older server environments.</a:t>
            </a:r>
            <a:endParaRPr sz="3875">
              <a:latin typeface="Roboto"/>
              <a:ea typeface="Roboto"/>
              <a:cs typeface="Roboto"/>
              <a:sym typeface="Roboto"/>
            </a:endParaRPr>
          </a:p>
          <a:p>
            <a:pPr indent="-228600" lvl="0" marL="457200" rtl="0" algn="l">
              <a:spcBef>
                <a:spcPts val="0"/>
              </a:spcBef>
              <a:spcAft>
                <a:spcPts val="0"/>
              </a:spcAft>
              <a:buClr>
                <a:schemeClr val="dk1"/>
              </a:buClr>
              <a:buSzPct val="100000"/>
              <a:buFont typeface="Roboto"/>
              <a:buNone/>
            </a:pPr>
            <a:r>
              <a:t/>
            </a:r>
            <a:endParaRPr sz="1200">
              <a:solidFill>
                <a:schemeClr val="dk1"/>
              </a:solidFill>
              <a:latin typeface="Roboto"/>
              <a:ea typeface="Roboto"/>
              <a:cs typeface="Roboto"/>
              <a:sym typeface="Roboto"/>
            </a:endParaRPr>
          </a:p>
          <a:p>
            <a:pPr indent="0" lvl="0" marL="0" rtl="0" algn="l">
              <a:spcBef>
                <a:spcPts val="1500"/>
              </a:spcBef>
              <a:spcAft>
                <a:spcPts val="1200"/>
              </a:spcAft>
              <a:buNone/>
            </a:pPr>
            <a:r>
              <a:t/>
            </a:r>
            <a:endParaRPr sz="2600">
              <a:solidFill>
                <a:schemeClr val="dk1"/>
              </a:solidFill>
            </a:endParaRPr>
          </a:p>
        </p:txBody>
      </p:sp>
      <p:sp>
        <p:nvSpPr>
          <p:cNvPr id="176" name="Google Shape;176;p34"/>
          <p:cNvSpPr txBox="1"/>
          <p:nvPr/>
        </p:nvSpPr>
        <p:spPr>
          <a:xfrm>
            <a:off x="4572000" y="969600"/>
            <a:ext cx="4339500" cy="39909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1500"/>
              </a:spcBef>
              <a:spcAft>
                <a:spcPts val="0"/>
              </a:spcAft>
              <a:buClr>
                <a:schemeClr val="dk1"/>
              </a:buClr>
              <a:buSzPts val="950"/>
              <a:buFont typeface="Roboto"/>
              <a:buNone/>
            </a:pPr>
            <a:r>
              <a:rPr b="1" lang="en" sz="950" u="sng">
                <a:solidFill>
                  <a:schemeClr val="dk1"/>
                </a:solidFill>
                <a:latin typeface="Roboto"/>
                <a:ea typeface="Roboto"/>
                <a:cs typeface="Roboto"/>
                <a:sym typeface="Roboto"/>
              </a:rPr>
              <a:t>6. </a:t>
            </a:r>
            <a:r>
              <a:rPr b="1" lang="en" sz="950" u="sng">
                <a:solidFill>
                  <a:schemeClr val="dk1"/>
                </a:solidFill>
                <a:latin typeface="Roboto"/>
                <a:ea typeface="Roboto"/>
                <a:cs typeface="Roboto"/>
                <a:sym typeface="Roboto"/>
              </a:rPr>
              <a:t>Ubuntu Linux Machine:</a:t>
            </a:r>
            <a:endParaRPr b="1" sz="950" u="sng">
              <a:solidFill>
                <a:schemeClr val="dk1"/>
              </a:solidFill>
              <a:latin typeface="Roboto"/>
              <a:ea typeface="Roboto"/>
              <a:cs typeface="Roboto"/>
              <a:sym typeface="Roboto"/>
            </a:endParaRPr>
          </a:p>
          <a:p>
            <a:pPr indent="-288925" lvl="1" marL="914400" rtl="0" algn="l">
              <a:lnSpc>
                <a:spcPct val="115000"/>
              </a:lnSpc>
              <a:spcBef>
                <a:spcPts val="0"/>
              </a:spcBef>
              <a:spcAft>
                <a:spcPts val="0"/>
              </a:spcAft>
              <a:buClr>
                <a:schemeClr val="lt2"/>
              </a:buClr>
              <a:buSzPts val="950"/>
              <a:buFont typeface="Roboto"/>
              <a:buChar char="●"/>
            </a:pPr>
            <a:r>
              <a:rPr lang="en" sz="950">
                <a:solidFill>
                  <a:schemeClr val="lt2"/>
                </a:solidFill>
                <a:latin typeface="Roboto"/>
                <a:ea typeface="Roboto"/>
                <a:cs typeface="Roboto"/>
                <a:sym typeface="Roboto"/>
              </a:rPr>
              <a:t>Operating System: Ubuntu Desktop 20.04 LTS</a:t>
            </a:r>
            <a:endParaRPr sz="950">
              <a:solidFill>
                <a:schemeClr val="lt2"/>
              </a:solidFill>
              <a:latin typeface="Roboto"/>
              <a:ea typeface="Roboto"/>
              <a:cs typeface="Roboto"/>
              <a:sym typeface="Roboto"/>
            </a:endParaRPr>
          </a:p>
          <a:p>
            <a:pPr indent="-288925" lvl="1" marL="914400" rtl="0" algn="l">
              <a:lnSpc>
                <a:spcPct val="115000"/>
              </a:lnSpc>
              <a:spcBef>
                <a:spcPts val="0"/>
              </a:spcBef>
              <a:spcAft>
                <a:spcPts val="0"/>
              </a:spcAft>
              <a:buClr>
                <a:schemeClr val="lt2"/>
              </a:buClr>
              <a:buSzPts val="950"/>
              <a:buFont typeface="Roboto"/>
              <a:buChar char="●"/>
            </a:pPr>
            <a:r>
              <a:rPr lang="en" sz="950">
                <a:solidFill>
                  <a:schemeClr val="lt2"/>
                </a:solidFill>
                <a:latin typeface="Roboto"/>
                <a:ea typeface="Roboto"/>
                <a:cs typeface="Roboto"/>
                <a:sym typeface="Roboto"/>
              </a:rPr>
              <a:t>CPU: AMD Ryzen 3 3200G, 3.6 GHz (4 cores)</a:t>
            </a:r>
            <a:endParaRPr sz="950">
              <a:solidFill>
                <a:schemeClr val="lt2"/>
              </a:solidFill>
              <a:latin typeface="Roboto"/>
              <a:ea typeface="Roboto"/>
              <a:cs typeface="Roboto"/>
              <a:sym typeface="Roboto"/>
            </a:endParaRPr>
          </a:p>
          <a:p>
            <a:pPr indent="-288925" lvl="1" marL="914400" rtl="0" algn="l">
              <a:lnSpc>
                <a:spcPct val="115000"/>
              </a:lnSpc>
              <a:spcBef>
                <a:spcPts val="0"/>
              </a:spcBef>
              <a:spcAft>
                <a:spcPts val="0"/>
              </a:spcAft>
              <a:buClr>
                <a:schemeClr val="lt2"/>
              </a:buClr>
              <a:buSzPts val="950"/>
              <a:buFont typeface="Roboto"/>
              <a:buChar char="●"/>
            </a:pPr>
            <a:r>
              <a:rPr lang="en" sz="950">
                <a:solidFill>
                  <a:schemeClr val="lt2"/>
                </a:solidFill>
                <a:latin typeface="Roboto"/>
                <a:ea typeface="Roboto"/>
                <a:cs typeface="Roboto"/>
                <a:sym typeface="Roboto"/>
              </a:rPr>
              <a:t>RAM: 12 GB DDR</a:t>
            </a:r>
            <a:br>
              <a:rPr lang="en" sz="950">
                <a:solidFill>
                  <a:schemeClr val="lt2"/>
                </a:solidFill>
                <a:latin typeface="Roboto"/>
                <a:ea typeface="Roboto"/>
                <a:cs typeface="Roboto"/>
                <a:sym typeface="Roboto"/>
              </a:rPr>
            </a:br>
            <a:endParaRPr sz="950">
              <a:solidFill>
                <a:schemeClr val="lt2"/>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950"/>
              <a:buFont typeface="Roboto"/>
              <a:buNone/>
            </a:pPr>
            <a:r>
              <a:rPr b="1" lang="en" sz="950" u="sng">
                <a:solidFill>
                  <a:schemeClr val="dk1"/>
                </a:solidFill>
                <a:latin typeface="Roboto"/>
                <a:ea typeface="Roboto"/>
                <a:cs typeface="Roboto"/>
                <a:sym typeface="Roboto"/>
              </a:rPr>
              <a:t>7. Network Attached Storage (NAS):</a:t>
            </a:r>
            <a:endParaRPr b="1" sz="950" u="sng">
              <a:solidFill>
                <a:schemeClr val="dk1"/>
              </a:solidFill>
              <a:latin typeface="Roboto"/>
              <a:ea typeface="Roboto"/>
              <a:cs typeface="Roboto"/>
              <a:sym typeface="Roboto"/>
            </a:endParaRPr>
          </a:p>
          <a:p>
            <a:pPr indent="-288925" lvl="1" marL="914400" rtl="0" algn="l">
              <a:lnSpc>
                <a:spcPct val="115000"/>
              </a:lnSpc>
              <a:spcBef>
                <a:spcPts val="0"/>
              </a:spcBef>
              <a:spcAft>
                <a:spcPts val="0"/>
              </a:spcAft>
              <a:buClr>
                <a:srgbClr val="B7B7B7"/>
              </a:buClr>
              <a:buSzPts val="950"/>
              <a:buFont typeface="Roboto"/>
              <a:buChar char="●"/>
            </a:pPr>
            <a:r>
              <a:rPr lang="en" sz="950">
                <a:solidFill>
                  <a:srgbClr val="B7B7B7"/>
                </a:solidFill>
                <a:latin typeface="Roboto"/>
                <a:ea typeface="Roboto"/>
                <a:cs typeface="Roboto"/>
                <a:sym typeface="Roboto"/>
              </a:rPr>
              <a:t>Operating System: FreeNAS or OpenMediaVault</a:t>
            </a:r>
            <a:endParaRPr sz="950">
              <a:solidFill>
                <a:srgbClr val="B7B7B7"/>
              </a:solidFill>
              <a:latin typeface="Roboto"/>
              <a:ea typeface="Roboto"/>
              <a:cs typeface="Roboto"/>
              <a:sym typeface="Roboto"/>
            </a:endParaRPr>
          </a:p>
          <a:p>
            <a:pPr indent="-288925" lvl="1" marL="914400" rtl="0" algn="l">
              <a:lnSpc>
                <a:spcPct val="115000"/>
              </a:lnSpc>
              <a:spcBef>
                <a:spcPts val="0"/>
              </a:spcBef>
              <a:spcAft>
                <a:spcPts val="0"/>
              </a:spcAft>
              <a:buClr>
                <a:srgbClr val="B7B7B7"/>
              </a:buClr>
              <a:buSzPts val="950"/>
              <a:buFont typeface="Roboto"/>
              <a:buChar char="●"/>
            </a:pPr>
            <a:r>
              <a:rPr lang="en" sz="950">
                <a:solidFill>
                  <a:srgbClr val="B7B7B7"/>
                </a:solidFill>
                <a:latin typeface="Roboto"/>
                <a:ea typeface="Roboto"/>
                <a:cs typeface="Roboto"/>
                <a:sym typeface="Roboto"/>
              </a:rPr>
              <a:t>CPU: Intel Celeron J4125, 2.0 GHz (4 cores)</a:t>
            </a:r>
            <a:endParaRPr sz="950">
              <a:solidFill>
                <a:srgbClr val="B7B7B7"/>
              </a:solidFill>
              <a:latin typeface="Roboto"/>
              <a:ea typeface="Roboto"/>
              <a:cs typeface="Roboto"/>
              <a:sym typeface="Roboto"/>
            </a:endParaRPr>
          </a:p>
          <a:p>
            <a:pPr indent="-288925" lvl="1" marL="914400" rtl="0" algn="l">
              <a:lnSpc>
                <a:spcPct val="115000"/>
              </a:lnSpc>
              <a:spcBef>
                <a:spcPts val="0"/>
              </a:spcBef>
              <a:spcAft>
                <a:spcPts val="0"/>
              </a:spcAft>
              <a:buClr>
                <a:srgbClr val="B7B7B7"/>
              </a:buClr>
              <a:buSzPts val="950"/>
              <a:buFont typeface="Roboto"/>
              <a:buChar char="●"/>
            </a:pPr>
            <a:r>
              <a:rPr lang="en" sz="950">
                <a:solidFill>
                  <a:srgbClr val="B7B7B7"/>
                </a:solidFill>
                <a:latin typeface="Roboto"/>
                <a:ea typeface="Roboto"/>
                <a:cs typeface="Roboto"/>
                <a:sym typeface="Roboto"/>
              </a:rPr>
              <a:t>RAM: 8 GB DDR4</a:t>
            </a:r>
            <a:endParaRPr sz="950">
              <a:solidFill>
                <a:srgbClr val="B7B7B7"/>
              </a:solidFill>
              <a:latin typeface="Roboto"/>
              <a:ea typeface="Roboto"/>
              <a:cs typeface="Roboto"/>
              <a:sym typeface="Roboto"/>
            </a:endParaRPr>
          </a:p>
          <a:p>
            <a:pPr indent="-288925" lvl="1" marL="914400" rtl="0" algn="l">
              <a:lnSpc>
                <a:spcPct val="115000"/>
              </a:lnSpc>
              <a:spcBef>
                <a:spcPts val="0"/>
              </a:spcBef>
              <a:spcAft>
                <a:spcPts val="0"/>
              </a:spcAft>
              <a:buClr>
                <a:schemeClr val="dk1"/>
              </a:buClr>
              <a:buSzPts val="950"/>
              <a:buFont typeface="Roboto"/>
              <a:buChar char="●"/>
            </a:pPr>
            <a:r>
              <a:rPr lang="en" sz="950">
                <a:solidFill>
                  <a:srgbClr val="B7B7B7"/>
                </a:solidFill>
                <a:latin typeface="Roboto"/>
                <a:ea typeface="Roboto"/>
                <a:cs typeface="Roboto"/>
                <a:sym typeface="Roboto"/>
              </a:rPr>
              <a:t>Storage: 4 x 4 TB HDD (RAID 5 configuration)</a:t>
            </a:r>
            <a:r>
              <a:rPr lang="en" sz="950">
                <a:solidFill>
                  <a:schemeClr val="dk1"/>
                </a:solidFill>
                <a:latin typeface="Roboto"/>
                <a:ea typeface="Roboto"/>
                <a:cs typeface="Roboto"/>
                <a:sym typeface="Roboto"/>
              </a:rPr>
              <a:t> </a:t>
            </a:r>
            <a:br>
              <a:rPr lang="en" sz="950">
                <a:solidFill>
                  <a:schemeClr val="dk1"/>
                </a:solidFill>
                <a:latin typeface="Roboto"/>
                <a:ea typeface="Roboto"/>
                <a:cs typeface="Roboto"/>
                <a:sym typeface="Roboto"/>
              </a:rPr>
            </a:br>
            <a:endParaRPr sz="95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950"/>
              <a:buFont typeface="Roboto"/>
              <a:buNone/>
            </a:pPr>
            <a:r>
              <a:rPr b="1" lang="en" sz="950" u="sng">
                <a:solidFill>
                  <a:schemeClr val="dk1"/>
                </a:solidFill>
                <a:latin typeface="Roboto"/>
                <a:ea typeface="Roboto"/>
                <a:cs typeface="Roboto"/>
                <a:sym typeface="Roboto"/>
              </a:rPr>
              <a:t>8. Docker Host:</a:t>
            </a:r>
            <a:endParaRPr b="1" sz="950" u="sng">
              <a:solidFill>
                <a:schemeClr val="dk1"/>
              </a:solidFill>
              <a:latin typeface="Roboto"/>
              <a:ea typeface="Roboto"/>
              <a:cs typeface="Roboto"/>
              <a:sym typeface="Roboto"/>
            </a:endParaRPr>
          </a:p>
          <a:p>
            <a:pPr indent="-288925" lvl="1" marL="914400" rtl="0" algn="l">
              <a:lnSpc>
                <a:spcPct val="115000"/>
              </a:lnSpc>
              <a:spcBef>
                <a:spcPts val="0"/>
              </a:spcBef>
              <a:spcAft>
                <a:spcPts val="0"/>
              </a:spcAft>
              <a:buClr>
                <a:srgbClr val="B7B7B7"/>
              </a:buClr>
              <a:buSzPts val="950"/>
              <a:buFont typeface="Roboto"/>
              <a:buChar char="●"/>
            </a:pPr>
            <a:r>
              <a:rPr lang="en" sz="950">
                <a:solidFill>
                  <a:srgbClr val="B7B7B7"/>
                </a:solidFill>
                <a:latin typeface="Roboto"/>
                <a:ea typeface="Roboto"/>
                <a:cs typeface="Roboto"/>
                <a:sym typeface="Roboto"/>
              </a:rPr>
              <a:t>Operating System: CentOS 8 or Ubuntu Server 20.04 LTS</a:t>
            </a:r>
            <a:endParaRPr sz="950">
              <a:solidFill>
                <a:srgbClr val="B7B7B7"/>
              </a:solidFill>
              <a:latin typeface="Roboto"/>
              <a:ea typeface="Roboto"/>
              <a:cs typeface="Roboto"/>
              <a:sym typeface="Roboto"/>
            </a:endParaRPr>
          </a:p>
          <a:p>
            <a:pPr indent="-288925" lvl="1" marL="914400" rtl="0" algn="l">
              <a:lnSpc>
                <a:spcPct val="115000"/>
              </a:lnSpc>
              <a:spcBef>
                <a:spcPts val="0"/>
              </a:spcBef>
              <a:spcAft>
                <a:spcPts val="0"/>
              </a:spcAft>
              <a:buClr>
                <a:schemeClr val="dk1"/>
              </a:buClr>
              <a:buSzPts val="950"/>
              <a:buFont typeface="Roboto"/>
              <a:buChar char="●"/>
            </a:pPr>
            <a:r>
              <a:rPr lang="en" sz="950">
                <a:solidFill>
                  <a:srgbClr val="B7B7B7"/>
                </a:solidFill>
                <a:latin typeface="Roboto"/>
                <a:ea typeface="Roboto"/>
                <a:cs typeface="Roboto"/>
                <a:sym typeface="Roboto"/>
              </a:rPr>
              <a:t>CPU: Intel Core i5-9600K, 3.7 GHz (6 cores)</a:t>
            </a:r>
            <a:br>
              <a:rPr lang="en" sz="950">
                <a:solidFill>
                  <a:schemeClr val="dk1"/>
                </a:solidFill>
                <a:latin typeface="Roboto"/>
                <a:ea typeface="Roboto"/>
                <a:cs typeface="Roboto"/>
                <a:sym typeface="Roboto"/>
              </a:rPr>
            </a:br>
            <a:endParaRPr sz="95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950"/>
              <a:buFont typeface="Roboto"/>
              <a:buNone/>
            </a:pPr>
            <a:r>
              <a:rPr b="1" lang="en" sz="950" u="sng">
                <a:solidFill>
                  <a:schemeClr val="dk1"/>
                </a:solidFill>
                <a:latin typeface="Roboto"/>
                <a:ea typeface="Roboto"/>
                <a:cs typeface="Roboto"/>
                <a:sym typeface="Roboto"/>
              </a:rPr>
              <a:t>9. PfSense Firewall:</a:t>
            </a:r>
            <a:endParaRPr b="1" sz="950" u="sng">
              <a:solidFill>
                <a:schemeClr val="dk1"/>
              </a:solidFill>
              <a:latin typeface="Roboto"/>
              <a:ea typeface="Roboto"/>
              <a:cs typeface="Roboto"/>
              <a:sym typeface="Roboto"/>
            </a:endParaRPr>
          </a:p>
          <a:p>
            <a:pPr indent="-288925" lvl="1" marL="914400" rtl="0" algn="l">
              <a:lnSpc>
                <a:spcPct val="115000"/>
              </a:lnSpc>
              <a:spcBef>
                <a:spcPts val="0"/>
              </a:spcBef>
              <a:spcAft>
                <a:spcPts val="0"/>
              </a:spcAft>
              <a:buClr>
                <a:schemeClr val="lt2"/>
              </a:buClr>
              <a:buSzPts val="950"/>
              <a:buFont typeface="Roboto"/>
              <a:buChar char="●"/>
            </a:pPr>
            <a:r>
              <a:rPr lang="en" sz="950">
                <a:solidFill>
                  <a:schemeClr val="lt2"/>
                </a:solidFill>
                <a:latin typeface="Roboto"/>
                <a:ea typeface="Roboto"/>
                <a:cs typeface="Roboto"/>
                <a:sym typeface="Roboto"/>
              </a:rPr>
              <a:t>Operating System: PfSense</a:t>
            </a:r>
            <a:endParaRPr sz="950">
              <a:solidFill>
                <a:schemeClr val="lt2"/>
              </a:solidFill>
              <a:latin typeface="Roboto"/>
              <a:ea typeface="Roboto"/>
              <a:cs typeface="Roboto"/>
              <a:sym typeface="Roboto"/>
            </a:endParaRPr>
          </a:p>
          <a:p>
            <a:pPr indent="-288925" lvl="1" marL="914400" rtl="0" algn="l">
              <a:lnSpc>
                <a:spcPct val="115000"/>
              </a:lnSpc>
              <a:spcBef>
                <a:spcPts val="0"/>
              </a:spcBef>
              <a:spcAft>
                <a:spcPts val="0"/>
              </a:spcAft>
              <a:buClr>
                <a:schemeClr val="dk1"/>
              </a:buClr>
              <a:buSzPts val="950"/>
              <a:buFont typeface="Roboto"/>
              <a:buChar char="●"/>
            </a:pPr>
            <a:r>
              <a:rPr lang="en" sz="950">
                <a:solidFill>
                  <a:schemeClr val="lt2"/>
                </a:solidFill>
                <a:latin typeface="Roboto"/>
                <a:ea typeface="Roboto"/>
                <a:cs typeface="Roboto"/>
                <a:sym typeface="Roboto"/>
              </a:rPr>
              <a:t>CPU: Intel Pentium G4560, 3.5 GHz (2 cores)</a:t>
            </a:r>
            <a:br>
              <a:rPr lang="en" sz="950">
                <a:solidFill>
                  <a:schemeClr val="dk1"/>
                </a:solidFill>
                <a:latin typeface="Roboto"/>
                <a:ea typeface="Roboto"/>
                <a:cs typeface="Roboto"/>
                <a:sym typeface="Roboto"/>
              </a:rPr>
            </a:br>
            <a:endParaRPr sz="950">
              <a:solidFill>
                <a:schemeClr val="dk1"/>
              </a:solidFill>
              <a:latin typeface="Roboto"/>
              <a:ea typeface="Roboto"/>
              <a:cs typeface="Roboto"/>
              <a:sym typeface="Roboto"/>
            </a:endParaRPr>
          </a:p>
          <a:p>
            <a:pPr indent="-228600" lvl="0" marL="457200" rtl="0" algn="l">
              <a:lnSpc>
                <a:spcPct val="115000"/>
              </a:lnSpc>
              <a:spcBef>
                <a:spcPts val="0"/>
              </a:spcBef>
              <a:spcAft>
                <a:spcPts val="0"/>
              </a:spcAft>
              <a:buClr>
                <a:schemeClr val="dk1"/>
              </a:buClr>
              <a:buSzPts val="950"/>
              <a:buFont typeface="Roboto"/>
              <a:buNone/>
            </a:pPr>
            <a:r>
              <a:rPr b="1" lang="en" sz="950" u="sng">
                <a:solidFill>
                  <a:schemeClr val="dk1"/>
                </a:solidFill>
                <a:latin typeface="Roboto"/>
                <a:ea typeface="Roboto"/>
                <a:cs typeface="Roboto"/>
                <a:sym typeface="Roboto"/>
              </a:rPr>
              <a:t>10. Raspberry Pi Cluster:</a:t>
            </a:r>
            <a:endParaRPr b="1" sz="950" u="sng">
              <a:solidFill>
                <a:schemeClr val="dk1"/>
              </a:solidFill>
              <a:latin typeface="Roboto"/>
              <a:ea typeface="Roboto"/>
              <a:cs typeface="Roboto"/>
              <a:sym typeface="Roboto"/>
            </a:endParaRPr>
          </a:p>
          <a:p>
            <a:pPr indent="-288925" lvl="1" marL="914400" rtl="0" algn="l">
              <a:lnSpc>
                <a:spcPct val="115000"/>
              </a:lnSpc>
              <a:spcBef>
                <a:spcPts val="0"/>
              </a:spcBef>
              <a:spcAft>
                <a:spcPts val="0"/>
              </a:spcAft>
              <a:buClr>
                <a:schemeClr val="lt2"/>
              </a:buClr>
              <a:buSzPts val="950"/>
              <a:buFont typeface="Roboto"/>
              <a:buChar char="●"/>
            </a:pPr>
            <a:r>
              <a:rPr lang="en" sz="950">
                <a:solidFill>
                  <a:schemeClr val="lt2"/>
                </a:solidFill>
                <a:latin typeface="Roboto"/>
                <a:ea typeface="Roboto"/>
                <a:cs typeface="Roboto"/>
                <a:sym typeface="Roboto"/>
              </a:rPr>
              <a:t>Operating System: Raspbian or Ubuntu Server (for ARM)</a:t>
            </a:r>
            <a:endParaRPr sz="950">
              <a:solidFill>
                <a:schemeClr val="lt2"/>
              </a:solidFill>
              <a:latin typeface="Roboto"/>
              <a:ea typeface="Roboto"/>
              <a:cs typeface="Roboto"/>
              <a:sym typeface="Roboto"/>
            </a:endParaRPr>
          </a:p>
          <a:p>
            <a:pPr indent="-288925" lvl="1" marL="914400" rtl="0" algn="l">
              <a:lnSpc>
                <a:spcPct val="115000"/>
              </a:lnSpc>
              <a:spcBef>
                <a:spcPts val="0"/>
              </a:spcBef>
              <a:spcAft>
                <a:spcPts val="0"/>
              </a:spcAft>
              <a:buClr>
                <a:schemeClr val="lt2"/>
              </a:buClr>
              <a:buSzPts val="950"/>
              <a:buFont typeface="Roboto"/>
              <a:buChar char="●"/>
            </a:pPr>
            <a:r>
              <a:rPr lang="en" sz="950">
                <a:solidFill>
                  <a:schemeClr val="lt2"/>
                </a:solidFill>
                <a:latin typeface="Roboto"/>
                <a:ea typeface="Roboto"/>
                <a:cs typeface="Roboto"/>
                <a:sym typeface="Roboto"/>
              </a:rPr>
              <a:t>CPU: Quad-core ARM Cortex-A72 (per Raspberry Pi 4)</a:t>
            </a:r>
            <a:endParaRPr sz="950">
              <a:solidFill>
                <a:schemeClr val="lt2"/>
              </a:solidFill>
              <a:latin typeface="Roboto"/>
              <a:ea typeface="Roboto"/>
              <a:cs typeface="Roboto"/>
              <a:sym typeface="Roboto"/>
            </a:endParaRPr>
          </a:p>
          <a:p>
            <a:pPr indent="-288925" lvl="1" marL="914400" rtl="0" algn="l">
              <a:lnSpc>
                <a:spcPct val="115000"/>
              </a:lnSpc>
              <a:spcBef>
                <a:spcPts val="0"/>
              </a:spcBef>
              <a:spcAft>
                <a:spcPts val="0"/>
              </a:spcAft>
              <a:buClr>
                <a:schemeClr val="lt2"/>
              </a:buClr>
              <a:buSzPts val="950"/>
              <a:buFont typeface="Roboto"/>
              <a:buChar char="●"/>
            </a:pPr>
            <a:r>
              <a:rPr lang="en" sz="950">
                <a:solidFill>
                  <a:schemeClr val="lt2"/>
                </a:solidFill>
                <a:latin typeface="Roboto"/>
                <a:ea typeface="Roboto"/>
                <a:cs typeface="Roboto"/>
                <a:sym typeface="Roboto"/>
              </a:rPr>
              <a:t>RAM: 4 GB LPDDR4 (per Raspberry Pi 4)</a:t>
            </a:r>
            <a:endParaRPr sz="950">
              <a:solidFill>
                <a:schemeClr val="lt2"/>
              </a:solidFill>
              <a:latin typeface="Roboto"/>
              <a:ea typeface="Roboto"/>
              <a:cs typeface="Roboto"/>
              <a:sym typeface="Roboto"/>
            </a:endParaRPr>
          </a:p>
          <a:p>
            <a:pPr indent="0" lvl="0" marL="0" rtl="0" algn="l">
              <a:lnSpc>
                <a:spcPct val="115000"/>
              </a:lnSpc>
              <a:spcBef>
                <a:spcPts val="1500"/>
              </a:spcBef>
              <a:spcAft>
                <a:spcPts val="1500"/>
              </a:spcAft>
              <a:buNone/>
            </a:pPr>
            <a:r>
              <a:t/>
            </a:r>
            <a:endParaRPr sz="95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Closing Arguments</a:t>
            </a:r>
            <a:endParaRPr>
              <a:solidFill>
                <a:srgbClr val="00FF00"/>
              </a:solidFill>
              <a:latin typeface="Changa"/>
              <a:ea typeface="Changa"/>
              <a:cs typeface="Changa"/>
              <a:sym typeface="Changa"/>
            </a:endParaRPr>
          </a:p>
        </p:txBody>
      </p:sp>
      <p:sp>
        <p:nvSpPr>
          <p:cNvPr id="182" name="Google Shape;18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solidFill>
                  <a:srgbClr val="F7F7F8"/>
                </a:solidFill>
              </a:rPr>
              <a:t>PROSECUTION: </a:t>
            </a:r>
            <a:r>
              <a:rPr lang="en">
                <a:solidFill>
                  <a:srgbClr val="F7F7F8"/>
                </a:solidFill>
              </a:rPr>
              <a:t>Hacker is guilty </a:t>
            </a:r>
            <a:r>
              <a:rPr lang="en" u="sng">
                <a:solidFill>
                  <a:srgbClr val="F7F7F8"/>
                </a:solidFill>
              </a:rPr>
              <a:t>beyond reasonable doubt</a:t>
            </a:r>
            <a:endParaRPr u="sng">
              <a:solidFill>
                <a:srgbClr val="F7F7F8"/>
              </a:solidFill>
            </a:endParaRPr>
          </a:p>
          <a:p>
            <a:pPr indent="-342900" lvl="0" marL="457200" rtl="0" algn="l">
              <a:spcBef>
                <a:spcPts val="1200"/>
              </a:spcBef>
              <a:spcAft>
                <a:spcPts val="0"/>
              </a:spcAft>
              <a:buClr>
                <a:srgbClr val="F7F7F8"/>
              </a:buClr>
              <a:buSzPts val="1800"/>
              <a:buChar char="-"/>
            </a:pPr>
            <a:r>
              <a:rPr lang="en">
                <a:solidFill>
                  <a:srgbClr val="F7F7F8"/>
                </a:solidFill>
              </a:rPr>
              <a:t>Patch wasn’t tested or ready and spread causing consequences. </a:t>
            </a:r>
            <a:endParaRPr>
              <a:solidFill>
                <a:srgbClr val="F7F7F8"/>
              </a:solidFill>
            </a:endParaRPr>
          </a:p>
          <a:p>
            <a:pPr indent="-342900" lvl="0" marL="457200" rtl="0" algn="l">
              <a:spcBef>
                <a:spcPts val="0"/>
              </a:spcBef>
              <a:spcAft>
                <a:spcPts val="0"/>
              </a:spcAft>
              <a:buClr>
                <a:srgbClr val="F7F7F8"/>
              </a:buClr>
              <a:buSzPts val="1800"/>
              <a:buChar char="-"/>
            </a:pPr>
            <a:r>
              <a:rPr lang="en">
                <a:solidFill>
                  <a:srgbClr val="F7F7F8"/>
                </a:solidFill>
              </a:rPr>
              <a:t>chasing clout, caused damage</a:t>
            </a:r>
            <a:endParaRPr>
              <a:solidFill>
                <a:srgbClr val="F7F7F8"/>
              </a:solidFill>
            </a:endParaRPr>
          </a:p>
          <a:p>
            <a:pPr indent="-342900" lvl="0" marL="457200" rtl="0" algn="l">
              <a:spcBef>
                <a:spcPts val="0"/>
              </a:spcBef>
              <a:spcAft>
                <a:spcPts val="0"/>
              </a:spcAft>
              <a:buClr>
                <a:srgbClr val="F7F7F8"/>
              </a:buClr>
              <a:buSzPts val="1800"/>
              <a:buChar char="-"/>
            </a:pPr>
            <a:r>
              <a:rPr lang="en">
                <a:solidFill>
                  <a:srgbClr val="F7F7F8"/>
                </a:solidFill>
              </a:rPr>
              <a:t>Exploiting an RCE is accessing / damaging a computer</a:t>
            </a:r>
            <a:br>
              <a:rPr lang="en">
                <a:solidFill>
                  <a:srgbClr val="F7F7F8"/>
                </a:solidFill>
              </a:rPr>
            </a:br>
            <a:br>
              <a:rPr lang="en">
                <a:solidFill>
                  <a:srgbClr val="F7F7F8"/>
                </a:solidFill>
              </a:rPr>
            </a:br>
            <a:endParaRPr>
              <a:solidFill>
                <a:srgbClr val="F7F7F8"/>
              </a:solidFill>
            </a:endParaRPr>
          </a:p>
          <a:p>
            <a:pPr indent="0" lvl="0" marL="0" rtl="0" algn="l">
              <a:spcBef>
                <a:spcPts val="1200"/>
              </a:spcBef>
              <a:spcAft>
                <a:spcPts val="0"/>
              </a:spcAft>
              <a:buNone/>
            </a:pPr>
            <a:r>
              <a:rPr b="1" lang="en">
                <a:solidFill>
                  <a:srgbClr val="F7F7F8"/>
                </a:solidFill>
              </a:rPr>
              <a:t>DEFENSE: </a:t>
            </a:r>
            <a:r>
              <a:rPr lang="en">
                <a:solidFill>
                  <a:srgbClr val="F7F7F8"/>
                </a:solidFill>
              </a:rPr>
              <a:t>Hacker is not guilty, </a:t>
            </a:r>
            <a:r>
              <a:rPr lang="en" u="sng">
                <a:solidFill>
                  <a:srgbClr val="F7F7F8"/>
                </a:solidFill>
              </a:rPr>
              <a:t>there is reasonable doubt of </a:t>
            </a:r>
            <a:r>
              <a:rPr lang="en" u="sng">
                <a:solidFill>
                  <a:srgbClr val="F7F7F8"/>
                </a:solidFill>
              </a:rPr>
              <a:t>guilt</a:t>
            </a:r>
            <a:endParaRPr u="sng">
              <a:solidFill>
                <a:srgbClr val="F7F7F8"/>
              </a:solidFill>
            </a:endParaRPr>
          </a:p>
          <a:p>
            <a:pPr indent="-342900" lvl="0" marL="457200" rtl="0" algn="l">
              <a:spcBef>
                <a:spcPts val="1200"/>
              </a:spcBef>
              <a:spcAft>
                <a:spcPts val="0"/>
              </a:spcAft>
              <a:buClr>
                <a:srgbClr val="F7F7F8"/>
              </a:buClr>
              <a:buSzPts val="1800"/>
              <a:buChar char="-"/>
            </a:pPr>
            <a:r>
              <a:rPr lang="en">
                <a:solidFill>
                  <a:srgbClr val="F7F7F8"/>
                </a:solidFill>
              </a:rPr>
              <a:t>They mitigated other harms, they tested as much as they could</a:t>
            </a:r>
            <a:endParaRPr>
              <a:solidFill>
                <a:srgbClr val="F7F7F8"/>
              </a:solidFill>
            </a:endParaRPr>
          </a:p>
          <a:p>
            <a:pPr indent="-342900" lvl="0" marL="457200" rtl="0" algn="l">
              <a:spcBef>
                <a:spcPts val="0"/>
              </a:spcBef>
              <a:spcAft>
                <a:spcPts val="0"/>
              </a:spcAft>
              <a:buClr>
                <a:srgbClr val="F7F7F8"/>
              </a:buClr>
              <a:buSzPts val="1800"/>
              <a:buChar char="-"/>
            </a:pPr>
            <a:r>
              <a:rPr lang="en">
                <a:solidFill>
                  <a:srgbClr val="F7F7F8"/>
                </a:solidFill>
              </a:rPr>
              <a:t>this was an unintended consequence</a:t>
            </a:r>
            <a:endParaRPr>
              <a:solidFill>
                <a:srgbClr val="F7F7F8"/>
              </a:solidFill>
            </a:endParaRPr>
          </a:p>
          <a:p>
            <a:pPr indent="-342900" lvl="0" marL="457200" rtl="0" algn="l">
              <a:spcBef>
                <a:spcPts val="0"/>
              </a:spcBef>
              <a:spcAft>
                <a:spcPts val="0"/>
              </a:spcAft>
              <a:buClr>
                <a:srgbClr val="F7F7F8"/>
              </a:buClr>
              <a:buSzPts val="1800"/>
              <a:buChar char="-"/>
            </a:pPr>
            <a:r>
              <a:rPr lang="en">
                <a:solidFill>
                  <a:srgbClr val="F7F7F8"/>
                </a:solidFill>
              </a:rPr>
              <a:t>Authoring code is not accessing a computer</a:t>
            </a:r>
            <a:endParaRPr>
              <a:solidFill>
                <a:srgbClr val="F7F7F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Jury Verdict</a:t>
            </a:r>
            <a:endParaRPr/>
          </a:p>
        </p:txBody>
      </p:sp>
      <p:sp>
        <p:nvSpPr>
          <p:cNvPr id="188" name="Google Shape;188;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Is the Defendant guilty under the CFAA?</a:t>
            </a:r>
            <a:endParaRPr/>
          </a:p>
          <a:p>
            <a:pPr indent="0" lvl="0" marL="0" rtl="0" algn="l">
              <a:spcBef>
                <a:spcPts val="1200"/>
              </a:spcBef>
              <a:spcAft>
                <a:spcPts val="0"/>
              </a:spcAft>
              <a:buNone/>
            </a:pPr>
            <a:r>
              <a:rPr lang="en"/>
              <a:t>(i.e., was there intent to harm or recklessness?)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sz="2400" u="sng">
                <a:solidFill>
                  <a:schemeClr val="hlink"/>
                </a:solidFill>
                <a:hlinkClick r:id="rId3"/>
              </a:rPr>
              <a:t>https://strawpoll.com/40ZmqxOxlZa</a:t>
            </a:r>
            <a:r>
              <a:rPr lang="en" sz="2400"/>
              <a:t> </a:t>
            </a:r>
            <a:endParaRPr sz="2400"/>
          </a:p>
          <a:p>
            <a:pPr indent="0" lvl="0" marL="0" rtl="0" algn="l">
              <a:spcBef>
                <a:spcPts val="1200"/>
              </a:spcBef>
              <a:spcAft>
                <a:spcPts val="0"/>
              </a:spcAft>
              <a:buNone/>
            </a:pPr>
            <a:r>
              <a:rPr lang="en"/>
              <a:t>Or  —----------------------------------------&gt;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descr="qr_code_modal.qr_code" id="189" name="Google Shape;189;p36"/>
          <p:cNvPicPr preferRelativeResize="0"/>
          <p:nvPr/>
        </p:nvPicPr>
        <p:blipFill>
          <a:blip r:embed="rId4">
            <a:alphaModFix/>
          </a:blip>
          <a:stretch>
            <a:fillRect/>
          </a:stretch>
        </p:blipFill>
        <p:spPr>
          <a:xfrm>
            <a:off x="5678575" y="1775800"/>
            <a:ext cx="2884000" cy="2884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(Likely) </a:t>
            </a:r>
            <a:r>
              <a:rPr lang="en">
                <a:solidFill>
                  <a:srgbClr val="00FF00"/>
                </a:solidFill>
                <a:latin typeface="Changa"/>
                <a:ea typeface="Changa"/>
                <a:cs typeface="Changa"/>
                <a:sym typeface="Changa"/>
              </a:rPr>
              <a:t>Judge Ruling</a:t>
            </a:r>
            <a:endParaRPr>
              <a:solidFill>
                <a:srgbClr val="00FF00"/>
              </a:solidFill>
              <a:latin typeface="Changa"/>
              <a:ea typeface="Changa"/>
              <a:cs typeface="Changa"/>
              <a:sym typeface="Changa"/>
            </a:endParaRPr>
          </a:p>
        </p:txBody>
      </p:sp>
      <p:sp>
        <p:nvSpPr>
          <p:cNvPr id="195" name="Google Shape;195;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Guilty under CFAA. </a:t>
            </a:r>
            <a:endParaRPr/>
          </a:p>
          <a:p>
            <a:pPr indent="0" lvl="0" marL="0" rtl="0" algn="l">
              <a:spcBef>
                <a:spcPts val="1200"/>
              </a:spcBef>
              <a:spcAft>
                <a:spcPts val="0"/>
              </a:spcAft>
              <a:buNone/>
            </a:pPr>
            <a:r>
              <a:rPr lang="en"/>
              <a:t>Sentence reduced for good behavior, time served and probation. </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ph type="ctrTitle"/>
          </p:nvPr>
        </p:nvSpPr>
        <p:spPr>
          <a:xfrm>
            <a:off x="311708" y="13340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Telecom Co. </a:t>
            </a:r>
            <a:br>
              <a:rPr lang="en"/>
            </a:br>
            <a:r>
              <a:rPr lang="en"/>
              <a:t>v. </a:t>
            </a:r>
            <a:endParaRPr/>
          </a:p>
          <a:p>
            <a:pPr indent="0" lvl="0" marL="0" rtl="0" algn="ctr">
              <a:spcBef>
                <a:spcPts val="0"/>
              </a:spcBef>
              <a:spcAft>
                <a:spcPts val="0"/>
              </a:spcAft>
              <a:buNone/>
            </a:pPr>
            <a:r>
              <a:rPr lang="en"/>
              <a:t>Offsec Start-up Inc. </a:t>
            </a:r>
            <a:endParaRPr/>
          </a:p>
        </p:txBody>
      </p:sp>
      <p:sp>
        <p:nvSpPr>
          <p:cNvPr id="201" name="Google Shape;201;p38"/>
          <p:cNvSpPr txBox="1"/>
          <p:nvPr/>
        </p:nvSpPr>
        <p:spPr>
          <a:xfrm>
            <a:off x="2993100" y="3350950"/>
            <a:ext cx="31578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Florida District Court, Civil Lawsuit</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Changa"/>
                <a:ea typeface="Changa"/>
                <a:cs typeface="Changa"/>
                <a:sym typeface="Changa"/>
              </a:rPr>
              <a:t>Statement of the Facts</a:t>
            </a:r>
            <a:endParaRPr>
              <a:solidFill>
                <a:srgbClr val="FF0000"/>
              </a:solidFill>
              <a:latin typeface="Changa"/>
              <a:ea typeface="Changa"/>
              <a:cs typeface="Changa"/>
              <a:sym typeface="Changa"/>
            </a:endParaRPr>
          </a:p>
        </p:txBody>
      </p:sp>
      <p:sp>
        <p:nvSpPr>
          <p:cNvPr id="207" name="Google Shape;207;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2"/>
              </a:buClr>
              <a:buSzPts val="1800"/>
              <a:buChar char="-"/>
            </a:pPr>
            <a:r>
              <a:rPr lang="en"/>
              <a:t>Offensive security startup founded by 5 twenty-somethings with limited experience and a lack of corporate diligence and responsibility.</a:t>
            </a:r>
            <a:endParaRPr/>
          </a:p>
          <a:p>
            <a:pPr indent="0" lvl="0" marL="457200" rtl="0" algn="l">
              <a:spcBef>
                <a:spcPts val="0"/>
              </a:spcBef>
              <a:spcAft>
                <a:spcPts val="0"/>
              </a:spcAft>
              <a:buNone/>
            </a:pPr>
            <a:r>
              <a:t/>
            </a:r>
            <a:endParaRPr/>
          </a:p>
          <a:p>
            <a:pPr indent="-342900" lvl="0" marL="457200" rtl="0" algn="l">
              <a:spcBef>
                <a:spcPts val="0"/>
              </a:spcBef>
              <a:spcAft>
                <a:spcPts val="0"/>
              </a:spcAft>
              <a:buClr>
                <a:schemeClr val="lt2"/>
              </a:buClr>
              <a:buSzPts val="1800"/>
              <a:buChar char="-"/>
            </a:pPr>
            <a:r>
              <a:rPr lang="en"/>
              <a:t>A bad actor purchased Offsec Startup tool (Entrylvl Toolkit) and cracked it. </a:t>
            </a:r>
            <a:endParaRPr/>
          </a:p>
          <a:p>
            <a:pPr indent="-298450" lvl="0" marL="457200" rtl="0" algn="l">
              <a:spcBef>
                <a:spcPts val="0"/>
              </a:spcBef>
              <a:spcAft>
                <a:spcPts val="0"/>
              </a:spcAft>
              <a:buClr>
                <a:srgbClr val="000000"/>
              </a:buClr>
              <a:buSzPts val="1100"/>
              <a:buChar char="-"/>
            </a:pPr>
            <a:r>
              <a:t/>
            </a:r>
            <a:endParaRPr/>
          </a:p>
          <a:p>
            <a:pPr indent="-342900" lvl="0" marL="457200" rtl="0" algn="l">
              <a:spcBef>
                <a:spcPts val="0"/>
              </a:spcBef>
              <a:spcAft>
                <a:spcPts val="0"/>
              </a:spcAft>
              <a:buClr>
                <a:schemeClr val="lt2"/>
              </a:buClr>
              <a:buSzPts val="1800"/>
              <a:buChar char="-"/>
            </a:pPr>
            <a:r>
              <a:rPr lang="en"/>
              <a:t>Cracked version of EntryLvl provided initial access for a ransomware attack on Telecom Co.</a:t>
            </a:r>
            <a:endParaRPr sz="1100">
              <a:solidFill>
                <a:srgbClr val="000000"/>
              </a:solidFill>
            </a:endParaRPr>
          </a:p>
          <a:p>
            <a:pPr indent="-298450" lvl="0" marL="457200" rtl="0" algn="l">
              <a:spcBef>
                <a:spcPts val="0"/>
              </a:spcBef>
              <a:spcAft>
                <a:spcPts val="0"/>
              </a:spcAft>
              <a:buClr>
                <a:srgbClr val="000000"/>
              </a:buClr>
              <a:buSzPts val="1100"/>
              <a:buChar char="-"/>
            </a:pPr>
            <a:r>
              <a:t/>
            </a:r>
            <a:endParaRPr/>
          </a:p>
          <a:p>
            <a:pPr indent="-298450" lvl="0" marL="457200" rtl="0" algn="l">
              <a:spcBef>
                <a:spcPts val="0"/>
              </a:spcBef>
              <a:spcAft>
                <a:spcPts val="0"/>
              </a:spcAft>
              <a:buClr>
                <a:srgbClr val="000000"/>
              </a:buClr>
              <a:buSzPts val="1100"/>
              <a:buChar char="-"/>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Char char="-"/>
            </a:pPr>
            <a:r>
              <a:rPr lang="en" sz="1100"/>
              <a:t>Marketing slide, fake contract, screenshot of a dark web forum post [cracked ver.]</a:t>
            </a:r>
            <a:endParaRPr/>
          </a:p>
        </p:txBody>
      </p:sp>
      <p:sp>
        <p:nvSpPr>
          <p:cNvPr id="213" name="Google Shape;21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4" name="Google Shape;214;p40"/>
          <p:cNvPicPr preferRelativeResize="0"/>
          <p:nvPr/>
        </p:nvPicPr>
        <p:blipFill>
          <a:blip r:embed="rId3">
            <a:alphaModFix/>
          </a:blip>
          <a:stretch>
            <a:fillRect/>
          </a:stretch>
        </p:blipFill>
        <p:spPr>
          <a:xfrm>
            <a:off x="-1" y="-1156600"/>
            <a:ext cx="9144000" cy="721800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41"/>
          <p:cNvPicPr preferRelativeResize="0"/>
          <p:nvPr/>
        </p:nvPicPr>
        <p:blipFill>
          <a:blip r:embed="rId3">
            <a:alphaModFix/>
          </a:blip>
          <a:stretch>
            <a:fillRect/>
          </a:stretch>
        </p:blipFill>
        <p:spPr>
          <a:xfrm>
            <a:off x="1660801" y="576250"/>
            <a:ext cx="5822389" cy="39910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5" name="Google Shape;22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6" name="Google Shape;226;p42"/>
          <p:cNvPicPr preferRelativeResize="0"/>
          <p:nvPr/>
        </p:nvPicPr>
        <p:blipFill rotWithShape="1">
          <a:blip r:embed="rId3">
            <a:alphaModFix/>
          </a:blip>
          <a:srcRect b="0" l="0" r="0" t="15867"/>
          <a:stretch/>
        </p:blipFill>
        <p:spPr>
          <a:xfrm>
            <a:off x="0" y="53174"/>
            <a:ext cx="9143999" cy="2360125"/>
          </a:xfrm>
          <a:prstGeom prst="rect">
            <a:avLst/>
          </a:prstGeom>
          <a:noFill/>
          <a:ln>
            <a:noFill/>
          </a:ln>
        </p:spPr>
      </p:pic>
      <p:pic>
        <p:nvPicPr>
          <p:cNvPr id="227" name="Google Shape;227;p42"/>
          <p:cNvPicPr preferRelativeResize="0"/>
          <p:nvPr/>
        </p:nvPicPr>
        <p:blipFill rotWithShape="1">
          <a:blip r:embed="rId4">
            <a:alphaModFix/>
          </a:blip>
          <a:srcRect b="0" l="0" r="0" t="22624"/>
          <a:stretch/>
        </p:blipFill>
        <p:spPr>
          <a:xfrm>
            <a:off x="1313284" y="2413300"/>
            <a:ext cx="6517441" cy="27302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pic>
        <p:nvPicPr>
          <p:cNvPr id="232" name="Google Shape;232;p43"/>
          <p:cNvPicPr preferRelativeResize="0"/>
          <p:nvPr/>
        </p:nvPicPr>
        <p:blipFill>
          <a:blip r:embed="rId3">
            <a:alphaModFix/>
          </a:blip>
          <a:stretch>
            <a:fillRect/>
          </a:stretch>
        </p:blipFill>
        <p:spPr>
          <a:xfrm>
            <a:off x="0" y="320756"/>
            <a:ext cx="9144003" cy="435768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4"/>
          <p:cNvSpPr txBox="1"/>
          <p:nvPr>
            <p:ph type="title"/>
          </p:nvPr>
        </p:nvSpPr>
        <p:spPr>
          <a:xfrm>
            <a:off x="311700" y="445025"/>
            <a:ext cx="8520600" cy="780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Changa"/>
                <a:ea typeface="Changa"/>
                <a:cs typeface="Changa"/>
                <a:sym typeface="Changa"/>
              </a:rPr>
              <a:t>Claim</a:t>
            </a:r>
            <a:r>
              <a:rPr lang="en">
                <a:solidFill>
                  <a:srgbClr val="FF0000"/>
                </a:solidFill>
                <a:latin typeface="Changa"/>
                <a:ea typeface="Changa"/>
                <a:cs typeface="Changa"/>
                <a:sym typeface="Changa"/>
              </a:rPr>
              <a:t>:</a:t>
            </a:r>
            <a:r>
              <a:rPr lang="en">
                <a:solidFill>
                  <a:srgbClr val="FF0000"/>
                </a:solidFill>
                <a:latin typeface="Changa"/>
                <a:ea typeface="Changa"/>
                <a:cs typeface="Changa"/>
                <a:sym typeface="Changa"/>
              </a:rPr>
              <a:t> Aiding and Abetting (State Law)</a:t>
            </a:r>
            <a:endParaRPr>
              <a:solidFill>
                <a:srgbClr val="FF0000"/>
              </a:solidFill>
              <a:latin typeface="Changa"/>
              <a:ea typeface="Changa"/>
              <a:cs typeface="Changa"/>
              <a:sym typeface="Changa"/>
            </a:endParaRPr>
          </a:p>
          <a:p>
            <a:pPr indent="0" lvl="0" marL="0" rtl="0" algn="l">
              <a:spcBef>
                <a:spcPts val="0"/>
              </a:spcBef>
              <a:spcAft>
                <a:spcPts val="0"/>
              </a:spcAft>
              <a:buNone/>
            </a:pPr>
            <a:r>
              <a:rPr lang="en">
                <a:solidFill>
                  <a:srgbClr val="FF0000"/>
                </a:solidFill>
                <a:latin typeface="Changa"/>
                <a:ea typeface="Changa"/>
                <a:cs typeface="Changa"/>
                <a:sym typeface="Changa"/>
              </a:rPr>
              <a:t>Underlying Claim:</a:t>
            </a:r>
            <a:r>
              <a:rPr i="1" lang="en">
                <a:solidFill>
                  <a:srgbClr val="FF0000"/>
                </a:solidFill>
                <a:latin typeface="Changa"/>
                <a:ea typeface="Changa"/>
                <a:cs typeface="Changa"/>
                <a:sym typeface="Changa"/>
              </a:rPr>
              <a:t> Property Damage / Computer Fraud</a:t>
            </a:r>
            <a:endParaRPr i="1">
              <a:solidFill>
                <a:srgbClr val="FF0000"/>
              </a:solidFill>
              <a:latin typeface="Changa"/>
              <a:ea typeface="Changa"/>
              <a:cs typeface="Changa"/>
              <a:sym typeface="Changa"/>
            </a:endParaRPr>
          </a:p>
        </p:txBody>
      </p:sp>
      <p:sp>
        <p:nvSpPr>
          <p:cNvPr id="238" name="Google Shape;238;p44"/>
          <p:cNvSpPr txBox="1"/>
          <p:nvPr>
            <p:ph idx="1" type="body"/>
          </p:nvPr>
        </p:nvSpPr>
        <p:spPr>
          <a:xfrm>
            <a:off x="311700" y="1525825"/>
            <a:ext cx="8520600" cy="329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the party whom the defendant aids must perform a wrongful act that causes an injury; </a:t>
            </a:r>
            <a:endParaRPr/>
          </a:p>
          <a:p>
            <a:pPr indent="0" lvl="0" marL="0" rtl="0" algn="l">
              <a:spcBef>
                <a:spcPts val="1200"/>
              </a:spcBef>
              <a:spcAft>
                <a:spcPts val="0"/>
              </a:spcAft>
              <a:buNone/>
            </a:pPr>
            <a:r>
              <a:rPr lang="en"/>
              <a:t>(2) the defendant must be generally aware of his role as part of an overall illegal or tortious activity at the time that he provides the assistance; </a:t>
            </a:r>
            <a:endParaRPr/>
          </a:p>
          <a:p>
            <a:pPr indent="0" lvl="0" marL="0" rtl="0" algn="l">
              <a:spcBef>
                <a:spcPts val="1200"/>
              </a:spcBef>
              <a:spcAft>
                <a:spcPts val="0"/>
              </a:spcAft>
              <a:buNone/>
            </a:pPr>
            <a:r>
              <a:rPr lang="en"/>
              <a:t>(3) the defendant must knowingly and substantially assist the principal violation.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0000"/>
                </a:solidFill>
                <a:latin typeface="Changa"/>
                <a:ea typeface="Changa"/>
                <a:cs typeface="Changa"/>
                <a:sym typeface="Changa"/>
              </a:rPr>
              <a:t>Plaintiff Counsel Argument</a:t>
            </a:r>
            <a:endParaRPr>
              <a:solidFill>
                <a:srgbClr val="FF0000"/>
              </a:solidFill>
              <a:latin typeface="Changa"/>
              <a:ea typeface="Changa"/>
              <a:cs typeface="Changa"/>
              <a:sym typeface="Changa"/>
            </a:endParaRPr>
          </a:p>
        </p:txBody>
      </p:sp>
      <p:sp>
        <p:nvSpPr>
          <p:cNvPr id="244" name="Google Shape;244;p45"/>
          <p:cNvSpPr txBox="1"/>
          <p:nvPr>
            <p:ph idx="1" type="body"/>
          </p:nvPr>
        </p:nvSpPr>
        <p:spPr>
          <a:xfrm>
            <a:off x="311700" y="1152475"/>
            <a:ext cx="8520600" cy="3739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Ransomware gang clearly performed wrongful act;</a:t>
            </a:r>
            <a:br>
              <a:rPr lang="en"/>
            </a:br>
            <a:endParaRPr/>
          </a:p>
          <a:p>
            <a:pPr indent="-342900" lvl="0" marL="457200" rtl="0" algn="l">
              <a:spcBef>
                <a:spcPts val="0"/>
              </a:spcBef>
              <a:spcAft>
                <a:spcPts val="0"/>
              </a:spcAft>
              <a:buSzPts val="1800"/>
              <a:buChar char="●"/>
            </a:pPr>
            <a:r>
              <a:rPr lang="en"/>
              <a:t>Offsec Startup had </a:t>
            </a:r>
            <a:r>
              <a:rPr b="1" lang="en"/>
              <a:t>prior knowledge </a:t>
            </a:r>
            <a:r>
              <a:rPr lang="en"/>
              <a:t>of their offensive security tool being purchased.</a:t>
            </a:r>
            <a:endParaRPr/>
          </a:p>
          <a:p>
            <a:pPr indent="0" lvl="0" marL="914400" rtl="0" algn="l">
              <a:spcBef>
                <a:spcPts val="0"/>
              </a:spcBef>
              <a:spcAft>
                <a:spcPts val="0"/>
              </a:spcAft>
              <a:buNone/>
            </a:pPr>
            <a:r>
              <a:t/>
            </a:r>
            <a:endParaRPr/>
          </a:p>
          <a:p>
            <a:pPr indent="-342900" lvl="0" marL="457200" rtl="0" algn="l">
              <a:spcBef>
                <a:spcPts val="0"/>
              </a:spcBef>
              <a:spcAft>
                <a:spcPts val="0"/>
              </a:spcAft>
              <a:buSzPts val="1800"/>
              <a:buChar char="●"/>
            </a:pPr>
            <a:r>
              <a:rPr lang="en"/>
              <a:t>Offsec Startup </a:t>
            </a:r>
            <a:r>
              <a:rPr b="1" lang="en"/>
              <a:t>substantially assisted </a:t>
            </a:r>
            <a:r>
              <a:rPr lang="en"/>
              <a:t>the ransomware group -</a:t>
            </a:r>
            <a:br>
              <a:rPr lang="en"/>
            </a:br>
            <a:r>
              <a:rPr lang="en"/>
              <a:t>Without EntryLvl, the ransomware gang would not have been able to harm Telecom Co. </a:t>
            </a:r>
            <a:br>
              <a:rPr lang="en"/>
            </a:br>
            <a:endParaRPr/>
          </a:p>
          <a:p>
            <a:pPr indent="-342900" lvl="0" marL="457200" rtl="0" algn="l">
              <a:spcBef>
                <a:spcPts val="0"/>
              </a:spcBef>
              <a:spcAft>
                <a:spcPts val="0"/>
              </a:spcAft>
              <a:buSzPts val="1800"/>
              <a:buChar char="●"/>
            </a:pPr>
            <a:r>
              <a:rPr lang="en"/>
              <a:t>Thus, Offsec </a:t>
            </a:r>
            <a:r>
              <a:rPr lang="en"/>
              <a:t>substantially assisted in the CFAA violation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FF"/>
                </a:solidFill>
                <a:latin typeface="Changa"/>
                <a:ea typeface="Changa"/>
                <a:cs typeface="Changa"/>
                <a:sym typeface="Changa"/>
              </a:rPr>
              <a:t>Defense Opening Remarks</a:t>
            </a:r>
            <a:endParaRPr>
              <a:solidFill>
                <a:srgbClr val="00FFFF"/>
              </a:solidFill>
              <a:latin typeface="Changa"/>
              <a:ea typeface="Changa"/>
              <a:cs typeface="Changa"/>
              <a:sym typeface="Changa"/>
            </a:endParaRPr>
          </a:p>
        </p:txBody>
      </p:sp>
      <p:sp>
        <p:nvSpPr>
          <p:cNvPr id="250" name="Google Shape;250;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is good faith security research.</a:t>
            </a:r>
            <a:br>
              <a:rPr lang="en"/>
            </a:br>
            <a:endParaRPr/>
          </a:p>
          <a:p>
            <a:pPr indent="-342900" lvl="0" marL="457200" rtl="0" algn="l">
              <a:spcBef>
                <a:spcPts val="0"/>
              </a:spcBef>
              <a:spcAft>
                <a:spcPts val="0"/>
              </a:spcAft>
              <a:buSzPts val="1800"/>
              <a:buChar char="●"/>
            </a:pPr>
            <a:r>
              <a:rPr lang="en"/>
              <a:t>We don’t sue a store owner who sells a robber the hammer he uses to break a window. </a:t>
            </a:r>
            <a:br>
              <a:rPr lang="en"/>
            </a:br>
            <a:endParaRPr/>
          </a:p>
          <a:p>
            <a:pPr indent="-342900" lvl="0" marL="457200" rtl="0" algn="l">
              <a:spcBef>
                <a:spcPts val="0"/>
              </a:spcBef>
              <a:spcAft>
                <a:spcPts val="0"/>
              </a:spcAft>
              <a:buSzPts val="1800"/>
              <a:buChar char="●"/>
            </a:pPr>
            <a:r>
              <a:rPr lang="en"/>
              <a:t>OffSec Startup is a victim too!</a:t>
            </a:r>
            <a:br>
              <a:rPr lang="en"/>
            </a:br>
            <a:endParaRPr/>
          </a:p>
          <a:p>
            <a:pPr indent="-342900" lvl="0" marL="457200" rtl="0" algn="l">
              <a:spcBef>
                <a:spcPts val="0"/>
              </a:spcBef>
              <a:spcAft>
                <a:spcPts val="0"/>
              </a:spcAft>
              <a:buSzPts val="1800"/>
              <a:buChar char="●"/>
            </a:pPr>
            <a:r>
              <a:rPr lang="en"/>
              <a:t>Defendants conducted required due diligence, they didn’t have knowledge of the underlying unlawful act.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hanga"/>
                <a:ea typeface="Changa"/>
                <a:cs typeface="Changa"/>
                <a:sym typeface="Changa"/>
              </a:rPr>
              <a:t>Plaintiff Counsel</a:t>
            </a:r>
            <a:r>
              <a:rPr lang="en">
                <a:latin typeface="Changa"/>
                <a:ea typeface="Changa"/>
                <a:cs typeface="Changa"/>
                <a:sym typeface="Changa"/>
              </a:rPr>
              <a:t> Witness 1: Offsec Software Co. CFO</a:t>
            </a:r>
            <a:endParaRPr>
              <a:latin typeface="Changa"/>
              <a:ea typeface="Changa"/>
              <a:cs typeface="Changa"/>
              <a:sym typeface="Changa"/>
            </a:endParaRPr>
          </a:p>
        </p:txBody>
      </p:sp>
      <p:sp>
        <p:nvSpPr>
          <p:cNvPr id="256" name="Google Shape;256;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8"/>
          <p:cNvSpPr txBox="1"/>
          <p:nvPr>
            <p:ph type="title"/>
          </p:nvPr>
        </p:nvSpPr>
        <p:spPr>
          <a:xfrm>
            <a:off x="311700" y="2256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1920">
                <a:solidFill>
                  <a:srgbClr val="00FF00"/>
                </a:solidFill>
                <a:latin typeface="Changa"/>
                <a:ea typeface="Changa"/>
                <a:cs typeface="Changa"/>
                <a:sym typeface="Changa"/>
              </a:rPr>
              <a:t>Plaintiff Exhibit 1: Private security researcher chat</a:t>
            </a:r>
            <a:endParaRPr sz="1920">
              <a:solidFill>
                <a:schemeClr val="lt1"/>
              </a:solidFill>
              <a:latin typeface="Changa"/>
              <a:ea typeface="Changa"/>
              <a:cs typeface="Changa"/>
              <a:sym typeface="Changa"/>
            </a:endParaRPr>
          </a:p>
          <a:p>
            <a:pPr indent="0" lvl="0" marL="0" rtl="0" algn="l">
              <a:spcBef>
                <a:spcPts val="1200"/>
              </a:spcBef>
              <a:spcAft>
                <a:spcPts val="0"/>
              </a:spcAft>
              <a:buSzPts val="990"/>
              <a:buNone/>
            </a:pPr>
            <a:r>
              <a:t/>
            </a:r>
            <a:endParaRPr sz="2520"/>
          </a:p>
        </p:txBody>
      </p:sp>
      <p:sp>
        <p:nvSpPr>
          <p:cNvPr id="262" name="Google Shape;262;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3" name="Google Shape;263;p48"/>
          <p:cNvPicPr preferRelativeResize="0"/>
          <p:nvPr/>
        </p:nvPicPr>
        <p:blipFill>
          <a:blip r:embed="rId3">
            <a:alphaModFix/>
          </a:blip>
          <a:stretch>
            <a:fillRect/>
          </a:stretch>
        </p:blipFill>
        <p:spPr>
          <a:xfrm>
            <a:off x="1536875" y="1017725"/>
            <a:ext cx="5330343" cy="4125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1720">
                <a:solidFill>
                  <a:srgbClr val="00FF00"/>
                </a:solidFill>
                <a:latin typeface="Changa"/>
                <a:ea typeface="Changa"/>
                <a:cs typeface="Changa"/>
                <a:sym typeface="Changa"/>
              </a:rPr>
              <a:t>Plaintiff Exhibit 2: Internal Company Chat</a:t>
            </a:r>
            <a:endParaRPr sz="1720">
              <a:solidFill>
                <a:schemeClr val="lt1"/>
              </a:solidFill>
              <a:latin typeface="Changa"/>
              <a:ea typeface="Changa"/>
              <a:cs typeface="Changa"/>
              <a:sym typeface="Changa"/>
            </a:endParaRPr>
          </a:p>
          <a:p>
            <a:pPr indent="0" lvl="0" marL="0" rtl="0" algn="l">
              <a:spcBef>
                <a:spcPts val="1200"/>
              </a:spcBef>
              <a:spcAft>
                <a:spcPts val="0"/>
              </a:spcAft>
              <a:buSzPts val="990"/>
              <a:buNone/>
            </a:pPr>
            <a:r>
              <a:t/>
            </a:r>
            <a:endParaRPr sz="2520"/>
          </a:p>
        </p:txBody>
      </p:sp>
      <p:sp>
        <p:nvSpPr>
          <p:cNvPr id="269" name="Google Shape;269;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0" name="Google Shape;270;p49"/>
          <p:cNvPicPr preferRelativeResize="0"/>
          <p:nvPr/>
        </p:nvPicPr>
        <p:blipFill>
          <a:blip r:embed="rId3">
            <a:alphaModFix/>
          </a:blip>
          <a:stretch>
            <a:fillRect/>
          </a:stretch>
        </p:blipFill>
        <p:spPr>
          <a:xfrm>
            <a:off x="2112876" y="1017725"/>
            <a:ext cx="3945095" cy="41257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id="275" name="Google Shape;275;p50"/>
          <p:cNvSpPr txBox="1"/>
          <p:nvPr>
            <p:ph idx="1" type="body"/>
          </p:nvPr>
        </p:nvSpPr>
        <p:spPr>
          <a:xfrm>
            <a:off x="451925" y="274300"/>
            <a:ext cx="8520600" cy="104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FF00"/>
                </a:solidFill>
                <a:latin typeface="Roboto Mono"/>
                <a:ea typeface="Roboto Mono"/>
                <a:cs typeface="Roboto Mono"/>
                <a:sym typeface="Roboto Mono"/>
              </a:rPr>
              <a:t>Plaintiff Exhibit 3: CSRF forum</a:t>
            </a:r>
            <a:endParaRPr>
              <a:solidFill>
                <a:schemeClr val="lt1"/>
              </a:solidFill>
              <a:latin typeface="Roboto Mono"/>
              <a:ea typeface="Roboto Mono"/>
              <a:cs typeface="Roboto Mono"/>
              <a:sym typeface="Roboto Mono"/>
            </a:endParaRPr>
          </a:p>
          <a:p>
            <a:pPr indent="0" lvl="0" marL="0" rtl="0" algn="l">
              <a:spcBef>
                <a:spcPts val="1200"/>
              </a:spcBef>
              <a:spcAft>
                <a:spcPts val="1200"/>
              </a:spcAft>
              <a:buNone/>
            </a:pPr>
            <a:r>
              <a:t/>
            </a:r>
            <a:endParaRPr>
              <a:solidFill>
                <a:srgbClr val="00FF00"/>
              </a:solidFill>
            </a:endParaRPr>
          </a:p>
        </p:txBody>
      </p:sp>
      <p:pic>
        <p:nvPicPr>
          <p:cNvPr id="276" name="Google Shape;276;p50"/>
          <p:cNvPicPr preferRelativeResize="0"/>
          <p:nvPr/>
        </p:nvPicPr>
        <p:blipFill>
          <a:blip r:embed="rId3">
            <a:alphaModFix/>
          </a:blip>
          <a:stretch>
            <a:fillRect/>
          </a:stretch>
        </p:blipFill>
        <p:spPr>
          <a:xfrm>
            <a:off x="-5975" y="1272075"/>
            <a:ext cx="9143999" cy="261943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hanga"/>
                <a:ea typeface="Changa"/>
                <a:cs typeface="Changa"/>
                <a:sym typeface="Changa"/>
              </a:rPr>
              <a:t>Cross examination</a:t>
            </a:r>
            <a:endParaRPr>
              <a:latin typeface="Changa"/>
              <a:ea typeface="Changa"/>
              <a:cs typeface="Changa"/>
              <a:sym typeface="Changa"/>
            </a:endParaRPr>
          </a:p>
        </p:txBody>
      </p:sp>
      <p:sp>
        <p:nvSpPr>
          <p:cNvPr id="282" name="Google Shape;282;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Company chat logs </a:t>
            </a:r>
            <a:endParaRPr/>
          </a:p>
        </p:txBody>
      </p:sp>
      <p:sp>
        <p:nvSpPr>
          <p:cNvPr id="288" name="Google Shape;28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9" name="Google Shape;289;p52"/>
          <p:cNvPicPr preferRelativeResize="0"/>
          <p:nvPr/>
        </p:nvPicPr>
        <p:blipFill>
          <a:blip r:embed="rId3">
            <a:alphaModFix/>
          </a:blip>
          <a:stretch>
            <a:fillRect/>
          </a:stretch>
        </p:blipFill>
        <p:spPr>
          <a:xfrm rot="-124493">
            <a:off x="-2048001" y="-2341297"/>
            <a:ext cx="11239875" cy="7687045"/>
          </a:xfrm>
          <a:prstGeom prst="rect">
            <a:avLst/>
          </a:prstGeom>
          <a:noFill/>
          <a:ln>
            <a:noFill/>
          </a:ln>
        </p:spPr>
      </p:pic>
      <p:pic>
        <p:nvPicPr>
          <p:cNvPr id="290" name="Google Shape;290;p52"/>
          <p:cNvPicPr preferRelativeResize="0"/>
          <p:nvPr/>
        </p:nvPicPr>
        <p:blipFill rotWithShape="1">
          <a:blip r:embed="rId4">
            <a:alphaModFix/>
          </a:blip>
          <a:srcRect b="32714" l="0" r="0" t="0"/>
          <a:stretch/>
        </p:blipFill>
        <p:spPr>
          <a:xfrm rot="-1117859">
            <a:off x="1786661" y="1208487"/>
            <a:ext cx="6316655" cy="4162326"/>
          </a:xfrm>
          <a:prstGeom prst="rect">
            <a:avLst/>
          </a:prstGeom>
          <a:noFill/>
          <a:ln>
            <a:noFill/>
          </a:ln>
        </p:spPr>
      </p:pic>
      <p:sp>
        <p:nvSpPr>
          <p:cNvPr id="291" name="Google Shape;291;p52"/>
          <p:cNvSpPr txBox="1"/>
          <p:nvPr>
            <p:ph type="title"/>
          </p:nvPr>
        </p:nvSpPr>
        <p:spPr>
          <a:xfrm>
            <a:off x="-997550" y="-565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800">
                <a:solidFill>
                  <a:srgbClr val="00FF00"/>
                </a:solidFill>
                <a:latin typeface="Roboto Mono"/>
                <a:ea typeface="Roboto Mono"/>
                <a:cs typeface="Roboto Mono"/>
                <a:sym typeface="Roboto Mono"/>
              </a:rPr>
              <a:t>Defense Exhibit 1: OFFSEC OFAC Compliance</a:t>
            </a:r>
            <a:endParaRPr sz="1800">
              <a:solidFill>
                <a:schemeClr val="lt1"/>
              </a:solidFill>
              <a:latin typeface="Roboto Mono"/>
              <a:ea typeface="Roboto Mono"/>
              <a:cs typeface="Roboto Mono"/>
              <a:sym typeface="Roboto Mono"/>
            </a:endParaRPr>
          </a:p>
          <a:p>
            <a:pPr indent="0" lvl="0" marL="0" rtl="0" algn="l">
              <a:spcBef>
                <a:spcPts val="120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Defense Counsel Witness 1: Special Agent Smith</a:t>
            </a:r>
            <a:endParaRPr/>
          </a:p>
        </p:txBody>
      </p:sp>
      <p:sp>
        <p:nvSpPr>
          <p:cNvPr id="297" name="Google Shape;297;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54"/>
          <p:cNvPicPr preferRelativeResize="0"/>
          <p:nvPr/>
        </p:nvPicPr>
        <p:blipFill rotWithShape="1">
          <a:blip r:embed="rId3">
            <a:alphaModFix/>
          </a:blip>
          <a:srcRect b="0" l="6566" r="4211" t="0"/>
          <a:stretch/>
        </p:blipFill>
        <p:spPr>
          <a:xfrm>
            <a:off x="790650" y="1177959"/>
            <a:ext cx="3893776" cy="2991626"/>
          </a:xfrm>
          <a:prstGeom prst="rect">
            <a:avLst/>
          </a:prstGeom>
          <a:noFill/>
          <a:ln>
            <a:noFill/>
          </a:ln>
        </p:spPr>
      </p:pic>
      <p:sp>
        <p:nvSpPr>
          <p:cNvPr id="303" name="Google Shape;303;p54"/>
          <p:cNvSpPr txBox="1"/>
          <p:nvPr/>
        </p:nvSpPr>
        <p:spPr>
          <a:xfrm>
            <a:off x="5186000" y="986200"/>
            <a:ext cx="3766200" cy="3740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600">
                <a:solidFill>
                  <a:schemeClr val="dk1"/>
                </a:solidFill>
                <a:latin typeface="Changa"/>
                <a:ea typeface="Changa"/>
                <a:cs typeface="Changa"/>
                <a:sym typeface="Changa"/>
              </a:rPr>
              <a:t>EntryLvl is a </a:t>
            </a:r>
            <a:r>
              <a:rPr b="1" lang="en" sz="1600">
                <a:solidFill>
                  <a:schemeClr val="dk1"/>
                </a:solidFill>
                <a:latin typeface="Changa"/>
                <a:ea typeface="Changa"/>
                <a:cs typeface="Changa"/>
                <a:sym typeface="Changa"/>
              </a:rPr>
              <a:t>cutting-edge security penetration testing tool </a:t>
            </a:r>
            <a:r>
              <a:rPr lang="en" sz="1600">
                <a:solidFill>
                  <a:schemeClr val="dk1"/>
                </a:solidFill>
                <a:latin typeface="Changa"/>
                <a:ea typeface="Changa"/>
                <a:cs typeface="Changa"/>
                <a:sym typeface="Changa"/>
              </a:rPr>
              <a:t>designed to help businesses identify and address potential weaknesses in their IT infrastructure. </a:t>
            </a:r>
            <a:endParaRPr sz="1600">
              <a:solidFill>
                <a:schemeClr val="dk1"/>
              </a:solidFill>
              <a:latin typeface="Changa"/>
              <a:ea typeface="Changa"/>
              <a:cs typeface="Changa"/>
              <a:sym typeface="Changa"/>
            </a:endParaRPr>
          </a:p>
          <a:p>
            <a:pPr indent="0" lvl="0" marL="0" rtl="0" algn="l">
              <a:lnSpc>
                <a:spcPct val="115000"/>
              </a:lnSpc>
              <a:spcBef>
                <a:spcPts val="1500"/>
              </a:spcBef>
              <a:spcAft>
                <a:spcPts val="0"/>
              </a:spcAft>
              <a:buNone/>
            </a:pPr>
            <a:r>
              <a:rPr lang="en" sz="1600">
                <a:solidFill>
                  <a:schemeClr val="dk1"/>
                </a:solidFill>
                <a:latin typeface="Changa"/>
                <a:ea typeface="Changa"/>
                <a:cs typeface="Changa"/>
                <a:sym typeface="Changa"/>
              </a:rPr>
              <a:t>Developed by a team of expert ethical hackers and cybersecurity professionals, </a:t>
            </a:r>
            <a:r>
              <a:rPr b="1" lang="en" sz="1600">
                <a:solidFill>
                  <a:schemeClr val="dk1"/>
                </a:solidFill>
                <a:latin typeface="Changa"/>
                <a:ea typeface="Changa"/>
                <a:cs typeface="Changa"/>
                <a:sym typeface="Changa"/>
              </a:rPr>
              <a:t>this state-of-the-art software is your first line of defense against malicious attacks</a:t>
            </a:r>
            <a:r>
              <a:rPr lang="en" sz="1600">
                <a:solidFill>
                  <a:schemeClr val="dk1"/>
                </a:solidFill>
                <a:latin typeface="Changa"/>
                <a:ea typeface="Changa"/>
                <a:cs typeface="Changa"/>
                <a:sym typeface="Changa"/>
              </a:rPr>
              <a:t> and data breaches.</a:t>
            </a:r>
            <a:endParaRPr sz="1500">
              <a:solidFill>
                <a:schemeClr val="dk1"/>
              </a:solidFill>
              <a:latin typeface="Changa"/>
              <a:ea typeface="Changa"/>
              <a:cs typeface="Changa"/>
              <a:sym typeface="Changa"/>
            </a:endParaRPr>
          </a:p>
          <a:p>
            <a:pPr indent="0" lvl="0" marL="0" rtl="0" algn="l">
              <a:spcBef>
                <a:spcPts val="1500"/>
              </a:spcBef>
              <a:spcAft>
                <a:spcPts val="0"/>
              </a:spcAft>
              <a:buNone/>
            </a:pPr>
            <a:r>
              <a:t/>
            </a:r>
            <a:endParaRPr sz="1800">
              <a:solidFill>
                <a:schemeClr val="dk1"/>
              </a:solidFill>
              <a:latin typeface="Changa"/>
              <a:ea typeface="Changa"/>
              <a:cs typeface="Changa"/>
              <a:sym typeface="Changa"/>
            </a:endParaRPr>
          </a:p>
        </p:txBody>
      </p:sp>
      <p:sp>
        <p:nvSpPr>
          <p:cNvPr id="304" name="Google Shape;304;p5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Defense Exhibit 2: EntryLvl Product Description</a:t>
            </a:r>
            <a:endParaRPr>
              <a:solidFill>
                <a:srgbClr val="00FF00"/>
              </a:solidFill>
              <a:latin typeface="Changa"/>
              <a:ea typeface="Changa"/>
              <a:cs typeface="Changa"/>
              <a:sym typeface="Chang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Cross examination</a:t>
            </a:r>
            <a:endParaRPr/>
          </a:p>
        </p:txBody>
      </p:sp>
      <p:sp>
        <p:nvSpPr>
          <p:cNvPr id="310" name="Google Shape;310;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800">
                <a:solidFill>
                  <a:srgbClr val="00FF00"/>
                </a:solidFill>
                <a:latin typeface="Roboto Mono"/>
                <a:ea typeface="Roboto Mono"/>
                <a:cs typeface="Roboto Mono"/>
                <a:sym typeface="Roboto Mono"/>
              </a:rPr>
              <a:t>Plaintiffs </a:t>
            </a:r>
            <a:r>
              <a:rPr lang="en" sz="1800">
                <a:solidFill>
                  <a:srgbClr val="00FF00"/>
                </a:solidFill>
                <a:latin typeface="Roboto Mono"/>
                <a:ea typeface="Roboto Mono"/>
                <a:cs typeface="Roboto Mono"/>
                <a:sym typeface="Roboto Mono"/>
              </a:rPr>
              <a:t>Exhibit: Internal Company Chat</a:t>
            </a:r>
            <a:endParaRPr sz="1800">
              <a:solidFill>
                <a:schemeClr val="lt1"/>
              </a:solidFill>
              <a:latin typeface="Roboto Mono"/>
              <a:ea typeface="Roboto Mono"/>
              <a:cs typeface="Roboto Mono"/>
              <a:sym typeface="Roboto Mono"/>
            </a:endParaRPr>
          </a:p>
          <a:p>
            <a:pPr indent="0" lvl="0" marL="0" rtl="0" algn="l">
              <a:spcBef>
                <a:spcPts val="1200"/>
              </a:spcBef>
              <a:spcAft>
                <a:spcPts val="0"/>
              </a:spcAft>
              <a:buNone/>
            </a:pPr>
            <a:r>
              <a:t/>
            </a:r>
            <a:endParaRPr/>
          </a:p>
        </p:txBody>
      </p:sp>
      <p:sp>
        <p:nvSpPr>
          <p:cNvPr id="316" name="Google Shape;316;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7" name="Google Shape;317;p56"/>
          <p:cNvPicPr preferRelativeResize="0"/>
          <p:nvPr/>
        </p:nvPicPr>
        <p:blipFill>
          <a:blip r:embed="rId3">
            <a:alphaModFix/>
          </a:blip>
          <a:stretch>
            <a:fillRect/>
          </a:stretch>
        </p:blipFill>
        <p:spPr>
          <a:xfrm>
            <a:off x="2112876" y="1017725"/>
            <a:ext cx="3945095" cy="412577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Closing Arguments</a:t>
            </a:r>
            <a:endParaRPr>
              <a:solidFill>
                <a:srgbClr val="00FF00"/>
              </a:solidFill>
              <a:latin typeface="Changa"/>
              <a:ea typeface="Changa"/>
              <a:cs typeface="Changa"/>
              <a:sym typeface="Changa"/>
            </a:endParaRPr>
          </a:p>
        </p:txBody>
      </p:sp>
      <p:sp>
        <p:nvSpPr>
          <p:cNvPr id="323" name="Google Shape;323;p57"/>
          <p:cNvSpPr txBox="1"/>
          <p:nvPr>
            <p:ph idx="1" type="body"/>
          </p:nvPr>
        </p:nvSpPr>
        <p:spPr>
          <a:xfrm>
            <a:off x="311700" y="1152475"/>
            <a:ext cx="8520600" cy="3862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solidFill>
                  <a:schemeClr val="dk1"/>
                </a:solidFill>
              </a:rPr>
              <a:t>PLAINTIFFS: </a:t>
            </a:r>
            <a:r>
              <a:rPr lang="en">
                <a:solidFill>
                  <a:schemeClr val="dk1"/>
                </a:solidFill>
              </a:rPr>
              <a:t>There is </a:t>
            </a:r>
            <a:r>
              <a:rPr b="1" lang="en">
                <a:solidFill>
                  <a:schemeClr val="dk1"/>
                </a:solidFill>
              </a:rPr>
              <a:t>51% chance </a:t>
            </a:r>
            <a:r>
              <a:rPr lang="en">
                <a:solidFill>
                  <a:schemeClr val="dk1"/>
                </a:solidFill>
              </a:rPr>
              <a:t>Offsec Startup </a:t>
            </a:r>
            <a:r>
              <a:rPr b="1" lang="en">
                <a:solidFill>
                  <a:schemeClr val="dk1"/>
                </a:solidFill>
              </a:rPr>
              <a:t>aided and abetted </a:t>
            </a:r>
            <a:r>
              <a:rPr lang="en">
                <a:solidFill>
                  <a:schemeClr val="dk1"/>
                </a:solidFill>
              </a:rPr>
              <a:t>the ransomware group:</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Ransomware group caused injury;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Company was aware of their role in that injury; and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Company knowingly and substantially assisted by selling the tool. </a:t>
            </a:r>
            <a:endParaRPr>
              <a:solidFill>
                <a:schemeClr val="dk1"/>
              </a:solidFill>
            </a:endParaRPr>
          </a:p>
          <a:p>
            <a:pPr indent="0" lvl="0" marL="0" rtl="0" algn="l">
              <a:spcBef>
                <a:spcPts val="1200"/>
              </a:spcBef>
              <a:spcAft>
                <a:spcPts val="0"/>
              </a:spcAft>
              <a:buNone/>
            </a:pPr>
            <a:r>
              <a:t/>
            </a:r>
            <a:endParaRPr b="1">
              <a:solidFill>
                <a:schemeClr val="dk1"/>
              </a:solidFill>
            </a:endParaRPr>
          </a:p>
          <a:p>
            <a:pPr indent="0" lvl="0" marL="0" rtl="0" algn="l">
              <a:spcBef>
                <a:spcPts val="1200"/>
              </a:spcBef>
              <a:spcAft>
                <a:spcPts val="0"/>
              </a:spcAft>
              <a:buNone/>
            </a:pPr>
            <a:r>
              <a:rPr b="1" lang="en">
                <a:solidFill>
                  <a:schemeClr val="dk1"/>
                </a:solidFill>
              </a:rPr>
              <a:t>DEFENSE:</a:t>
            </a:r>
            <a:r>
              <a:rPr lang="en">
                <a:solidFill>
                  <a:schemeClr val="dk1"/>
                </a:solidFill>
              </a:rPr>
              <a:t> There’s less than 50% chance Offsec Startup </a:t>
            </a:r>
            <a:r>
              <a:rPr b="1" lang="en">
                <a:solidFill>
                  <a:schemeClr val="dk1"/>
                </a:solidFill>
              </a:rPr>
              <a:t>aided and abetted</a:t>
            </a:r>
            <a:endParaRPr b="1">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How is legitimate business knowing and substantial criminal assistance?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Company did not know, had could not have foreseen helping criminals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This has bad consequences on infosec industry</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Jury Verdict</a:t>
            </a:r>
            <a:endParaRPr>
              <a:solidFill>
                <a:srgbClr val="00FF00"/>
              </a:solidFill>
              <a:latin typeface="Changa"/>
              <a:ea typeface="Changa"/>
              <a:cs typeface="Changa"/>
              <a:sym typeface="Changa"/>
            </a:endParaRPr>
          </a:p>
        </p:txBody>
      </p:sp>
      <p:sp>
        <p:nvSpPr>
          <p:cNvPr id="329" name="Google Shape;329;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Q: Is it more likely than not that the start-up aided the ransomware gang?</a:t>
            </a:r>
            <a:endParaRPr>
              <a:solidFill>
                <a:schemeClr val="dk1"/>
              </a:solidFill>
            </a:endParaRPr>
          </a:p>
          <a:p>
            <a:pPr indent="0" lvl="0" marL="0" rtl="0" algn="l">
              <a:spcBef>
                <a:spcPts val="1200"/>
              </a:spcBef>
              <a:spcAft>
                <a:spcPts val="0"/>
              </a:spcAft>
              <a:buNone/>
            </a:pPr>
            <a:r>
              <a:rPr lang="en" u="sng">
                <a:solidFill>
                  <a:schemeClr val="hlink"/>
                </a:solidFill>
                <a:hlinkClick r:id="rId3"/>
              </a:rPr>
              <a:t>https://strawpoll.com/BDyNEblbeZR</a:t>
            </a:r>
            <a:r>
              <a:rPr lang="en"/>
              <a:t> </a:t>
            </a:r>
            <a:endParaRPr/>
          </a:p>
          <a:p>
            <a:pPr indent="0" lvl="0" marL="0" rtl="0" algn="l">
              <a:spcBef>
                <a:spcPts val="1200"/>
              </a:spcBef>
              <a:spcAft>
                <a:spcPts val="0"/>
              </a:spcAft>
              <a:buNone/>
            </a:pPr>
            <a:r>
              <a:rPr lang="en"/>
              <a:t>Or —-----------------------------------------&gt;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descr="qr_code_modal.qr_code" id="330" name="Google Shape;330;p58"/>
          <p:cNvPicPr preferRelativeResize="0"/>
          <p:nvPr/>
        </p:nvPicPr>
        <p:blipFill>
          <a:blip r:embed="rId4">
            <a:alphaModFix/>
          </a:blip>
          <a:stretch>
            <a:fillRect/>
          </a:stretch>
        </p:blipFill>
        <p:spPr>
          <a:xfrm>
            <a:off x="4929800" y="1704750"/>
            <a:ext cx="2864125" cy="28641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Judge Ruling</a:t>
            </a:r>
            <a:endParaRPr>
              <a:solidFill>
                <a:srgbClr val="00FF00"/>
              </a:solidFill>
              <a:latin typeface="Changa"/>
              <a:ea typeface="Changa"/>
              <a:cs typeface="Changa"/>
              <a:sym typeface="Changa"/>
            </a:endParaRPr>
          </a:p>
        </p:txBody>
      </p:sp>
      <p:sp>
        <p:nvSpPr>
          <p:cNvPr id="336" name="Google Shape;336;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Judges’ discretion, potentially liable. </a:t>
            </a:r>
            <a:endParaRPr/>
          </a:p>
          <a:p>
            <a:pPr indent="0" lvl="0" marL="0" rtl="0" algn="l">
              <a:spcBef>
                <a:spcPts val="1200"/>
              </a:spcBef>
              <a:spcAft>
                <a:spcPts val="120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latin typeface="Changa"/>
                <a:ea typeface="Changa"/>
                <a:cs typeface="Changa"/>
                <a:sym typeface="Changa"/>
              </a:rPr>
              <a:t>Thank you!</a:t>
            </a:r>
            <a:endParaRPr>
              <a:solidFill>
                <a:srgbClr val="00FF00"/>
              </a:solidFill>
              <a:latin typeface="Changa"/>
              <a:ea typeface="Changa"/>
              <a:cs typeface="Changa"/>
              <a:sym typeface="Changa"/>
            </a:endParaRPr>
          </a:p>
        </p:txBody>
      </p:sp>
      <p:sp>
        <p:nvSpPr>
          <p:cNvPr id="342" name="Google Shape;342;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