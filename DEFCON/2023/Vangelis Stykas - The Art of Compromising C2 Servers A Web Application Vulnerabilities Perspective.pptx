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03"/>
  </p:notesMasterIdLst>
  <p:sldIdLst>
    <p:sldId id="256" r:id="rId3"/>
    <p:sldId id="257" r:id="rId4"/>
    <p:sldId id="258" r:id="rId5"/>
    <p:sldId id="34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348" r:id="rId25"/>
    <p:sldId id="356" r:id="rId26"/>
    <p:sldId id="278" r:id="rId27"/>
    <p:sldId id="279" r:id="rId28"/>
    <p:sldId id="34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350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51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52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41" r:id="rId80"/>
    <p:sldId id="353" r:id="rId81"/>
    <p:sldId id="342" r:id="rId82"/>
    <p:sldId id="344" r:id="rId83"/>
    <p:sldId id="345" r:id="rId84"/>
    <p:sldId id="343" r:id="rId85"/>
    <p:sldId id="346" r:id="rId86"/>
    <p:sldId id="347" r:id="rId87"/>
    <p:sldId id="327" r:id="rId88"/>
    <p:sldId id="354" r:id="rId89"/>
    <p:sldId id="328" r:id="rId90"/>
    <p:sldId id="329" r:id="rId91"/>
    <p:sldId id="330" r:id="rId92"/>
    <p:sldId id="331" r:id="rId93"/>
    <p:sldId id="355" r:id="rId94"/>
    <p:sldId id="332" r:id="rId95"/>
    <p:sldId id="333" r:id="rId96"/>
    <p:sldId id="334" r:id="rId97"/>
    <p:sldId id="335" r:id="rId98"/>
    <p:sldId id="336" r:id="rId99"/>
    <p:sldId id="337" r:id="rId100"/>
    <p:sldId id="338" r:id="rId101"/>
    <p:sldId id="339" r:id="rId102"/>
  </p:sldIdLst>
  <p:sldSz cx="12192000" cy="6858000"/>
  <p:notesSz cx="6858000" cy="9144000"/>
  <p:embeddedFontLst>
    <p:embeddedFont>
      <p:font typeface="Calibri" panose="020F0502020204030204" pitchFamily="34" charset="0"/>
      <p:regular r:id="rId104"/>
      <p:bold r:id="rId105"/>
      <p:italic r:id="rId106"/>
      <p:boldItalic r:id="rId107"/>
    </p:embeddedFont>
    <p:embeddedFont>
      <p:font typeface="Gill Sans"/>
      <p:regular r:id="rId108"/>
      <p:bold r:id="rId10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0" roundtripDataSignature="AMtx7mjt62DkEfmQjz2xTdH+MBhnmEt4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0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8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viewProps" Target="viewProps.xml"/><Relationship Id="rId16" Type="http://schemas.openxmlformats.org/officeDocument/2006/relationships/slide" Target="slides/slide14.xml"/><Relationship Id="rId107" Type="http://schemas.openxmlformats.org/officeDocument/2006/relationships/font" Target="fonts/font4.fntdata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notesMaster" Target="notesMasters/notesMaster1.xml"/><Relationship Id="rId108" Type="http://schemas.openxmlformats.org/officeDocument/2006/relationships/font" Target="fonts/font5.fntdata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font" Target="fonts/font3.fntdata"/><Relationship Id="rId114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font" Target="fonts/font6.fntdata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font" Target="fonts/font1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customschemas.google.com/relationships/presentationmetadata" Target="meta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font" Target="fonts/font2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/>
              <a:t>Intro here. Thank Eva and Zach here.</a:t>
            </a:r>
            <a:endParaRPr/>
          </a:p>
        </p:txBody>
      </p:sp>
      <p:sp>
        <p:nvSpPr>
          <p:cNvPr id="101" name="Google Shape;101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accdc62dc3_0_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1accdc62dc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 err="1"/>
              <a:t>Τι</a:t>
            </a:r>
            <a:r>
              <a:rPr lang="en-GB" dirty="0"/>
              <a:t> </a:t>
            </a:r>
            <a:r>
              <a:rPr lang="en-GB" dirty="0" err="1"/>
              <a:t>θέλουμε</a:t>
            </a:r>
            <a:r>
              <a:rPr lang="en-GB" dirty="0"/>
              <a:t>: </a:t>
            </a:r>
            <a:r>
              <a:rPr lang="en-GB" dirty="0" err="1"/>
              <a:t>Το</a:t>
            </a:r>
            <a:r>
              <a:rPr lang="en-GB" dirty="0"/>
              <a:t> </a:t>
            </a:r>
            <a:r>
              <a:rPr lang="en-GB" dirty="0" err="1"/>
              <a:t>συν</a:t>
            </a:r>
            <a:r>
              <a:rPr lang="en-GB" dirty="0"/>
              <a:t>αίσθημα και η κριτική που δείχνεις απέναντι στο μοντέλο συνδρομών, να περάσει στη διαφάνεια (πχ. </a:t>
            </a:r>
            <a:r>
              <a:rPr lang="en-GB" dirty="0" err="1"/>
              <a:t>ειρωνεί</a:t>
            </a:r>
            <a:r>
              <a:rPr lang="en-GB" dirty="0"/>
              <a:t>α, παραίτηση, κατεργάρης, επικριτικός)</a:t>
            </a:r>
            <a:endParaRPr dirty="0"/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4581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Προσοχή: Ξεκινάμε το παραμύθι, ΌΛΑ, ξεκίνησαν από ένα ΤΟΥΙ (έμφαση στην αντίθεση ΟΛΑ-ΕΝΑ)</a:t>
            </a:r>
            <a:endParaRPr/>
          </a:p>
        </p:txBody>
      </p:sp>
      <p:sp>
        <p:nvSpPr>
          <p:cNvPr id="120" name="Google Shape;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Τι θέλουμε: Το συναίσθημα και η κριτική που δείχνεις απέναντι στο μοντέλο συνδρομών, να περάσει στη διαφάνεια (πχ. ειρωνεία, παραίτηση, κατεργάρης, επικριτικός)</a:t>
            </a:r>
            <a:endParaRPr/>
          </a:p>
        </p:txBody>
      </p:sp>
      <p:sp>
        <p:nvSpPr>
          <p:cNvPr id="127" name="Google Shape;1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Αγρότης, μεσάζοντας, αγοραστής-εστιάτορας, θύμα - [κομμάτι από μόνο του] - this is a huge subject on its own, if one were to make a naive, dumbed down, summary, this is it.</a:t>
            </a: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Check logos</a:t>
            </a:r>
            <a:endParaRPr/>
          </a:p>
        </p:txBody>
      </p:sp>
      <p:sp>
        <p:nvSpPr>
          <p:cNvPr id="151" name="Google Shape;1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Δώσε ζωή σε κάθε ξεχωριστό εμπόδιο</a:t>
            </a:r>
            <a:endParaRPr/>
          </a:p>
        </p:txBody>
      </p:sp>
      <p:sp>
        <p:nvSpPr>
          <p:cNvPr id="169" name="Google Shape;1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Χαμόγελο - </a:t>
            </a:r>
            <a:endParaRPr/>
          </a:p>
        </p:txBody>
      </p:sp>
      <p:sp>
        <p:nvSpPr>
          <p:cNvPr id="175" name="Google Shape;17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Better screen grab - low hanging emphasis</a:t>
            </a:r>
            <a:endParaRPr/>
          </a:p>
        </p:txBody>
      </p:sp>
      <p:sp>
        <p:nvSpPr>
          <p:cNvPr id="186" name="Google Shape;1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Highly suggest</a:t>
            </a:r>
            <a:endParaRPr/>
          </a:p>
        </p:txBody>
      </p:sp>
      <p:sp>
        <p:nvSpPr>
          <p:cNvPr id="199" name="Google Shape;1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75206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0430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80221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Avoid passive voice</a:t>
            </a:r>
            <a:endParaRPr/>
          </a:p>
        </p:txBody>
      </p:sp>
      <p:sp>
        <p:nvSpPr>
          <p:cNvPr id="261" name="Google Shape;2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We NEED to get RC, [</a:t>
            </a:r>
            <a:r>
              <a:rPr lang="en-GB" b="1"/>
              <a:t>our job is not done]</a:t>
            </a:r>
            <a:endParaRPr b="1"/>
          </a:p>
        </p:txBody>
      </p:sp>
      <p:sp>
        <p:nvSpPr>
          <p:cNvPr id="283" name="Google Shape;28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9" name="Google Shape;28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 , AAAND got access (θρίαμβος)</a:t>
            </a:r>
            <a:endParaRPr/>
          </a:p>
        </p:txBody>
      </p:sp>
      <p:sp>
        <p:nvSpPr>
          <p:cNvPr id="322" name="Google Shape;322;p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Sharing is caring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93335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7" name="Google Shape;377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p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Grey backround</a:t>
            </a:r>
            <a:endParaRPr/>
          </a:p>
        </p:txBody>
      </p:sp>
      <p:sp>
        <p:nvSpPr>
          <p:cNvPr id="389" name="Google Shape;389;p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If conditional</a:t>
            </a:r>
            <a:endParaRPr/>
          </a:p>
        </p:txBody>
      </p:sp>
      <p:sp>
        <p:nvSpPr>
          <p:cNvPr id="396" name="Google Shape;396;p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We - as a community, engage, είμαστε σε αυτό όλοι μαζί- κίνηση χεριών</a:t>
            </a:r>
            <a:endParaRPr/>
          </a:p>
        </p:txBody>
      </p:sp>
      <p:sp>
        <p:nvSpPr>
          <p:cNvPr id="402" name="Google Shape;402;p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8" name="Google Shape;408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4" name="Google Shape;414;p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859015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0" name="Google Shape;420;p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p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0" name="Google Shape;440;p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p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5a428914c2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0" name="Google Shape;480;g25a428914c2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6" name="Google Shape;486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3" name="Google Shape;493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705200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p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p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5" name="Google Shape;525;p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3" name="Google Shape;533;p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9" name="Google Shape;539;p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Number of victims (machines compromised)</a:t>
            </a:r>
            <a:endParaRPr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Number of victims (machines compromised)</a:t>
            </a:r>
            <a:endParaRPr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0694832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229947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Number of victims (machines compromised)</a:t>
            </a:r>
            <a:endParaRPr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717873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Number of victims (machines compromised)</a:t>
            </a:r>
            <a:endParaRPr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928135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Number of victims (machines compromised)</a:t>
            </a:r>
            <a:endParaRPr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15688742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Number of victims (machines compromised)</a:t>
            </a:r>
            <a:endParaRPr dirty="0"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601612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Number of victims (machines compromised)</a:t>
            </a:r>
            <a:endParaRPr dirty="0"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590215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dirty="0"/>
              <a:t>Number of victims (machines compromised)</a:t>
            </a:r>
            <a:endParaRPr dirty="0"/>
          </a:p>
        </p:txBody>
      </p:sp>
      <p:sp>
        <p:nvSpPr>
          <p:cNvPr id="545" name="Google Shape;545;p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9212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1" name="Google Shape;551;p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820408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p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5" name="Google Shape;565;p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p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9" name="Google Shape;579;p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5995309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5" name="Google Shape;585;p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p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8" name="Google Shape;598;p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4" name="Google Shape;604;p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0" name="Google Shape;610;p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6" name="Google Shape;616;p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2" name="Google Shape;622;p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8" name="Google Shape;628;p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8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8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9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9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8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0"/>
          <p:cNvSpPr txBox="1">
            <a:spLocks noGrp="1"/>
          </p:cNvSpPr>
          <p:nvPr>
            <p:ph type="body" idx="1"/>
          </p:nvPr>
        </p:nvSpPr>
        <p:spPr>
          <a:xfrm>
            <a:off x="1581912" y="1838959"/>
            <a:ext cx="4271771" cy="42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0"/>
          <p:cNvSpPr txBox="1">
            <a:spLocks noGrp="1"/>
          </p:cNvSpPr>
          <p:nvPr>
            <p:ph type="body" idx="2"/>
          </p:nvPr>
        </p:nvSpPr>
        <p:spPr>
          <a:xfrm>
            <a:off x="6338315" y="1838960"/>
            <a:ext cx="4270247" cy="420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7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7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" name="Google Shape;43;p8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2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2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3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93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93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3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3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93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4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6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6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6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4" name="Google Shape;74;p96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9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6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97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7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97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9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7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98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9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9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9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9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9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9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9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6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8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8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8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sz="2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85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4" name="Google Shape;24;p8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5" name="Google Shape;25;p8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6" name="Google Shape;26;p8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411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hyperlink" Target="https://stykas.com/defcon31" TargetMode="Externa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ix/defcon31" TargetMode="Externa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6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11111"/>
              <a:buFont typeface="Gill Sans"/>
              <a:buNone/>
            </a:pPr>
            <a:r>
              <a:rPr lang="en-GB" b="0" i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Art of Compromising C2 Servers</a:t>
            </a:r>
            <a:r>
              <a:rPr lang="en-GB"/>
              <a:t>: </a:t>
            </a:r>
            <a:br>
              <a:rPr lang="en-GB"/>
            </a:br>
            <a:r>
              <a:rPr lang="en-GB" b="0" i="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Web Application Vulnerabilities Perspective</a:t>
            </a:r>
            <a:endParaRPr/>
          </a:p>
        </p:txBody>
      </p:sp>
      <p:sp>
        <p:nvSpPr>
          <p:cNvPr id="104" name="Google Shape;104;p46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3200"/>
              <a:t>Defcon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01E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2"/>
          <p:cNvSpPr txBox="1"/>
          <p:nvPr/>
        </p:nvSpPr>
        <p:spPr>
          <a:xfrm>
            <a:off x="5375189" y="1977081"/>
            <a:ext cx="85151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leonidas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accdc62dc3_0_102"/>
          <p:cNvSpPr txBox="1">
            <a:spLocks noGrp="1"/>
          </p:cNvSpPr>
          <p:nvPr>
            <p:ph type="title"/>
          </p:nvPr>
        </p:nvSpPr>
        <p:spPr>
          <a:xfrm>
            <a:off x="4974771" y="748121"/>
            <a:ext cx="6575100" cy="14508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n-GB"/>
              <a:t>VANGELIS STYKAS</a:t>
            </a:r>
            <a:endParaRPr/>
          </a:p>
        </p:txBody>
      </p:sp>
      <p:sp>
        <p:nvSpPr>
          <p:cNvPr id="116" name="Google Shape;116;g1accdc62dc3_0_102"/>
          <p:cNvSpPr txBox="1">
            <a:spLocks noGrp="1"/>
          </p:cNvSpPr>
          <p:nvPr>
            <p:ph type="body" idx="1"/>
          </p:nvPr>
        </p:nvSpPr>
        <p:spPr>
          <a:xfrm>
            <a:off x="4974769" y="2198914"/>
            <a:ext cx="6575100" cy="3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0" i="0" u="none" strike="noStrike">
                <a:latin typeface="Calibri"/>
                <a:ea typeface="Calibri"/>
                <a:cs typeface="Calibri"/>
                <a:sym typeface="Calibri"/>
              </a:rPr>
              <a:t>CTO at Tremau and independent security researcher </a:t>
            </a:r>
            <a:br>
              <a:rPr lang="en-GB" b="0" i="0" u="none" strike="noStrike">
                <a:latin typeface="Calibri"/>
                <a:ea typeface="Calibri"/>
                <a:cs typeface="Calibri"/>
                <a:sym typeface="Calibri"/>
              </a:rPr>
            </a:br>
            <a:endParaRPr b="0" i="0" u="none" strike="noStrike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0" i="0" u="none" strike="noStrike">
                <a:latin typeface="Calibri"/>
                <a:ea typeface="Calibri"/>
                <a:cs typeface="Calibri"/>
                <a:sym typeface="Calibri"/>
              </a:rPr>
              <a:t>Research interests are mainly API for IoT devices and web application security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GB" b="0" i="0" u="none" strike="noStrike">
                <a:latin typeface="Calibri"/>
                <a:ea typeface="Calibri"/>
                <a:cs typeface="Calibri"/>
                <a:sym typeface="Calibri"/>
              </a:rPr>
              <a:t>@evstykas on Twitter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Personal website: stykas.com</a:t>
            </a:r>
            <a:endParaRPr/>
          </a:p>
        </p:txBody>
      </p:sp>
      <p:pic>
        <p:nvPicPr>
          <p:cNvPr id="117" name="Google Shape;117;g1accdc62dc3_0_102"/>
          <p:cNvPicPr preferRelativeResize="0"/>
          <p:nvPr/>
        </p:nvPicPr>
        <p:blipFill rotWithShape="1">
          <a:blip r:embed="rId3">
            <a:alphaModFix/>
          </a:blip>
          <a:srcRect t="5668" b="5668"/>
          <a:stretch/>
        </p:blipFill>
        <p:spPr>
          <a:xfrm>
            <a:off x="559640" y="771801"/>
            <a:ext cx="4001315" cy="531440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>
            <a:spLocks noGrp="1"/>
          </p:cNvSpPr>
          <p:nvPr>
            <p:ph type="title"/>
          </p:nvPr>
        </p:nvSpPr>
        <p:spPr>
          <a:xfrm>
            <a:off x="2231136" y="37287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AI over APIs </a:t>
            </a:r>
            <a:endParaRPr dirty="0"/>
          </a:p>
        </p:txBody>
      </p:sp>
      <p:sp>
        <p:nvSpPr>
          <p:cNvPr id="130" name="Google Shape;130;p2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200" dirty="0"/>
              <a:t>Content aware AI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200" dirty="0"/>
              <a:t>Target logic flaws and typical developer cut corners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200" dirty="0"/>
              <a:t>Used in this talk </a:t>
            </a:r>
            <a:r>
              <a:rPr lang="en-US" sz="2200" dirty="0">
                <a:sym typeface="Wingdings" panose="05000000000000000000" pitchFamily="2" charset="2"/>
              </a:rPr>
              <a:t>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918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HOW IT STARTED</a:t>
            </a:r>
            <a:endParaRPr/>
          </a:p>
        </p:txBody>
      </p:sp>
      <p:sp>
        <p:nvSpPr>
          <p:cNvPr id="123" name="Google Shape;123;p1"/>
          <p:cNvSpPr txBox="1">
            <a:spLocks noGrp="1"/>
          </p:cNvSpPr>
          <p:nvPr>
            <p:ph type="body" idx="1"/>
          </p:nvPr>
        </p:nvSpPr>
        <p:spPr>
          <a:xfrm>
            <a:off x="1491996" y="1808480"/>
            <a:ext cx="5838444" cy="445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Doom scrolling on twitter.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Was introduced to MaaS and the wonderful Threat intel scene that tries to take them down..</a:t>
            </a:r>
            <a:endParaRPr sz="2400"/>
          </a:p>
        </p:txBody>
      </p:sp>
      <p:pic>
        <p:nvPicPr>
          <p:cNvPr id="124" name="Google Shape;12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1448" y="1656080"/>
            <a:ext cx="4120406" cy="4929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>
            <a:spLocks noGrp="1"/>
          </p:cNvSpPr>
          <p:nvPr>
            <p:ph type="title"/>
          </p:nvPr>
        </p:nvSpPr>
        <p:spPr>
          <a:xfrm>
            <a:off x="2231136" y="37287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MARKET </a:t>
            </a:r>
            <a:endParaRPr/>
          </a:p>
        </p:txBody>
      </p:sp>
      <p:sp>
        <p:nvSpPr>
          <p:cNvPr id="130" name="Google Shape;130;p2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/>
              <a:t>Malware vendors also switched to the “as a service model”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/>
              <a:t>Some old ones can still be acquired with a “once off” fee 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/>
              <a:t>Most new one want a monthly subscription varying from $100 to several thousands per month.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MARKET </a:t>
            </a:r>
            <a:endParaRPr/>
          </a:p>
        </p:txBody>
      </p:sp>
      <p:sp>
        <p:nvSpPr>
          <p:cNvPr id="136" name="Google Shape;136;p3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3 Levels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 b="1" dirty="0"/>
              <a:t>Developers</a:t>
            </a:r>
            <a:r>
              <a:rPr lang="en-GB" sz="2200" dirty="0"/>
              <a:t>: People who develop malware and its functionality and their C2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 b="1" dirty="0"/>
              <a:t>Vendors </a:t>
            </a:r>
            <a:r>
              <a:rPr lang="en-GB" sz="2200" dirty="0"/>
              <a:t>: The one who take most of the profits and often advertise their goods on darknet marketplaces and aggressively seek out new customers to purchase their malware.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 b="1" dirty="0"/>
              <a:t>Buyers </a:t>
            </a:r>
            <a:r>
              <a:rPr lang="en-GB" sz="2200" dirty="0"/>
              <a:t>: Last part of the chain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MARKET </a:t>
            </a:r>
            <a:endParaRPr/>
          </a:p>
        </p:txBody>
      </p:sp>
      <p:sp>
        <p:nvSpPr>
          <p:cNvPr id="142" name="Google Shape;142;p9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Profits: </a:t>
            </a:r>
            <a:endParaRPr sz="2400" dirty="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 b="1" dirty="0"/>
              <a:t>~2.2 billion dollars </a:t>
            </a:r>
            <a:endParaRPr sz="2400" b="1" dirty="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 dirty="0"/>
              <a:t>(without ransomware)</a:t>
            </a:r>
            <a:endParaRPr sz="2400" dirty="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Commonwealth of Independent States </a:t>
            </a:r>
            <a:endParaRPr sz="2400" dirty="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 dirty="0"/>
              <a:t>is </a:t>
            </a:r>
            <a:r>
              <a:rPr lang="en-GB" sz="2400" b="1" dirty="0"/>
              <a:t>untouchable.</a:t>
            </a:r>
            <a:endParaRPr b="1" dirty="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1" dirty="0"/>
          </a:p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Vendors are part of criminal rigs </a:t>
            </a:r>
            <a:endParaRPr sz="2400" dirty="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 dirty="0"/>
              <a:t>that enjoy </a:t>
            </a:r>
            <a:r>
              <a:rPr lang="en-GB" sz="2400" b="1" dirty="0"/>
              <a:t>immunity</a:t>
            </a:r>
            <a:r>
              <a:rPr lang="en-GB" sz="2400" dirty="0"/>
              <a:t>.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148" name="Google Shape;14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27660" y="-853440"/>
            <a:ext cx="12793980" cy="852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101 </a:t>
            </a:r>
            <a:endParaRPr/>
          </a:p>
        </p:txBody>
      </p:sp>
      <p:sp>
        <p:nvSpPr>
          <p:cNvPr id="154" name="Google Shape;154;p14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Android        windows          and mac 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Delivered via a variety of methods.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Achieve persistence through a number of ways.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Heavily obfuscated and difficult to reverse.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Connects to a Command and Control (C2) server for further instructions periodically.</a:t>
            </a:r>
            <a:endParaRPr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E6CA8C-038F-2DDF-4498-D6E4C9B2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908" y="1838960"/>
            <a:ext cx="457200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510553-0F35-C51C-43D3-4B4B2B441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784" y="1838960"/>
            <a:ext cx="457200" cy="457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0AA752-3404-7B40-4035-23FB56FAE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5660" y="18389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LINGO </a:t>
            </a:r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/>
              <a:t>Stealer: </a:t>
            </a:r>
            <a:r>
              <a:rPr lang="en-GB" sz="2400"/>
              <a:t>An application that will try to steal all information and send it to C2.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/>
              <a:t>Dropper: </a:t>
            </a:r>
            <a:r>
              <a:rPr lang="en-GB" sz="2400"/>
              <a:t>Typical basic program that is used to drop other malware to the victim.</a:t>
            </a:r>
            <a:endParaRPr sz="240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/>
              <a:t>Subscriber:</a:t>
            </a:r>
            <a:r>
              <a:rPr lang="en-GB" sz="2400"/>
              <a:t> App that subscribes the victim to a number of premium services.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/>
              <a:t>Botnet: </a:t>
            </a:r>
            <a:r>
              <a:rPr lang="en-GB" sz="2400"/>
              <a:t>Duh…</a:t>
            </a:r>
            <a:endParaRPr sz="22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ANALYSIS </a:t>
            </a:r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/>
              <a:t>HIGHLY</a:t>
            </a:r>
            <a:r>
              <a:rPr lang="en-GB" sz="2400"/>
              <a:t> technical.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Static analysis.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Dynamic analysis in sandboxes.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Reversing and jumping through a lot of hoops.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Focus on reversing raised the bar.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If you are here for reversing tips…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ANALYSIS </a:t>
            </a:r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Potential obstacles: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Anti-debugging techniques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Obfuscation techniques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Runtime function decryption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Anti-Virtual Machine techniques</a:t>
            </a:r>
            <a:endParaRPr sz="2400"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Staged downloads</a:t>
            </a:r>
            <a:endParaRPr/>
          </a:p>
          <a:p>
            <a:pPr marL="91440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Plethora of stuff that I don’t understand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591" y="0"/>
            <a:ext cx="1215881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C2 ANALYSIS </a:t>
            </a:r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Not that technical.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Treat C2 as a black box web app test.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If black box fails, “cheat” and use communication from the sandbox running malware.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If all else fails, run it on my victims’ devices and just proxy through burp.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Apply some “art” to it.</a:t>
            </a:r>
            <a:endParaRPr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C2 ANALYSIS 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/>
          </a:p>
        </p:txBody>
      </p:sp>
      <p:pic>
        <p:nvPicPr>
          <p:cNvPr id="190" name="Google Shape;19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2262" y="1650521"/>
            <a:ext cx="8627476" cy="507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C2 ANALYSIS </a:t>
            </a:r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/>
              <a:t>Highly opportunistic - Small C2 life time.</a:t>
            </a:r>
            <a:endParaRPr sz="220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/>
              <a:t>Needs to be automated and integrated with threat intel tools to maximize the small window of time I had.</a:t>
            </a:r>
            <a:endParaRPr sz="220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/>
              <a:t>Blacklisted IP addresses - Switch machines.</a:t>
            </a:r>
            <a:endParaRPr/>
          </a:p>
          <a:p>
            <a:pPr marL="457200" lvl="0" indent="-2286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C2 ANALYSIS 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Twitter threat intel: Check blog post for references.(but also a lot of doom scrolling.)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 dirty="0"/>
              <a:t>(no longer works. THANKS SPACE KAREN)</a:t>
            </a:r>
            <a:endParaRPr sz="24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https://tria.ge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https://tracker.viriback.com/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https://threatfox.abuse.ch/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200" dirty="0"/>
              <a:t>https://github.com/Gi7w0rm/MalwareConfigLists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MALWARE C2 ANALYSIS </a:t>
            </a:r>
            <a:endParaRPr/>
          </a:p>
        </p:txBody>
      </p:sp>
      <p:sp>
        <p:nvSpPr>
          <p:cNvPr id="208" name="Google Shape;208;p25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Python script in a loop that updated a database of all targets.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Scan all targets for potential issues or exploit it immediately if there is a known vulnerability (time window).</a:t>
            </a:r>
            <a:endParaRPr sz="220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Push notification to my phone when a new panel appeared.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TOOLSET AND METHODOLOGY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1581912" y="1838959"/>
            <a:ext cx="4271771" cy="420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 err="1"/>
              <a:t>Dirsearch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/>
              <a:t>Burp Suite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 err="1"/>
              <a:t>Jadx</a:t>
            </a:r>
            <a:r>
              <a:rPr lang="en-GB" sz="2000" dirty="0"/>
              <a:t> </a:t>
            </a:r>
            <a:r>
              <a:rPr lang="en-GB" sz="2000" dirty="0" err="1"/>
              <a:t>Decompiler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/>
              <a:t>Apklab.io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/>
              <a:t>Any run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/>
              <a:t>Several droplets on </a:t>
            </a:r>
            <a:r>
              <a:rPr lang="en-GB" sz="2000" dirty="0" err="1"/>
              <a:t>DigitalOcean</a:t>
            </a:r>
            <a:endParaRPr sz="20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/>
              <a:t>Shodan.io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000" dirty="0"/>
              <a:t>My Cancerous Android phone</a:t>
            </a:r>
            <a:endParaRPr dirty="0"/>
          </a:p>
        </p:txBody>
      </p:sp>
      <p:pic>
        <p:nvPicPr>
          <p:cNvPr id="215" name="Google Shape;21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2780" y="1838959"/>
            <a:ext cx="4001315" cy="400131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body" idx="1"/>
          </p:nvPr>
        </p:nvSpPr>
        <p:spPr>
          <a:xfrm>
            <a:off x="2745303" y="2271125"/>
            <a:ext cx="6701400" cy="43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Acquire C2 URL and run automated tools.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Run in sandbox and review communication logs.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Run automated tools with added knowledge.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Fire up Burp and treat it as a penetration test.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strike="sngStrike"/>
              <a:t>PROFIT!</a:t>
            </a:r>
            <a:r>
              <a:rPr lang="en-GB" sz="2400"/>
              <a:t>  Submit a DEFCON talk!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GOALS</a:t>
            </a:r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body" idx="1"/>
          </p:nvPr>
        </p:nvSpPr>
        <p:spPr>
          <a:xfrm>
            <a:off x="3206400" y="2193150"/>
            <a:ext cx="5779200" cy="24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Get Admin access to the panel.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Get RCE on the server.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Acquire the source code of the panel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(and potentially the malware).</a:t>
            </a:r>
            <a:endParaRPr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Don’t end up in a black VAN!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GOALS</a:t>
            </a:r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body" idx="1"/>
          </p:nvPr>
        </p:nvSpPr>
        <p:spPr>
          <a:xfrm>
            <a:off x="3206400" y="2193150"/>
            <a:ext cx="5779200" cy="24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Get Admin access to the panel. (7)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Get RCE on the server. (3)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Acquire the source code of the panel 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 dirty="0"/>
              <a:t>(and potentially the malware). (5)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Didn’t end up in a black VAN! (YET)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9952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dirty="0"/>
              <a:t>NOT HONORABLE MENTION</a:t>
            </a:r>
            <a:endParaRPr dirty="0"/>
          </a:p>
        </p:txBody>
      </p:sp>
      <p:sp>
        <p:nvSpPr>
          <p:cNvPr id="227" name="Google Shape;227;p28"/>
          <p:cNvSpPr txBox="1">
            <a:spLocks noGrp="1"/>
          </p:cNvSpPr>
          <p:nvPr>
            <p:ph type="body" idx="1"/>
          </p:nvPr>
        </p:nvSpPr>
        <p:spPr>
          <a:xfrm>
            <a:off x="3206400" y="2193150"/>
            <a:ext cx="5779200" cy="24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Cloudflare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endParaRPr lang="en-US" sz="24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 err="1"/>
              <a:t>Hetzner</a:t>
            </a:r>
            <a:endParaRPr lang="en-US" sz="24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endParaRPr lang="en-US" sz="2400"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Bulletproof hosting providers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236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51460" y="-802640"/>
            <a:ext cx="12443460" cy="829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body" idx="1"/>
          </p:nvPr>
        </p:nvSpPr>
        <p:spPr>
          <a:xfrm>
            <a:off x="6337775" y="2129100"/>
            <a:ext cx="4413600" cy="3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Found by Kasperksy.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First report at 22 of September 2022.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Extensive research from Tatyana Shishkova.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1180" y="1846364"/>
            <a:ext cx="4082473" cy="395293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5ABE-7A08-FF7B-6CE9-230F54DB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ADEDF2-7D5B-8E53-8D5B-3091FD57E3C6}"/>
              </a:ext>
            </a:extLst>
          </p:cNvPr>
          <p:cNvGrpSpPr/>
          <p:nvPr/>
        </p:nvGrpSpPr>
        <p:grpSpPr>
          <a:xfrm>
            <a:off x="2996379" y="2146581"/>
            <a:ext cx="6199241" cy="3099621"/>
            <a:chOff x="2996380" y="1980289"/>
            <a:chExt cx="6199241" cy="309962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378DA0D-D143-9CBC-CA29-27EFA950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14" y="3530536"/>
              <a:ext cx="1870807" cy="1549374"/>
            </a:xfrm>
            <a:custGeom>
              <a:avLst/>
              <a:gdLst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569848 h 1549374"/>
                <a:gd name="connsiteX9" fmla="*/ 466658 w 1870807"/>
                <a:gd name="connsiteY9" fmla="*/ 202986 h 1549374"/>
                <a:gd name="connsiteX10" fmla="*/ 1101663 w 1870807"/>
                <a:gd name="connsiteY10" fmla="*/ 202986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101663 w 1870807"/>
                <a:gd name="connsiteY9" fmla="*/ 202986 h 1549374"/>
                <a:gd name="connsiteX10" fmla="*/ 1453013 w 1870807"/>
                <a:gd name="connsiteY10" fmla="*/ 0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453013 w 1870807"/>
                <a:gd name="connsiteY9" fmla="*/ 0 h 154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0807" h="1549374">
                  <a:moveTo>
                    <a:pt x="1453013" y="0"/>
                  </a:moveTo>
                  <a:lnTo>
                    <a:pt x="1496700" y="71910"/>
                  </a:lnTo>
                  <a:cubicBezTo>
                    <a:pt x="1735285" y="511106"/>
                    <a:pt x="1870807" y="1014413"/>
                    <a:pt x="1870807" y="1549373"/>
                  </a:cubicBezTo>
                  <a:lnTo>
                    <a:pt x="1870807" y="1549374"/>
                  </a:lnTo>
                  <a:lnTo>
                    <a:pt x="191433" y="1549374"/>
                  </a:lnTo>
                  <a:lnTo>
                    <a:pt x="191433" y="1549373"/>
                  </a:lnTo>
                  <a:cubicBezTo>
                    <a:pt x="191433" y="1304254"/>
                    <a:pt x="129337" y="1073639"/>
                    <a:pt x="20017" y="872400"/>
                  </a:cubicBezTo>
                  <a:lnTo>
                    <a:pt x="0" y="839451"/>
                  </a:lnTo>
                  <a:lnTo>
                    <a:pt x="466658" y="202986"/>
                  </a:lnTo>
                  <a:lnTo>
                    <a:pt x="1453013" y="0"/>
                  </a:lnTo>
                  <a:close/>
                </a:path>
              </a:pathLst>
            </a:custGeom>
            <a:solidFill>
              <a:srgbClr val="A2B969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70E46-2C5C-3FEA-3B57-6D5D57E9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058" y="1980289"/>
              <a:ext cx="2035649" cy="1870344"/>
            </a:xfrm>
            <a:custGeom>
              <a:avLst/>
              <a:gdLst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815757 h 1870344"/>
                <a:gd name="connsiteX5" fmla="*/ 1805484 w 2035649"/>
                <a:gd name="connsiteY5" fmla="*/ 1317792 h 1870344"/>
                <a:gd name="connsiteX6" fmla="*/ 1515865 w 2035649"/>
                <a:gd name="connsiteY6" fmla="*/ 1317792 h 1870344"/>
                <a:gd name="connsiteX7" fmla="*/ 1197102 w 2035649"/>
                <a:gd name="connsiteY7" fmla="*/ 1870344 h 1870344"/>
                <a:gd name="connsiteX8" fmla="*/ 1164916 w 2035649"/>
                <a:gd name="connsiteY8" fmla="*/ 1850790 h 1870344"/>
                <a:gd name="connsiteX9" fmla="*/ 633154 w 2035649"/>
                <a:gd name="connsiteY9" fmla="*/ 1686707 h 1870344"/>
                <a:gd name="connsiteX10" fmla="*/ 487943 w 2035649"/>
                <a:gd name="connsiteY10" fmla="*/ 1679374 h 1870344"/>
                <a:gd name="connsiteX11" fmla="*/ 487943 w 2035649"/>
                <a:gd name="connsiteY11" fmla="*/ 1264630 h 1870344"/>
                <a:gd name="connsiteX12" fmla="*/ 0 w 2035649"/>
                <a:gd name="connsiteY12" fmla="*/ 776687 h 1870344"/>
                <a:gd name="connsiteX13" fmla="*/ 487943 w 2035649"/>
                <a:gd name="connsiteY13" fmla="*/ 288744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515865 w 2035649"/>
                <a:gd name="connsiteY5" fmla="*/ 1317792 h 1870344"/>
                <a:gd name="connsiteX6" fmla="*/ 1197102 w 2035649"/>
                <a:gd name="connsiteY6" fmla="*/ 1870344 h 1870344"/>
                <a:gd name="connsiteX7" fmla="*/ 1164916 w 2035649"/>
                <a:gd name="connsiteY7" fmla="*/ 1850790 h 1870344"/>
                <a:gd name="connsiteX8" fmla="*/ 633154 w 2035649"/>
                <a:gd name="connsiteY8" fmla="*/ 1686707 h 1870344"/>
                <a:gd name="connsiteX9" fmla="*/ 487943 w 2035649"/>
                <a:gd name="connsiteY9" fmla="*/ 1679374 h 1870344"/>
                <a:gd name="connsiteX10" fmla="*/ 487943 w 2035649"/>
                <a:gd name="connsiteY10" fmla="*/ 1264630 h 1870344"/>
                <a:gd name="connsiteX11" fmla="*/ 0 w 2035649"/>
                <a:gd name="connsiteY11" fmla="*/ 776687 h 1870344"/>
                <a:gd name="connsiteX12" fmla="*/ 487943 w 2035649"/>
                <a:gd name="connsiteY12" fmla="*/ 288744 h 1870344"/>
                <a:gd name="connsiteX13" fmla="*/ 487943 w 2035649"/>
                <a:gd name="connsiteY13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288744 h 1870344"/>
                <a:gd name="connsiteX12" fmla="*/ 487943 w 2035649"/>
                <a:gd name="connsiteY12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0 w 2035649"/>
                <a:gd name="connsiteY9" fmla="*/ 776687 h 1870344"/>
                <a:gd name="connsiteX10" fmla="*/ 487943 w 2035649"/>
                <a:gd name="connsiteY10" fmla="*/ 0 h 18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649" h="1870344">
                  <a:moveTo>
                    <a:pt x="487943" y="0"/>
                  </a:moveTo>
                  <a:lnTo>
                    <a:pt x="647448" y="4033"/>
                  </a:lnTo>
                  <a:cubicBezTo>
                    <a:pt x="1122923" y="28135"/>
                    <a:pt x="1570129" y="159381"/>
                    <a:pt x="1965405" y="374107"/>
                  </a:cubicBezTo>
                  <a:lnTo>
                    <a:pt x="2035649" y="416782"/>
                  </a:lnTo>
                  <a:lnTo>
                    <a:pt x="1805484" y="1317792"/>
                  </a:lnTo>
                  <a:lnTo>
                    <a:pt x="1197102" y="1870344"/>
                  </a:lnTo>
                  <a:lnTo>
                    <a:pt x="1164916" y="1850790"/>
                  </a:lnTo>
                  <a:cubicBezTo>
                    <a:pt x="1003924" y="1763334"/>
                    <a:pt x="824132" y="1706102"/>
                    <a:pt x="633154" y="1686707"/>
                  </a:cubicBezTo>
                  <a:lnTo>
                    <a:pt x="487943" y="1679374"/>
                  </a:lnTo>
                  <a:lnTo>
                    <a:pt x="0" y="776687"/>
                  </a:lnTo>
                  <a:lnTo>
                    <a:pt x="487943" y="0"/>
                  </a:lnTo>
                  <a:close/>
                </a:path>
              </a:pathLst>
            </a:custGeom>
            <a:solidFill>
              <a:srgbClr val="FFC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2EE1C8-CF41-B415-1E2B-2DC17FBFF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343" y="2397915"/>
              <a:ext cx="1971862" cy="1971945"/>
            </a:xfrm>
            <a:custGeom>
              <a:avLst/>
              <a:gdLst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476041 w 1971862"/>
                <a:gd name="connsiteY10" fmla="*/ 1407434 h 1971945"/>
                <a:gd name="connsiteX11" fmla="*/ 0 w 1971862"/>
                <a:gd name="connsiteY11" fmla="*/ 1132343 h 1971945"/>
                <a:gd name="connsiteX12" fmla="*/ 111404 w 1971862"/>
                <a:gd name="connsiteY12" fmla="*/ 948968 h 1971945"/>
                <a:gd name="connsiteX13" fmla="*/ 948630 w 1971862"/>
                <a:gd name="connsiteY13" fmla="*/ 111741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0 w 1971862"/>
                <a:gd name="connsiteY10" fmla="*/ 1132343 h 1971945"/>
                <a:gd name="connsiteX11" fmla="*/ 111404 w 1971862"/>
                <a:gd name="connsiteY11" fmla="*/ 948968 h 1971945"/>
                <a:gd name="connsiteX12" fmla="*/ 948630 w 1971862"/>
                <a:gd name="connsiteY12" fmla="*/ 111741 h 1971945"/>
                <a:gd name="connsiteX13" fmla="*/ 1132562 w 1971862"/>
                <a:gd name="connsiteY13" fmla="*/ 0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476041 w 1971862"/>
                <a:gd name="connsiteY8" fmla="*/ 1712486 h 1971945"/>
                <a:gd name="connsiteX9" fmla="*/ 0 w 1971862"/>
                <a:gd name="connsiteY9" fmla="*/ 1132343 h 1971945"/>
                <a:gd name="connsiteX10" fmla="*/ 111404 w 1971862"/>
                <a:gd name="connsiteY10" fmla="*/ 948968 h 1971945"/>
                <a:gd name="connsiteX11" fmla="*/ 948630 w 1971862"/>
                <a:gd name="connsiteY11" fmla="*/ 111741 h 1971945"/>
                <a:gd name="connsiteX12" fmla="*/ 1132562 w 1971862"/>
                <a:gd name="connsiteY12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773774 w 1971862"/>
                <a:gd name="connsiteY2" fmla="*/ 1110150 h 1971945"/>
                <a:gd name="connsiteX3" fmla="*/ 1971862 w 1971862"/>
                <a:gd name="connsiteY3" fmla="*/ 1453105 h 1971945"/>
                <a:gd name="connsiteX4" fmla="*/ 1887584 w 1971862"/>
                <a:gd name="connsiteY4" fmla="*/ 1504305 h 1971945"/>
                <a:gd name="connsiteX5" fmla="*/ 1503967 w 1971862"/>
                <a:gd name="connsiteY5" fmla="*/ 1887922 h 1971945"/>
                <a:gd name="connsiteX6" fmla="*/ 1452922 w 1971862"/>
                <a:gd name="connsiteY6" fmla="*/ 1971945 h 1971945"/>
                <a:gd name="connsiteX7" fmla="*/ 476041 w 1971862"/>
                <a:gd name="connsiteY7" fmla="*/ 1712486 h 1971945"/>
                <a:gd name="connsiteX8" fmla="*/ 0 w 1971862"/>
                <a:gd name="connsiteY8" fmla="*/ 1132343 h 1971945"/>
                <a:gd name="connsiteX9" fmla="*/ 111404 w 1971862"/>
                <a:gd name="connsiteY9" fmla="*/ 948968 h 1971945"/>
                <a:gd name="connsiteX10" fmla="*/ 948630 w 1971862"/>
                <a:gd name="connsiteY10" fmla="*/ 111741 h 1971945"/>
                <a:gd name="connsiteX11" fmla="*/ 1132562 w 1971862"/>
                <a:gd name="connsiteY11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971862 w 1971862"/>
                <a:gd name="connsiteY2" fmla="*/ 1453105 h 1971945"/>
                <a:gd name="connsiteX3" fmla="*/ 1887584 w 1971862"/>
                <a:gd name="connsiteY3" fmla="*/ 1504305 h 1971945"/>
                <a:gd name="connsiteX4" fmla="*/ 1503967 w 1971862"/>
                <a:gd name="connsiteY4" fmla="*/ 1887922 h 1971945"/>
                <a:gd name="connsiteX5" fmla="*/ 1452922 w 1971862"/>
                <a:gd name="connsiteY5" fmla="*/ 1971945 h 1971945"/>
                <a:gd name="connsiteX6" fmla="*/ 476041 w 1971862"/>
                <a:gd name="connsiteY6" fmla="*/ 1712486 h 1971945"/>
                <a:gd name="connsiteX7" fmla="*/ 0 w 1971862"/>
                <a:gd name="connsiteY7" fmla="*/ 1132343 h 1971945"/>
                <a:gd name="connsiteX8" fmla="*/ 111404 w 1971862"/>
                <a:gd name="connsiteY8" fmla="*/ 948968 h 1971945"/>
                <a:gd name="connsiteX9" fmla="*/ 948630 w 1971862"/>
                <a:gd name="connsiteY9" fmla="*/ 111741 h 1971945"/>
                <a:gd name="connsiteX10" fmla="*/ 1132562 w 1971862"/>
                <a:gd name="connsiteY10" fmla="*/ 0 h 19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1862" h="1971945">
                  <a:moveTo>
                    <a:pt x="1132562" y="0"/>
                  </a:moveTo>
                  <a:lnTo>
                    <a:pt x="1773774" y="379908"/>
                  </a:lnTo>
                  <a:lnTo>
                    <a:pt x="1971862" y="1453105"/>
                  </a:lnTo>
                  <a:lnTo>
                    <a:pt x="1887584" y="1504305"/>
                  </a:lnTo>
                  <a:cubicBezTo>
                    <a:pt x="1736469" y="1606396"/>
                    <a:pt x="1606058" y="1736807"/>
                    <a:pt x="1503967" y="1887922"/>
                  </a:cubicBezTo>
                  <a:lnTo>
                    <a:pt x="1452922" y="1971945"/>
                  </a:lnTo>
                  <a:lnTo>
                    <a:pt x="476041" y="1712486"/>
                  </a:lnTo>
                  <a:lnTo>
                    <a:pt x="0" y="1132343"/>
                  </a:lnTo>
                  <a:lnTo>
                    <a:pt x="111404" y="948968"/>
                  </a:lnTo>
                  <a:cubicBezTo>
                    <a:pt x="334213" y="619166"/>
                    <a:pt x="618828" y="334551"/>
                    <a:pt x="948630" y="111741"/>
                  </a:cubicBezTo>
                  <a:lnTo>
                    <a:pt x="1132562" y="0"/>
                  </a:lnTo>
                  <a:close/>
                </a:path>
              </a:pathLst>
            </a:custGeom>
            <a:solidFill>
              <a:srgbClr val="C13018">
                <a:lumMod val="60000"/>
                <a:lumOff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158889-D4EA-5738-3118-4CE170F3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380" y="3530535"/>
              <a:ext cx="1870808" cy="1549375"/>
            </a:xfrm>
            <a:custGeom>
              <a:avLst/>
              <a:gdLst>
                <a:gd name="connsiteX0" fmla="*/ 417795 w 1870808"/>
                <a:gd name="connsiteY0" fmla="*/ 0 h 1549375"/>
                <a:gd name="connsiteX1" fmla="*/ 1870808 w 1870808"/>
                <a:gd name="connsiteY1" fmla="*/ 839451 h 1549375"/>
                <a:gd name="connsiteX2" fmla="*/ 1850790 w 1870808"/>
                <a:gd name="connsiteY2" fmla="*/ 872401 h 1549375"/>
                <a:gd name="connsiteX3" fmla="*/ 1679374 w 1870808"/>
                <a:gd name="connsiteY3" fmla="*/ 1549374 h 1549375"/>
                <a:gd name="connsiteX4" fmla="*/ 1679374 w 1870808"/>
                <a:gd name="connsiteY4" fmla="*/ 1549375 h 1549375"/>
                <a:gd name="connsiteX5" fmla="*/ 0 w 1870808"/>
                <a:gd name="connsiteY5" fmla="*/ 1549375 h 1549375"/>
                <a:gd name="connsiteX6" fmla="*/ 0 w 1870808"/>
                <a:gd name="connsiteY6" fmla="*/ 1549374 h 1549375"/>
                <a:gd name="connsiteX7" fmla="*/ 374108 w 1870808"/>
                <a:gd name="connsiteY7" fmla="*/ 71911 h 154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0808" h="1549375">
                  <a:moveTo>
                    <a:pt x="417795" y="0"/>
                  </a:moveTo>
                  <a:lnTo>
                    <a:pt x="1870808" y="839451"/>
                  </a:lnTo>
                  <a:lnTo>
                    <a:pt x="1850790" y="872401"/>
                  </a:lnTo>
                  <a:cubicBezTo>
                    <a:pt x="1741471" y="1073640"/>
                    <a:pt x="1679374" y="1304255"/>
                    <a:pt x="1679374" y="1549374"/>
                  </a:cubicBezTo>
                  <a:lnTo>
                    <a:pt x="1679374" y="1549375"/>
                  </a:lnTo>
                  <a:lnTo>
                    <a:pt x="0" y="1549375"/>
                  </a:lnTo>
                  <a:lnTo>
                    <a:pt x="0" y="1549374"/>
                  </a:lnTo>
                  <a:cubicBezTo>
                    <a:pt x="0" y="1014414"/>
                    <a:pt x="135522" y="511107"/>
                    <a:pt x="374108" y="71911"/>
                  </a:cubicBezTo>
                  <a:close/>
                </a:path>
              </a:pathLst>
            </a:custGeom>
            <a:solidFill>
              <a:srgbClr val="C13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C04463-89B4-08EA-C2D9-199E29A19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182" y="1980289"/>
              <a:ext cx="1548819" cy="1870653"/>
            </a:xfrm>
            <a:custGeom>
              <a:avLst/>
              <a:gdLst>
                <a:gd name="connsiteX0" fmla="*/ 1548818 w 1548819"/>
                <a:gd name="connsiteY0" fmla="*/ 0 h 1870653"/>
                <a:gd name="connsiteX1" fmla="*/ 1548819 w 1548819"/>
                <a:gd name="connsiteY1" fmla="*/ 0 h 1870653"/>
                <a:gd name="connsiteX2" fmla="*/ 1548819 w 1548819"/>
                <a:gd name="connsiteY2" fmla="*/ 1679374 h 1870653"/>
                <a:gd name="connsiteX3" fmla="*/ 1548818 w 1548819"/>
                <a:gd name="connsiteY3" fmla="*/ 1679374 h 1870653"/>
                <a:gd name="connsiteX4" fmla="*/ 871845 w 1548819"/>
                <a:gd name="connsiteY4" fmla="*/ 1850790 h 1870653"/>
                <a:gd name="connsiteX5" fmla="*/ 839150 w 1548819"/>
                <a:gd name="connsiteY5" fmla="*/ 1870653 h 1870653"/>
                <a:gd name="connsiteX6" fmla="*/ 0 w 1548819"/>
                <a:gd name="connsiteY6" fmla="*/ 417457 h 1870653"/>
                <a:gd name="connsiteX7" fmla="*/ 71355 w 1548819"/>
                <a:gd name="connsiteY7" fmla="*/ 374107 h 1870653"/>
                <a:gd name="connsiteX8" fmla="*/ 1548818 w 1548819"/>
                <a:gd name="connsiteY8" fmla="*/ 0 h 187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8819" h="1870653">
                  <a:moveTo>
                    <a:pt x="1548818" y="0"/>
                  </a:moveTo>
                  <a:lnTo>
                    <a:pt x="1548819" y="0"/>
                  </a:lnTo>
                  <a:lnTo>
                    <a:pt x="1548819" y="1679374"/>
                  </a:lnTo>
                  <a:lnTo>
                    <a:pt x="1548818" y="1679374"/>
                  </a:lnTo>
                  <a:cubicBezTo>
                    <a:pt x="1303700" y="1679374"/>
                    <a:pt x="1073084" y="1741470"/>
                    <a:pt x="871845" y="1850790"/>
                  </a:cubicBezTo>
                  <a:lnTo>
                    <a:pt x="839150" y="1870653"/>
                  </a:lnTo>
                  <a:lnTo>
                    <a:pt x="0" y="417457"/>
                  </a:lnTo>
                  <a:lnTo>
                    <a:pt x="71355" y="374107"/>
                  </a:lnTo>
                  <a:cubicBezTo>
                    <a:pt x="510551" y="135522"/>
                    <a:pt x="1013858" y="0"/>
                    <a:pt x="1548818" y="0"/>
                  </a:cubicBezTo>
                  <a:close/>
                </a:path>
              </a:pathLst>
            </a:custGeom>
            <a:solidFill>
              <a:srgbClr val="F79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7E61AA-DBD5-2799-337F-19772DF6A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287" y="2397240"/>
              <a:ext cx="1972370" cy="1972621"/>
            </a:xfrm>
            <a:custGeom>
              <a:avLst/>
              <a:gdLst>
                <a:gd name="connsiteX0" fmla="*/ 838698 w 1972370"/>
                <a:gd name="connsiteY0" fmla="*/ 0 h 1972621"/>
                <a:gd name="connsiteX1" fmla="*/ 1023740 w 1972370"/>
                <a:gd name="connsiteY1" fmla="*/ 112416 h 1972621"/>
                <a:gd name="connsiteX2" fmla="*/ 1860967 w 1972370"/>
                <a:gd name="connsiteY2" fmla="*/ 949643 h 1972621"/>
                <a:gd name="connsiteX3" fmla="*/ 1972370 w 1972370"/>
                <a:gd name="connsiteY3" fmla="*/ 1133019 h 1972621"/>
                <a:gd name="connsiteX4" fmla="*/ 519449 w 1972370"/>
                <a:gd name="connsiteY4" fmla="*/ 1972621 h 1972621"/>
                <a:gd name="connsiteX5" fmla="*/ 468403 w 1972370"/>
                <a:gd name="connsiteY5" fmla="*/ 1888597 h 1972621"/>
                <a:gd name="connsiteX6" fmla="*/ 84786 w 1972370"/>
                <a:gd name="connsiteY6" fmla="*/ 1504980 h 1972621"/>
                <a:gd name="connsiteX7" fmla="*/ 0 w 1972370"/>
                <a:gd name="connsiteY7" fmla="*/ 1453471 h 197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2370" h="1972621">
                  <a:moveTo>
                    <a:pt x="838698" y="0"/>
                  </a:moveTo>
                  <a:lnTo>
                    <a:pt x="1023740" y="112416"/>
                  </a:lnTo>
                  <a:cubicBezTo>
                    <a:pt x="1353542" y="335226"/>
                    <a:pt x="1638157" y="619841"/>
                    <a:pt x="1860967" y="949643"/>
                  </a:cubicBezTo>
                  <a:lnTo>
                    <a:pt x="1972370" y="1133019"/>
                  </a:lnTo>
                  <a:lnTo>
                    <a:pt x="519449" y="1972621"/>
                  </a:lnTo>
                  <a:lnTo>
                    <a:pt x="468403" y="1888597"/>
                  </a:lnTo>
                  <a:cubicBezTo>
                    <a:pt x="366312" y="1737482"/>
                    <a:pt x="235901" y="1607071"/>
                    <a:pt x="84786" y="1504980"/>
                  </a:cubicBezTo>
                  <a:lnTo>
                    <a:pt x="0" y="1453471"/>
                  </a:lnTo>
                  <a:close/>
                </a:path>
              </a:pathLst>
            </a:custGeom>
            <a:solidFill>
              <a:srgbClr val="A2B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0EE2365-D3EB-1CD9-E79A-677359B45344}"/>
                </a:ext>
              </a:extLst>
            </p:cNvPr>
            <p:cNvSpPr/>
            <p:nvPr/>
          </p:nvSpPr>
          <p:spPr>
            <a:xfrm>
              <a:off x="3965940" y="2955293"/>
              <a:ext cx="4249234" cy="2124617"/>
            </a:xfrm>
            <a:custGeom>
              <a:avLst/>
              <a:gdLst>
                <a:gd name="connsiteX0" fmla="*/ 2124617 w 4249234"/>
                <a:gd name="connsiteY0" fmla="*/ 0 h 2124617"/>
                <a:gd name="connsiteX1" fmla="*/ 4249234 w 4249234"/>
                <a:gd name="connsiteY1" fmla="*/ 2124617 h 2124617"/>
                <a:gd name="connsiteX2" fmla="*/ 0 w 4249234"/>
                <a:gd name="connsiteY2" fmla="*/ 2124617 h 2124617"/>
                <a:gd name="connsiteX3" fmla="*/ 2124617 w 4249234"/>
                <a:gd name="connsiteY3" fmla="*/ 0 h 2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234" h="2124617">
                  <a:moveTo>
                    <a:pt x="2124617" y="0"/>
                  </a:moveTo>
                  <a:cubicBezTo>
                    <a:pt x="3298011" y="0"/>
                    <a:pt x="4249234" y="951223"/>
                    <a:pt x="4249234" y="2124617"/>
                  </a:cubicBezTo>
                  <a:lnTo>
                    <a:pt x="0" y="2124617"/>
                  </a:lnTo>
                  <a:cubicBezTo>
                    <a:pt x="0" y="951223"/>
                    <a:pt x="951223" y="0"/>
                    <a:pt x="2124617" y="0"/>
                  </a:cubicBez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B0D5D2-2050-B47E-5DE3-B838E1DC41AF}"/>
                </a:ext>
              </a:extLst>
            </p:cNvPr>
            <p:cNvSpPr txBox="1"/>
            <p:nvPr/>
          </p:nvSpPr>
          <p:spPr>
            <a:xfrm>
              <a:off x="3039763" y="417088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D3D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867266-1CAB-F5B2-1897-520652485984}"/>
                </a:ext>
              </a:extLst>
            </p:cNvPr>
            <p:cNvSpPr txBox="1"/>
            <p:nvPr/>
          </p:nvSpPr>
          <p:spPr>
            <a:xfrm>
              <a:off x="3960482" y="3024315"/>
              <a:ext cx="83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Unsafe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F4700F-BBBE-815E-3C28-6BB96FA7BE9C}"/>
                </a:ext>
              </a:extLst>
            </p:cNvPr>
            <p:cNvSpPr txBox="1"/>
            <p:nvPr/>
          </p:nvSpPr>
          <p:spPr>
            <a:xfrm>
              <a:off x="6416928" y="232985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31A37B-CE66-7860-D980-D3EF25E9716A}"/>
                </a:ext>
              </a:extLst>
            </p:cNvPr>
            <p:cNvSpPr txBox="1"/>
            <p:nvPr/>
          </p:nvSpPr>
          <p:spPr>
            <a:xfrm>
              <a:off x="7575177" y="3024315"/>
              <a:ext cx="579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C78D4D-F51B-83C7-3BF3-C93A629D7F7E}"/>
                </a:ext>
              </a:extLst>
            </p:cNvPr>
            <p:cNvSpPr txBox="1"/>
            <p:nvPr/>
          </p:nvSpPr>
          <p:spPr>
            <a:xfrm>
              <a:off x="8119212" y="4170887"/>
              <a:ext cx="708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srgbClr val="D3D3D3"/>
                  </a:solidFill>
                  <a:latin typeface="Calibri" panose="020F0502020204030204"/>
                  <a:ea typeface="+mn-ea"/>
                  <a:cs typeface="+mn-cs"/>
                </a:rPr>
                <a:t>Great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240543-41E4-8B01-A31A-C17BF144751C}"/>
                </a:ext>
              </a:extLst>
            </p:cNvPr>
            <p:cNvSpPr txBox="1"/>
            <p:nvPr/>
          </p:nvSpPr>
          <p:spPr>
            <a:xfrm>
              <a:off x="5143436" y="2329858"/>
              <a:ext cx="8130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Not So</a:t>
              </a:r>
              <a:b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</a:b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Ok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77D6A-D74A-1D72-2E57-D193AB1D8513}"/>
              </a:ext>
            </a:extLst>
          </p:cNvPr>
          <p:cNvGrpSpPr/>
          <p:nvPr/>
        </p:nvGrpSpPr>
        <p:grpSpPr>
          <a:xfrm rot="20660362">
            <a:off x="5775070" y="2387013"/>
            <a:ext cx="641857" cy="5534076"/>
            <a:chOff x="5775072" y="2312872"/>
            <a:chExt cx="641857" cy="553407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868353E-661E-0E05-076A-5AA8CF994BA3}"/>
                </a:ext>
              </a:extLst>
            </p:cNvPr>
            <p:cNvSpPr/>
            <p:nvPr/>
          </p:nvSpPr>
          <p:spPr>
            <a:xfrm>
              <a:off x="5775072" y="2312872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E76AA80-9D22-C690-8BA2-877D6CF1DA5D}"/>
                </a:ext>
              </a:extLst>
            </p:cNvPr>
            <p:cNvSpPr/>
            <p:nvPr/>
          </p:nvSpPr>
          <p:spPr>
            <a:xfrm rot="10800000">
              <a:off x="5775073" y="5079910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94D5771-BFDF-EA36-A295-0F4F2C0E8D98}"/>
                </a:ext>
              </a:extLst>
            </p:cNvPr>
            <p:cNvSpPr/>
            <p:nvPr/>
          </p:nvSpPr>
          <p:spPr>
            <a:xfrm rot="10800000">
              <a:off x="5958435" y="4937035"/>
              <a:ext cx="285750" cy="28575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6780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Trojan subscriber (paid services).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~200 apps in 2022-2023.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Estimated over 1000 apps to this day affecting 12 million users.</a:t>
            </a:r>
            <a:endParaRPr dirty="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Encrypted SDK in Go and Rust.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>
            <a:spLocks noGrp="1"/>
          </p:cNvSpPr>
          <p:nvPr>
            <p:ph type="body" idx="1"/>
          </p:nvPr>
        </p:nvSpPr>
        <p:spPr>
          <a:xfrm>
            <a:off x="3775444" y="1834390"/>
            <a:ext cx="5564578" cy="367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Administration interface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Based on zoo spring app</a:t>
            </a:r>
            <a:endParaRPr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17369" y="2877702"/>
            <a:ext cx="5157261" cy="320957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264" name="Google Shape;264;p35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65" name="Google Shape;26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94114" y="1912360"/>
            <a:ext cx="9608852" cy="2530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76675" y="4587875"/>
            <a:ext cx="443865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272" name="Google Shape;272;p36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73" name="Google Shape;27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1266" y="1763735"/>
            <a:ext cx="3849467" cy="4554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279" name="Google Shape;279;p37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80" name="Google Shape;28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0693" y="183896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3821" y="1816413"/>
            <a:ext cx="5645378" cy="458596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body" idx="1"/>
          </p:nvPr>
        </p:nvSpPr>
        <p:spPr>
          <a:xfrm>
            <a:off x="2231136" y="2339385"/>
            <a:ext cx="7729800" cy="42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Boot actuators in spring framework can </a:t>
            </a:r>
            <a:r>
              <a:rPr lang="en-GB" sz="2400" b="1"/>
              <a:t>leak</a:t>
            </a:r>
            <a:r>
              <a:rPr lang="en-GB" sz="2400"/>
              <a:t> stuff.</a:t>
            </a:r>
            <a:endParaRPr sz="240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Enter </a:t>
            </a:r>
            <a:r>
              <a:rPr lang="en-GB" sz="2400" b="1"/>
              <a:t>Jolokia</a:t>
            </a:r>
            <a:r>
              <a:rPr lang="en-GB" sz="2400"/>
              <a:t> land.</a:t>
            </a:r>
            <a:endParaRPr sz="2400"/>
          </a:p>
          <a:p>
            <a:pPr marL="45720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/>
              <a:t>“Commercial features”</a:t>
            </a:r>
            <a:r>
              <a:rPr lang="en-GB" sz="2400"/>
              <a:t> were not enabled…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pic>
        <p:nvPicPr>
          <p:cNvPr id="298" name="Google Shape;29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529" y="2363506"/>
            <a:ext cx="11240942" cy="3961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6676" y="1830133"/>
            <a:ext cx="5611008" cy="257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pic>
        <p:nvPicPr>
          <p:cNvPr id="305" name="Google Shape;30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3180" y="1726976"/>
            <a:ext cx="6828062" cy="4853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pic>
        <p:nvPicPr>
          <p:cNvPr id="311" name="Google Shape;311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1635846"/>
            <a:ext cx="3888457" cy="485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690445"/>
            <a:ext cx="2981741" cy="3477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318" name="Google Shape;318;p101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GB" sz="2400"/>
              <a:t>https://github.com/hoto/jenkins-credentials-decryptor is a great project.</a:t>
            </a:r>
            <a:endParaRPr/>
          </a:p>
        </p:txBody>
      </p:sp>
      <p:pic>
        <p:nvPicPr>
          <p:cNvPr id="319" name="Google Shape;3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9567" y="2852818"/>
            <a:ext cx="5952866" cy="368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2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pic>
        <p:nvPicPr>
          <p:cNvPr id="325" name="Google Shape;325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1992" y="1661295"/>
            <a:ext cx="5708012" cy="4747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sp>
        <p:nvSpPr>
          <p:cNvPr id="331" name="Google Shape;331;p103"/>
          <p:cNvSpPr txBox="1">
            <a:spLocks noGrp="1"/>
          </p:cNvSpPr>
          <p:nvPr>
            <p:ph type="body" idx="1"/>
          </p:nvPr>
        </p:nvSpPr>
        <p:spPr>
          <a:xfrm>
            <a:off x="3413950" y="2600950"/>
            <a:ext cx="5597400" cy="24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All malicious app code dumped.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All C2 code dumped.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Will be shared at the end of this talk.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pic>
        <p:nvPicPr>
          <p:cNvPr id="337" name="Google Shape;337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9631" y="1644642"/>
            <a:ext cx="8212738" cy="5099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HARLY</a:t>
            </a:r>
            <a:endParaRPr/>
          </a:p>
        </p:txBody>
      </p:sp>
      <p:pic>
        <p:nvPicPr>
          <p:cNvPr id="343" name="Google Shape;343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6763" y="1879936"/>
            <a:ext cx="6192114" cy="4286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22328" y="1879936"/>
            <a:ext cx="4986170" cy="4286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pic>
        <p:nvPicPr>
          <p:cNvPr id="350" name="Google Shape;350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1976" y="1950358"/>
            <a:ext cx="8068047" cy="4377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CLIPPER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5ABE-7A08-FF7B-6CE9-230F54DB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ADEDF2-7D5B-8E53-8D5B-3091FD57E3C6}"/>
              </a:ext>
            </a:extLst>
          </p:cNvPr>
          <p:cNvGrpSpPr/>
          <p:nvPr/>
        </p:nvGrpSpPr>
        <p:grpSpPr>
          <a:xfrm>
            <a:off x="2996379" y="2146581"/>
            <a:ext cx="6199241" cy="3099621"/>
            <a:chOff x="2996380" y="1980289"/>
            <a:chExt cx="6199241" cy="309962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378DA0D-D143-9CBC-CA29-27EFA950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14" y="3530536"/>
              <a:ext cx="1870807" cy="1549374"/>
            </a:xfrm>
            <a:custGeom>
              <a:avLst/>
              <a:gdLst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569848 h 1549374"/>
                <a:gd name="connsiteX9" fmla="*/ 466658 w 1870807"/>
                <a:gd name="connsiteY9" fmla="*/ 202986 h 1549374"/>
                <a:gd name="connsiteX10" fmla="*/ 1101663 w 1870807"/>
                <a:gd name="connsiteY10" fmla="*/ 202986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101663 w 1870807"/>
                <a:gd name="connsiteY9" fmla="*/ 202986 h 1549374"/>
                <a:gd name="connsiteX10" fmla="*/ 1453013 w 1870807"/>
                <a:gd name="connsiteY10" fmla="*/ 0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453013 w 1870807"/>
                <a:gd name="connsiteY9" fmla="*/ 0 h 154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0807" h="1549374">
                  <a:moveTo>
                    <a:pt x="1453013" y="0"/>
                  </a:moveTo>
                  <a:lnTo>
                    <a:pt x="1496700" y="71910"/>
                  </a:lnTo>
                  <a:cubicBezTo>
                    <a:pt x="1735285" y="511106"/>
                    <a:pt x="1870807" y="1014413"/>
                    <a:pt x="1870807" y="1549373"/>
                  </a:cubicBezTo>
                  <a:lnTo>
                    <a:pt x="1870807" y="1549374"/>
                  </a:lnTo>
                  <a:lnTo>
                    <a:pt x="191433" y="1549374"/>
                  </a:lnTo>
                  <a:lnTo>
                    <a:pt x="191433" y="1549373"/>
                  </a:lnTo>
                  <a:cubicBezTo>
                    <a:pt x="191433" y="1304254"/>
                    <a:pt x="129337" y="1073639"/>
                    <a:pt x="20017" y="872400"/>
                  </a:cubicBezTo>
                  <a:lnTo>
                    <a:pt x="0" y="839451"/>
                  </a:lnTo>
                  <a:lnTo>
                    <a:pt x="466658" y="202986"/>
                  </a:lnTo>
                  <a:lnTo>
                    <a:pt x="1453013" y="0"/>
                  </a:lnTo>
                  <a:close/>
                </a:path>
              </a:pathLst>
            </a:custGeom>
            <a:solidFill>
              <a:srgbClr val="A2B969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70E46-2C5C-3FEA-3B57-6D5D57E9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058" y="1980289"/>
              <a:ext cx="2035649" cy="1870344"/>
            </a:xfrm>
            <a:custGeom>
              <a:avLst/>
              <a:gdLst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815757 h 1870344"/>
                <a:gd name="connsiteX5" fmla="*/ 1805484 w 2035649"/>
                <a:gd name="connsiteY5" fmla="*/ 1317792 h 1870344"/>
                <a:gd name="connsiteX6" fmla="*/ 1515865 w 2035649"/>
                <a:gd name="connsiteY6" fmla="*/ 1317792 h 1870344"/>
                <a:gd name="connsiteX7" fmla="*/ 1197102 w 2035649"/>
                <a:gd name="connsiteY7" fmla="*/ 1870344 h 1870344"/>
                <a:gd name="connsiteX8" fmla="*/ 1164916 w 2035649"/>
                <a:gd name="connsiteY8" fmla="*/ 1850790 h 1870344"/>
                <a:gd name="connsiteX9" fmla="*/ 633154 w 2035649"/>
                <a:gd name="connsiteY9" fmla="*/ 1686707 h 1870344"/>
                <a:gd name="connsiteX10" fmla="*/ 487943 w 2035649"/>
                <a:gd name="connsiteY10" fmla="*/ 1679374 h 1870344"/>
                <a:gd name="connsiteX11" fmla="*/ 487943 w 2035649"/>
                <a:gd name="connsiteY11" fmla="*/ 1264630 h 1870344"/>
                <a:gd name="connsiteX12" fmla="*/ 0 w 2035649"/>
                <a:gd name="connsiteY12" fmla="*/ 776687 h 1870344"/>
                <a:gd name="connsiteX13" fmla="*/ 487943 w 2035649"/>
                <a:gd name="connsiteY13" fmla="*/ 288744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515865 w 2035649"/>
                <a:gd name="connsiteY5" fmla="*/ 1317792 h 1870344"/>
                <a:gd name="connsiteX6" fmla="*/ 1197102 w 2035649"/>
                <a:gd name="connsiteY6" fmla="*/ 1870344 h 1870344"/>
                <a:gd name="connsiteX7" fmla="*/ 1164916 w 2035649"/>
                <a:gd name="connsiteY7" fmla="*/ 1850790 h 1870344"/>
                <a:gd name="connsiteX8" fmla="*/ 633154 w 2035649"/>
                <a:gd name="connsiteY8" fmla="*/ 1686707 h 1870344"/>
                <a:gd name="connsiteX9" fmla="*/ 487943 w 2035649"/>
                <a:gd name="connsiteY9" fmla="*/ 1679374 h 1870344"/>
                <a:gd name="connsiteX10" fmla="*/ 487943 w 2035649"/>
                <a:gd name="connsiteY10" fmla="*/ 1264630 h 1870344"/>
                <a:gd name="connsiteX11" fmla="*/ 0 w 2035649"/>
                <a:gd name="connsiteY11" fmla="*/ 776687 h 1870344"/>
                <a:gd name="connsiteX12" fmla="*/ 487943 w 2035649"/>
                <a:gd name="connsiteY12" fmla="*/ 288744 h 1870344"/>
                <a:gd name="connsiteX13" fmla="*/ 487943 w 2035649"/>
                <a:gd name="connsiteY13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288744 h 1870344"/>
                <a:gd name="connsiteX12" fmla="*/ 487943 w 2035649"/>
                <a:gd name="connsiteY12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0 w 2035649"/>
                <a:gd name="connsiteY9" fmla="*/ 776687 h 1870344"/>
                <a:gd name="connsiteX10" fmla="*/ 487943 w 2035649"/>
                <a:gd name="connsiteY10" fmla="*/ 0 h 18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649" h="1870344">
                  <a:moveTo>
                    <a:pt x="487943" y="0"/>
                  </a:moveTo>
                  <a:lnTo>
                    <a:pt x="647448" y="4033"/>
                  </a:lnTo>
                  <a:cubicBezTo>
                    <a:pt x="1122923" y="28135"/>
                    <a:pt x="1570129" y="159381"/>
                    <a:pt x="1965405" y="374107"/>
                  </a:cubicBezTo>
                  <a:lnTo>
                    <a:pt x="2035649" y="416782"/>
                  </a:lnTo>
                  <a:lnTo>
                    <a:pt x="1805484" y="1317792"/>
                  </a:lnTo>
                  <a:lnTo>
                    <a:pt x="1197102" y="1870344"/>
                  </a:lnTo>
                  <a:lnTo>
                    <a:pt x="1164916" y="1850790"/>
                  </a:lnTo>
                  <a:cubicBezTo>
                    <a:pt x="1003924" y="1763334"/>
                    <a:pt x="824132" y="1706102"/>
                    <a:pt x="633154" y="1686707"/>
                  </a:cubicBezTo>
                  <a:lnTo>
                    <a:pt x="487943" y="1679374"/>
                  </a:lnTo>
                  <a:lnTo>
                    <a:pt x="0" y="776687"/>
                  </a:lnTo>
                  <a:lnTo>
                    <a:pt x="487943" y="0"/>
                  </a:lnTo>
                  <a:close/>
                </a:path>
              </a:pathLst>
            </a:custGeom>
            <a:solidFill>
              <a:srgbClr val="FFC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2EE1C8-CF41-B415-1E2B-2DC17FBFF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343" y="2397915"/>
              <a:ext cx="1971862" cy="1971945"/>
            </a:xfrm>
            <a:custGeom>
              <a:avLst/>
              <a:gdLst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476041 w 1971862"/>
                <a:gd name="connsiteY10" fmla="*/ 1407434 h 1971945"/>
                <a:gd name="connsiteX11" fmla="*/ 0 w 1971862"/>
                <a:gd name="connsiteY11" fmla="*/ 1132343 h 1971945"/>
                <a:gd name="connsiteX12" fmla="*/ 111404 w 1971862"/>
                <a:gd name="connsiteY12" fmla="*/ 948968 h 1971945"/>
                <a:gd name="connsiteX13" fmla="*/ 948630 w 1971862"/>
                <a:gd name="connsiteY13" fmla="*/ 111741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0 w 1971862"/>
                <a:gd name="connsiteY10" fmla="*/ 1132343 h 1971945"/>
                <a:gd name="connsiteX11" fmla="*/ 111404 w 1971862"/>
                <a:gd name="connsiteY11" fmla="*/ 948968 h 1971945"/>
                <a:gd name="connsiteX12" fmla="*/ 948630 w 1971862"/>
                <a:gd name="connsiteY12" fmla="*/ 111741 h 1971945"/>
                <a:gd name="connsiteX13" fmla="*/ 1132562 w 1971862"/>
                <a:gd name="connsiteY13" fmla="*/ 0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476041 w 1971862"/>
                <a:gd name="connsiteY8" fmla="*/ 1712486 h 1971945"/>
                <a:gd name="connsiteX9" fmla="*/ 0 w 1971862"/>
                <a:gd name="connsiteY9" fmla="*/ 1132343 h 1971945"/>
                <a:gd name="connsiteX10" fmla="*/ 111404 w 1971862"/>
                <a:gd name="connsiteY10" fmla="*/ 948968 h 1971945"/>
                <a:gd name="connsiteX11" fmla="*/ 948630 w 1971862"/>
                <a:gd name="connsiteY11" fmla="*/ 111741 h 1971945"/>
                <a:gd name="connsiteX12" fmla="*/ 1132562 w 1971862"/>
                <a:gd name="connsiteY12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773774 w 1971862"/>
                <a:gd name="connsiteY2" fmla="*/ 1110150 h 1971945"/>
                <a:gd name="connsiteX3" fmla="*/ 1971862 w 1971862"/>
                <a:gd name="connsiteY3" fmla="*/ 1453105 h 1971945"/>
                <a:gd name="connsiteX4" fmla="*/ 1887584 w 1971862"/>
                <a:gd name="connsiteY4" fmla="*/ 1504305 h 1971945"/>
                <a:gd name="connsiteX5" fmla="*/ 1503967 w 1971862"/>
                <a:gd name="connsiteY5" fmla="*/ 1887922 h 1971945"/>
                <a:gd name="connsiteX6" fmla="*/ 1452922 w 1971862"/>
                <a:gd name="connsiteY6" fmla="*/ 1971945 h 1971945"/>
                <a:gd name="connsiteX7" fmla="*/ 476041 w 1971862"/>
                <a:gd name="connsiteY7" fmla="*/ 1712486 h 1971945"/>
                <a:gd name="connsiteX8" fmla="*/ 0 w 1971862"/>
                <a:gd name="connsiteY8" fmla="*/ 1132343 h 1971945"/>
                <a:gd name="connsiteX9" fmla="*/ 111404 w 1971862"/>
                <a:gd name="connsiteY9" fmla="*/ 948968 h 1971945"/>
                <a:gd name="connsiteX10" fmla="*/ 948630 w 1971862"/>
                <a:gd name="connsiteY10" fmla="*/ 111741 h 1971945"/>
                <a:gd name="connsiteX11" fmla="*/ 1132562 w 1971862"/>
                <a:gd name="connsiteY11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971862 w 1971862"/>
                <a:gd name="connsiteY2" fmla="*/ 1453105 h 1971945"/>
                <a:gd name="connsiteX3" fmla="*/ 1887584 w 1971862"/>
                <a:gd name="connsiteY3" fmla="*/ 1504305 h 1971945"/>
                <a:gd name="connsiteX4" fmla="*/ 1503967 w 1971862"/>
                <a:gd name="connsiteY4" fmla="*/ 1887922 h 1971945"/>
                <a:gd name="connsiteX5" fmla="*/ 1452922 w 1971862"/>
                <a:gd name="connsiteY5" fmla="*/ 1971945 h 1971945"/>
                <a:gd name="connsiteX6" fmla="*/ 476041 w 1971862"/>
                <a:gd name="connsiteY6" fmla="*/ 1712486 h 1971945"/>
                <a:gd name="connsiteX7" fmla="*/ 0 w 1971862"/>
                <a:gd name="connsiteY7" fmla="*/ 1132343 h 1971945"/>
                <a:gd name="connsiteX8" fmla="*/ 111404 w 1971862"/>
                <a:gd name="connsiteY8" fmla="*/ 948968 h 1971945"/>
                <a:gd name="connsiteX9" fmla="*/ 948630 w 1971862"/>
                <a:gd name="connsiteY9" fmla="*/ 111741 h 1971945"/>
                <a:gd name="connsiteX10" fmla="*/ 1132562 w 1971862"/>
                <a:gd name="connsiteY10" fmla="*/ 0 h 19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1862" h="1971945">
                  <a:moveTo>
                    <a:pt x="1132562" y="0"/>
                  </a:moveTo>
                  <a:lnTo>
                    <a:pt x="1773774" y="379908"/>
                  </a:lnTo>
                  <a:lnTo>
                    <a:pt x="1971862" y="1453105"/>
                  </a:lnTo>
                  <a:lnTo>
                    <a:pt x="1887584" y="1504305"/>
                  </a:lnTo>
                  <a:cubicBezTo>
                    <a:pt x="1736469" y="1606396"/>
                    <a:pt x="1606058" y="1736807"/>
                    <a:pt x="1503967" y="1887922"/>
                  </a:cubicBezTo>
                  <a:lnTo>
                    <a:pt x="1452922" y="1971945"/>
                  </a:lnTo>
                  <a:lnTo>
                    <a:pt x="476041" y="1712486"/>
                  </a:lnTo>
                  <a:lnTo>
                    <a:pt x="0" y="1132343"/>
                  </a:lnTo>
                  <a:lnTo>
                    <a:pt x="111404" y="948968"/>
                  </a:lnTo>
                  <a:cubicBezTo>
                    <a:pt x="334213" y="619166"/>
                    <a:pt x="618828" y="334551"/>
                    <a:pt x="948630" y="111741"/>
                  </a:cubicBezTo>
                  <a:lnTo>
                    <a:pt x="1132562" y="0"/>
                  </a:lnTo>
                  <a:close/>
                </a:path>
              </a:pathLst>
            </a:custGeom>
            <a:solidFill>
              <a:srgbClr val="C13018">
                <a:lumMod val="60000"/>
                <a:lumOff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158889-D4EA-5738-3118-4CE170F3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380" y="3530535"/>
              <a:ext cx="1870808" cy="1549375"/>
            </a:xfrm>
            <a:custGeom>
              <a:avLst/>
              <a:gdLst>
                <a:gd name="connsiteX0" fmla="*/ 417795 w 1870808"/>
                <a:gd name="connsiteY0" fmla="*/ 0 h 1549375"/>
                <a:gd name="connsiteX1" fmla="*/ 1870808 w 1870808"/>
                <a:gd name="connsiteY1" fmla="*/ 839451 h 1549375"/>
                <a:gd name="connsiteX2" fmla="*/ 1850790 w 1870808"/>
                <a:gd name="connsiteY2" fmla="*/ 872401 h 1549375"/>
                <a:gd name="connsiteX3" fmla="*/ 1679374 w 1870808"/>
                <a:gd name="connsiteY3" fmla="*/ 1549374 h 1549375"/>
                <a:gd name="connsiteX4" fmla="*/ 1679374 w 1870808"/>
                <a:gd name="connsiteY4" fmla="*/ 1549375 h 1549375"/>
                <a:gd name="connsiteX5" fmla="*/ 0 w 1870808"/>
                <a:gd name="connsiteY5" fmla="*/ 1549375 h 1549375"/>
                <a:gd name="connsiteX6" fmla="*/ 0 w 1870808"/>
                <a:gd name="connsiteY6" fmla="*/ 1549374 h 1549375"/>
                <a:gd name="connsiteX7" fmla="*/ 374108 w 1870808"/>
                <a:gd name="connsiteY7" fmla="*/ 71911 h 154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0808" h="1549375">
                  <a:moveTo>
                    <a:pt x="417795" y="0"/>
                  </a:moveTo>
                  <a:lnTo>
                    <a:pt x="1870808" y="839451"/>
                  </a:lnTo>
                  <a:lnTo>
                    <a:pt x="1850790" y="872401"/>
                  </a:lnTo>
                  <a:cubicBezTo>
                    <a:pt x="1741471" y="1073640"/>
                    <a:pt x="1679374" y="1304255"/>
                    <a:pt x="1679374" y="1549374"/>
                  </a:cubicBezTo>
                  <a:lnTo>
                    <a:pt x="1679374" y="1549375"/>
                  </a:lnTo>
                  <a:lnTo>
                    <a:pt x="0" y="1549375"/>
                  </a:lnTo>
                  <a:lnTo>
                    <a:pt x="0" y="1549374"/>
                  </a:lnTo>
                  <a:cubicBezTo>
                    <a:pt x="0" y="1014414"/>
                    <a:pt x="135522" y="511107"/>
                    <a:pt x="374108" y="71911"/>
                  </a:cubicBezTo>
                  <a:close/>
                </a:path>
              </a:pathLst>
            </a:custGeom>
            <a:solidFill>
              <a:srgbClr val="C13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C04463-89B4-08EA-C2D9-199E29A19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182" y="1980289"/>
              <a:ext cx="1548819" cy="1870653"/>
            </a:xfrm>
            <a:custGeom>
              <a:avLst/>
              <a:gdLst>
                <a:gd name="connsiteX0" fmla="*/ 1548818 w 1548819"/>
                <a:gd name="connsiteY0" fmla="*/ 0 h 1870653"/>
                <a:gd name="connsiteX1" fmla="*/ 1548819 w 1548819"/>
                <a:gd name="connsiteY1" fmla="*/ 0 h 1870653"/>
                <a:gd name="connsiteX2" fmla="*/ 1548819 w 1548819"/>
                <a:gd name="connsiteY2" fmla="*/ 1679374 h 1870653"/>
                <a:gd name="connsiteX3" fmla="*/ 1548818 w 1548819"/>
                <a:gd name="connsiteY3" fmla="*/ 1679374 h 1870653"/>
                <a:gd name="connsiteX4" fmla="*/ 871845 w 1548819"/>
                <a:gd name="connsiteY4" fmla="*/ 1850790 h 1870653"/>
                <a:gd name="connsiteX5" fmla="*/ 839150 w 1548819"/>
                <a:gd name="connsiteY5" fmla="*/ 1870653 h 1870653"/>
                <a:gd name="connsiteX6" fmla="*/ 0 w 1548819"/>
                <a:gd name="connsiteY6" fmla="*/ 417457 h 1870653"/>
                <a:gd name="connsiteX7" fmla="*/ 71355 w 1548819"/>
                <a:gd name="connsiteY7" fmla="*/ 374107 h 1870653"/>
                <a:gd name="connsiteX8" fmla="*/ 1548818 w 1548819"/>
                <a:gd name="connsiteY8" fmla="*/ 0 h 187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8819" h="1870653">
                  <a:moveTo>
                    <a:pt x="1548818" y="0"/>
                  </a:moveTo>
                  <a:lnTo>
                    <a:pt x="1548819" y="0"/>
                  </a:lnTo>
                  <a:lnTo>
                    <a:pt x="1548819" y="1679374"/>
                  </a:lnTo>
                  <a:lnTo>
                    <a:pt x="1548818" y="1679374"/>
                  </a:lnTo>
                  <a:cubicBezTo>
                    <a:pt x="1303700" y="1679374"/>
                    <a:pt x="1073084" y="1741470"/>
                    <a:pt x="871845" y="1850790"/>
                  </a:cubicBezTo>
                  <a:lnTo>
                    <a:pt x="839150" y="1870653"/>
                  </a:lnTo>
                  <a:lnTo>
                    <a:pt x="0" y="417457"/>
                  </a:lnTo>
                  <a:lnTo>
                    <a:pt x="71355" y="374107"/>
                  </a:lnTo>
                  <a:cubicBezTo>
                    <a:pt x="510551" y="135522"/>
                    <a:pt x="1013858" y="0"/>
                    <a:pt x="1548818" y="0"/>
                  </a:cubicBezTo>
                  <a:close/>
                </a:path>
              </a:pathLst>
            </a:custGeom>
            <a:solidFill>
              <a:srgbClr val="F79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7E61AA-DBD5-2799-337F-19772DF6A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287" y="2397240"/>
              <a:ext cx="1972370" cy="1972621"/>
            </a:xfrm>
            <a:custGeom>
              <a:avLst/>
              <a:gdLst>
                <a:gd name="connsiteX0" fmla="*/ 838698 w 1972370"/>
                <a:gd name="connsiteY0" fmla="*/ 0 h 1972621"/>
                <a:gd name="connsiteX1" fmla="*/ 1023740 w 1972370"/>
                <a:gd name="connsiteY1" fmla="*/ 112416 h 1972621"/>
                <a:gd name="connsiteX2" fmla="*/ 1860967 w 1972370"/>
                <a:gd name="connsiteY2" fmla="*/ 949643 h 1972621"/>
                <a:gd name="connsiteX3" fmla="*/ 1972370 w 1972370"/>
                <a:gd name="connsiteY3" fmla="*/ 1133019 h 1972621"/>
                <a:gd name="connsiteX4" fmla="*/ 519449 w 1972370"/>
                <a:gd name="connsiteY4" fmla="*/ 1972621 h 1972621"/>
                <a:gd name="connsiteX5" fmla="*/ 468403 w 1972370"/>
                <a:gd name="connsiteY5" fmla="*/ 1888597 h 1972621"/>
                <a:gd name="connsiteX6" fmla="*/ 84786 w 1972370"/>
                <a:gd name="connsiteY6" fmla="*/ 1504980 h 1972621"/>
                <a:gd name="connsiteX7" fmla="*/ 0 w 1972370"/>
                <a:gd name="connsiteY7" fmla="*/ 1453471 h 197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2370" h="1972621">
                  <a:moveTo>
                    <a:pt x="838698" y="0"/>
                  </a:moveTo>
                  <a:lnTo>
                    <a:pt x="1023740" y="112416"/>
                  </a:lnTo>
                  <a:cubicBezTo>
                    <a:pt x="1353542" y="335226"/>
                    <a:pt x="1638157" y="619841"/>
                    <a:pt x="1860967" y="949643"/>
                  </a:cubicBezTo>
                  <a:lnTo>
                    <a:pt x="1972370" y="1133019"/>
                  </a:lnTo>
                  <a:lnTo>
                    <a:pt x="519449" y="1972621"/>
                  </a:lnTo>
                  <a:lnTo>
                    <a:pt x="468403" y="1888597"/>
                  </a:lnTo>
                  <a:cubicBezTo>
                    <a:pt x="366312" y="1737482"/>
                    <a:pt x="235901" y="1607071"/>
                    <a:pt x="84786" y="1504980"/>
                  </a:cubicBezTo>
                  <a:lnTo>
                    <a:pt x="0" y="1453471"/>
                  </a:lnTo>
                  <a:close/>
                </a:path>
              </a:pathLst>
            </a:custGeom>
            <a:solidFill>
              <a:srgbClr val="A2B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0EE2365-D3EB-1CD9-E79A-677359B45344}"/>
                </a:ext>
              </a:extLst>
            </p:cNvPr>
            <p:cNvSpPr/>
            <p:nvPr/>
          </p:nvSpPr>
          <p:spPr>
            <a:xfrm>
              <a:off x="3965940" y="2955293"/>
              <a:ext cx="4249234" cy="2124617"/>
            </a:xfrm>
            <a:custGeom>
              <a:avLst/>
              <a:gdLst>
                <a:gd name="connsiteX0" fmla="*/ 2124617 w 4249234"/>
                <a:gd name="connsiteY0" fmla="*/ 0 h 2124617"/>
                <a:gd name="connsiteX1" fmla="*/ 4249234 w 4249234"/>
                <a:gd name="connsiteY1" fmla="*/ 2124617 h 2124617"/>
                <a:gd name="connsiteX2" fmla="*/ 0 w 4249234"/>
                <a:gd name="connsiteY2" fmla="*/ 2124617 h 2124617"/>
                <a:gd name="connsiteX3" fmla="*/ 2124617 w 4249234"/>
                <a:gd name="connsiteY3" fmla="*/ 0 h 2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234" h="2124617">
                  <a:moveTo>
                    <a:pt x="2124617" y="0"/>
                  </a:moveTo>
                  <a:cubicBezTo>
                    <a:pt x="3298011" y="0"/>
                    <a:pt x="4249234" y="951223"/>
                    <a:pt x="4249234" y="2124617"/>
                  </a:cubicBezTo>
                  <a:lnTo>
                    <a:pt x="0" y="2124617"/>
                  </a:lnTo>
                  <a:cubicBezTo>
                    <a:pt x="0" y="951223"/>
                    <a:pt x="951223" y="0"/>
                    <a:pt x="2124617" y="0"/>
                  </a:cubicBez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B0D5D2-2050-B47E-5DE3-B838E1DC41AF}"/>
                </a:ext>
              </a:extLst>
            </p:cNvPr>
            <p:cNvSpPr txBox="1"/>
            <p:nvPr/>
          </p:nvSpPr>
          <p:spPr>
            <a:xfrm>
              <a:off x="3039763" y="417088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D3D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867266-1CAB-F5B2-1897-520652485984}"/>
                </a:ext>
              </a:extLst>
            </p:cNvPr>
            <p:cNvSpPr txBox="1"/>
            <p:nvPr/>
          </p:nvSpPr>
          <p:spPr>
            <a:xfrm>
              <a:off x="3960482" y="3024315"/>
              <a:ext cx="83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Unsafe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F4700F-BBBE-815E-3C28-6BB96FA7BE9C}"/>
                </a:ext>
              </a:extLst>
            </p:cNvPr>
            <p:cNvSpPr txBox="1"/>
            <p:nvPr/>
          </p:nvSpPr>
          <p:spPr>
            <a:xfrm>
              <a:off x="6416928" y="232985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31A37B-CE66-7860-D980-D3EF25E9716A}"/>
                </a:ext>
              </a:extLst>
            </p:cNvPr>
            <p:cNvSpPr txBox="1"/>
            <p:nvPr/>
          </p:nvSpPr>
          <p:spPr>
            <a:xfrm>
              <a:off x="7575177" y="3024315"/>
              <a:ext cx="579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C78D4D-F51B-83C7-3BF3-C93A629D7F7E}"/>
                </a:ext>
              </a:extLst>
            </p:cNvPr>
            <p:cNvSpPr txBox="1"/>
            <p:nvPr/>
          </p:nvSpPr>
          <p:spPr>
            <a:xfrm>
              <a:off x="8119212" y="4170887"/>
              <a:ext cx="708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srgbClr val="D3D3D3"/>
                  </a:solidFill>
                  <a:latin typeface="Calibri" panose="020F0502020204030204"/>
                  <a:ea typeface="+mn-ea"/>
                  <a:cs typeface="+mn-cs"/>
                </a:rPr>
                <a:t>Great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240543-41E4-8B01-A31A-C17BF144751C}"/>
                </a:ext>
              </a:extLst>
            </p:cNvPr>
            <p:cNvSpPr txBox="1"/>
            <p:nvPr/>
          </p:nvSpPr>
          <p:spPr>
            <a:xfrm>
              <a:off x="5143436" y="2329858"/>
              <a:ext cx="8130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Not So</a:t>
              </a:r>
              <a:b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</a:b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Ok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77D6A-D74A-1D72-2E57-D193AB1D8513}"/>
              </a:ext>
            </a:extLst>
          </p:cNvPr>
          <p:cNvGrpSpPr/>
          <p:nvPr/>
        </p:nvGrpSpPr>
        <p:grpSpPr>
          <a:xfrm rot="2636538">
            <a:off x="5775070" y="2387013"/>
            <a:ext cx="641857" cy="5534076"/>
            <a:chOff x="5775072" y="2312872"/>
            <a:chExt cx="641857" cy="553407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868353E-661E-0E05-076A-5AA8CF994BA3}"/>
                </a:ext>
              </a:extLst>
            </p:cNvPr>
            <p:cNvSpPr/>
            <p:nvPr/>
          </p:nvSpPr>
          <p:spPr>
            <a:xfrm>
              <a:off x="5775072" y="2312872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E76AA80-9D22-C690-8BA2-877D6CF1DA5D}"/>
                </a:ext>
              </a:extLst>
            </p:cNvPr>
            <p:cNvSpPr/>
            <p:nvPr/>
          </p:nvSpPr>
          <p:spPr>
            <a:xfrm rot="10800000">
              <a:off x="5775073" y="5079910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94D5771-BFDF-EA36-A295-0F4F2C0E8D98}"/>
                </a:ext>
              </a:extLst>
            </p:cNvPr>
            <p:cNvSpPr/>
            <p:nvPr/>
          </p:nvSpPr>
          <p:spPr>
            <a:xfrm rot="10800000">
              <a:off x="5958435" y="4937035"/>
              <a:ext cx="285750" cy="28575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23594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sp>
        <p:nvSpPr>
          <p:cNvPr id="356" name="Google Shape;356;p107"/>
          <p:cNvSpPr txBox="1">
            <a:spLocks noGrp="1"/>
          </p:cNvSpPr>
          <p:nvPr>
            <p:ph type="body" idx="1"/>
          </p:nvPr>
        </p:nvSpPr>
        <p:spPr>
          <a:xfrm>
            <a:off x="2287986" y="1975435"/>
            <a:ext cx="7729800" cy="42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Reviewed by ESET, reversed by </a:t>
            </a:r>
            <a:r>
              <a:rPr lang="en-GB" sz="2400" b="1"/>
              <a:t>Lukas Stefanko</a:t>
            </a:r>
            <a:r>
              <a:rPr lang="en-GB" sz="2400"/>
              <a:t> and </a:t>
            </a:r>
            <a:r>
              <a:rPr lang="en-GB" sz="2400" b="1"/>
              <a:t>Peter Strýček</a:t>
            </a:r>
            <a:r>
              <a:rPr lang="en-GB" sz="2400"/>
              <a:t>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1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Delivered as trojanized Whatsapp and Telegram messenger.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Their sole purpose is to switch wallet addresses.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pic>
        <p:nvPicPr>
          <p:cNvPr id="362" name="Google Shape;362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0710" y="2061019"/>
            <a:ext cx="8330579" cy="351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9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sp>
        <p:nvSpPr>
          <p:cNvPr id="368" name="Google Shape;368;p109"/>
          <p:cNvSpPr txBox="1">
            <a:spLocks noGrp="1"/>
          </p:cNvSpPr>
          <p:nvPr>
            <p:ph type="body" idx="1"/>
          </p:nvPr>
        </p:nvSpPr>
        <p:spPr>
          <a:xfrm>
            <a:off x="3640723" y="2270775"/>
            <a:ext cx="5484300" cy="3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Laravel based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Environment files are juicy files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Reused files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1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pic>
        <p:nvPicPr>
          <p:cNvPr id="374" name="Google Shape;374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1555" y="2013358"/>
            <a:ext cx="6668899" cy="3271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sp>
        <p:nvSpPr>
          <p:cNvPr id="380" name="Google Shape;380;p111"/>
          <p:cNvSpPr txBox="1">
            <a:spLocks noGrp="1"/>
          </p:cNvSpPr>
          <p:nvPr>
            <p:ph type="body" idx="1"/>
          </p:nvPr>
        </p:nvSpPr>
        <p:spPr>
          <a:xfrm>
            <a:off x="1764146" y="2179782"/>
            <a:ext cx="9347200" cy="368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APP_KEY encrypts cookies.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Rebuild cookies and login as any user</a:t>
            </a:r>
            <a:r>
              <a:rPr lang="en-GB" sz="2400"/>
              <a:t>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Superadmin!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2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pic>
        <p:nvPicPr>
          <p:cNvPr id="386" name="Google Shape;386;p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0" y="1730248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1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pic>
        <p:nvPicPr>
          <p:cNvPr id="392" name="Google Shape;392;p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29" y="1897708"/>
            <a:ext cx="11431595" cy="1086002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13"/>
          <p:cNvSpPr txBox="1">
            <a:spLocks noGrp="1"/>
          </p:cNvSpPr>
          <p:nvPr>
            <p:ph type="body" idx="1"/>
          </p:nvPr>
        </p:nvSpPr>
        <p:spPr>
          <a:xfrm>
            <a:off x="3496183" y="3327421"/>
            <a:ext cx="8091000" cy="29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Everything was publi</a:t>
            </a:r>
            <a:r>
              <a:rPr lang="en-GB" sz="2400"/>
              <a:t>c.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Now deleted (</a:t>
            </a:r>
            <a:r>
              <a:rPr lang="en-GB" sz="2400"/>
              <a:t>I</a:t>
            </a: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 got it though)</a:t>
            </a:r>
            <a:r>
              <a:rPr lang="en-GB" sz="2400"/>
              <a:t>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User has other </a:t>
            </a:r>
            <a:r>
              <a:rPr lang="en-GB" sz="2400" i="1">
                <a:latin typeface="Gill Sans"/>
                <a:ea typeface="Gill Sans"/>
                <a:cs typeface="Gill Sans"/>
                <a:sym typeface="Gill Sans"/>
              </a:rPr>
              <a:t>really</a:t>
            </a: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 interesting repositories</a:t>
            </a:r>
            <a:r>
              <a:rPr lang="en-GB" sz="2400"/>
              <a:t>,</a:t>
            </a: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 though.</a:t>
            </a:r>
            <a:endParaRPr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sp>
        <p:nvSpPr>
          <p:cNvPr id="399" name="Google Shape;399;p114"/>
          <p:cNvSpPr txBox="1">
            <a:spLocks noGrp="1"/>
          </p:cNvSpPr>
          <p:nvPr>
            <p:ph type="body" idx="1"/>
          </p:nvPr>
        </p:nvSpPr>
        <p:spPr>
          <a:xfrm>
            <a:off x="2231132" y="2280891"/>
            <a:ext cx="8253300" cy="3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Full (i.kangna@yahoo.com)</a:t>
            </a:r>
            <a:endParaRPr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Suju/suju8811/kevin10030 (jndev_zch0218@outlook.com)</a:t>
            </a:r>
            <a:endParaRPr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Kevin10030 (yuan.kevin@yandex.com)</a:t>
            </a:r>
            <a:endParaRPr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Alex Hong (alex@alexs-mac-3.local)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>
                <a:latin typeface="Gill Sans"/>
                <a:ea typeface="Gill Sans"/>
                <a:cs typeface="Gill Sans"/>
                <a:sym typeface="Gill Sans"/>
              </a:rPr>
              <a:t>ZhuWon (masterlong0505@hotmail.com)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1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CLIPPER</a:t>
            </a:r>
            <a:endParaRPr/>
          </a:p>
        </p:txBody>
      </p:sp>
      <p:sp>
        <p:nvSpPr>
          <p:cNvPr id="405" name="Google Shape;405;p115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Dumped all malware related repositories.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Android app was already compiled.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Shared on </a:t>
            </a:r>
            <a:r>
              <a:rPr lang="en-GB" sz="2400" dirty="0" err="1"/>
              <a:t>github</a:t>
            </a:r>
            <a:r>
              <a:rPr lang="en-GB" sz="2400" dirty="0"/>
              <a:t>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No further information as we have bigger fish to fry.</a:t>
            </a:r>
            <a:endParaRPr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pic>
        <p:nvPicPr>
          <p:cNvPr id="411" name="Google Shape;411;p1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91143" y="1734744"/>
            <a:ext cx="5209714" cy="4758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17" name="Google Shape;417;p117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/>
              <a:t>Surfaced on October 2018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/>
              <a:t>Typical Stealer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/>
              <a:t>Sold in Russian forums ($400 - $800)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/>
              <a:t>Usually used as a dropper for other malware.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/>
              <a:t>Source was leaked 5 years ago.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/>
              <a:t>Known connections to: LockBit, TA505, TA406 and TA511.</a:t>
            </a:r>
            <a:endParaRPr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AMADEY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5ABE-7A08-FF7B-6CE9-230F54DB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ADEDF2-7D5B-8E53-8D5B-3091FD57E3C6}"/>
              </a:ext>
            </a:extLst>
          </p:cNvPr>
          <p:cNvGrpSpPr/>
          <p:nvPr/>
        </p:nvGrpSpPr>
        <p:grpSpPr>
          <a:xfrm>
            <a:off x="2996379" y="2146581"/>
            <a:ext cx="6199241" cy="3099621"/>
            <a:chOff x="2996380" y="1980289"/>
            <a:chExt cx="6199241" cy="309962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378DA0D-D143-9CBC-CA29-27EFA950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14" y="3530536"/>
              <a:ext cx="1870807" cy="1549374"/>
            </a:xfrm>
            <a:custGeom>
              <a:avLst/>
              <a:gdLst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569848 h 1549374"/>
                <a:gd name="connsiteX9" fmla="*/ 466658 w 1870807"/>
                <a:gd name="connsiteY9" fmla="*/ 202986 h 1549374"/>
                <a:gd name="connsiteX10" fmla="*/ 1101663 w 1870807"/>
                <a:gd name="connsiteY10" fmla="*/ 202986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101663 w 1870807"/>
                <a:gd name="connsiteY9" fmla="*/ 202986 h 1549374"/>
                <a:gd name="connsiteX10" fmla="*/ 1453013 w 1870807"/>
                <a:gd name="connsiteY10" fmla="*/ 0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453013 w 1870807"/>
                <a:gd name="connsiteY9" fmla="*/ 0 h 154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0807" h="1549374">
                  <a:moveTo>
                    <a:pt x="1453013" y="0"/>
                  </a:moveTo>
                  <a:lnTo>
                    <a:pt x="1496700" y="71910"/>
                  </a:lnTo>
                  <a:cubicBezTo>
                    <a:pt x="1735285" y="511106"/>
                    <a:pt x="1870807" y="1014413"/>
                    <a:pt x="1870807" y="1549373"/>
                  </a:cubicBezTo>
                  <a:lnTo>
                    <a:pt x="1870807" y="1549374"/>
                  </a:lnTo>
                  <a:lnTo>
                    <a:pt x="191433" y="1549374"/>
                  </a:lnTo>
                  <a:lnTo>
                    <a:pt x="191433" y="1549373"/>
                  </a:lnTo>
                  <a:cubicBezTo>
                    <a:pt x="191433" y="1304254"/>
                    <a:pt x="129337" y="1073639"/>
                    <a:pt x="20017" y="872400"/>
                  </a:cubicBezTo>
                  <a:lnTo>
                    <a:pt x="0" y="839451"/>
                  </a:lnTo>
                  <a:lnTo>
                    <a:pt x="466658" y="202986"/>
                  </a:lnTo>
                  <a:lnTo>
                    <a:pt x="1453013" y="0"/>
                  </a:lnTo>
                  <a:close/>
                </a:path>
              </a:pathLst>
            </a:custGeom>
            <a:solidFill>
              <a:srgbClr val="A2B969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70E46-2C5C-3FEA-3B57-6D5D57E9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058" y="1980289"/>
              <a:ext cx="2035649" cy="1870344"/>
            </a:xfrm>
            <a:custGeom>
              <a:avLst/>
              <a:gdLst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815757 h 1870344"/>
                <a:gd name="connsiteX5" fmla="*/ 1805484 w 2035649"/>
                <a:gd name="connsiteY5" fmla="*/ 1317792 h 1870344"/>
                <a:gd name="connsiteX6" fmla="*/ 1515865 w 2035649"/>
                <a:gd name="connsiteY6" fmla="*/ 1317792 h 1870344"/>
                <a:gd name="connsiteX7" fmla="*/ 1197102 w 2035649"/>
                <a:gd name="connsiteY7" fmla="*/ 1870344 h 1870344"/>
                <a:gd name="connsiteX8" fmla="*/ 1164916 w 2035649"/>
                <a:gd name="connsiteY8" fmla="*/ 1850790 h 1870344"/>
                <a:gd name="connsiteX9" fmla="*/ 633154 w 2035649"/>
                <a:gd name="connsiteY9" fmla="*/ 1686707 h 1870344"/>
                <a:gd name="connsiteX10" fmla="*/ 487943 w 2035649"/>
                <a:gd name="connsiteY10" fmla="*/ 1679374 h 1870344"/>
                <a:gd name="connsiteX11" fmla="*/ 487943 w 2035649"/>
                <a:gd name="connsiteY11" fmla="*/ 1264630 h 1870344"/>
                <a:gd name="connsiteX12" fmla="*/ 0 w 2035649"/>
                <a:gd name="connsiteY12" fmla="*/ 776687 h 1870344"/>
                <a:gd name="connsiteX13" fmla="*/ 487943 w 2035649"/>
                <a:gd name="connsiteY13" fmla="*/ 288744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515865 w 2035649"/>
                <a:gd name="connsiteY5" fmla="*/ 1317792 h 1870344"/>
                <a:gd name="connsiteX6" fmla="*/ 1197102 w 2035649"/>
                <a:gd name="connsiteY6" fmla="*/ 1870344 h 1870344"/>
                <a:gd name="connsiteX7" fmla="*/ 1164916 w 2035649"/>
                <a:gd name="connsiteY7" fmla="*/ 1850790 h 1870344"/>
                <a:gd name="connsiteX8" fmla="*/ 633154 w 2035649"/>
                <a:gd name="connsiteY8" fmla="*/ 1686707 h 1870344"/>
                <a:gd name="connsiteX9" fmla="*/ 487943 w 2035649"/>
                <a:gd name="connsiteY9" fmla="*/ 1679374 h 1870344"/>
                <a:gd name="connsiteX10" fmla="*/ 487943 w 2035649"/>
                <a:gd name="connsiteY10" fmla="*/ 1264630 h 1870344"/>
                <a:gd name="connsiteX11" fmla="*/ 0 w 2035649"/>
                <a:gd name="connsiteY11" fmla="*/ 776687 h 1870344"/>
                <a:gd name="connsiteX12" fmla="*/ 487943 w 2035649"/>
                <a:gd name="connsiteY12" fmla="*/ 288744 h 1870344"/>
                <a:gd name="connsiteX13" fmla="*/ 487943 w 2035649"/>
                <a:gd name="connsiteY13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288744 h 1870344"/>
                <a:gd name="connsiteX12" fmla="*/ 487943 w 2035649"/>
                <a:gd name="connsiteY12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0 w 2035649"/>
                <a:gd name="connsiteY9" fmla="*/ 776687 h 1870344"/>
                <a:gd name="connsiteX10" fmla="*/ 487943 w 2035649"/>
                <a:gd name="connsiteY10" fmla="*/ 0 h 18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649" h="1870344">
                  <a:moveTo>
                    <a:pt x="487943" y="0"/>
                  </a:moveTo>
                  <a:lnTo>
                    <a:pt x="647448" y="4033"/>
                  </a:lnTo>
                  <a:cubicBezTo>
                    <a:pt x="1122923" y="28135"/>
                    <a:pt x="1570129" y="159381"/>
                    <a:pt x="1965405" y="374107"/>
                  </a:cubicBezTo>
                  <a:lnTo>
                    <a:pt x="2035649" y="416782"/>
                  </a:lnTo>
                  <a:lnTo>
                    <a:pt x="1805484" y="1317792"/>
                  </a:lnTo>
                  <a:lnTo>
                    <a:pt x="1197102" y="1870344"/>
                  </a:lnTo>
                  <a:lnTo>
                    <a:pt x="1164916" y="1850790"/>
                  </a:lnTo>
                  <a:cubicBezTo>
                    <a:pt x="1003924" y="1763334"/>
                    <a:pt x="824132" y="1706102"/>
                    <a:pt x="633154" y="1686707"/>
                  </a:cubicBezTo>
                  <a:lnTo>
                    <a:pt x="487943" y="1679374"/>
                  </a:lnTo>
                  <a:lnTo>
                    <a:pt x="0" y="776687"/>
                  </a:lnTo>
                  <a:lnTo>
                    <a:pt x="487943" y="0"/>
                  </a:lnTo>
                  <a:close/>
                </a:path>
              </a:pathLst>
            </a:custGeom>
            <a:solidFill>
              <a:srgbClr val="FFC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2EE1C8-CF41-B415-1E2B-2DC17FBFF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343" y="2397915"/>
              <a:ext cx="1971862" cy="1971945"/>
            </a:xfrm>
            <a:custGeom>
              <a:avLst/>
              <a:gdLst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476041 w 1971862"/>
                <a:gd name="connsiteY10" fmla="*/ 1407434 h 1971945"/>
                <a:gd name="connsiteX11" fmla="*/ 0 w 1971862"/>
                <a:gd name="connsiteY11" fmla="*/ 1132343 h 1971945"/>
                <a:gd name="connsiteX12" fmla="*/ 111404 w 1971862"/>
                <a:gd name="connsiteY12" fmla="*/ 948968 h 1971945"/>
                <a:gd name="connsiteX13" fmla="*/ 948630 w 1971862"/>
                <a:gd name="connsiteY13" fmla="*/ 111741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0 w 1971862"/>
                <a:gd name="connsiteY10" fmla="*/ 1132343 h 1971945"/>
                <a:gd name="connsiteX11" fmla="*/ 111404 w 1971862"/>
                <a:gd name="connsiteY11" fmla="*/ 948968 h 1971945"/>
                <a:gd name="connsiteX12" fmla="*/ 948630 w 1971862"/>
                <a:gd name="connsiteY12" fmla="*/ 111741 h 1971945"/>
                <a:gd name="connsiteX13" fmla="*/ 1132562 w 1971862"/>
                <a:gd name="connsiteY13" fmla="*/ 0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476041 w 1971862"/>
                <a:gd name="connsiteY8" fmla="*/ 1712486 h 1971945"/>
                <a:gd name="connsiteX9" fmla="*/ 0 w 1971862"/>
                <a:gd name="connsiteY9" fmla="*/ 1132343 h 1971945"/>
                <a:gd name="connsiteX10" fmla="*/ 111404 w 1971862"/>
                <a:gd name="connsiteY10" fmla="*/ 948968 h 1971945"/>
                <a:gd name="connsiteX11" fmla="*/ 948630 w 1971862"/>
                <a:gd name="connsiteY11" fmla="*/ 111741 h 1971945"/>
                <a:gd name="connsiteX12" fmla="*/ 1132562 w 1971862"/>
                <a:gd name="connsiteY12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773774 w 1971862"/>
                <a:gd name="connsiteY2" fmla="*/ 1110150 h 1971945"/>
                <a:gd name="connsiteX3" fmla="*/ 1971862 w 1971862"/>
                <a:gd name="connsiteY3" fmla="*/ 1453105 h 1971945"/>
                <a:gd name="connsiteX4" fmla="*/ 1887584 w 1971862"/>
                <a:gd name="connsiteY4" fmla="*/ 1504305 h 1971945"/>
                <a:gd name="connsiteX5" fmla="*/ 1503967 w 1971862"/>
                <a:gd name="connsiteY5" fmla="*/ 1887922 h 1971945"/>
                <a:gd name="connsiteX6" fmla="*/ 1452922 w 1971862"/>
                <a:gd name="connsiteY6" fmla="*/ 1971945 h 1971945"/>
                <a:gd name="connsiteX7" fmla="*/ 476041 w 1971862"/>
                <a:gd name="connsiteY7" fmla="*/ 1712486 h 1971945"/>
                <a:gd name="connsiteX8" fmla="*/ 0 w 1971862"/>
                <a:gd name="connsiteY8" fmla="*/ 1132343 h 1971945"/>
                <a:gd name="connsiteX9" fmla="*/ 111404 w 1971862"/>
                <a:gd name="connsiteY9" fmla="*/ 948968 h 1971945"/>
                <a:gd name="connsiteX10" fmla="*/ 948630 w 1971862"/>
                <a:gd name="connsiteY10" fmla="*/ 111741 h 1971945"/>
                <a:gd name="connsiteX11" fmla="*/ 1132562 w 1971862"/>
                <a:gd name="connsiteY11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971862 w 1971862"/>
                <a:gd name="connsiteY2" fmla="*/ 1453105 h 1971945"/>
                <a:gd name="connsiteX3" fmla="*/ 1887584 w 1971862"/>
                <a:gd name="connsiteY3" fmla="*/ 1504305 h 1971945"/>
                <a:gd name="connsiteX4" fmla="*/ 1503967 w 1971862"/>
                <a:gd name="connsiteY4" fmla="*/ 1887922 h 1971945"/>
                <a:gd name="connsiteX5" fmla="*/ 1452922 w 1971862"/>
                <a:gd name="connsiteY5" fmla="*/ 1971945 h 1971945"/>
                <a:gd name="connsiteX6" fmla="*/ 476041 w 1971862"/>
                <a:gd name="connsiteY6" fmla="*/ 1712486 h 1971945"/>
                <a:gd name="connsiteX7" fmla="*/ 0 w 1971862"/>
                <a:gd name="connsiteY7" fmla="*/ 1132343 h 1971945"/>
                <a:gd name="connsiteX8" fmla="*/ 111404 w 1971862"/>
                <a:gd name="connsiteY8" fmla="*/ 948968 h 1971945"/>
                <a:gd name="connsiteX9" fmla="*/ 948630 w 1971862"/>
                <a:gd name="connsiteY9" fmla="*/ 111741 h 1971945"/>
                <a:gd name="connsiteX10" fmla="*/ 1132562 w 1971862"/>
                <a:gd name="connsiteY10" fmla="*/ 0 h 19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1862" h="1971945">
                  <a:moveTo>
                    <a:pt x="1132562" y="0"/>
                  </a:moveTo>
                  <a:lnTo>
                    <a:pt x="1773774" y="379908"/>
                  </a:lnTo>
                  <a:lnTo>
                    <a:pt x="1971862" y="1453105"/>
                  </a:lnTo>
                  <a:lnTo>
                    <a:pt x="1887584" y="1504305"/>
                  </a:lnTo>
                  <a:cubicBezTo>
                    <a:pt x="1736469" y="1606396"/>
                    <a:pt x="1606058" y="1736807"/>
                    <a:pt x="1503967" y="1887922"/>
                  </a:cubicBezTo>
                  <a:lnTo>
                    <a:pt x="1452922" y="1971945"/>
                  </a:lnTo>
                  <a:lnTo>
                    <a:pt x="476041" y="1712486"/>
                  </a:lnTo>
                  <a:lnTo>
                    <a:pt x="0" y="1132343"/>
                  </a:lnTo>
                  <a:lnTo>
                    <a:pt x="111404" y="948968"/>
                  </a:lnTo>
                  <a:cubicBezTo>
                    <a:pt x="334213" y="619166"/>
                    <a:pt x="618828" y="334551"/>
                    <a:pt x="948630" y="111741"/>
                  </a:cubicBezTo>
                  <a:lnTo>
                    <a:pt x="1132562" y="0"/>
                  </a:lnTo>
                  <a:close/>
                </a:path>
              </a:pathLst>
            </a:custGeom>
            <a:solidFill>
              <a:srgbClr val="C13018">
                <a:lumMod val="60000"/>
                <a:lumOff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158889-D4EA-5738-3118-4CE170F3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380" y="3530535"/>
              <a:ext cx="1870808" cy="1549375"/>
            </a:xfrm>
            <a:custGeom>
              <a:avLst/>
              <a:gdLst>
                <a:gd name="connsiteX0" fmla="*/ 417795 w 1870808"/>
                <a:gd name="connsiteY0" fmla="*/ 0 h 1549375"/>
                <a:gd name="connsiteX1" fmla="*/ 1870808 w 1870808"/>
                <a:gd name="connsiteY1" fmla="*/ 839451 h 1549375"/>
                <a:gd name="connsiteX2" fmla="*/ 1850790 w 1870808"/>
                <a:gd name="connsiteY2" fmla="*/ 872401 h 1549375"/>
                <a:gd name="connsiteX3" fmla="*/ 1679374 w 1870808"/>
                <a:gd name="connsiteY3" fmla="*/ 1549374 h 1549375"/>
                <a:gd name="connsiteX4" fmla="*/ 1679374 w 1870808"/>
                <a:gd name="connsiteY4" fmla="*/ 1549375 h 1549375"/>
                <a:gd name="connsiteX5" fmla="*/ 0 w 1870808"/>
                <a:gd name="connsiteY5" fmla="*/ 1549375 h 1549375"/>
                <a:gd name="connsiteX6" fmla="*/ 0 w 1870808"/>
                <a:gd name="connsiteY6" fmla="*/ 1549374 h 1549375"/>
                <a:gd name="connsiteX7" fmla="*/ 374108 w 1870808"/>
                <a:gd name="connsiteY7" fmla="*/ 71911 h 154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0808" h="1549375">
                  <a:moveTo>
                    <a:pt x="417795" y="0"/>
                  </a:moveTo>
                  <a:lnTo>
                    <a:pt x="1870808" y="839451"/>
                  </a:lnTo>
                  <a:lnTo>
                    <a:pt x="1850790" y="872401"/>
                  </a:lnTo>
                  <a:cubicBezTo>
                    <a:pt x="1741471" y="1073640"/>
                    <a:pt x="1679374" y="1304255"/>
                    <a:pt x="1679374" y="1549374"/>
                  </a:cubicBezTo>
                  <a:lnTo>
                    <a:pt x="1679374" y="1549375"/>
                  </a:lnTo>
                  <a:lnTo>
                    <a:pt x="0" y="1549375"/>
                  </a:lnTo>
                  <a:lnTo>
                    <a:pt x="0" y="1549374"/>
                  </a:lnTo>
                  <a:cubicBezTo>
                    <a:pt x="0" y="1014414"/>
                    <a:pt x="135522" y="511107"/>
                    <a:pt x="374108" y="71911"/>
                  </a:cubicBezTo>
                  <a:close/>
                </a:path>
              </a:pathLst>
            </a:custGeom>
            <a:solidFill>
              <a:srgbClr val="C13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C04463-89B4-08EA-C2D9-199E29A19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182" y="1980289"/>
              <a:ext cx="1548819" cy="1870653"/>
            </a:xfrm>
            <a:custGeom>
              <a:avLst/>
              <a:gdLst>
                <a:gd name="connsiteX0" fmla="*/ 1548818 w 1548819"/>
                <a:gd name="connsiteY0" fmla="*/ 0 h 1870653"/>
                <a:gd name="connsiteX1" fmla="*/ 1548819 w 1548819"/>
                <a:gd name="connsiteY1" fmla="*/ 0 h 1870653"/>
                <a:gd name="connsiteX2" fmla="*/ 1548819 w 1548819"/>
                <a:gd name="connsiteY2" fmla="*/ 1679374 h 1870653"/>
                <a:gd name="connsiteX3" fmla="*/ 1548818 w 1548819"/>
                <a:gd name="connsiteY3" fmla="*/ 1679374 h 1870653"/>
                <a:gd name="connsiteX4" fmla="*/ 871845 w 1548819"/>
                <a:gd name="connsiteY4" fmla="*/ 1850790 h 1870653"/>
                <a:gd name="connsiteX5" fmla="*/ 839150 w 1548819"/>
                <a:gd name="connsiteY5" fmla="*/ 1870653 h 1870653"/>
                <a:gd name="connsiteX6" fmla="*/ 0 w 1548819"/>
                <a:gd name="connsiteY6" fmla="*/ 417457 h 1870653"/>
                <a:gd name="connsiteX7" fmla="*/ 71355 w 1548819"/>
                <a:gd name="connsiteY7" fmla="*/ 374107 h 1870653"/>
                <a:gd name="connsiteX8" fmla="*/ 1548818 w 1548819"/>
                <a:gd name="connsiteY8" fmla="*/ 0 h 187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8819" h="1870653">
                  <a:moveTo>
                    <a:pt x="1548818" y="0"/>
                  </a:moveTo>
                  <a:lnTo>
                    <a:pt x="1548819" y="0"/>
                  </a:lnTo>
                  <a:lnTo>
                    <a:pt x="1548819" y="1679374"/>
                  </a:lnTo>
                  <a:lnTo>
                    <a:pt x="1548818" y="1679374"/>
                  </a:lnTo>
                  <a:cubicBezTo>
                    <a:pt x="1303700" y="1679374"/>
                    <a:pt x="1073084" y="1741470"/>
                    <a:pt x="871845" y="1850790"/>
                  </a:cubicBezTo>
                  <a:lnTo>
                    <a:pt x="839150" y="1870653"/>
                  </a:lnTo>
                  <a:lnTo>
                    <a:pt x="0" y="417457"/>
                  </a:lnTo>
                  <a:lnTo>
                    <a:pt x="71355" y="374107"/>
                  </a:lnTo>
                  <a:cubicBezTo>
                    <a:pt x="510551" y="135522"/>
                    <a:pt x="1013858" y="0"/>
                    <a:pt x="1548818" y="0"/>
                  </a:cubicBezTo>
                  <a:close/>
                </a:path>
              </a:pathLst>
            </a:custGeom>
            <a:solidFill>
              <a:srgbClr val="F79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7E61AA-DBD5-2799-337F-19772DF6A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287" y="2397240"/>
              <a:ext cx="1972370" cy="1972621"/>
            </a:xfrm>
            <a:custGeom>
              <a:avLst/>
              <a:gdLst>
                <a:gd name="connsiteX0" fmla="*/ 838698 w 1972370"/>
                <a:gd name="connsiteY0" fmla="*/ 0 h 1972621"/>
                <a:gd name="connsiteX1" fmla="*/ 1023740 w 1972370"/>
                <a:gd name="connsiteY1" fmla="*/ 112416 h 1972621"/>
                <a:gd name="connsiteX2" fmla="*/ 1860967 w 1972370"/>
                <a:gd name="connsiteY2" fmla="*/ 949643 h 1972621"/>
                <a:gd name="connsiteX3" fmla="*/ 1972370 w 1972370"/>
                <a:gd name="connsiteY3" fmla="*/ 1133019 h 1972621"/>
                <a:gd name="connsiteX4" fmla="*/ 519449 w 1972370"/>
                <a:gd name="connsiteY4" fmla="*/ 1972621 h 1972621"/>
                <a:gd name="connsiteX5" fmla="*/ 468403 w 1972370"/>
                <a:gd name="connsiteY5" fmla="*/ 1888597 h 1972621"/>
                <a:gd name="connsiteX6" fmla="*/ 84786 w 1972370"/>
                <a:gd name="connsiteY6" fmla="*/ 1504980 h 1972621"/>
                <a:gd name="connsiteX7" fmla="*/ 0 w 1972370"/>
                <a:gd name="connsiteY7" fmla="*/ 1453471 h 197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2370" h="1972621">
                  <a:moveTo>
                    <a:pt x="838698" y="0"/>
                  </a:moveTo>
                  <a:lnTo>
                    <a:pt x="1023740" y="112416"/>
                  </a:lnTo>
                  <a:cubicBezTo>
                    <a:pt x="1353542" y="335226"/>
                    <a:pt x="1638157" y="619841"/>
                    <a:pt x="1860967" y="949643"/>
                  </a:cubicBezTo>
                  <a:lnTo>
                    <a:pt x="1972370" y="1133019"/>
                  </a:lnTo>
                  <a:lnTo>
                    <a:pt x="519449" y="1972621"/>
                  </a:lnTo>
                  <a:lnTo>
                    <a:pt x="468403" y="1888597"/>
                  </a:lnTo>
                  <a:cubicBezTo>
                    <a:pt x="366312" y="1737482"/>
                    <a:pt x="235901" y="1607071"/>
                    <a:pt x="84786" y="1504980"/>
                  </a:cubicBezTo>
                  <a:lnTo>
                    <a:pt x="0" y="1453471"/>
                  </a:lnTo>
                  <a:close/>
                </a:path>
              </a:pathLst>
            </a:custGeom>
            <a:solidFill>
              <a:srgbClr val="A2B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0EE2365-D3EB-1CD9-E79A-677359B45344}"/>
                </a:ext>
              </a:extLst>
            </p:cNvPr>
            <p:cNvSpPr/>
            <p:nvPr/>
          </p:nvSpPr>
          <p:spPr>
            <a:xfrm>
              <a:off x="3965940" y="2955293"/>
              <a:ext cx="4249234" cy="2124617"/>
            </a:xfrm>
            <a:custGeom>
              <a:avLst/>
              <a:gdLst>
                <a:gd name="connsiteX0" fmla="*/ 2124617 w 4249234"/>
                <a:gd name="connsiteY0" fmla="*/ 0 h 2124617"/>
                <a:gd name="connsiteX1" fmla="*/ 4249234 w 4249234"/>
                <a:gd name="connsiteY1" fmla="*/ 2124617 h 2124617"/>
                <a:gd name="connsiteX2" fmla="*/ 0 w 4249234"/>
                <a:gd name="connsiteY2" fmla="*/ 2124617 h 2124617"/>
                <a:gd name="connsiteX3" fmla="*/ 2124617 w 4249234"/>
                <a:gd name="connsiteY3" fmla="*/ 0 h 2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234" h="2124617">
                  <a:moveTo>
                    <a:pt x="2124617" y="0"/>
                  </a:moveTo>
                  <a:cubicBezTo>
                    <a:pt x="3298011" y="0"/>
                    <a:pt x="4249234" y="951223"/>
                    <a:pt x="4249234" y="2124617"/>
                  </a:cubicBezTo>
                  <a:lnTo>
                    <a:pt x="0" y="2124617"/>
                  </a:lnTo>
                  <a:cubicBezTo>
                    <a:pt x="0" y="951223"/>
                    <a:pt x="951223" y="0"/>
                    <a:pt x="2124617" y="0"/>
                  </a:cubicBez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B0D5D2-2050-B47E-5DE3-B838E1DC41AF}"/>
                </a:ext>
              </a:extLst>
            </p:cNvPr>
            <p:cNvSpPr txBox="1"/>
            <p:nvPr/>
          </p:nvSpPr>
          <p:spPr>
            <a:xfrm>
              <a:off x="3039763" y="417088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D3D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867266-1CAB-F5B2-1897-520652485984}"/>
                </a:ext>
              </a:extLst>
            </p:cNvPr>
            <p:cNvSpPr txBox="1"/>
            <p:nvPr/>
          </p:nvSpPr>
          <p:spPr>
            <a:xfrm>
              <a:off x="3960482" y="3024315"/>
              <a:ext cx="83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Unsafe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F4700F-BBBE-815E-3C28-6BB96FA7BE9C}"/>
                </a:ext>
              </a:extLst>
            </p:cNvPr>
            <p:cNvSpPr txBox="1"/>
            <p:nvPr/>
          </p:nvSpPr>
          <p:spPr>
            <a:xfrm>
              <a:off x="6416928" y="232985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31A37B-CE66-7860-D980-D3EF25E9716A}"/>
                </a:ext>
              </a:extLst>
            </p:cNvPr>
            <p:cNvSpPr txBox="1"/>
            <p:nvPr/>
          </p:nvSpPr>
          <p:spPr>
            <a:xfrm>
              <a:off x="7575177" y="3024315"/>
              <a:ext cx="579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C78D4D-F51B-83C7-3BF3-C93A629D7F7E}"/>
                </a:ext>
              </a:extLst>
            </p:cNvPr>
            <p:cNvSpPr txBox="1"/>
            <p:nvPr/>
          </p:nvSpPr>
          <p:spPr>
            <a:xfrm>
              <a:off x="8119212" y="4170887"/>
              <a:ext cx="708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srgbClr val="D3D3D3"/>
                  </a:solidFill>
                  <a:latin typeface="Calibri" panose="020F0502020204030204"/>
                  <a:ea typeface="+mn-ea"/>
                  <a:cs typeface="+mn-cs"/>
                </a:rPr>
                <a:t>Great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240543-41E4-8B01-A31A-C17BF144751C}"/>
                </a:ext>
              </a:extLst>
            </p:cNvPr>
            <p:cNvSpPr txBox="1"/>
            <p:nvPr/>
          </p:nvSpPr>
          <p:spPr>
            <a:xfrm>
              <a:off x="5143436" y="2329858"/>
              <a:ext cx="8130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Not So</a:t>
              </a:r>
              <a:b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</a:b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Ok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77D6A-D74A-1D72-2E57-D193AB1D8513}"/>
              </a:ext>
            </a:extLst>
          </p:cNvPr>
          <p:cNvGrpSpPr/>
          <p:nvPr/>
        </p:nvGrpSpPr>
        <p:grpSpPr>
          <a:xfrm rot="17630198">
            <a:off x="5775070" y="2387013"/>
            <a:ext cx="641857" cy="5534076"/>
            <a:chOff x="5775072" y="2312872"/>
            <a:chExt cx="641857" cy="553407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868353E-661E-0E05-076A-5AA8CF994BA3}"/>
                </a:ext>
              </a:extLst>
            </p:cNvPr>
            <p:cNvSpPr/>
            <p:nvPr/>
          </p:nvSpPr>
          <p:spPr>
            <a:xfrm>
              <a:off x="5775072" y="2312872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E76AA80-9D22-C690-8BA2-877D6CF1DA5D}"/>
                </a:ext>
              </a:extLst>
            </p:cNvPr>
            <p:cNvSpPr/>
            <p:nvPr/>
          </p:nvSpPr>
          <p:spPr>
            <a:xfrm rot="10800000">
              <a:off x="5775073" y="5079910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94D5771-BFDF-EA36-A295-0F4F2C0E8D98}"/>
                </a:ext>
              </a:extLst>
            </p:cNvPr>
            <p:cNvSpPr/>
            <p:nvPr/>
          </p:nvSpPr>
          <p:spPr>
            <a:xfrm rot="10800000">
              <a:off x="5958435" y="4937035"/>
              <a:ext cx="285750" cy="28575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82308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23" name="Google Shape;423;p118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Stray files.zip from dirsearch</a:t>
            </a: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Zip was password protected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Cracked in less than 24 hours.</a:t>
            </a:r>
            <a:endParaRPr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9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29" name="Google Shape;429;p119"/>
          <p:cNvSpPr txBox="1">
            <a:spLocks noGrp="1"/>
          </p:cNvSpPr>
          <p:nvPr>
            <p:ph type="body" idx="1"/>
          </p:nvPr>
        </p:nvSpPr>
        <p:spPr>
          <a:xfrm>
            <a:off x="4248300" y="2054750"/>
            <a:ext cx="3695400" cy="6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Cracking zip password</a:t>
            </a:r>
            <a:endParaRPr sz="2400"/>
          </a:p>
        </p:txBody>
      </p:sp>
      <p:pic>
        <p:nvPicPr>
          <p:cNvPr id="430" name="Google Shape;430;p1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2332" y="2826127"/>
            <a:ext cx="6027341" cy="330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pic>
        <p:nvPicPr>
          <p:cNvPr id="436" name="Google Shape;436;p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5809" y="2665157"/>
            <a:ext cx="8640381" cy="271500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20"/>
          <p:cNvSpPr txBox="1">
            <a:spLocks noGrp="1"/>
          </p:cNvSpPr>
          <p:nvPr>
            <p:ph type="body" idx="1"/>
          </p:nvPr>
        </p:nvSpPr>
        <p:spPr>
          <a:xfrm>
            <a:off x="4730250" y="1838950"/>
            <a:ext cx="2731500" cy="6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SQL Injection!</a:t>
            </a:r>
            <a:endParaRPr sz="2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43" name="Google Shape;443;p121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444" name="Google Shape;444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0055" y="2091777"/>
            <a:ext cx="8592749" cy="4039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2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50" name="Google Shape;450;p122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451" name="Google Shape;451;p1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3648" y="2246791"/>
            <a:ext cx="9030960" cy="3277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57" name="Google Shape;457;p123"/>
          <p:cNvSpPr txBox="1">
            <a:spLocks noGrp="1"/>
          </p:cNvSpPr>
          <p:nvPr>
            <p:ph type="body" idx="1"/>
          </p:nvPr>
        </p:nvSpPr>
        <p:spPr>
          <a:xfrm>
            <a:off x="968600" y="2983944"/>
            <a:ext cx="5048100" cy="12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Limiting filename to </a:t>
            </a:r>
            <a:r>
              <a:rPr lang="en-GB" sz="2400" i="1"/>
              <a:t>exactly </a:t>
            </a:r>
            <a:r>
              <a:rPr lang="en-GB" sz="2400"/>
              <a:t>12 characters (incl. extension)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::: as the delimiter for the String.</a:t>
            </a:r>
            <a:endParaRPr sz="2400"/>
          </a:p>
        </p:txBody>
      </p:sp>
      <p:pic>
        <p:nvPicPr>
          <p:cNvPr id="458" name="Google Shape;458;p1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3769" y="2884100"/>
            <a:ext cx="4706007" cy="1486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2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pic>
        <p:nvPicPr>
          <p:cNvPr id="464" name="Google Shape;464;p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0405" y="1900614"/>
            <a:ext cx="7591188" cy="2418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417" y="4614329"/>
            <a:ext cx="5487166" cy="1600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pic>
        <p:nvPicPr>
          <p:cNvPr id="471" name="Google Shape;471;p1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0" y="1774284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2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77" name="Google Shape;477;p126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Reverse shell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Automated way of extracting everything in less than 30 seconds from report to full owning the website.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Added a cron job to corrupt a percentage of the files.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Unfortunately it is now fixed (late June of 2023).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5a428914c2_1_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800" cy="11886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83" name="Google Shape;483;g25a428914c2_1_6"/>
          <p:cNvSpPr txBox="1">
            <a:spLocks noGrp="1"/>
          </p:cNvSpPr>
          <p:nvPr>
            <p:ph type="body" idx="1"/>
          </p:nvPr>
        </p:nvSpPr>
        <p:spPr>
          <a:xfrm>
            <a:off x="3166525" y="2421900"/>
            <a:ext cx="5859000" cy="20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&gt; </a:t>
            </a:r>
            <a:r>
              <a:rPr lang="en-GB" sz="2400" b="1"/>
              <a:t>1000 instances</a:t>
            </a:r>
            <a:r>
              <a:rPr lang="en-GB" sz="2400"/>
              <a:t> since December 2022</a:t>
            </a:r>
            <a:endParaRPr sz="24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&gt; </a:t>
            </a:r>
            <a:r>
              <a:rPr lang="en-GB" sz="2400" b="1"/>
              <a:t>7 million</a:t>
            </a:r>
            <a:r>
              <a:rPr lang="en-GB" sz="2400"/>
              <a:t> devices compromised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89" name="Google Shape;489;p127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490" name="Google Shape;490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1664" y="2083291"/>
            <a:ext cx="5988671" cy="3892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2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AMADEY</a:t>
            </a:r>
            <a:endParaRPr/>
          </a:p>
        </p:txBody>
      </p:sp>
      <p:sp>
        <p:nvSpPr>
          <p:cNvPr id="496" name="Google Shape;496;p128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497" name="Google Shape;497;p1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0" y="2078253"/>
            <a:ext cx="571500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9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sp>
        <p:nvSpPr>
          <p:cNvPr id="503" name="Google Shape;503;p129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 dirty="0"/>
              <a:t>First record in 2014.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 dirty="0"/>
              <a:t>Targets Windows.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 dirty="0"/>
              <a:t>Generic dropper for other malware.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 dirty="0"/>
              <a:t>Price for full package ~ $1600.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800" dirty="0"/>
              <a:t>Known connections to: </a:t>
            </a:r>
            <a:r>
              <a:rPr lang="en-GB" sz="2800" dirty="0" err="1"/>
              <a:t>LockBit</a:t>
            </a:r>
            <a:r>
              <a:rPr lang="en-GB" sz="2800" dirty="0"/>
              <a:t>, TA505, TA406 and other TAS…</a:t>
            </a:r>
            <a:endParaRPr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SMOKELOADER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5ABE-7A08-FF7B-6CE9-230F54DB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ADEDF2-7D5B-8E53-8D5B-3091FD57E3C6}"/>
              </a:ext>
            </a:extLst>
          </p:cNvPr>
          <p:cNvGrpSpPr/>
          <p:nvPr/>
        </p:nvGrpSpPr>
        <p:grpSpPr>
          <a:xfrm>
            <a:off x="2996379" y="2146581"/>
            <a:ext cx="6199241" cy="3099621"/>
            <a:chOff x="2996380" y="1980289"/>
            <a:chExt cx="6199241" cy="309962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378DA0D-D143-9CBC-CA29-27EFA950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14" y="3530536"/>
              <a:ext cx="1870807" cy="1549374"/>
            </a:xfrm>
            <a:custGeom>
              <a:avLst/>
              <a:gdLst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569848 h 1549374"/>
                <a:gd name="connsiteX9" fmla="*/ 466658 w 1870807"/>
                <a:gd name="connsiteY9" fmla="*/ 202986 h 1549374"/>
                <a:gd name="connsiteX10" fmla="*/ 1101663 w 1870807"/>
                <a:gd name="connsiteY10" fmla="*/ 202986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101663 w 1870807"/>
                <a:gd name="connsiteY9" fmla="*/ 202986 h 1549374"/>
                <a:gd name="connsiteX10" fmla="*/ 1453013 w 1870807"/>
                <a:gd name="connsiteY10" fmla="*/ 0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453013 w 1870807"/>
                <a:gd name="connsiteY9" fmla="*/ 0 h 154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0807" h="1549374">
                  <a:moveTo>
                    <a:pt x="1453013" y="0"/>
                  </a:moveTo>
                  <a:lnTo>
                    <a:pt x="1496700" y="71910"/>
                  </a:lnTo>
                  <a:cubicBezTo>
                    <a:pt x="1735285" y="511106"/>
                    <a:pt x="1870807" y="1014413"/>
                    <a:pt x="1870807" y="1549373"/>
                  </a:cubicBezTo>
                  <a:lnTo>
                    <a:pt x="1870807" y="1549374"/>
                  </a:lnTo>
                  <a:lnTo>
                    <a:pt x="191433" y="1549374"/>
                  </a:lnTo>
                  <a:lnTo>
                    <a:pt x="191433" y="1549373"/>
                  </a:lnTo>
                  <a:cubicBezTo>
                    <a:pt x="191433" y="1304254"/>
                    <a:pt x="129337" y="1073639"/>
                    <a:pt x="20017" y="872400"/>
                  </a:cubicBezTo>
                  <a:lnTo>
                    <a:pt x="0" y="839451"/>
                  </a:lnTo>
                  <a:lnTo>
                    <a:pt x="466658" y="202986"/>
                  </a:lnTo>
                  <a:lnTo>
                    <a:pt x="1453013" y="0"/>
                  </a:lnTo>
                  <a:close/>
                </a:path>
              </a:pathLst>
            </a:custGeom>
            <a:solidFill>
              <a:srgbClr val="A2B969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70E46-2C5C-3FEA-3B57-6D5D57E9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058" y="1980289"/>
              <a:ext cx="2035649" cy="1870344"/>
            </a:xfrm>
            <a:custGeom>
              <a:avLst/>
              <a:gdLst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815757 h 1870344"/>
                <a:gd name="connsiteX5" fmla="*/ 1805484 w 2035649"/>
                <a:gd name="connsiteY5" fmla="*/ 1317792 h 1870344"/>
                <a:gd name="connsiteX6" fmla="*/ 1515865 w 2035649"/>
                <a:gd name="connsiteY6" fmla="*/ 1317792 h 1870344"/>
                <a:gd name="connsiteX7" fmla="*/ 1197102 w 2035649"/>
                <a:gd name="connsiteY7" fmla="*/ 1870344 h 1870344"/>
                <a:gd name="connsiteX8" fmla="*/ 1164916 w 2035649"/>
                <a:gd name="connsiteY8" fmla="*/ 1850790 h 1870344"/>
                <a:gd name="connsiteX9" fmla="*/ 633154 w 2035649"/>
                <a:gd name="connsiteY9" fmla="*/ 1686707 h 1870344"/>
                <a:gd name="connsiteX10" fmla="*/ 487943 w 2035649"/>
                <a:gd name="connsiteY10" fmla="*/ 1679374 h 1870344"/>
                <a:gd name="connsiteX11" fmla="*/ 487943 w 2035649"/>
                <a:gd name="connsiteY11" fmla="*/ 1264630 h 1870344"/>
                <a:gd name="connsiteX12" fmla="*/ 0 w 2035649"/>
                <a:gd name="connsiteY12" fmla="*/ 776687 h 1870344"/>
                <a:gd name="connsiteX13" fmla="*/ 487943 w 2035649"/>
                <a:gd name="connsiteY13" fmla="*/ 288744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515865 w 2035649"/>
                <a:gd name="connsiteY5" fmla="*/ 1317792 h 1870344"/>
                <a:gd name="connsiteX6" fmla="*/ 1197102 w 2035649"/>
                <a:gd name="connsiteY6" fmla="*/ 1870344 h 1870344"/>
                <a:gd name="connsiteX7" fmla="*/ 1164916 w 2035649"/>
                <a:gd name="connsiteY7" fmla="*/ 1850790 h 1870344"/>
                <a:gd name="connsiteX8" fmla="*/ 633154 w 2035649"/>
                <a:gd name="connsiteY8" fmla="*/ 1686707 h 1870344"/>
                <a:gd name="connsiteX9" fmla="*/ 487943 w 2035649"/>
                <a:gd name="connsiteY9" fmla="*/ 1679374 h 1870344"/>
                <a:gd name="connsiteX10" fmla="*/ 487943 w 2035649"/>
                <a:gd name="connsiteY10" fmla="*/ 1264630 h 1870344"/>
                <a:gd name="connsiteX11" fmla="*/ 0 w 2035649"/>
                <a:gd name="connsiteY11" fmla="*/ 776687 h 1870344"/>
                <a:gd name="connsiteX12" fmla="*/ 487943 w 2035649"/>
                <a:gd name="connsiteY12" fmla="*/ 288744 h 1870344"/>
                <a:gd name="connsiteX13" fmla="*/ 487943 w 2035649"/>
                <a:gd name="connsiteY13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288744 h 1870344"/>
                <a:gd name="connsiteX12" fmla="*/ 487943 w 2035649"/>
                <a:gd name="connsiteY12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0 w 2035649"/>
                <a:gd name="connsiteY9" fmla="*/ 776687 h 1870344"/>
                <a:gd name="connsiteX10" fmla="*/ 487943 w 2035649"/>
                <a:gd name="connsiteY10" fmla="*/ 0 h 18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649" h="1870344">
                  <a:moveTo>
                    <a:pt x="487943" y="0"/>
                  </a:moveTo>
                  <a:lnTo>
                    <a:pt x="647448" y="4033"/>
                  </a:lnTo>
                  <a:cubicBezTo>
                    <a:pt x="1122923" y="28135"/>
                    <a:pt x="1570129" y="159381"/>
                    <a:pt x="1965405" y="374107"/>
                  </a:cubicBezTo>
                  <a:lnTo>
                    <a:pt x="2035649" y="416782"/>
                  </a:lnTo>
                  <a:lnTo>
                    <a:pt x="1805484" y="1317792"/>
                  </a:lnTo>
                  <a:lnTo>
                    <a:pt x="1197102" y="1870344"/>
                  </a:lnTo>
                  <a:lnTo>
                    <a:pt x="1164916" y="1850790"/>
                  </a:lnTo>
                  <a:cubicBezTo>
                    <a:pt x="1003924" y="1763334"/>
                    <a:pt x="824132" y="1706102"/>
                    <a:pt x="633154" y="1686707"/>
                  </a:cubicBezTo>
                  <a:lnTo>
                    <a:pt x="487943" y="1679374"/>
                  </a:lnTo>
                  <a:lnTo>
                    <a:pt x="0" y="776687"/>
                  </a:lnTo>
                  <a:lnTo>
                    <a:pt x="487943" y="0"/>
                  </a:lnTo>
                  <a:close/>
                </a:path>
              </a:pathLst>
            </a:custGeom>
            <a:solidFill>
              <a:srgbClr val="FFC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2EE1C8-CF41-B415-1E2B-2DC17FBFF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343" y="2397915"/>
              <a:ext cx="1971862" cy="1971945"/>
            </a:xfrm>
            <a:custGeom>
              <a:avLst/>
              <a:gdLst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476041 w 1971862"/>
                <a:gd name="connsiteY10" fmla="*/ 1407434 h 1971945"/>
                <a:gd name="connsiteX11" fmla="*/ 0 w 1971862"/>
                <a:gd name="connsiteY11" fmla="*/ 1132343 h 1971945"/>
                <a:gd name="connsiteX12" fmla="*/ 111404 w 1971862"/>
                <a:gd name="connsiteY12" fmla="*/ 948968 h 1971945"/>
                <a:gd name="connsiteX13" fmla="*/ 948630 w 1971862"/>
                <a:gd name="connsiteY13" fmla="*/ 111741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0 w 1971862"/>
                <a:gd name="connsiteY10" fmla="*/ 1132343 h 1971945"/>
                <a:gd name="connsiteX11" fmla="*/ 111404 w 1971862"/>
                <a:gd name="connsiteY11" fmla="*/ 948968 h 1971945"/>
                <a:gd name="connsiteX12" fmla="*/ 948630 w 1971862"/>
                <a:gd name="connsiteY12" fmla="*/ 111741 h 1971945"/>
                <a:gd name="connsiteX13" fmla="*/ 1132562 w 1971862"/>
                <a:gd name="connsiteY13" fmla="*/ 0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476041 w 1971862"/>
                <a:gd name="connsiteY8" fmla="*/ 1712486 h 1971945"/>
                <a:gd name="connsiteX9" fmla="*/ 0 w 1971862"/>
                <a:gd name="connsiteY9" fmla="*/ 1132343 h 1971945"/>
                <a:gd name="connsiteX10" fmla="*/ 111404 w 1971862"/>
                <a:gd name="connsiteY10" fmla="*/ 948968 h 1971945"/>
                <a:gd name="connsiteX11" fmla="*/ 948630 w 1971862"/>
                <a:gd name="connsiteY11" fmla="*/ 111741 h 1971945"/>
                <a:gd name="connsiteX12" fmla="*/ 1132562 w 1971862"/>
                <a:gd name="connsiteY12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773774 w 1971862"/>
                <a:gd name="connsiteY2" fmla="*/ 1110150 h 1971945"/>
                <a:gd name="connsiteX3" fmla="*/ 1971862 w 1971862"/>
                <a:gd name="connsiteY3" fmla="*/ 1453105 h 1971945"/>
                <a:gd name="connsiteX4" fmla="*/ 1887584 w 1971862"/>
                <a:gd name="connsiteY4" fmla="*/ 1504305 h 1971945"/>
                <a:gd name="connsiteX5" fmla="*/ 1503967 w 1971862"/>
                <a:gd name="connsiteY5" fmla="*/ 1887922 h 1971945"/>
                <a:gd name="connsiteX6" fmla="*/ 1452922 w 1971862"/>
                <a:gd name="connsiteY6" fmla="*/ 1971945 h 1971945"/>
                <a:gd name="connsiteX7" fmla="*/ 476041 w 1971862"/>
                <a:gd name="connsiteY7" fmla="*/ 1712486 h 1971945"/>
                <a:gd name="connsiteX8" fmla="*/ 0 w 1971862"/>
                <a:gd name="connsiteY8" fmla="*/ 1132343 h 1971945"/>
                <a:gd name="connsiteX9" fmla="*/ 111404 w 1971862"/>
                <a:gd name="connsiteY9" fmla="*/ 948968 h 1971945"/>
                <a:gd name="connsiteX10" fmla="*/ 948630 w 1971862"/>
                <a:gd name="connsiteY10" fmla="*/ 111741 h 1971945"/>
                <a:gd name="connsiteX11" fmla="*/ 1132562 w 1971862"/>
                <a:gd name="connsiteY11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971862 w 1971862"/>
                <a:gd name="connsiteY2" fmla="*/ 1453105 h 1971945"/>
                <a:gd name="connsiteX3" fmla="*/ 1887584 w 1971862"/>
                <a:gd name="connsiteY3" fmla="*/ 1504305 h 1971945"/>
                <a:gd name="connsiteX4" fmla="*/ 1503967 w 1971862"/>
                <a:gd name="connsiteY4" fmla="*/ 1887922 h 1971945"/>
                <a:gd name="connsiteX5" fmla="*/ 1452922 w 1971862"/>
                <a:gd name="connsiteY5" fmla="*/ 1971945 h 1971945"/>
                <a:gd name="connsiteX6" fmla="*/ 476041 w 1971862"/>
                <a:gd name="connsiteY6" fmla="*/ 1712486 h 1971945"/>
                <a:gd name="connsiteX7" fmla="*/ 0 w 1971862"/>
                <a:gd name="connsiteY7" fmla="*/ 1132343 h 1971945"/>
                <a:gd name="connsiteX8" fmla="*/ 111404 w 1971862"/>
                <a:gd name="connsiteY8" fmla="*/ 948968 h 1971945"/>
                <a:gd name="connsiteX9" fmla="*/ 948630 w 1971862"/>
                <a:gd name="connsiteY9" fmla="*/ 111741 h 1971945"/>
                <a:gd name="connsiteX10" fmla="*/ 1132562 w 1971862"/>
                <a:gd name="connsiteY10" fmla="*/ 0 h 19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1862" h="1971945">
                  <a:moveTo>
                    <a:pt x="1132562" y="0"/>
                  </a:moveTo>
                  <a:lnTo>
                    <a:pt x="1773774" y="379908"/>
                  </a:lnTo>
                  <a:lnTo>
                    <a:pt x="1971862" y="1453105"/>
                  </a:lnTo>
                  <a:lnTo>
                    <a:pt x="1887584" y="1504305"/>
                  </a:lnTo>
                  <a:cubicBezTo>
                    <a:pt x="1736469" y="1606396"/>
                    <a:pt x="1606058" y="1736807"/>
                    <a:pt x="1503967" y="1887922"/>
                  </a:cubicBezTo>
                  <a:lnTo>
                    <a:pt x="1452922" y="1971945"/>
                  </a:lnTo>
                  <a:lnTo>
                    <a:pt x="476041" y="1712486"/>
                  </a:lnTo>
                  <a:lnTo>
                    <a:pt x="0" y="1132343"/>
                  </a:lnTo>
                  <a:lnTo>
                    <a:pt x="111404" y="948968"/>
                  </a:lnTo>
                  <a:cubicBezTo>
                    <a:pt x="334213" y="619166"/>
                    <a:pt x="618828" y="334551"/>
                    <a:pt x="948630" y="111741"/>
                  </a:cubicBezTo>
                  <a:lnTo>
                    <a:pt x="1132562" y="0"/>
                  </a:lnTo>
                  <a:close/>
                </a:path>
              </a:pathLst>
            </a:custGeom>
            <a:solidFill>
              <a:srgbClr val="C13018">
                <a:lumMod val="60000"/>
                <a:lumOff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158889-D4EA-5738-3118-4CE170F3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380" y="3530535"/>
              <a:ext cx="1870808" cy="1549375"/>
            </a:xfrm>
            <a:custGeom>
              <a:avLst/>
              <a:gdLst>
                <a:gd name="connsiteX0" fmla="*/ 417795 w 1870808"/>
                <a:gd name="connsiteY0" fmla="*/ 0 h 1549375"/>
                <a:gd name="connsiteX1" fmla="*/ 1870808 w 1870808"/>
                <a:gd name="connsiteY1" fmla="*/ 839451 h 1549375"/>
                <a:gd name="connsiteX2" fmla="*/ 1850790 w 1870808"/>
                <a:gd name="connsiteY2" fmla="*/ 872401 h 1549375"/>
                <a:gd name="connsiteX3" fmla="*/ 1679374 w 1870808"/>
                <a:gd name="connsiteY3" fmla="*/ 1549374 h 1549375"/>
                <a:gd name="connsiteX4" fmla="*/ 1679374 w 1870808"/>
                <a:gd name="connsiteY4" fmla="*/ 1549375 h 1549375"/>
                <a:gd name="connsiteX5" fmla="*/ 0 w 1870808"/>
                <a:gd name="connsiteY5" fmla="*/ 1549375 h 1549375"/>
                <a:gd name="connsiteX6" fmla="*/ 0 w 1870808"/>
                <a:gd name="connsiteY6" fmla="*/ 1549374 h 1549375"/>
                <a:gd name="connsiteX7" fmla="*/ 374108 w 1870808"/>
                <a:gd name="connsiteY7" fmla="*/ 71911 h 154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0808" h="1549375">
                  <a:moveTo>
                    <a:pt x="417795" y="0"/>
                  </a:moveTo>
                  <a:lnTo>
                    <a:pt x="1870808" y="839451"/>
                  </a:lnTo>
                  <a:lnTo>
                    <a:pt x="1850790" y="872401"/>
                  </a:lnTo>
                  <a:cubicBezTo>
                    <a:pt x="1741471" y="1073640"/>
                    <a:pt x="1679374" y="1304255"/>
                    <a:pt x="1679374" y="1549374"/>
                  </a:cubicBezTo>
                  <a:lnTo>
                    <a:pt x="1679374" y="1549375"/>
                  </a:lnTo>
                  <a:lnTo>
                    <a:pt x="0" y="1549375"/>
                  </a:lnTo>
                  <a:lnTo>
                    <a:pt x="0" y="1549374"/>
                  </a:lnTo>
                  <a:cubicBezTo>
                    <a:pt x="0" y="1014414"/>
                    <a:pt x="135522" y="511107"/>
                    <a:pt x="374108" y="71911"/>
                  </a:cubicBezTo>
                  <a:close/>
                </a:path>
              </a:pathLst>
            </a:custGeom>
            <a:solidFill>
              <a:srgbClr val="C13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C04463-89B4-08EA-C2D9-199E29A19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182" y="1980289"/>
              <a:ext cx="1548819" cy="1870653"/>
            </a:xfrm>
            <a:custGeom>
              <a:avLst/>
              <a:gdLst>
                <a:gd name="connsiteX0" fmla="*/ 1548818 w 1548819"/>
                <a:gd name="connsiteY0" fmla="*/ 0 h 1870653"/>
                <a:gd name="connsiteX1" fmla="*/ 1548819 w 1548819"/>
                <a:gd name="connsiteY1" fmla="*/ 0 h 1870653"/>
                <a:gd name="connsiteX2" fmla="*/ 1548819 w 1548819"/>
                <a:gd name="connsiteY2" fmla="*/ 1679374 h 1870653"/>
                <a:gd name="connsiteX3" fmla="*/ 1548818 w 1548819"/>
                <a:gd name="connsiteY3" fmla="*/ 1679374 h 1870653"/>
                <a:gd name="connsiteX4" fmla="*/ 871845 w 1548819"/>
                <a:gd name="connsiteY4" fmla="*/ 1850790 h 1870653"/>
                <a:gd name="connsiteX5" fmla="*/ 839150 w 1548819"/>
                <a:gd name="connsiteY5" fmla="*/ 1870653 h 1870653"/>
                <a:gd name="connsiteX6" fmla="*/ 0 w 1548819"/>
                <a:gd name="connsiteY6" fmla="*/ 417457 h 1870653"/>
                <a:gd name="connsiteX7" fmla="*/ 71355 w 1548819"/>
                <a:gd name="connsiteY7" fmla="*/ 374107 h 1870653"/>
                <a:gd name="connsiteX8" fmla="*/ 1548818 w 1548819"/>
                <a:gd name="connsiteY8" fmla="*/ 0 h 187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8819" h="1870653">
                  <a:moveTo>
                    <a:pt x="1548818" y="0"/>
                  </a:moveTo>
                  <a:lnTo>
                    <a:pt x="1548819" y="0"/>
                  </a:lnTo>
                  <a:lnTo>
                    <a:pt x="1548819" y="1679374"/>
                  </a:lnTo>
                  <a:lnTo>
                    <a:pt x="1548818" y="1679374"/>
                  </a:lnTo>
                  <a:cubicBezTo>
                    <a:pt x="1303700" y="1679374"/>
                    <a:pt x="1073084" y="1741470"/>
                    <a:pt x="871845" y="1850790"/>
                  </a:cubicBezTo>
                  <a:lnTo>
                    <a:pt x="839150" y="1870653"/>
                  </a:lnTo>
                  <a:lnTo>
                    <a:pt x="0" y="417457"/>
                  </a:lnTo>
                  <a:lnTo>
                    <a:pt x="71355" y="374107"/>
                  </a:lnTo>
                  <a:cubicBezTo>
                    <a:pt x="510551" y="135522"/>
                    <a:pt x="1013858" y="0"/>
                    <a:pt x="1548818" y="0"/>
                  </a:cubicBezTo>
                  <a:close/>
                </a:path>
              </a:pathLst>
            </a:custGeom>
            <a:solidFill>
              <a:srgbClr val="F79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7E61AA-DBD5-2799-337F-19772DF6A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287" y="2397240"/>
              <a:ext cx="1972370" cy="1972621"/>
            </a:xfrm>
            <a:custGeom>
              <a:avLst/>
              <a:gdLst>
                <a:gd name="connsiteX0" fmla="*/ 838698 w 1972370"/>
                <a:gd name="connsiteY0" fmla="*/ 0 h 1972621"/>
                <a:gd name="connsiteX1" fmla="*/ 1023740 w 1972370"/>
                <a:gd name="connsiteY1" fmla="*/ 112416 h 1972621"/>
                <a:gd name="connsiteX2" fmla="*/ 1860967 w 1972370"/>
                <a:gd name="connsiteY2" fmla="*/ 949643 h 1972621"/>
                <a:gd name="connsiteX3" fmla="*/ 1972370 w 1972370"/>
                <a:gd name="connsiteY3" fmla="*/ 1133019 h 1972621"/>
                <a:gd name="connsiteX4" fmla="*/ 519449 w 1972370"/>
                <a:gd name="connsiteY4" fmla="*/ 1972621 h 1972621"/>
                <a:gd name="connsiteX5" fmla="*/ 468403 w 1972370"/>
                <a:gd name="connsiteY5" fmla="*/ 1888597 h 1972621"/>
                <a:gd name="connsiteX6" fmla="*/ 84786 w 1972370"/>
                <a:gd name="connsiteY6" fmla="*/ 1504980 h 1972621"/>
                <a:gd name="connsiteX7" fmla="*/ 0 w 1972370"/>
                <a:gd name="connsiteY7" fmla="*/ 1453471 h 197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2370" h="1972621">
                  <a:moveTo>
                    <a:pt x="838698" y="0"/>
                  </a:moveTo>
                  <a:lnTo>
                    <a:pt x="1023740" y="112416"/>
                  </a:lnTo>
                  <a:cubicBezTo>
                    <a:pt x="1353542" y="335226"/>
                    <a:pt x="1638157" y="619841"/>
                    <a:pt x="1860967" y="949643"/>
                  </a:cubicBezTo>
                  <a:lnTo>
                    <a:pt x="1972370" y="1133019"/>
                  </a:lnTo>
                  <a:lnTo>
                    <a:pt x="519449" y="1972621"/>
                  </a:lnTo>
                  <a:lnTo>
                    <a:pt x="468403" y="1888597"/>
                  </a:lnTo>
                  <a:cubicBezTo>
                    <a:pt x="366312" y="1737482"/>
                    <a:pt x="235901" y="1607071"/>
                    <a:pt x="84786" y="1504980"/>
                  </a:cubicBezTo>
                  <a:lnTo>
                    <a:pt x="0" y="1453471"/>
                  </a:lnTo>
                  <a:close/>
                </a:path>
              </a:pathLst>
            </a:custGeom>
            <a:solidFill>
              <a:srgbClr val="A2B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0EE2365-D3EB-1CD9-E79A-677359B45344}"/>
                </a:ext>
              </a:extLst>
            </p:cNvPr>
            <p:cNvSpPr/>
            <p:nvPr/>
          </p:nvSpPr>
          <p:spPr>
            <a:xfrm>
              <a:off x="3965940" y="2955293"/>
              <a:ext cx="4249234" cy="2124617"/>
            </a:xfrm>
            <a:custGeom>
              <a:avLst/>
              <a:gdLst>
                <a:gd name="connsiteX0" fmla="*/ 2124617 w 4249234"/>
                <a:gd name="connsiteY0" fmla="*/ 0 h 2124617"/>
                <a:gd name="connsiteX1" fmla="*/ 4249234 w 4249234"/>
                <a:gd name="connsiteY1" fmla="*/ 2124617 h 2124617"/>
                <a:gd name="connsiteX2" fmla="*/ 0 w 4249234"/>
                <a:gd name="connsiteY2" fmla="*/ 2124617 h 2124617"/>
                <a:gd name="connsiteX3" fmla="*/ 2124617 w 4249234"/>
                <a:gd name="connsiteY3" fmla="*/ 0 h 2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234" h="2124617">
                  <a:moveTo>
                    <a:pt x="2124617" y="0"/>
                  </a:moveTo>
                  <a:cubicBezTo>
                    <a:pt x="3298011" y="0"/>
                    <a:pt x="4249234" y="951223"/>
                    <a:pt x="4249234" y="2124617"/>
                  </a:cubicBezTo>
                  <a:lnTo>
                    <a:pt x="0" y="2124617"/>
                  </a:lnTo>
                  <a:cubicBezTo>
                    <a:pt x="0" y="951223"/>
                    <a:pt x="951223" y="0"/>
                    <a:pt x="2124617" y="0"/>
                  </a:cubicBez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B0D5D2-2050-B47E-5DE3-B838E1DC41AF}"/>
                </a:ext>
              </a:extLst>
            </p:cNvPr>
            <p:cNvSpPr txBox="1"/>
            <p:nvPr/>
          </p:nvSpPr>
          <p:spPr>
            <a:xfrm>
              <a:off x="3039763" y="417088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D3D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867266-1CAB-F5B2-1897-520652485984}"/>
                </a:ext>
              </a:extLst>
            </p:cNvPr>
            <p:cNvSpPr txBox="1"/>
            <p:nvPr/>
          </p:nvSpPr>
          <p:spPr>
            <a:xfrm>
              <a:off x="3960482" y="3024315"/>
              <a:ext cx="83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Unsafe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F4700F-BBBE-815E-3C28-6BB96FA7BE9C}"/>
                </a:ext>
              </a:extLst>
            </p:cNvPr>
            <p:cNvSpPr txBox="1"/>
            <p:nvPr/>
          </p:nvSpPr>
          <p:spPr>
            <a:xfrm>
              <a:off x="6416928" y="232985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31A37B-CE66-7860-D980-D3EF25E9716A}"/>
                </a:ext>
              </a:extLst>
            </p:cNvPr>
            <p:cNvSpPr txBox="1"/>
            <p:nvPr/>
          </p:nvSpPr>
          <p:spPr>
            <a:xfrm>
              <a:off x="7575177" y="3024315"/>
              <a:ext cx="579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C78D4D-F51B-83C7-3BF3-C93A629D7F7E}"/>
                </a:ext>
              </a:extLst>
            </p:cNvPr>
            <p:cNvSpPr txBox="1"/>
            <p:nvPr/>
          </p:nvSpPr>
          <p:spPr>
            <a:xfrm>
              <a:off x="8119212" y="4170887"/>
              <a:ext cx="708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srgbClr val="D3D3D3"/>
                  </a:solidFill>
                  <a:latin typeface="Calibri" panose="020F0502020204030204"/>
                  <a:ea typeface="+mn-ea"/>
                  <a:cs typeface="+mn-cs"/>
                </a:rPr>
                <a:t>Great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240543-41E4-8B01-A31A-C17BF144751C}"/>
                </a:ext>
              </a:extLst>
            </p:cNvPr>
            <p:cNvSpPr txBox="1"/>
            <p:nvPr/>
          </p:nvSpPr>
          <p:spPr>
            <a:xfrm>
              <a:off x="5143436" y="2329858"/>
              <a:ext cx="8130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Not So</a:t>
              </a:r>
              <a:b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</a:b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Ok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77D6A-D74A-1D72-2E57-D193AB1D8513}"/>
              </a:ext>
            </a:extLst>
          </p:cNvPr>
          <p:cNvGrpSpPr/>
          <p:nvPr/>
        </p:nvGrpSpPr>
        <p:grpSpPr>
          <a:xfrm rot="16878910">
            <a:off x="5775070" y="2387013"/>
            <a:ext cx="641857" cy="5534076"/>
            <a:chOff x="5775072" y="2312872"/>
            <a:chExt cx="641857" cy="553407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868353E-661E-0E05-076A-5AA8CF994BA3}"/>
                </a:ext>
              </a:extLst>
            </p:cNvPr>
            <p:cNvSpPr/>
            <p:nvPr/>
          </p:nvSpPr>
          <p:spPr>
            <a:xfrm>
              <a:off x="5775072" y="2312872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E76AA80-9D22-C690-8BA2-877D6CF1DA5D}"/>
                </a:ext>
              </a:extLst>
            </p:cNvPr>
            <p:cNvSpPr/>
            <p:nvPr/>
          </p:nvSpPr>
          <p:spPr>
            <a:xfrm rot="10800000">
              <a:off x="5775073" y="5079910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94D5771-BFDF-EA36-A295-0F4F2C0E8D98}"/>
                </a:ext>
              </a:extLst>
            </p:cNvPr>
            <p:cNvSpPr/>
            <p:nvPr/>
          </p:nvSpPr>
          <p:spPr>
            <a:xfrm rot="10800000">
              <a:off x="5958435" y="4937035"/>
              <a:ext cx="285750" cy="28575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37096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3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sp>
        <p:nvSpPr>
          <p:cNvPr id="509" name="Google Shape;509;p130"/>
          <p:cNvSpPr txBox="1">
            <a:spLocks noGrp="1"/>
          </p:cNvSpPr>
          <p:nvPr>
            <p:ph type="body" idx="1"/>
          </p:nvPr>
        </p:nvSpPr>
        <p:spPr>
          <a:xfrm>
            <a:off x="4015200" y="1985198"/>
            <a:ext cx="41616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Dirsearch to the rescue!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Stray zip file with credentials.</a:t>
            </a:r>
            <a:endParaRPr sz="2400"/>
          </a:p>
        </p:txBody>
      </p:sp>
      <p:pic>
        <p:nvPicPr>
          <p:cNvPr id="510" name="Google Shape;510;p1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7549" y="3067050"/>
            <a:ext cx="6296904" cy="2705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pic>
        <p:nvPicPr>
          <p:cNvPr id="516" name="Google Shape;516;p1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4750" y="1798016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32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pic>
        <p:nvPicPr>
          <p:cNvPr id="522" name="Google Shape;522;p1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3284" y="1919224"/>
            <a:ext cx="7805435" cy="4697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3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pic>
        <p:nvPicPr>
          <p:cNvPr id="528" name="Google Shape;528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38224" y="2543250"/>
            <a:ext cx="4453674" cy="284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1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3006" y="1640275"/>
            <a:ext cx="2364119" cy="90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1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78625" y="5501503"/>
            <a:ext cx="4172875" cy="9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3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sp>
        <p:nvSpPr>
          <p:cNvPr id="536" name="Google Shape;536;p134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Did not manage to get RCE.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Source code available (minus the credentials as it’s still active).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All shared malware downloadable from git.</a:t>
            </a:r>
            <a:endParaRPr lang="en-US"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3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sp>
        <p:nvSpPr>
          <p:cNvPr id="542" name="Google Shape;542;p135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Knew the default zip name of the source code.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Searching every minute for new refs in threat intel.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 dirty="0"/>
              <a:t>~ 20% vulnerable</a:t>
            </a:r>
            <a:r>
              <a:rPr lang="en-GB" sz="2400" dirty="0"/>
              <a:t> once I was quick enough!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b="1" dirty="0"/>
              <a:t>60 different instances</a:t>
            </a:r>
            <a:r>
              <a:rPr lang="en-GB" sz="2400" dirty="0"/>
              <a:t> of </a:t>
            </a:r>
            <a:r>
              <a:rPr lang="en-GB" sz="2400" dirty="0" err="1"/>
              <a:t>Smokeloader</a:t>
            </a:r>
            <a:r>
              <a:rPr lang="en-GB" sz="2400" dirty="0"/>
              <a:t> panels. 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2 had over </a:t>
            </a:r>
            <a:r>
              <a:rPr lang="en-GB" sz="2400" b="1" dirty="0"/>
              <a:t>500k bots</a:t>
            </a:r>
            <a:r>
              <a:rPr lang="en-GB" sz="2400" dirty="0"/>
              <a:t>.</a:t>
            </a:r>
            <a:endParaRPr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Estimated over </a:t>
            </a:r>
            <a:r>
              <a:rPr lang="en-GB" sz="2400" b="1" dirty="0"/>
              <a:t>10 million</a:t>
            </a:r>
            <a:r>
              <a:rPr lang="en-GB" sz="2400" dirty="0"/>
              <a:t> unique devices were compromised.</a:t>
            </a:r>
            <a:endParaRPr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SMOKELOADER</a:t>
            </a:r>
            <a:endParaRPr/>
          </a:p>
        </p:txBody>
      </p:sp>
      <p:pic>
        <p:nvPicPr>
          <p:cNvPr id="548" name="Google Shape;548;p1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0" y="2041182"/>
            <a:ext cx="5715000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sp>
        <p:nvSpPr>
          <p:cNvPr id="2" name="Google Shape;542;p135">
            <a:extLst>
              <a:ext uri="{FF2B5EF4-FFF2-40B4-BE49-F238E27FC236}">
                <a16:creationId xmlns:a16="http://schemas.microsoft.com/office/drawing/2014/main" id="{2AE1EE3D-E724-2A3B-81EE-510EB8E49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Revealed and heavily researched via perception point (0xToxin with the help of </a:t>
            </a:r>
            <a:r>
              <a:rPr lang="en-US" dirty="0"/>
              <a:t> </a:t>
            </a:r>
            <a:r>
              <a:rPr lang="en-US" sz="2400" dirty="0"/>
              <a:t>@1ZRR4H and @Merlax_)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Targets mostly Mexican victims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Active for at least two years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/>
              <a:t>&gt; 55M of potential revenue</a:t>
            </a:r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6540498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5ABE-7A08-FF7B-6CE9-230F54DB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ADEDF2-7D5B-8E53-8D5B-3091FD57E3C6}"/>
              </a:ext>
            </a:extLst>
          </p:cNvPr>
          <p:cNvGrpSpPr/>
          <p:nvPr/>
        </p:nvGrpSpPr>
        <p:grpSpPr>
          <a:xfrm>
            <a:off x="2996379" y="2146581"/>
            <a:ext cx="6199241" cy="3099621"/>
            <a:chOff x="2996380" y="1980289"/>
            <a:chExt cx="6199241" cy="309962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378DA0D-D143-9CBC-CA29-27EFA950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14" y="3530536"/>
              <a:ext cx="1870807" cy="1549374"/>
            </a:xfrm>
            <a:custGeom>
              <a:avLst/>
              <a:gdLst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569848 h 1549374"/>
                <a:gd name="connsiteX9" fmla="*/ 466658 w 1870807"/>
                <a:gd name="connsiteY9" fmla="*/ 202986 h 1549374"/>
                <a:gd name="connsiteX10" fmla="*/ 1101663 w 1870807"/>
                <a:gd name="connsiteY10" fmla="*/ 202986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101663 w 1870807"/>
                <a:gd name="connsiteY9" fmla="*/ 202986 h 1549374"/>
                <a:gd name="connsiteX10" fmla="*/ 1453013 w 1870807"/>
                <a:gd name="connsiteY10" fmla="*/ 0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453013 w 1870807"/>
                <a:gd name="connsiteY9" fmla="*/ 0 h 154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0807" h="1549374">
                  <a:moveTo>
                    <a:pt x="1453013" y="0"/>
                  </a:moveTo>
                  <a:lnTo>
                    <a:pt x="1496700" y="71910"/>
                  </a:lnTo>
                  <a:cubicBezTo>
                    <a:pt x="1735285" y="511106"/>
                    <a:pt x="1870807" y="1014413"/>
                    <a:pt x="1870807" y="1549373"/>
                  </a:cubicBezTo>
                  <a:lnTo>
                    <a:pt x="1870807" y="1549374"/>
                  </a:lnTo>
                  <a:lnTo>
                    <a:pt x="191433" y="1549374"/>
                  </a:lnTo>
                  <a:lnTo>
                    <a:pt x="191433" y="1549373"/>
                  </a:lnTo>
                  <a:cubicBezTo>
                    <a:pt x="191433" y="1304254"/>
                    <a:pt x="129337" y="1073639"/>
                    <a:pt x="20017" y="872400"/>
                  </a:cubicBezTo>
                  <a:lnTo>
                    <a:pt x="0" y="839451"/>
                  </a:lnTo>
                  <a:lnTo>
                    <a:pt x="466658" y="202986"/>
                  </a:lnTo>
                  <a:lnTo>
                    <a:pt x="1453013" y="0"/>
                  </a:lnTo>
                  <a:close/>
                </a:path>
              </a:pathLst>
            </a:custGeom>
            <a:solidFill>
              <a:srgbClr val="A2B969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70E46-2C5C-3FEA-3B57-6D5D57E9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058" y="1980289"/>
              <a:ext cx="2035649" cy="1870344"/>
            </a:xfrm>
            <a:custGeom>
              <a:avLst/>
              <a:gdLst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815757 h 1870344"/>
                <a:gd name="connsiteX5" fmla="*/ 1805484 w 2035649"/>
                <a:gd name="connsiteY5" fmla="*/ 1317792 h 1870344"/>
                <a:gd name="connsiteX6" fmla="*/ 1515865 w 2035649"/>
                <a:gd name="connsiteY6" fmla="*/ 1317792 h 1870344"/>
                <a:gd name="connsiteX7" fmla="*/ 1197102 w 2035649"/>
                <a:gd name="connsiteY7" fmla="*/ 1870344 h 1870344"/>
                <a:gd name="connsiteX8" fmla="*/ 1164916 w 2035649"/>
                <a:gd name="connsiteY8" fmla="*/ 1850790 h 1870344"/>
                <a:gd name="connsiteX9" fmla="*/ 633154 w 2035649"/>
                <a:gd name="connsiteY9" fmla="*/ 1686707 h 1870344"/>
                <a:gd name="connsiteX10" fmla="*/ 487943 w 2035649"/>
                <a:gd name="connsiteY10" fmla="*/ 1679374 h 1870344"/>
                <a:gd name="connsiteX11" fmla="*/ 487943 w 2035649"/>
                <a:gd name="connsiteY11" fmla="*/ 1264630 h 1870344"/>
                <a:gd name="connsiteX12" fmla="*/ 0 w 2035649"/>
                <a:gd name="connsiteY12" fmla="*/ 776687 h 1870344"/>
                <a:gd name="connsiteX13" fmla="*/ 487943 w 2035649"/>
                <a:gd name="connsiteY13" fmla="*/ 288744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515865 w 2035649"/>
                <a:gd name="connsiteY5" fmla="*/ 1317792 h 1870344"/>
                <a:gd name="connsiteX6" fmla="*/ 1197102 w 2035649"/>
                <a:gd name="connsiteY6" fmla="*/ 1870344 h 1870344"/>
                <a:gd name="connsiteX7" fmla="*/ 1164916 w 2035649"/>
                <a:gd name="connsiteY7" fmla="*/ 1850790 h 1870344"/>
                <a:gd name="connsiteX8" fmla="*/ 633154 w 2035649"/>
                <a:gd name="connsiteY8" fmla="*/ 1686707 h 1870344"/>
                <a:gd name="connsiteX9" fmla="*/ 487943 w 2035649"/>
                <a:gd name="connsiteY9" fmla="*/ 1679374 h 1870344"/>
                <a:gd name="connsiteX10" fmla="*/ 487943 w 2035649"/>
                <a:gd name="connsiteY10" fmla="*/ 1264630 h 1870344"/>
                <a:gd name="connsiteX11" fmla="*/ 0 w 2035649"/>
                <a:gd name="connsiteY11" fmla="*/ 776687 h 1870344"/>
                <a:gd name="connsiteX12" fmla="*/ 487943 w 2035649"/>
                <a:gd name="connsiteY12" fmla="*/ 288744 h 1870344"/>
                <a:gd name="connsiteX13" fmla="*/ 487943 w 2035649"/>
                <a:gd name="connsiteY13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288744 h 1870344"/>
                <a:gd name="connsiteX12" fmla="*/ 487943 w 2035649"/>
                <a:gd name="connsiteY12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0 w 2035649"/>
                <a:gd name="connsiteY9" fmla="*/ 776687 h 1870344"/>
                <a:gd name="connsiteX10" fmla="*/ 487943 w 2035649"/>
                <a:gd name="connsiteY10" fmla="*/ 0 h 18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649" h="1870344">
                  <a:moveTo>
                    <a:pt x="487943" y="0"/>
                  </a:moveTo>
                  <a:lnTo>
                    <a:pt x="647448" y="4033"/>
                  </a:lnTo>
                  <a:cubicBezTo>
                    <a:pt x="1122923" y="28135"/>
                    <a:pt x="1570129" y="159381"/>
                    <a:pt x="1965405" y="374107"/>
                  </a:cubicBezTo>
                  <a:lnTo>
                    <a:pt x="2035649" y="416782"/>
                  </a:lnTo>
                  <a:lnTo>
                    <a:pt x="1805484" y="1317792"/>
                  </a:lnTo>
                  <a:lnTo>
                    <a:pt x="1197102" y="1870344"/>
                  </a:lnTo>
                  <a:lnTo>
                    <a:pt x="1164916" y="1850790"/>
                  </a:lnTo>
                  <a:cubicBezTo>
                    <a:pt x="1003924" y="1763334"/>
                    <a:pt x="824132" y="1706102"/>
                    <a:pt x="633154" y="1686707"/>
                  </a:cubicBezTo>
                  <a:lnTo>
                    <a:pt x="487943" y="1679374"/>
                  </a:lnTo>
                  <a:lnTo>
                    <a:pt x="0" y="776687"/>
                  </a:lnTo>
                  <a:lnTo>
                    <a:pt x="487943" y="0"/>
                  </a:lnTo>
                  <a:close/>
                </a:path>
              </a:pathLst>
            </a:custGeom>
            <a:solidFill>
              <a:srgbClr val="FFC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2EE1C8-CF41-B415-1E2B-2DC17FBFF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343" y="2397915"/>
              <a:ext cx="1971862" cy="1971945"/>
            </a:xfrm>
            <a:custGeom>
              <a:avLst/>
              <a:gdLst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476041 w 1971862"/>
                <a:gd name="connsiteY10" fmla="*/ 1407434 h 1971945"/>
                <a:gd name="connsiteX11" fmla="*/ 0 w 1971862"/>
                <a:gd name="connsiteY11" fmla="*/ 1132343 h 1971945"/>
                <a:gd name="connsiteX12" fmla="*/ 111404 w 1971862"/>
                <a:gd name="connsiteY12" fmla="*/ 948968 h 1971945"/>
                <a:gd name="connsiteX13" fmla="*/ 948630 w 1971862"/>
                <a:gd name="connsiteY13" fmla="*/ 111741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0 w 1971862"/>
                <a:gd name="connsiteY10" fmla="*/ 1132343 h 1971945"/>
                <a:gd name="connsiteX11" fmla="*/ 111404 w 1971862"/>
                <a:gd name="connsiteY11" fmla="*/ 948968 h 1971945"/>
                <a:gd name="connsiteX12" fmla="*/ 948630 w 1971862"/>
                <a:gd name="connsiteY12" fmla="*/ 111741 h 1971945"/>
                <a:gd name="connsiteX13" fmla="*/ 1132562 w 1971862"/>
                <a:gd name="connsiteY13" fmla="*/ 0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476041 w 1971862"/>
                <a:gd name="connsiteY8" fmla="*/ 1712486 h 1971945"/>
                <a:gd name="connsiteX9" fmla="*/ 0 w 1971862"/>
                <a:gd name="connsiteY9" fmla="*/ 1132343 h 1971945"/>
                <a:gd name="connsiteX10" fmla="*/ 111404 w 1971862"/>
                <a:gd name="connsiteY10" fmla="*/ 948968 h 1971945"/>
                <a:gd name="connsiteX11" fmla="*/ 948630 w 1971862"/>
                <a:gd name="connsiteY11" fmla="*/ 111741 h 1971945"/>
                <a:gd name="connsiteX12" fmla="*/ 1132562 w 1971862"/>
                <a:gd name="connsiteY12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773774 w 1971862"/>
                <a:gd name="connsiteY2" fmla="*/ 1110150 h 1971945"/>
                <a:gd name="connsiteX3" fmla="*/ 1971862 w 1971862"/>
                <a:gd name="connsiteY3" fmla="*/ 1453105 h 1971945"/>
                <a:gd name="connsiteX4" fmla="*/ 1887584 w 1971862"/>
                <a:gd name="connsiteY4" fmla="*/ 1504305 h 1971945"/>
                <a:gd name="connsiteX5" fmla="*/ 1503967 w 1971862"/>
                <a:gd name="connsiteY5" fmla="*/ 1887922 h 1971945"/>
                <a:gd name="connsiteX6" fmla="*/ 1452922 w 1971862"/>
                <a:gd name="connsiteY6" fmla="*/ 1971945 h 1971945"/>
                <a:gd name="connsiteX7" fmla="*/ 476041 w 1971862"/>
                <a:gd name="connsiteY7" fmla="*/ 1712486 h 1971945"/>
                <a:gd name="connsiteX8" fmla="*/ 0 w 1971862"/>
                <a:gd name="connsiteY8" fmla="*/ 1132343 h 1971945"/>
                <a:gd name="connsiteX9" fmla="*/ 111404 w 1971862"/>
                <a:gd name="connsiteY9" fmla="*/ 948968 h 1971945"/>
                <a:gd name="connsiteX10" fmla="*/ 948630 w 1971862"/>
                <a:gd name="connsiteY10" fmla="*/ 111741 h 1971945"/>
                <a:gd name="connsiteX11" fmla="*/ 1132562 w 1971862"/>
                <a:gd name="connsiteY11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971862 w 1971862"/>
                <a:gd name="connsiteY2" fmla="*/ 1453105 h 1971945"/>
                <a:gd name="connsiteX3" fmla="*/ 1887584 w 1971862"/>
                <a:gd name="connsiteY3" fmla="*/ 1504305 h 1971945"/>
                <a:gd name="connsiteX4" fmla="*/ 1503967 w 1971862"/>
                <a:gd name="connsiteY4" fmla="*/ 1887922 h 1971945"/>
                <a:gd name="connsiteX5" fmla="*/ 1452922 w 1971862"/>
                <a:gd name="connsiteY5" fmla="*/ 1971945 h 1971945"/>
                <a:gd name="connsiteX6" fmla="*/ 476041 w 1971862"/>
                <a:gd name="connsiteY6" fmla="*/ 1712486 h 1971945"/>
                <a:gd name="connsiteX7" fmla="*/ 0 w 1971862"/>
                <a:gd name="connsiteY7" fmla="*/ 1132343 h 1971945"/>
                <a:gd name="connsiteX8" fmla="*/ 111404 w 1971862"/>
                <a:gd name="connsiteY8" fmla="*/ 948968 h 1971945"/>
                <a:gd name="connsiteX9" fmla="*/ 948630 w 1971862"/>
                <a:gd name="connsiteY9" fmla="*/ 111741 h 1971945"/>
                <a:gd name="connsiteX10" fmla="*/ 1132562 w 1971862"/>
                <a:gd name="connsiteY10" fmla="*/ 0 h 19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1862" h="1971945">
                  <a:moveTo>
                    <a:pt x="1132562" y="0"/>
                  </a:moveTo>
                  <a:lnTo>
                    <a:pt x="1773774" y="379908"/>
                  </a:lnTo>
                  <a:lnTo>
                    <a:pt x="1971862" y="1453105"/>
                  </a:lnTo>
                  <a:lnTo>
                    <a:pt x="1887584" y="1504305"/>
                  </a:lnTo>
                  <a:cubicBezTo>
                    <a:pt x="1736469" y="1606396"/>
                    <a:pt x="1606058" y="1736807"/>
                    <a:pt x="1503967" y="1887922"/>
                  </a:cubicBezTo>
                  <a:lnTo>
                    <a:pt x="1452922" y="1971945"/>
                  </a:lnTo>
                  <a:lnTo>
                    <a:pt x="476041" y="1712486"/>
                  </a:lnTo>
                  <a:lnTo>
                    <a:pt x="0" y="1132343"/>
                  </a:lnTo>
                  <a:lnTo>
                    <a:pt x="111404" y="948968"/>
                  </a:lnTo>
                  <a:cubicBezTo>
                    <a:pt x="334213" y="619166"/>
                    <a:pt x="618828" y="334551"/>
                    <a:pt x="948630" y="111741"/>
                  </a:cubicBezTo>
                  <a:lnTo>
                    <a:pt x="1132562" y="0"/>
                  </a:lnTo>
                  <a:close/>
                </a:path>
              </a:pathLst>
            </a:custGeom>
            <a:solidFill>
              <a:srgbClr val="C13018">
                <a:lumMod val="60000"/>
                <a:lumOff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158889-D4EA-5738-3118-4CE170F3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380" y="3530535"/>
              <a:ext cx="1870808" cy="1549375"/>
            </a:xfrm>
            <a:custGeom>
              <a:avLst/>
              <a:gdLst>
                <a:gd name="connsiteX0" fmla="*/ 417795 w 1870808"/>
                <a:gd name="connsiteY0" fmla="*/ 0 h 1549375"/>
                <a:gd name="connsiteX1" fmla="*/ 1870808 w 1870808"/>
                <a:gd name="connsiteY1" fmla="*/ 839451 h 1549375"/>
                <a:gd name="connsiteX2" fmla="*/ 1850790 w 1870808"/>
                <a:gd name="connsiteY2" fmla="*/ 872401 h 1549375"/>
                <a:gd name="connsiteX3" fmla="*/ 1679374 w 1870808"/>
                <a:gd name="connsiteY3" fmla="*/ 1549374 h 1549375"/>
                <a:gd name="connsiteX4" fmla="*/ 1679374 w 1870808"/>
                <a:gd name="connsiteY4" fmla="*/ 1549375 h 1549375"/>
                <a:gd name="connsiteX5" fmla="*/ 0 w 1870808"/>
                <a:gd name="connsiteY5" fmla="*/ 1549375 h 1549375"/>
                <a:gd name="connsiteX6" fmla="*/ 0 w 1870808"/>
                <a:gd name="connsiteY6" fmla="*/ 1549374 h 1549375"/>
                <a:gd name="connsiteX7" fmla="*/ 374108 w 1870808"/>
                <a:gd name="connsiteY7" fmla="*/ 71911 h 154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0808" h="1549375">
                  <a:moveTo>
                    <a:pt x="417795" y="0"/>
                  </a:moveTo>
                  <a:lnTo>
                    <a:pt x="1870808" y="839451"/>
                  </a:lnTo>
                  <a:lnTo>
                    <a:pt x="1850790" y="872401"/>
                  </a:lnTo>
                  <a:cubicBezTo>
                    <a:pt x="1741471" y="1073640"/>
                    <a:pt x="1679374" y="1304255"/>
                    <a:pt x="1679374" y="1549374"/>
                  </a:cubicBezTo>
                  <a:lnTo>
                    <a:pt x="1679374" y="1549375"/>
                  </a:lnTo>
                  <a:lnTo>
                    <a:pt x="0" y="1549375"/>
                  </a:lnTo>
                  <a:lnTo>
                    <a:pt x="0" y="1549374"/>
                  </a:lnTo>
                  <a:cubicBezTo>
                    <a:pt x="0" y="1014414"/>
                    <a:pt x="135522" y="511107"/>
                    <a:pt x="374108" y="71911"/>
                  </a:cubicBezTo>
                  <a:close/>
                </a:path>
              </a:pathLst>
            </a:custGeom>
            <a:solidFill>
              <a:srgbClr val="C13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C04463-89B4-08EA-C2D9-199E29A19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182" y="1980289"/>
              <a:ext cx="1548819" cy="1870653"/>
            </a:xfrm>
            <a:custGeom>
              <a:avLst/>
              <a:gdLst>
                <a:gd name="connsiteX0" fmla="*/ 1548818 w 1548819"/>
                <a:gd name="connsiteY0" fmla="*/ 0 h 1870653"/>
                <a:gd name="connsiteX1" fmla="*/ 1548819 w 1548819"/>
                <a:gd name="connsiteY1" fmla="*/ 0 h 1870653"/>
                <a:gd name="connsiteX2" fmla="*/ 1548819 w 1548819"/>
                <a:gd name="connsiteY2" fmla="*/ 1679374 h 1870653"/>
                <a:gd name="connsiteX3" fmla="*/ 1548818 w 1548819"/>
                <a:gd name="connsiteY3" fmla="*/ 1679374 h 1870653"/>
                <a:gd name="connsiteX4" fmla="*/ 871845 w 1548819"/>
                <a:gd name="connsiteY4" fmla="*/ 1850790 h 1870653"/>
                <a:gd name="connsiteX5" fmla="*/ 839150 w 1548819"/>
                <a:gd name="connsiteY5" fmla="*/ 1870653 h 1870653"/>
                <a:gd name="connsiteX6" fmla="*/ 0 w 1548819"/>
                <a:gd name="connsiteY6" fmla="*/ 417457 h 1870653"/>
                <a:gd name="connsiteX7" fmla="*/ 71355 w 1548819"/>
                <a:gd name="connsiteY7" fmla="*/ 374107 h 1870653"/>
                <a:gd name="connsiteX8" fmla="*/ 1548818 w 1548819"/>
                <a:gd name="connsiteY8" fmla="*/ 0 h 187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8819" h="1870653">
                  <a:moveTo>
                    <a:pt x="1548818" y="0"/>
                  </a:moveTo>
                  <a:lnTo>
                    <a:pt x="1548819" y="0"/>
                  </a:lnTo>
                  <a:lnTo>
                    <a:pt x="1548819" y="1679374"/>
                  </a:lnTo>
                  <a:lnTo>
                    <a:pt x="1548818" y="1679374"/>
                  </a:lnTo>
                  <a:cubicBezTo>
                    <a:pt x="1303700" y="1679374"/>
                    <a:pt x="1073084" y="1741470"/>
                    <a:pt x="871845" y="1850790"/>
                  </a:cubicBezTo>
                  <a:lnTo>
                    <a:pt x="839150" y="1870653"/>
                  </a:lnTo>
                  <a:lnTo>
                    <a:pt x="0" y="417457"/>
                  </a:lnTo>
                  <a:lnTo>
                    <a:pt x="71355" y="374107"/>
                  </a:lnTo>
                  <a:cubicBezTo>
                    <a:pt x="510551" y="135522"/>
                    <a:pt x="1013858" y="0"/>
                    <a:pt x="1548818" y="0"/>
                  </a:cubicBezTo>
                  <a:close/>
                </a:path>
              </a:pathLst>
            </a:custGeom>
            <a:solidFill>
              <a:srgbClr val="F79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7E61AA-DBD5-2799-337F-19772DF6A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287" y="2397240"/>
              <a:ext cx="1972370" cy="1972621"/>
            </a:xfrm>
            <a:custGeom>
              <a:avLst/>
              <a:gdLst>
                <a:gd name="connsiteX0" fmla="*/ 838698 w 1972370"/>
                <a:gd name="connsiteY0" fmla="*/ 0 h 1972621"/>
                <a:gd name="connsiteX1" fmla="*/ 1023740 w 1972370"/>
                <a:gd name="connsiteY1" fmla="*/ 112416 h 1972621"/>
                <a:gd name="connsiteX2" fmla="*/ 1860967 w 1972370"/>
                <a:gd name="connsiteY2" fmla="*/ 949643 h 1972621"/>
                <a:gd name="connsiteX3" fmla="*/ 1972370 w 1972370"/>
                <a:gd name="connsiteY3" fmla="*/ 1133019 h 1972621"/>
                <a:gd name="connsiteX4" fmla="*/ 519449 w 1972370"/>
                <a:gd name="connsiteY4" fmla="*/ 1972621 h 1972621"/>
                <a:gd name="connsiteX5" fmla="*/ 468403 w 1972370"/>
                <a:gd name="connsiteY5" fmla="*/ 1888597 h 1972621"/>
                <a:gd name="connsiteX6" fmla="*/ 84786 w 1972370"/>
                <a:gd name="connsiteY6" fmla="*/ 1504980 h 1972621"/>
                <a:gd name="connsiteX7" fmla="*/ 0 w 1972370"/>
                <a:gd name="connsiteY7" fmla="*/ 1453471 h 197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2370" h="1972621">
                  <a:moveTo>
                    <a:pt x="838698" y="0"/>
                  </a:moveTo>
                  <a:lnTo>
                    <a:pt x="1023740" y="112416"/>
                  </a:lnTo>
                  <a:cubicBezTo>
                    <a:pt x="1353542" y="335226"/>
                    <a:pt x="1638157" y="619841"/>
                    <a:pt x="1860967" y="949643"/>
                  </a:cubicBezTo>
                  <a:lnTo>
                    <a:pt x="1972370" y="1133019"/>
                  </a:lnTo>
                  <a:lnTo>
                    <a:pt x="519449" y="1972621"/>
                  </a:lnTo>
                  <a:lnTo>
                    <a:pt x="468403" y="1888597"/>
                  </a:lnTo>
                  <a:cubicBezTo>
                    <a:pt x="366312" y="1737482"/>
                    <a:pt x="235901" y="1607071"/>
                    <a:pt x="84786" y="1504980"/>
                  </a:cubicBezTo>
                  <a:lnTo>
                    <a:pt x="0" y="1453471"/>
                  </a:lnTo>
                  <a:close/>
                </a:path>
              </a:pathLst>
            </a:custGeom>
            <a:solidFill>
              <a:srgbClr val="A2B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0EE2365-D3EB-1CD9-E79A-677359B45344}"/>
                </a:ext>
              </a:extLst>
            </p:cNvPr>
            <p:cNvSpPr/>
            <p:nvPr/>
          </p:nvSpPr>
          <p:spPr>
            <a:xfrm>
              <a:off x="3965940" y="2955293"/>
              <a:ext cx="4249234" cy="2124617"/>
            </a:xfrm>
            <a:custGeom>
              <a:avLst/>
              <a:gdLst>
                <a:gd name="connsiteX0" fmla="*/ 2124617 w 4249234"/>
                <a:gd name="connsiteY0" fmla="*/ 0 h 2124617"/>
                <a:gd name="connsiteX1" fmla="*/ 4249234 w 4249234"/>
                <a:gd name="connsiteY1" fmla="*/ 2124617 h 2124617"/>
                <a:gd name="connsiteX2" fmla="*/ 0 w 4249234"/>
                <a:gd name="connsiteY2" fmla="*/ 2124617 h 2124617"/>
                <a:gd name="connsiteX3" fmla="*/ 2124617 w 4249234"/>
                <a:gd name="connsiteY3" fmla="*/ 0 h 2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234" h="2124617">
                  <a:moveTo>
                    <a:pt x="2124617" y="0"/>
                  </a:moveTo>
                  <a:cubicBezTo>
                    <a:pt x="3298011" y="0"/>
                    <a:pt x="4249234" y="951223"/>
                    <a:pt x="4249234" y="2124617"/>
                  </a:cubicBezTo>
                  <a:lnTo>
                    <a:pt x="0" y="2124617"/>
                  </a:lnTo>
                  <a:cubicBezTo>
                    <a:pt x="0" y="951223"/>
                    <a:pt x="951223" y="0"/>
                    <a:pt x="2124617" y="0"/>
                  </a:cubicBez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B0D5D2-2050-B47E-5DE3-B838E1DC41AF}"/>
                </a:ext>
              </a:extLst>
            </p:cNvPr>
            <p:cNvSpPr txBox="1"/>
            <p:nvPr/>
          </p:nvSpPr>
          <p:spPr>
            <a:xfrm>
              <a:off x="3039763" y="417088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D3D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867266-1CAB-F5B2-1897-520652485984}"/>
                </a:ext>
              </a:extLst>
            </p:cNvPr>
            <p:cNvSpPr txBox="1"/>
            <p:nvPr/>
          </p:nvSpPr>
          <p:spPr>
            <a:xfrm>
              <a:off x="3960482" y="3024315"/>
              <a:ext cx="83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Unsafe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F4700F-BBBE-815E-3C28-6BB96FA7BE9C}"/>
                </a:ext>
              </a:extLst>
            </p:cNvPr>
            <p:cNvSpPr txBox="1"/>
            <p:nvPr/>
          </p:nvSpPr>
          <p:spPr>
            <a:xfrm>
              <a:off x="6416928" y="232985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31A37B-CE66-7860-D980-D3EF25E9716A}"/>
                </a:ext>
              </a:extLst>
            </p:cNvPr>
            <p:cNvSpPr txBox="1"/>
            <p:nvPr/>
          </p:nvSpPr>
          <p:spPr>
            <a:xfrm>
              <a:off x="7575177" y="3024315"/>
              <a:ext cx="579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C78D4D-F51B-83C7-3BF3-C93A629D7F7E}"/>
                </a:ext>
              </a:extLst>
            </p:cNvPr>
            <p:cNvSpPr txBox="1"/>
            <p:nvPr/>
          </p:nvSpPr>
          <p:spPr>
            <a:xfrm>
              <a:off x="8119212" y="4170887"/>
              <a:ext cx="708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srgbClr val="D3D3D3"/>
                  </a:solidFill>
                  <a:latin typeface="Calibri" panose="020F0502020204030204"/>
                  <a:ea typeface="+mn-ea"/>
                  <a:cs typeface="+mn-cs"/>
                </a:rPr>
                <a:t>Great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240543-41E4-8B01-A31A-C17BF144751C}"/>
                </a:ext>
              </a:extLst>
            </p:cNvPr>
            <p:cNvSpPr txBox="1"/>
            <p:nvPr/>
          </p:nvSpPr>
          <p:spPr>
            <a:xfrm>
              <a:off x="5143436" y="2329858"/>
              <a:ext cx="8130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Not So</a:t>
              </a:r>
              <a:b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</a:b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Ok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77D6A-D74A-1D72-2E57-D193AB1D8513}"/>
              </a:ext>
            </a:extLst>
          </p:cNvPr>
          <p:cNvGrpSpPr/>
          <p:nvPr/>
        </p:nvGrpSpPr>
        <p:grpSpPr>
          <a:xfrm rot="19822224">
            <a:off x="5775070" y="2387013"/>
            <a:ext cx="641857" cy="5534076"/>
            <a:chOff x="5775072" y="2312872"/>
            <a:chExt cx="641857" cy="553407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868353E-661E-0E05-076A-5AA8CF994BA3}"/>
                </a:ext>
              </a:extLst>
            </p:cNvPr>
            <p:cNvSpPr/>
            <p:nvPr/>
          </p:nvSpPr>
          <p:spPr>
            <a:xfrm>
              <a:off x="5775072" y="2312872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E76AA80-9D22-C690-8BA2-877D6CF1DA5D}"/>
                </a:ext>
              </a:extLst>
            </p:cNvPr>
            <p:cNvSpPr/>
            <p:nvPr/>
          </p:nvSpPr>
          <p:spPr>
            <a:xfrm rot="10800000">
              <a:off x="5775073" y="5079910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94D5771-BFDF-EA36-A295-0F4F2C0E8D98}"/>
                </a:ext>
              </a:extLst>
            </p:cNvPr>
            <p:cNvSpPr/>
            <p:nvPr/>
          </p:nvSpPr>
          <p:spPr>
            <a:xfrm rot="10800000">
              <a:off x="5958435" y="4937035"/>
              <a:ext cx="285750" cy="28575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792254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BF98-6EDD-A0D6-6D49-58C611362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317" y="1650240"/>
            <a:ext cx="8173365" cy="511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9466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288854-2998-B43B-3D86-8F76AF66B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286" y="1735927"/>
            <a:ext cx="5157428" cy="49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916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BE963A-EC91-3336-2901-E0510FE78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0" y="1875523"/>
            <a:ext cx="59055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3006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ECB946-0442-B92F-8171-5109A70FC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08" y="1615606"/>
            <a:ext cx="5881436" cy="517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020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7B115-1C7B-98A1-9529-E4A3521CE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417" y="1728224"/>
            <a:ext cx="5125165" cy="695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381CCD-B396-B511-7E57-F0818C980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8907" y="3109117"/>
            <a:ext cx="2524477" cy="2172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4F45C0-E161-FF00-4661-D6FE2C6BF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7642" y="3671170"/>
            <a:ext cx="530616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520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MANIPULATED CAIMAN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9CD1A-F14E-0211-D9C9-BF3CC6C558D6}"/>
              </a:ext>
            </a:extLst>
          </p:cNvPr>
          <p:cNvSpPr txBox="1"/>
          <p:nvPr/>
        </p:nvSpPr>
        <p:spPr>
          <a:xfrm>
            <a:off x="2695318" y="1972273"/>
            <a:ext cx="60949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en-US" sz="2400" dirty="0">
              <a:latin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en-US" sz="2400" dirty="0">
              <a:latin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>
                <a:latin typeface="Gill Sans"/>
              </a:rPr>
              <a:t>Did not manage to get RCE.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en-US" sz="2400" dirty="0">
              <a:latin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en-US" sz="2400" dirty="0">
              <a:latin typeface="Gill Sans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2400" dirty="0">
                <a:latin typeface="Gill Sans"/>
              </a:rPr>
              <a:t>Source code available (minus the lists to not be used by spammers).</a:t>
            </a:r>
          </a:p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</a:pPr>
            <a:endParaRPr lang="en-US" sz="24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2604497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3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NEXUS PANEL</a:t>
            </a:r>
            <a:endParaRPr/>
          </a:p>
        </p:txBody>
      </p:sp>
      <p:sp>
        <p:nvSpPr>
          <p:cNvPr id="554" name="Google Shape;554;p137"/>
          <p:cNvSpPr txBox="1">
            <a:spLocks noGrp="1"/>
          </p:cNvSpPr>
          <p:nvPr>
            <p:ph type="body" idx="1"/>
          </p:nvPr>
        </p:nvSpPr>
        <p:spPr>
          <a:xfrm>
            <a:off x="3554550" y="1894225"/>
            <a:ext cx="5082900" cy="43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First appearance in 2022.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Android stealer.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Sophisticated way of bypassing MFA.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Targets 450 banking applications.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Mostly active in Turkey.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Currently inactive.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NEXUS PANEL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5ABE-7A08-FF7B-6CE9-230F54DB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ADEDF2-7D5B-8E53-8D5B-3091FD57E3C6}"/>
              </a:ext>
            </a:extLst>
          </p:cNvPr>
          <p:cNvGrpSpPr/>
          <p:nvPr/>
        </p:nvGrpSpPr>
        <p:grpSpPr>
          <a:xfrm>
            <a:off x="2996379" y="2146581"/>
            <a:ext cx="6199241" cy="3099621"/>
            <a:chOff x="2996380" y="1980289"/>
            <a:chExt cx="6199241" cy="309962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378DA0D-D143-9CBC-CA29-27EFA950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14" y="3530536"/>
              <a:ext cx="1870807" cy="1549374"/>
            </a:xfrm>
            <a:custGeom>
              <a:avLst/>
              <a:gdLst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569848 h 1549374"/>
                <a:gd name="connsiteX9" fmla="*/ 466658 w 1870807"/>
                <a:gd name="connsiteY9" fmla="*/ 202986 h 1549374"/>
                <a:gd name="connsiteX10" fmla="*/ 1101663 w 1870807"/>
                <a:gd name="connsiteY10" fmla="*/ 202986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101663 w 1870807"/>
                <a:gd name="connsiteY9" fmla="*/ 202986 h 1549374"/>
                <a:gd name="connsiteX10" fmla="*/ 1453013 w 1870807"/>
                <a:gd name="connsiteY10" fmla="*/ 0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453013 w 1870807"/>
                <a:gd name="connsiteY9" fmla="*/ 0 h 154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0807" h="1549374">
                  <a:moveTo>
                    <a:pt x="1453013" y="0"/>
                  </a:moveTo>
                  <a:lnTo>
                    <a:pt x="1496700" y="71910"/>
                  </a:lnTo>
                  <a:cubicBezTo>
                    <a:pt x="1735285" y="511106"/>
                    <a:pt x="1870807" y="1014413"/>
                    <a:pt x="1870807" y="1549373"/>
                  </a:cubicBezTo>
                  <a:lnTo>
                    <a:pt x="1870807" y="1549374"/>
                  </a:lnTo>
                  <a:lnTo>
                    <a:pt x="191433" y="1549374"/>
                  </a:lnTo>
                  <a:lnTo>
                    <a:pt x="191433" y="1549373"/>
                  </a:lnTo>
                  <a:cubicBezTo>
                    <a:pt x="191433" y="1304254"/>
                    <a:pt x="129337" y="1073639"/>
                    <a:pt x="20017" y="872400"/>
                  </a:cubicBezTo>
                  <a:lnTo>
                    <a:pt x="0" y="839451"/>
                  </a:lnTo>
                  <a:lnTo>
                    <a:pt x="466658" y="202986"/>
                  </a:lnTo>
                  <a:lnTo>
                    <a:pt x="1453013" y="0"/>
                  </a:lnTo>
                  <a:close/>
                </a:path>
              </a:pathLst>
            </a:custGeom>
            <a:solidFill>
              <a:srgbClr val="A2B969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70E46-2C5C-3FEA-3B57-6D5D57E9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058" y="1980289"/>
              <a:ext cx="2035649" cy="1870344"/>
            </a:xfrm>
            <a:custGeom>
              <a:avLst/>
              <a:gdLst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815757 h 1870344"/>
                <a:gd name="connsiteX5" fmla="*/ 1805484 w 2035649"/>
                <a:gd name="connsiteY5" fmla="*/ 1317792 h 1870344"/>
                <a:gd name="connsiteX6" fmla="*/ 1515865 w 2035649"/>
                <a:gd name="connsiteY6" fmla="*/ 1317792 h 1870344"/>
                <a:gd name="connsiteX7" fmla="*/ 1197102 w 2035649"/>
                <a:gd name="connsiteY7" fmla="*/ 1870344 h 1870344"/>
                <a:gd name="connsiteX8" fmla="*/ 1164916 w 2035649"/>
                <a:gd name="connsiteY8" fmla="*/ 1850790 h 1870344"/>
                <a:gd name="connsiteX9" fmla="*/ 633154 w 2035649"/>
                <a:gd name="connsiteY9" fmla="*/ 1686707 h 1870344"/>
                <a:gd name="connsiteX10" fmla="*/ 487943 w 2035649"/>
                <a:gd name="connsiteY10" fmla="*/ 1679374 h 1870344"/>
                <a:gd name="connsiteX11" fmla="*/ 487943 w 2035649"/>
                <a:gd name="connsiteY11" fmla="*/ 1264630 h 1870344"/>
                <a:gd name="connsiteX12" fmla="*/ 0 w 2035649"/>
                <a:gd name="connsiteY12" fmla="*/ 776687 h 1870344"/>
                <a:gd name="connsiteX13" fmla="*/ 487943 w 2035649"/>
                <a:gd name="connsiteY13" fmla="*/ 288744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515865 w 2035649"/>
                <a:gd name="connsiteY5" fmla="*/ 1317792 h 1870344"/>
                <a:gd name="connsiteX6" fmla="*/ 1197102 w 2035649"/>
                <a:gd name="connsiteY6" fmla="*/ 1870344 h 1870344"/>
                <a:gd name="connsiteX7" fmla="*/ 1164916 w 2035649"/>
                <a:gd name="connsiteY7" fmla="*/ 1850790 h 1870344"/>
                <a:gd name="connsiteX8" fmla="*/ 633154 w 2035649"/>
                <a:gd name="connsiteY8" fmla="*/ 1686707 h 1870344"/>
                <a:gd name="connsiteX9" fmla="*/ 487943 w 2035649"/>
                <a:gd name="connsiteY9" fmla="*/ 1679374 h 1870344"/>
                <a:gd name="connsiteX10" fmla="*/ 487943 w 2035649"/>
                <a:gd name="connsiteY10" fmla="*/ 1264630 h 1870344"/>
                <a:gd name="connsiteX11" fmla="*/ 0 w 2035649"/>
                <a:gd name="connsiteY11" fmla="*/ 776687 h 1870344"/>
                <a:gd name="connsiteX12" fmla="*/ 487943 w 2035649"/>
                <a:gd name="connsiteY12" fmla="*/ 288744 h 1870344"/>
                <a:gd name="connsiteX13" fmla="*/ 487943 w 2035649"/>
                <a:gd name="connsiteY13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288744 h 1870344"/>
                <a:gd name="connsiteX12" fmla="*/ 487943 w 2035649"/>
                <a:gd name="connsiteY12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0 w 2035649"/>
                <a:gd name="connsiteY9" fmla="*/ 776687 h 1870344"/>
                <a:gd name="connsiteX10" fmla="*/ 487943 w 2035649"/>
                <a:gd name="connsiteY10" fmla="*/ 0 h 18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649" h="1870344">
                  <a:moveTo>
                    <a:pt x="487943" y="0"/>
                  </a:moveTo>
                  <a:lnTo>
                    <a:pt x="647448" y="4033"/>
                  </a:lnTo>
                  <a:cubicBezTo>
                    <a:pt x="1122923" y="28135"/>
                    <a:pt x="1570129" y="159381"/>
                    <a:pt x="1965405" y="374107"/>
                  </a:cubicBezTo>
                  <a:lnTo>
                    <a:pt x="2035649" y="416782"/>
                  </a:lnTo>
                  <a:lnTo>
                    <a:pt x="1805484" y="1317792"/>
                  </a:lnTo>
                  <a:lnTo>
                    <a:pt x="1197102" y="1870344"/>
                  </a:lnTo>
                  <a:lnTo>
                    <a:pt x="1164916" y="1850790"/>
                  </a:lnTo>
                  <a:cubicBezTo>
                    <a:pt x="1003924" y="1763334"/>
                    <a:pt x="824132" y="1706102"/>
                    <a:pt x="633154" y="1686707"/>
                  </a:cubicBezTo>
                  <a:lnTo>
                    <a:pt x="487943" y="1679374"/>
                  </a:lnTo>
                  <a:lnTo>
                    <a:pt x="0" y="776687"/>
                  </a:lnTo>
                  <a:lnTo>
                    <a:pt x="487943" y="0"/>
                  </a:lnTo>
                  <a:close/>
                </a:path>
              </a:pathLst>
            </a:custGeom>
            <a:solidFill>
              <a:srgbClr val="FFC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2EE1C8-CF41-B415-1E2B-2DC17FBFF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343" y="2397915"/>
              <a:ext cx="1971862" cy="1971945"/>
            </a:xfrm>
            <a:custGeom>
              <a:avLst/>
              <a:gdLst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476041 w 1971862"/>
                <a:gd name="connsiteY10" fmla="*/ 1407434 h 1971945"/>
                <a:gd name="connsiteX11" fmla="*/ 0 w 1971862"/>
                <a:gd name="connsiteY11" fmla="*/ 1132343 h 1971945"/>
                <a:gd name="connsiteX12" fmla="*/ 111404 w 1971862"/>
                <a:gd name="connsiteY12" fmla="*/ 948968 h 1971945"/>
                <a:gd name="connsiteX13" fmla="*/ 948630 w 1971862"/>
                <a:gd name="connsiteY13" fmla="*/ 111741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0 w 1971862"/>
                <a:gd name="connsiteY10" fmla="*/ 1132343 h 1971945"/>
                <a:gd name="connsiteX11" fmla="*/ 111404 w 1971862"/>
                <a:gd name="connsiteY11" fmla="*/ 948968 h 1971945"/>
                <a:gd name="connsiteX12" fmla="*/ 948630 w 1971862"/>
                <a:gd name="connsiteY12" fmla="*/ 111741 h 1971945"/>
                <a:gd name="connsiteX13" fmla="*/ 1132562 w 1971862"/>
                <a:gd name="connsiteY13" fmla="*/ 0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476041 w 1971862"/>
                <a:gd name="connsiteY8" fmla="*/ 1712486 h 1971945"/>
                <a:gd name="connsiteX9" fmla="*/ 0 w 1971862"/>
                <a:gd name="connsiteY9" fmla="*/ 1132343 h 1971945"/>
                <a:gd name="connsiteX10" fmla="*/ 111404 w 1971862"/>
                <a:gd name="connsiteY10" fmla="*/ 948968 h 1971945"/>
                <a:gd name="connsiteX11" fmla="*/ 948630 w 1971862"/>
                <a:gd name="connsiteY11" fmla="*/ 111741 h 1971945"/>
                <a:gd name="connsiteX12" fmla="*/ 1132562 w 1971862"/>
                <a:gd name="connsiteY12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773774 w 1971862"/>
                <a:gd name="connsiteY2" fmla="*/ 1110150 h 1971945"/>
                <a:gd name="connsiteX3" fmla="*/ 1971862 w 1971862"/>
                <a:gd name="connsiteY3" fmla="*/ 1453105 h 1971945"/>
                <a:gd name="connsiteX4" fmla="*/ 1887584 w 1971862"/>
                <a:gd name="connsiteY4" fmla="*/ 1504305 h 1971945"/>
                <a:gd name="connsiteX5" fmla="*/ 1503967 w 1971862"/>
                <a:gd name="connsiteY5" fmla="*/ 1887922 h 1971945"/>
                <a:gd name="connsiteX6" fmla="*/ 1452922 w 1971862"/>
                <a:gd name="connsiteY6" fmla="*/ 1971945 h 1971945"/>
                <a:gd name="connsiteX7" fmla="*/ 476041 w 1971862"/>
                <a:gd name="connsiteY7" fmla="*/ 1712486 h 1971945"/>
                <a:gd name="connsiteX8" fmla="*/ 0 w 1971862"/>
                <a:gd name="connsiteY8" fmla="*/ 1132343 h 1971945"/>
                <a:gd name="connsiteX9" fmla="*/ 111404 w 1971862"/>
                <a:gd name="connsiteY9" fmla="*/ 948968 h 1971945"/>
                <a:gd name="connsiteX10" fmla="*/ 948630 w 1971862"/>
                <a:gd name="connsiteY10" fmla="*/ 111741 h 1971945"/>
                <a:gd name="connsiteX11" fmla="*/ 1132562 w 1971862"/>
                <a:gd name="connsiteY11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971862 w 1971862"/>
                <a:gd name="connsiteY2" fmla="*/ 1453105 h 1971945"/>
                <a:gd name="connsiteX3" fmla="*/ 1887584 w 1971862"/>
                <a:gd name="connsiteY3" fmla="*/ 1504305 h 1971945"/>
                <a:gd name="connsiteX4" fmla="*/ 1503967 w 1971862"/>
                <a:gd name="connsiteY4" fmla="*/ 1887922 h 1971945"/>
                <a:gd name="connsiteX5" fmla="*/ 1452922 w 1971862"/>
                <a:gd name="connsiteY5" fmla="*/ 1971945 h 1971945"/>
                <a:gd name="connsiteX6" fmla="*/ 476041 w 1971862"/>
                <a:gd name="connsiteY6" fmla="*/ 1712486 h 1971945"/>
                <a:gd name="connsiteX7" fmla="*/ 0 w 1971862"/>
                <a:gd name="connsiteY7" fmla="*/ 1132343 h 1971945"/>
                <a:gd name="connsiteX8" fmla="*/ 111404 w 1971862"/>
                <a:gd name="connsiteY8" fmla="*/ 948968 h 1971945"/>
                <a:gd name="connsiteX9" fmla="*/ 948630 w 1971862"/>
                <a:gd name="connsiteY9" fmla="*/ 111741 h 1971945"/>
                <a:gd name="connsiteX10" fmla="*/ 1132562 w 1971862"/>
                <a:gd name="connsiteY10" fmla="*/ 0 h 19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1862" h="1971945">
                  <a:moveTo>
                    <a:pt x="1132562" y="0"/>
                  </a:moveTo>
                  <a:lnTo>
                    <a:pt x="1773774" y="379908"/>
                  </a:lnTo>
                  <a:lnTo>
                    <a:pt x="1971862" y="1453105"/>
                  </a:lnTo>
                  <a:lnTo>
                    <a:pt x="1887584" y="1504305"/>
                  </a:lnTo>
                  <a:cubicBezTo>
                    <a:pt x="1736469" y="1606396"/>
                    <a:pt x="1606058" y="1736807"/>
                    <a:pt x="1503967" y="1887922"/>
                  </a:cubicBezTo>
                  <a:lnTo>
                    <a:pt x="1452922" y="1971945"/>
                  </a:lnTo>
                  <a:lnTo>
                    <a:pt x="476041" y="1712486"/>
                  </a:lnTo>
                  <a:lnTo>
                    <a:pt x="0" y="1132343"/>
                  </a:lnTo>
                  <a:lnTo>
                    <a:pt x="111404" y="948968"/>
                  </a:lnTo>
                  <a:cubicBezTo>
                    <a:pt x="334213" y="619166"/>
                    <a:pt x="618828" y="334551"/>
                    <a:pt x="948630" y="111741"/>
                  </a:cubicBezTo>
                  <a:lnTo>
                    <a:pt x="1132562" y="0"/>
                  </a:lnTo>
                  <a:close/>
                </a:path>
              </a:pathLst>
            </a:custGeom>
            <a:solidFill>
              <a:srgbClr val="C13018">
                <a:lumMod val="60000"/>
                <a:lumOff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158889-D4EA-5738-3118-4CE170F3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380" y="3530535"/>
              <a:ext cx="1870808" cy="1549375"/>
            </a:xfrm>
            <a:custGeom>
              <a:avLst/>
              <a:gdLst>
                <a:gd name="connsiteX0" fmla="*/ 417795 w 1870808"/>
                <a:gd name="connsiteY0" fmla="*/ 0 h 1549375"/>
                <a:gd name="connsiteX1" fmla="*/ 1870808 w 1870808"/>
                <a:gd name="connsiteY1" fmla="*/ 839451 h 1549375"/>
                <a:gd name="connsiteX2" fmla="*/ 1850790 w 1870808"/>
                <a:gd name="connsiteY2" fmla="*/ 872401 h 1549375"/>
                <a:gd name="connsiteX3" fmla="*/ 1679374 w 1870808"/>
                <a:gd name="connsiteY3" fmla="*/ 1549374 h 1549375"/>
                <a:gd name="connsiteX4" fmla="*/ 1679374 w 1870808"/>
                <a:gd name="connsiteY4" fmla="*/ 1549375 h 1549375"/>
                <a:gd name="connsiteX5" fmla="*/ 0 w 1870808"/>
                <a:gd name="connsiteY5" fmla="*/ 1549375 h 1549375"/>
                <a:gd name="connsiteX6" fmla="*/ 0 w 1870808"/>
                <a:gd name="connsiteY6" fmla="*/ 1549374 h 1549375"/>
                <a:gd name="connsiteX7" fmla="*/ 374108 w 1870808"/>
                <a:gd name="connsiteY7" fmla="*/ 71911 h 154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0808" h="1549375">
                  <a:moveTo>
                    <a:pt x="417795" y="0"/>
                  </a:moveTo>
                  <a:lnTo>
                    <a:pt x="1870808" y="839451"/>
                  </a:lnTo>
                  <a:lnTo>
                    <a:pt x="1850790" y="872401"/>
                  </a:lnTo>
                  <a:cubicBezTo>
                    <a:pt x="1741471" y="1073640"/>
                    <a:pt x="1679374" y="1304255"/>
                    <a:pt x="1679374" y="1549374"/>
                  </a:cubicBezTo>
                  <a:lnTo>
                    <a:pt x="1679374" y="1549375"/>
                  </a:lnTo>
                  <a:lnTo>
                    <a:pt x="0" y="1549375"/>
                  </a:lnTo>
                  <a:lnTo>
                    <a:pt x="0" y="1549374"/>
                  </a:lnTo>
                  <a:cubicBezTo>
                    <a:pt x="0" y="1014414"/>
                    <a:pt x="135522" y="511107"/>
                    <a:pt x="374108" y="71911"/>
                  </a:cubicBezTo>
                  <a:close/>
                </a:path>
              </a:pathLst>
            </a:custGeom>
            <a:solidFill>
              <a:srgbClr val="C13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C04463-89B4-08EA-C2D9-199E29A19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182" y="1980289"/>
              <a:ext cx="1548819" cy="1870653"/>
            </a:xfrm>
            <a:custGeom>
              <a:avLst/>
              <a:gdLst>
                <a:gd name="connsiteX0" fmla="*/ 1548818 w 1548819"/>
                <a:gd name="connsiteY0" fmla="*/ 0 h 1870653"/>
                <a:gd name="connsiteX1" fmla="*/ 1548819 w 1548819"/>
                <a:gd name="connsiteY1" fmla="*/ 0 h 1870653"/>
                <a:gd name="connsiteX2" fmla="*/ 1548819 w 1548819"/>
                <a:gd name="connsiteY2" fmla="*/ 1679374 h 1870653"/>
                <a:gd name="connsiteX3" fmla="*/ 1548818 w 1548819"/>
                <a:gd name="connsiteY3" fmla="*/ 1679374 h 1870653"/>
                <a:gd name="connsiteX4" fmla="*/ 871845 w 1548819"/>
                <a:gd name="connsiteY4" fmla="*/ 1850790 h 1870653"/>
                <a:gd name="connsiteX5" fmla="*/ 839150 w 1548819"/>
                <a:gd name="connsiteY5" fmla="*/ 1870653 h 1870653"/>
                <a:gd name="connsiteX6" fmla="*/ 0 w 1548819"/>
                <a:gd name="connsiteY6" fmla="*/ 417457 h 1870653"/>
                <a:gd name="connsiteX7" fmla="*/ 71355 w 1548819"/>
                <a:gd name="connsiteY7" fmla="*/ 374107 h 1870653"/>
                <a:gd name="connsiteX8" fmla="*/ 1548818 w 1548819"/>
                <a:gd name="connsiteY8" fmla="*/ 0 h 187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8819" h="1870653">
                  <a:moveTo>
                    <a:pt x="1548818" y="0"/>
                  </a:moveTo>
                  <a:lnTo>
                    <a:pt x="1548819" y="0"/>
                  </a:lnTo>
                  <a:lnTo>
                    <a:pt x="1548819" y="1679374"/>
                  </a:lnTo>
                  <a:lnTo>
                    <a:pt x="1548818" y="1679374"/>
                  </a:lnTo>
                  <a:cubicBezTo>
                    <a:pt x="1303700" y="1679374"/>
                    <a:pt x="1073084" y="1741470"/>
                    <a:pt x="871845" y="1850790"/>
                  </a:cubicBezTo>
                  <a:lnTo>
                    <a:pt x="839150" y="1870653"/>
                  </a:lnTo>
                  <a:lnTo>
                    <a:pt x="0" y="417457"/>
                  </a:lnTo>
                  <a:lnTo>
                    <a:pt x="71355" y="374107"/>
                  </a:lnTo>
                  <a:cubicBezTo>
                    <a:pt x="510551" y="135522"/>
                    <a:pt x="1013858" y="0"/>
                    <a:pt x="1548818" y="0"/>
                  </a:cubicBezTo>
                  <a:close/>
                </a:path>
              </a:pathLst>
            </a:custGeom>
            <a:solidFill>
              <a:srgbClr val="F79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7E61AA-DBD5-2799-337F-19772DF6A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287" y="2397240"/>
              <a:ext cx="1972370" cy="1972621"/>
            </a:xfrm>
            <a:custGeom>
              <a:avLst/>
              <a:gdLst>
                <a:gd name="connsiteX0" fmla="*/ 838698 w 1972370"/>
                <a:gd name="connsiteY0" fmla="*/ 0 h 1972621"/>
                <a:gd name="connsiteX1" fmla="*/ 1023740 w 1972370"/>
                <a:gd name="connsiteY1" fmla="*/ 112416 h 1972621"/>
                <a:gd name="connsiteX2" fmla="*/ 1860967 w 1972370"/>
                <a:gd name="connsiteY2" fmla="*/ 949643 h 1972621"/>
                <a:gd name="connsiteX3" fmla="*/ 1972370 w 1972370"/>
                <a:gd name="connsiteY3" fmla="*/ 1133019 h 1972621"/>
                <a:gd name="connsiteX4" fmla="*/ 519449 w 1972370"/>
                <a:gd name="connsiteY4" fmla="*/ 1972621 h 1972621"/>
                <a:gd name="connsiteX5" fmla="*/ 468403 w 1972370"/>
                <a:gd name="connsiteY5" fmla="*/ 1888597 h 1972621"/>
                <a:gd name="connsiteX6" fmla="*/ 84786 w 1972370"/>
                <a:gd name="connsiteY6" fmla="*/ 1504980 h 1972621"/>
                <a:gd name="connsiteX7" fmla="*/ 0 w 1972370"/>
                <a:gd name="connsiteY7" fmla="*/ 1453471 h 197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2370" h="1972621">
                  <a:moveTo>
                    <a:pt x="838698" y="0"/>
                  </a:moveTo>
                  <a:lnTo>
                    <a:pt x="1023740" y="112416"/>
                  </a:lnTo>
                  <a:cubicBezTo>
                    <a:pt x="1353542" y="335226"/>
                    <a:pt x="1638157" y="619841"/>
                    <a:pt x="1860967" y="949643"/>
                  </a:cubicBezTo>
                  <a:lnTo>
                    <a:pt x="1972370" y="1133019"/>
                  </a:lnTo>
                  <a:lnTo>
                    <a:pt x="519449" y="1972621"/>
                  </a:lnTo>
                  <a:lnTo>
                    <a:pt x="468403" y="1888597"/>
                  </a:lnTo>
                  <a:cubicBezTo>
                    <a:pt x="366312" y="1737482"/>
                    <a:pt x="235901" y="1607071"/>
                    <a:pt x="84786" y="1504980"/>
                  </a:cubicBezTo>
                  <a:lnTo>
                    <a:pt x="0" y="1453471"/>
                  </a:lnTo>
                  <a:close/>
                </a:path>
              </a:pathLst>
            </a:custGeom>
            <a:solidFill>
              <a:srgbClr val="A2B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0EE2365-D3EB-1CD9-E79A-677359B45344}"/>
                </a:ext>
              </a:extLst>
            </p:cNvPr>
            <p:cNvSpPr/>
            <p:nvPr/>
          </p:nvSpPr>
          <p:spPr>
            <a:xfrm>
              <a:off x="3965940" y="2955293"/>
              <a:ext cx="4249234" cy="2124617"/>
            </a:xfrm>
            <a:custGeom>
              <a:avLst/>
              <a:gdLst>
                <a:gd name="connsiteX0" fmla="*/ 2124617 w 4249234"/>
                <a:gd name="connsiteY0" fmla="*/ 0 h 2124617"/>
                <a:gd name="connsiteX1" fmla="*/ 4249234 w 4249234"/>
                <a:gd name="connsiteY1" fmla="*/ 2124617 h 2124617"/>
                <a:gd name="connsiteX2" fmla="*/ 0 w 4249234"/>
                <a:gd name="connsiteY2" fmla="*/ 2124617 h 2124617"/>
                <a:gd name="connsiteX3" fmla="*/ 2124617 w 4249234"/>
                <a:gd name="connsiteY3" fmla="*/ 0 h 2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234" h="2124617">
                  <a:moveTo>
                    <a:pt x="2124617" y="0"/>
                  </a:moveTo>
                  <a:cubicBezTo>
                    <a:pt x="3298011" y="0"/>
                    <a:pt x="4249234" y="951223"/>
                    <a:pt x="4249234" y="2124617"/>
                  </a:cubicBezTo>
                  <a:lnTo>
                    <a:pt x="0" y="2124617"/>
                  </a:lnTo>
                  <a:cubicBezTo>
                    <a:pt x="0" y="951223"/>
                    <a:pt x="951223" y="0"/>
                    <a:pt x="2124617" y="0"/>
                  </a:cubicBez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B0D5D2-2050-B47E-5DE3-B838E1DC41AF}"/>
                </a:ext>
              </a:extLst>
            </p:cNvPr>
            <p:cNvSpPr txBox="1"/>
            <p:nvPr/>
          </p:nvSpPr>
          <p:spPr>
            <a:xfrm>
              <a:off x="3039763" y="417088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D3D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867266-1CAB-F5B2-1897-520652485984}"/>
                </a:ext>
              </a:extLst>
            </p:cNvPr>
            <p:cNvSpPr txBox="1"/>
            <p:nvPr/>
          </p:nvSpPr>
          <p:spPr>
            <a:xfrm>
              <a:off x="3960482" y="3024315"/>
              <a:ext cx="83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Unsafe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F4700F-BBBE-815E-3C28-6BB96FA7BE9C}"/>
                </a:ext>
              </a:extLst>
            </p:cNvPr>
            <p:cNvSpPr txBox="1"/>
            <p:nvPr/>
          </p:nvSpPr>
          <p:spPr>
            <a:xfrm>
              <a:off x="6416928" y="232985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31A37B-CE66-7860-D980-D3EF25E9716A}"/>
                </a:ext>
              </a:extLst>
            </p:cNvPr>
            <p:cNvSpPr txBox="1"/>
            <p:nvPr/>
          </p:nvSpPr>
          <p:spPr>
            <a:xfrm>
              <a:off x="7575177" y="3024315"/>
              <a:ext cx="579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C78D4D-F51B-83C7-3BF3-C93A629D7F7E}"/>
                </a:ext>
              </a:extLst>
            </p:cNvPr>
            <p:cNvSpPr txBox="1"/>
            <p:nvPr/>
          </p:nvSpPr>
          <p:spPr>
            <a:xfrm>
              <a:off x="8119212" y="4170887"/>
              <a:ext cx="708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srgbClr val="D3D3D3"/>
                  </a:solidFill>
                  <a:latin typeface="Calibri" panose="020F0502020204030204"/>
                  <a:ea typeface="+mn-ea"/>
                  <a:cs typeface="+mn-cs"/>
                </a:rPr>
                <a:t>Great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240543-41E4-8B01-A31A-C17BF144751C}"/>
                </a:ext>
              </a:extLst>
            </p:cNvPr>
            <p:cNvSpPr txBox="1"/>
            <p:nvPr/>
          </p:nvSpPr>
          <p:spPr>
            <a:xfrm>
              <a:off x="5143436" y="2329858"/>
              <a:ext cx="8130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Not So</a:t>
              </a:r>
              <a:b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</a:b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Ok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77D6A-D74A-1D72-2E57-D193AB1D8513}"/>
              </a:ext>
            </a:extLst>
          </p:cNvPr>
          <p:cNvGrpSpPr/>
          <p:nvPr/>
        </p:nvGrpSpPr>
        <p:grpSpPr>
          <a:xfrm rot="3166349">
            <a:off x="5775070" y="2387013"/>
            <a:ext cx="641857" cy="5534076"/>
            <a:chOff x="5775072" y="2312872"/>
            <a:chExt cx="641857" cy="553407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868353E-661E-0E05-076A-5AA8CF994BA3}"/>
                </a:ext>
              </a:extLst>
            </p:cNvPr>
            <p:cNvSpPr/>
            <p:nvPr/>
          </p:nvSpPr>
          <p:spPr>
            <a:xfrm>
              <a:off x="5775072" y="2312872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E76AA80-9D22-C690-8BA2-877D6CF1DA5D}"/>
                </a:ext>
              </a:extLst>
            </p:cNvPr>
            <p:cNvSpPr/>
            <p:nvPr/>
          </p:nvSpPr>
          <p:spPr>
            <a:xfrm rot="10800000">
              <a:off x="5775073" y="5079910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94D5771-BFDF-EA36-A295-0F4F2C0E8D98}"/>
                </a:ext>
              </a:extLst>
            </p:cNvPr>
            <p:cNvSpPr/>
            <p:nvPr/>
          </p:nvSpPr>
          <p:spPr>
            <a:xfrm rot="10800000">
              <a:off x="5958435" y="4937035"/>
              <a:ext cx="285750" cy="28575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24022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3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NEXUS PANEL</a:t>
            </a:r>
            <a:endParaRPr/>
          </a:p>
        </p:txBody>
      </p:sp>
      <p:sp>
        <p:nvSpPr>
          <p:cNvPr id="560" name="Google Shape;560;p138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561" name="Google Shape;561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932" y="2067008"/>
            <a:ext cx="11260122" cy="146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1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7033" y="3713846"/>
            <a:ext cx="2637914" cy="2637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39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NEXUS PANEL</a:t>
            </a:r>
            <a:endParaRPr/>
          </a:p>
        </p:txBody>
      </p:sp>
      <p:sp>
        <p:nvSpPr>
          <p:cNvPr id="568" name="Google Shape;568;p139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569" name="Google Shape;569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0650" y="1784900"/>
            <a:ext cx="7990701" cy="487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40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NEXUS PANEL</a:t>
            </a:r>
            <a:endParaRPr/>
          </a:p>
        </p:txBody>
      </p:sp>
      <p:sp>
        <p:nvSpPr>
          <p:cNvPr id="575" name="Google Shape;575;p140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sp>
        <p:nvSpPr>
          <p:cNvPr id="576" name="Google Shape;576;p140"/>
          <p:cNvSpPr txBox="1"/>
          <p:nvPr/>
        </p:nvSpPr>
        <p:spPr>
          <a:xfrm>
            <a:off x="2060275" y="2474113"/>
            <a:ext cx="7872300" cy="32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SQL injection could dump full database.</a:t>
            </a:r>
            <a:endParaRPr sz="24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Clear text passwords</a:t>
            </a:r>
            <a:endParaRPr sz="24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No code or RCE.</a:t>
            </a:r>
            <a:endParaRPr sz="24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</a:pPr>
            <a:r>
              <a:rPr lang="en-GB" sz="2400" b="0" i="0" u="none" strike="noStrike" cap="non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rPr>
              <a:t>Unfortunately no panels are available for the past couple of months.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26262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4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AURORA</a:t>
            </a:r>
            <a:endParaRPr/>
          </a:p>
        </p:txBody>
      </p:sp>
      <p:sp>
        <p:nvSpPr>
          <p:cNvPr id="582" name="Google Shape;582;p141"/>
          <p:cNvSpPr txBox="1">
            <a:spLocks noGrp="1"/>
          </p:cNvSpPr>
          <p:nvPr>
            <p:ph type="body" idx="1"/>
          </p:nvPr>
        </p:nvSpPr>
        <p:spPr>
          <a:xfrm>
            <a:off x="2286451" y="2269525"/>
            <a:ext cx="7619100" cy="3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First appearance in early 2022.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Windows stealer.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Written in Golang capable of stealing ~100 crypto wallets.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C2 panel also written in Golang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 dirty="0"/>
              <a:t>AURORA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15ABE-7A08-FF7B-6CE9-230F54DBA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AADEDF2-7D5B-8E53-8D5B-3091FD57E3C6}"/>
              </a:ext>
            </a:extLst>
          </p:cNvPr>
          <p:cNvGrpSpPr/>
          <p:nvPr/>
        </p:nvGrpSpPr>
        <p:grpSpPr>
          <a:xfrm>
            <a:off x="2996379" y="2146581"/>
            <a:ext cx="6199241" cy="3099621"/>
            <a:chOff x="2996380" y="1980289"/>
            <a:chExt cx="6199241" cy="3099621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378DA0D-D143-9CBC-CA29-27EFA950D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4814" y="3530536"/>
              <a:ext cx="1870807" cy="1549374"/>
            </a:xfrm>
            <a:custGeom>
              <a:avLst/>
              <a:gdLst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569848 h 1549374"/>
                <a:gd name="connsiteX9" fmla="*/ 466658 w 1870807"/>
                <a:gd name="connsiteY9" fmla="*/ 202986 h 1549374"/>
                <a:gd name="connsiteX10" fmla="*/ 1101663 w 1870807"/>
                <a:gd name="connsiteY10" fmla="*/ 202986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101663 w 1870807"/>
                <a:gd name="connsiteY9" fmla="*/ 202986 h 1549374"/>
                <a:gd name="connsiteX10" fmla="*/ 1453013 w 1870807"/>
                <a:gd name="connsiteY10" fmla="*/ 0 h 1549374"/>
                <a:gd name="connsiteX0" fmla="*/ 1453013 w 1870807"/>
                <a:gd name="connsiteY0" fmla="*/ 0 h 1549374"/>
                <a:gd name="connsiteX1" fmla="*/ 1496700 w 1870807"/>
                <a:gd name="connsiteY1" fmla="*/ 71910 h 1549374"/>
                <a:gd name="connsiteX2" fmla="*/ 1870807 w 1870807"/>
                <a:gd name="connsiteY2" fmla="*/ 1549373 h 1549374"/>
                <a:gd name="connsiteX3" fmla="*/ 1870807 w 1870807"/>
                <a:gd name="connsiteY3" fmla="*/ 1549374 h 1549374"/>
                <a:gd name="connsiteX4" fmla="*/ 191433 w 1870807"/>
                <a:gd name="connsiteY4" fmla="*/ 1549374 h 1549374"/>
                <a:gd name="connsiteX5" fmla="*/ 191433 w 1870807"/>
                <a:gd name="connsiteY5" fmla="*/ 1549373 h 1549374"/>
                <a:gd name="connsiteX6" fmla="*/ 20017 w 1870807"/>
                <a:gd name="connsiteY6" fmla="*/ 872400 h 1549374"/>
                <a:gd name="connsiteX7" fmla="*/ 0 w 1870807"/>
                <a:gd name="connsiteY7" fmla="*/ 839451 h 1549374"/>
                <a:gd name="connsiteX8" fmla="*/ 466658 w 1870807"/>
                <a:gd name="connsiteY8" fmla="*/ 202986 h 1549374"/>
                <a:gd name="connsiteX9" fmla="*/ 1453013 w 1870807"/>
                <a:gd name="connsiteY9" fmla="*/ 0 h 1549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70807" h="1549374">
                  <a:moveTo>
                    <a:pt x="1453013" y="0"/>
                  </a:moveTo>
                  <a:lnTo>
                    <a:pt x="1496700" y="71910"/>
                  </a:lnTo>
                  <a:cubicBezTo>
                    <a:pt x="1735285" y="511106"/>
                    <a:pt x="1870807" y="1014413"/>
                    <a:pt x="1870807" y="1549373"/>
                  </a:cubicBezTo>
                  <a:lnTo>
                    <a:pt x="1870807" y="1549374"/>
                  </a:lnTo>
                  <a:lnTo>
                    <a:pt x="191433" y="1549374"/>
                  </a:lnTo>
                  <a:lnTo>
                    <a:pt x="191433" y="1549373"/>
                  </a:lnTo>
                  <a:cubicBezTo>
                    <a:pt x="191433" y="1304254"/>
                    <a:pt x="129337" y="1073639"/>
                    <a:pt x="20017" y="872400"/>
                  </a:cubicBezTo>
                  <a:lnTo>
                    <a:pt x="0" y="839451"/>
                  </a:lnTo>
                  <a:lnTo>
                    <a:pt x="466658" y="202986"/>
                  </a:lnTo>
                  <a:lnTo>
                    <a:pt x="1453013" y="0"/>
                  </a:lnTo>
                  <a:close/>
                </a:path>
              </a:pathLst>
            </a:custGeom>
            <a:solidFill>
              <a:srgbClr val="A2B969">
                <a:lumMod val="5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6470E46-2C5C-3FEA-3B57-6D5D57E9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058" y="1980289"/>
              <a:ext cx="2035649" cy="1870344"/>
            </a:xfrm>
            <a:custGeom>
              <a:avLst/>
              <a:gdLst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815757 h 1870344"/>
                <a:gd name="connsiteX5" fmla="*/ 1805484 w 2035649"/>
                <a:gd name="connsiteY5" fmla="*/ 1317792 h 1870344"/>
                <a:gd name="connsiteX6" fmla="*/ 1515865 w 2035649"/>
                <a:gd name="connsiteY6" fmla="*/ 1317792 h 1870344"/>
                <a:gd name="connsiteX7" fmla="*/ 1197102 w 2035649"/>
                <a:gd name="connsiteY7" fmla="*/ 1870344 h 1870344"/>
                <a:gd name="connsiteX8" fmla="*/ 1164916 w 2035649"/>
                <a:gd name="connsiteY8" fmla="*/ 1850790 h 1870344"/>
                <a:gd name="connsiteX9" fmla="*/ 633154 w 2035649"/>
                <a:gd name="connsiteY9" fmla="*/ 1686707 h 1870344"/>
                <a:gd name="connsiteX10" fmla="*/ 487943 w 2035649"/>
                <a:gd name="connsiteY10" fmla="*/ 1679374 h 1870344"/>
                <a:gd name="connsiteX11" fmla="*/ 487943 w 2035649"/>
                <a:gd name="connsiteY11" fmla="*/ 1264630 h 1870344"/>
                <a:gd name="connsiteX12" fmla="*/ 0 w 2035649"/>
                <a:gd name="connsiteY12" fmla="*/ 776687 h 1870344"/>
                <a:gd name="connsiteX13" fmla="*/ 487943 w 2035649"/>
                <a:gd name="connsiteY13" fmla="*/ 288744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515865 w 2035649"/>
                <a:gd name="connsiteY5" fmla="*/ 1317792 h 1870344"/>
                <a:gd name="connsiteX6" fmla="*/ 1197102 w 2035649"/>
                <a:gd name="connsiteY6" fmla="*/ 1870344 h 1870344"/>
                <a:gd name="connsiteX7" fmla="*/ 1164916 w 2035649"/>
                <a:gd name="connsiteY7" fmla="*/ 1850790 h 1870344"/>
                <a:gd name="connsiteX8" fmla="*/ 633154 w 2035649"/>
                <a:gd name="connsiteY8" fmla="*/ 1686707 h 1870344"/>
                <a:gd name="connsiteX9" fmla="*/ 487943 w 2035649"/>
                <a:gd name="connsiteY9" fmla="*/ 1679374 h 1870344"/>
                <a:gd name="connsiteX10" fmla="*/ 487943 w 2035649"/>
                <a:gd name="connsiteY10" fmla="*/ 1264630 h 1870344"/>
                <a:gd name="connsiteX11" fmla="*/ 0 w 2035649"/>
                <a:gd name="connsiteY11" fmla="*/ 776687 h 1870344"/>
                <a:gd name="connsiteX12" fmla="*/ 487943 w 2035649"/>
                <a:gd name="connsiteY12" fmla="*/ 288744 h 1870344"/>
                <a:gd name="connsiteX13" fmla="*/ 487943 w 2035649"/>
                <a:gd name="connsiteY13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288744 h 1870344"/>
                <a:gd name="connsiteX12" fmla="*/ 487943 w 2035649"/>
                <a:gd name="connsiteY12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487943 w 2035649"/>
                <a:gd name="connsiteY9" fmla="*/ 1264630 h 1870344"/>
                <a:gd name="connsiteX10" fmla="*/ 0 w 2035649"/>
                <a:gd name="connsiteY10" fmla="*/ 776687 h 1870344"/>
                <a:gd name="connsiteX11" fmla="*/ 487943 w 2035649"/>
                <a:gd name="connsiteY11" fmla="*/ 0 h 1870344"/>
                <a:gd name="connsiteX0" fmla="*/ 487943 w 2035649"/>
                <a:gd name="connsiteY0" fmla="*/ 0 h 1870344"/>
                <a:gd name="connsiteX1" fmla="*/ 647448 w 2035649"/>
                <a:gd name="connsiteY1" fmla="*/ 4033 h 1870344"/>
                <a:gd name="connsiteX2" fmla="*/ 1965405 w 2035649"/>
                <a:gd name="connsiteY2" fmla="*/ 374107 h 1870344"/>
                <a:gd name="connsiteX3" fmla="*/ 2035649 w 2035649"/>
                <a:gd name="connsiteY3" fmla="*/ 416782 h 1870344"/>
                <a:gd name="connsiteX4" fmla="*/ 1805484 w 2035649"/>
                <a:gd name="connsiteY4" fmla="*/ 1317792 h 1870344"/>
                <a:gd name="connsiteX5" fmla="*/ 1197102 w 2035649"/>
                <a:gd name="connsiteY5" fmla="*/ 1870344 h 1870344"/>
                <a:gd name="connsiteX6" fmla="*/ 1164916 w 2035649"/>
                <a:gd name="connsiteY6" fmla="*/ 1850790 h 1870344"/>
                <a:gd name="connsiteX7" fmla="*/ 633154 w 2035649"/>
                <a:gd name="connsiteY7" fmla="*/ 1686707 h 1870344"/>
                <a:gd name="connsiteX8" fmla="*/ 487943 w 2035649"/>
                <a:gd name="connsiteY8" fmla="*/ 1679374 h 1870344"/>
                <a:gd name="connsiteX9" fmla="*/ 0 w 2035649"/>
                <a:gd name="connsiteY9" fmla="*/ 776687 h 1870344"/>
                <a:gd name="connsiteX10" fmla="*/ 487943 w 2035649"/>
                <a:gd name="connsiteY10" fmla="*/ 0 h 1870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649" h="1870344">
                  <a:moveTo>
                    <a:pt x="487943" y="0"/>
                  </a:moveTo>
                  <a:lnTo>
                    <a:pt x="647448" y="4033"/>
                  </a:lnTo>
                  <a:cubicBezTo>
                    <a:pt x="1122923" y="28135"/>
                    <a:pt x="1570129" y="159381"/>
                    <a:pt x="1965405" y="374107"/>
                  </a:cubicBezTo>
                  <a:lnTo>
                    <a:pt x="2035649" y="416782"/>
                  </a:lnTo>
                  <a:lnTo>
                    <a:pt x="1805484" y="1317792"/>
                  </a:lnTo>
                  <a:lnTo>
                    <a:pt x="1197102" y="1870344"/>
                  </a:lnTo>
                  <a:lnTo>
                    <a:pt x="1164916" y="1850790"/>
                  </a:lnTo>
                  <a:cubicBezTo>
                    <a:pt x="1003924" y="1763334"/>
                    <a:pt x="824132" y="1706102"/>
                    <a:pt x="633154" y="1686707"/>
                  </a:cubicBezTo>
                  <a:lnTo>
                    <a:pt x="487943" y="1679374"/>
                  </a:lnTo>
                  <a:lnTo>
                    <a:pt x="0" y="776687"/>
                  </a:lnTo>
                  <a:lnTo>
                    <a:pt x="487943" y="0"/>
                  </a:lnTo>
                  <a:close/>
                </a:path>
              </a:pathLst>
            </a:custGeom>
            <a:solidFill>
              <a:srgbClr val="FFC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2EE1C8-CF41-B415-1E2B-2DC17FBFF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343" y="2397915"/>
              <a:ext cx="1971862" cy="1971945"/>
            </a:xfrm>
            <a:custGeom>
              <a:avLst/>
              <a:gdLst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476041 w 1971862"/>
                <a:gd name="connsiteY10" fmla="*/ 1407434 h 1971945"/>
                <a:gd name="connsiteX11" fmla="*/ 0 w 1971862"/>
                <a:gd name="connsiteY11" fmla="*/ 1132343 h 1971945"/>
                <a:gd name="connsiteX12" fmla="*/ 111404 w 1971862"/>
                <a:gd name="connsiteY12" fmla="*/ 948968 h 1971945"/>
                <a:gd name="connsiteX13" fmla="*/ 948630 w 1971862"/>
                <a:gd name="connsiteY13" fmla="*/ 111741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1003931 w 1971862"/>
                <a:gd name="connsiteY8" fmla="*/ 1712486 h 1971945"/>
                <a:gd name="connsiteX9" fmla="*/ 476041 w 1971862"/>
                <a:gd name="connsiteY9" fmla="*/ 1712486 h 1971945"/>
                <a:gd name="connsiteX10" fmla="*/ 0 w 1971862"/>
                <a:gd name="connsiteY10" fmla="*/ 1132343 h 1971945"/>
                <a:gd name="connsiteX11" fmla="*/ 111404 w 1971862"/>
                <a:gd name="connsiteY11" fmla="*/ 948968 h 1971945"/>
                <a:gd name="connsiteX12" fmla="*/ 948630 w 1971862"/>
                <a:gd name="connsiteY12" fmla="*/ 111741 h 1971945"/>
                <a:gd name="connsiteX13" fmla="*/ 1132562 w 1971862"/>
                <a:gd name="connsiteY13" fmla="*/ 0 h 1971945"/>
                <a:gd name="connsiteX0" fmla="*/ 1132562 w 1971862"/>
                <a:gd name="connsiteY0" fmla="*/ 0 h 1971945"/>
                <a:gd name="connsiteX1" fmla="*/ 1351994 w 1971862"/>
                <a:gd name="connsiteY1" fmla="*/ 379908 h 1971945"/>
                <a:gd name="connsiteX2" fmla="*/ 1773774 w 1971862"/>
                <a:gd name="connsiteY2" fmla="*/ 379908 h 1971945"/>
                <a:gd name="connsiteX3" fmla="*/ 1773774 w 1971862"/>
                <a:gd name="connsiteY3" fmla="*/ 1110150 h 1971945"/>
                <a:gd name="connsiteX4" fmla="*/ 1971862 w 1971862"/>
                <a:gd name="connsiteY4" fmla="*/ 1453105 h 1971945"/>
                <a:gd name="connsiteX5" fmla="*/ 1887584 w 1971862"/>
                <a:gd name="connsiteY5" fmla="*/ 1504305 h 1971945"/>
                <a:gd name="connsiteX6" fmla="*/ 1503967 w 1971862"/>
                <a:gd name="connsiteY6" fmla="*/ 1887922 h 1971945"/>
                <a:gd name="connsiteX7" fmla="*/ 1452922 w 1971862"/>
                <a:gd name="connsiteY7" fmla="*/ 1971945 h 1971945"/>
                <a:gd name="connsiteX8" fmla="*/ 476041 w 1971862"/>
                <a:gd name="connsiteY8" fmla="*/ 1712486 h 1971945"/>
                <a:gd name="connsiteX9" fmla="*/ 0 w 1971862"/>
                <a:gd name="connsiteY9" fmla="*/ 1132343 h 1971945"/>
                <a:gd name="connsiteX10" fmla="*/ 111404 w 1971862"/>
                <a:gd name="connsiteY10" fmla="*/ 948968 h 1971945"/>
                <a:gd name="connsiteX11" fmla="*/ 948630 w 1971862"/>
                <a:gd name="connsiteY11" fmla="*/ 111741 h 1971945"/>
                <a:gd name="connsiteX12" fmla="*/ 1132562 w 1971862"/>
                <a:gd name="connsiteY12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773774 w 1971862"/>
                <a:gd name="connsiteY2" fmla="*/ 1110150 h 1971945"/>
                <a:gd name="connsiteX3" fmla="*/ 1971862 w 1971862"/>
                <a:gd name="connsiteY3" fmla="*/ 1453105 h 1971945"/>
                <a:gd name="connsiteX4" fmla="*/ 1887584 w 1971862"/>
                <a:gd name="connsiteY4" fmla="*/ 1504305 h 1971945"/>
                <a:gd name="connsiteX5" fmla="*/ 1503967 w 1971862"/>
                <a:gd name="connsiteY5" fmla="*/ 1887922 h 1971945"/>
                <a:gd name="connsiteX6" fmla="*/ 1452922 w 1971862"/>
                <a:gd name="connsiteY6" fmla="*/ 1971945 h 1971945"/>
                <a:gd name="connsiteX7" fmla="*/ 476041 w 1971862"/>
                <a:gd name="connsiteY7" fmla="*/ 1712486 h 1971945"/>
                <a:gd name="connsiteX8" fmla="*/ 0 w 1971862"/>
                <a:gd name="connsiteY8" fmla="*/ 1132343 h 1971945"/>
                <a:gd name="connsiteX9" fmla="*/ 111404 w 1971862"/>
                <a:gd name="connsiteY9" fmla="*/ 948968 h 1971945"/>
                <a:gd name="connsiteX10" fmla="*/ 948630 w 1971862"/>
                <a:gd name="connsiteY10" fmla="*/ 111741 h 1971945"/>
                <a:gd name="connsiteX11" fmla="*/ 1132562 w 1971862"/>
                <a:gd name="connsiteY11" fmla="*/ 0 h 1971945"/>
                <a:gd name="connsiteX0" fmla="*/ 1132562 w 1971862"/>
                <a:gd name="connsiteY0" fmla="*/ 0 h 1971945"/>
                <a:gd name="connsiteX1" fmla="*/ 1773774 w 1971862"/>
                <a:gd name="connsiteY1" fmla="*/ 379908 h 1971945"/>
                <a:gd name="connsiteX2" fmla="*/ 1971862 w 1971862"/>
                <a:gd name="connsiteY2" fmla="*/ 1453105 h 1971945"/>
                <a:gd name="connsiteX3" fmla="*/ 1887584 w 1971862"/>
                <a:gd name="connsiteY3" fmla="*/ 1504305 h 1971945"/>
                <a:gd name="connsiteX4" fmla="*/ 1503967 w 1971862"/>
                <a:gd name="connsiteY4" fmla="*/ 1887922 h 1971945"/>
                <a:gd name="connsiteX5" fmla="*/ 1452922 w 1971862"/>
                <a:gd name="connsiteY5" fmla="*/ 1971945 h 1971945"/>
                <a:gd name="connsiteX6" fmla="*/ 476041 w 1971862"/>
                <a:gd name="connsiteY6" fmla="*/ 1712486 h 1971945"/>
                <a:gd name="connsiteX7" fmla="*/ 0 w 1971862"/>
                <a:gd name="connsiteY7" fmla="*/ 1132343 h 1971945"/>
                <a:gd name="connsiteX8" fmla="*/ 111404 w 1971862"/>
                <a:gd name="connsiteY8" fmla="*/ 948968 h 1971945"/>
                <a:gd name="connsiteX9" fmla="*/ 948630 w 1971862"/>
                <a:gd name="connsiteY9" fmla="*/ 111741 h 1971945"/>
                <a:gd name="connsiteX10" fmla="*/ 1132562 w 1971862"/>
                <a:gd name="connsiteY10" fmla="*/ 0 h 1971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1862" h="1971945">
                  <a:moveTo>
                    <a:pt x="1132562" y="0"/>
                  </a:moveTo>
                  <a:lnTo>
                    <a:pt x="1773774" y="379908"/>
                  </a:lnTo>
                  <a:lnTo>
                    <a:pt x="1971862" y="1453105"/>
                  </a:lnTo>
                  <a:lnTo>
                    <a:pt x="1887584" y="1504305"/>
                  </a:lnTo>
                  <a:cubicBezTo>
                    <a:pt x="1736469" y="1606396"/>
                    <a:pt x="1606058" y="1736807"/>
                    <a:pt x="1503967" y="1887922"/>
                  </a:cubicBezTo>
                  <a:lnTo>
                    <a:pt x="1452922" y="1971945"/>
                  </a:lnTo>
                  <a:lnTo>
                    <a:pt x="476041" y="1712486"/>
                  </a:lnTo>
                  <a:lnTo>
                    <a:pt x="0" y="1132343"/>
                  </a:lnTo>
                  <a:lnTo>
                    <a:pt x="111404" y="948968"/>
                  </a:lnTo>
                  <a:cubicBezTo>
                    <a:pt x="334213" y="619166"/>
                    <a:pt x="618828" y="334551"/>
                    <a:pt x="948630" y="111741"/>
                  </a:cubicBezTo>
                  <a:lnTo>
                    <a:pt x="1132562" y="0"/>
                  </a:lnTo>
                  <a:close/>
                </a:path>
              </a:pathLst>
            </a:custGeom>
            <a:solidFill>
              <a:srgbClr val="C13018">
                <a:lumMod val="60000"/>
                <a:lumOff val="4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C158889-D4EA-5738-3118-4CE170F34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380" y="3530535"/>
              <a:ext cx="1870808" cy="1549375"/>
            </a:xfrm>
            <a:custGeom>
              <a:avLst/>
              <a:gdLst>
                <a:gd name="connsiteX0" fmla="*/ 417795 w 1870808"/>
                <a:gd name="connsiteY0" fmla="*/ 0 h 1549375"/>
                <a:gd name="connsiteX1" fmla="*/ 1870808 w 1870808"/>
                <a:gd name="connsiteY1" fmla="*/ 839451 h 1549375"/>
                <a:gd name="connsiteX2" fmla="*/ 1850790 w 1870808"/>
                <a:gd name="connsiteY2" fmla="*/ 872401 h 1549375"/>
                <a:gd name="connsiteX3" fmla="*/ 1679374 w 1870808"/>
                <a:gd name="connsiteY3" fmla="*/ 1549374 h 1549375"/>
                <a:gd name="connsiteX4" fmla="*/ 1679374 w 1870808"/>
                <a:gd name="connsiteY4" fmla="*/ 1549375 h 1549375"/>
                <a:gd name="connsiteX5" fmla="*/ 0 w 1870808"/>
                <a:gd name="connsiteY5" fmla="*/ 1549375 h 1549375"/>
                <a:gd name="connsiteX6" fmla="*/ 0 w 1870808"/>
                <a:gd name="connsiteY6" fmla="*/ 1549374 h 1549375"/>
                <a:gd name="connsiteX7" fmla="*/ 374108 w 1870808"/>
                <a:gd name="connsiteY7" fmla="*/ 71911 h 154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70808" h="1549375">
                  <a:moveTo>
                    <a:pt x="417795" y="0"/>
                  </a:moveTo>
                  <a:lnTo>
                    <a:pt x="1870808" y="839451"/>
                  </a:lnTo>
                  <a:lnTo>
                    <a:pt x="1850790" y="872401"/>
                  </a:lnTo>
                  <a:cubicBezTo>
                    <a:pt x="1741471" y="1073640"/>
                    <a:pt x="1679374" y="1304255"/>
                    <a:pt x="1679374" y="1549374"/>
                  </a:cubicBezTo>
                  <a:lnTo>
                    <a:pt x="1679374" y="1549375"/>
                  </a:lnTo>
                  <a:lnTo>
                    <a:pt x="0" y="1549375"/>
                  </a:lnTo>
                  <a:lnTo>
                    <a:pt x="0" y="1549374"/>
                  </a:lnTo>
                  <a:cubicBezTo>
                    <a:pt x="0" y="1014414"/>
                    <a:pt x="135522" y="511107"/>
                    <a:pt x="374108" y="71911"/>
                  </a:cubicBezTo>
                  <a:close/>
                </a:path>
              </a:pathLst>
            </a:custGeom>
            <a:solidFill>
              <a:srgbClr val="C13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8C04463-89B4-08EA-C2D9-199E29A19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182" y="1980289"/>
              <a:ext cx="1548819" cy="1870653"/>
            </a:xfrm>
            <a:custGeom>
              <a:avLst/>
              <a:gdLst>
                <a:gd name="connsiteX0" fmla="*/ 1548818 w 1548819"/>
                <a:gd name="connsiteY0" fmla="*/ 0 h 1870653"/>
                <a:gd name="connsiteX1" fmla="*/ 1548819 w 1548819"/>
                <a:gd name="connsiteY1" fmla="*/ 0 h 1870653"/>
                <a:gd name="connsiteX2" fmla="*/ 1548819 w 1548819"/>
                <a:gd name="connsiteY2" fmla="*/ 1679374 h 1870653"/>
                <a:gd name="connsiteX3" fmla="*/ 1548818 w 1548819"/>
                <a:gd name="connsiteY3" fmla="*/ 1679374 h 1870653"/>
                <a:gd name="connsiteX4" fmla="*/ 871845 w 1548819"/>
                <a:gd name="connsiteY4" fmla="*/ 1850790 h 1870653"/>
                <a:gd name="connsiteX5" fmla="*/ 839150 w 1548819"/>
                <a:gd name="connsiteY5" fmla="*/ 1870653 h 1870653"/>
                <a:gd name="connsiteX6" fmla="*/ 0 w 1548819"/>
                <a:gd name="connsiteY6" fmla="*/ 417457 h 1870653"/>
                <a:gd name="connsiteX7" fmla="*/ 71355 w 1548819"/>
                <a:gd name="connsiteY7" fmla="*/ 374107 h 1870653"/>
                <a:gd name="connsiteX8" fmla="*/ 1548818 w 1548819"/>
                <a:gd name="connsiteY8" fmla="*/ 0 h 1870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48819" h="1870653">
                  <a:moveTo>
                    <a:pt x="1548818" y="0"/>
                  </a:moveTo>
                  <a:lnTo>
                    <a:pt x="1548819" y="0"/>
                  </a:lnTo>
                  <a:lnTo>
                    <a:pt x="1548819" y="1679374"/>
                  </a:lnTo>
                  <a:lnTo>
                    <a:pt x="1548818" y="1679374"/>
                  </a:lnTo>
                  <a:cubicBezTo>
                    <a:pt x="1303700" y="1679374"/>
                    <a:pt x="1073084" y="1741470"/>
                    <a:pt x="871845" y="1850790"/>
                  </a:cubicBezTo>
                  <a:lnTo>
                    <a:pt x="839150" y="1870653"/>
                  </a:lnTo>
                  <a:lnTo>
                    <a:pt x="0" y="417457"/>
                  </a:lnTo>
                  <a:lnTo>
                    <a:pt x="71355" y="374107"/>
                  </a:lnTo>
                  <a:cubicBezTo>
                    <a:pt x="510551" y="135522"/>
                    <a:pt x="1013858" y="0"/>
                    <a:pt x="1548818" y="0"/>
                  </a:cubicBezTo>
                  <a:close/>
                </a:path>
              </a:pathLst>
            </a:custGeom>
            <a:solidFill>
              <a:srgbClr val="F79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D7E61AA-DBD5-2799-337F-19772DF6A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287" y="2397240"/>
              <a:ext cx="1972370" cy="1972621"/>
            </a:xfrm>
            <a:custGeom>
              <a:avLst/>
              <a:gdLst>
                <a:gd name="connsiteX0" fmla="*/ 838698 w 1972370"/>
                <a:gd name="connsiteY0" fmla="*/ 0 h 1972621"/>
                <a:gd name="connsiteX1" fmla="*/ 1023740 w 1972370"/>
                <a:gd name="connsiteY1" fmla="*/ 112416 h 1972621"/>
                <a:gd name="connsiteX2" fmla="*/ 1860967 w 1972370"/>
                <a:gd name="connsiteY2" fmla="*/ 949643 h 1972621"/>
                <a:gd name="connsiteX3" fmla="*/ 1972370 w 1972370"/>
                <a:gd name="connsiteY3" fmla="*/ 1133019 h 1972621"/>
                <a:gd name="connsiteX4" fmla="*/ 519449 w 1972370"/>
                <a:gd name="connsiteY4" fmla="*/ 1972621 h 1972621"/>
                <a:gd name="connsiteX5" fmla="*/ 468403 w 1972370"/>
                <a:gd name="connsiteY5" fmla="*/ 1888597 h 1972621"/>
                <a:gd name="connsiteX6" fmla="*/ 84786 w 1972370"/>
                <a:gd name="connsiteY6" fmla="*/ 1504980 h 1972621"/>
                <a:gd name="connsiteX7" fmla="*/ 0 w 1972370"/>
                <a:gd name="connsiteY7" fmla="*/ 1453471 h 197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72370" h="1972621">
                  <a:moveTo>
                    <a:pt x="838698" y="0"/>
                  </a:moveTo>
                  <a:lnTo>
                    <a:pt x="1023740" y="112416"/>
                  </a:lnTo>
                  <a:cubicBezTo>
                    <a:pt x="1353542" y="335226"/>
                    <a:pt x="1638157" y="619841"/>
                    <a:pt x="1860967" y="949643"/>
                  </a:cubicBezTo>
                  <a:lnTo>
                    <a:pt x="1972370" y="1133019"/>
                  </a:lnTo>
                  <a:lnTo>
                    <a:pt x="519449" y="1972621"/>
                  </a:lnTo>
                  <a:lnTo>
                    <a:pt x="468403" y="1888597"/>
                  </a:lnTo>
                  <a:cubicBezTo>
                    <a:pt x="366312" y="1737482"/>
                    <a:pt x="235901" y="1607071"/>
                    <a:pt x="84786" y="1504980"/>
                  </a:cubicBezTo>
                  <a:lnTo>
                    <a:pt x="0" y="1453471"/>
                  </a:lnTo>
                  <a:close/>
                </a:path>
              </a:pathLst>
            </a:custGeom>
            <a:solidFill>
              <a:srgbClr val="A2B9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0EE2365-D3EB-1CD9-E79A-677359B45344}"/>
                </a:ext>
              </a:extLst>
            </p:cNvPr>
            <p:cNvSpPr/>
            <p:nvPr/>
          </p:nvSpPr>
          <p:spPr>
            <a:xfrm>
              <a:off x="3965940" y="2955293"/>
              <a:ext cx="4249234" cy="2124617"/>
            </a:xfrm>
            <a:custGeom>
              <a:avLst/>
              <a:gdLst>
                <a:gd name="connsiteX0" fmla="*/ 2124617 w 4249234"/>
                <a:gd name="connsiteY0" fmla="*/ 0 h 2124617"/>
                <a:gd name="connsiteX1" fmla="*/ 4249234 w 4249234"/>
                <a:gd name="connsiteY1" fmla="*/ 2124617 h 2124617"/>
                <a:gd name="connsiteX2" fmla="*/ 0 w 4249234"/>
                <a:gd name="connsiteY2" fmla="*/ 2124617 h 2124617"/>
                <a:gd name="connsiteX3" fmla="*/ 2124617 w 4249234"/>
                <a:gd name="connsiteY3" fmla="*/ 0 h 212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9234" h="2124617">
                  <a:moveTo>
                    <a:pt x="2124617" y="0"/>
                  </a:moveTo>
                  <a:cubicBezTo>
                    <a:pt x="3298011" y="0"/>
                    <a:pt x="4249234" y="951223"/>
                    <a:pt x="4249234" y="2124617"/>
                  </a:cubicBezTo>
                  <a:lnTo>
                    <a:pt x="0" y="2124617"/>
                  </a:lnTo>
                  <a:cubicBezTo>
                    <a:pt x="0" y="951223"/>
                    <a:pt x="951223" y="0"/>
                    <a:pt x="2124617" y="0"/>
                  </a:cubicBezTo>
                  <a:close/>
                </a:path>
              </a:pathLst>
            </a:custGeom>
            <a:solidFill>
              <a:sysClr val="window" lastClr="FFFFFF">
                <a:alpha val="3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CB0D5D2-2050-B47E-5DE3-B838E1DC41AF}"/>
                </a:ext>
              </a:extLst>
            </p:cNvPr>
            <p:cNvSpPr txBox="1"/>
            <p:nvPr/>
          </p:nvSpPr>
          <p:spPr>
            <a:xfrm>
              <a:off x="3039763" y="4170887"/>
              <a:ext cx="894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3D3D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Vanned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8867266-1CAB-F5B2-1897-520652485984}"/>
                </a:ext>
              </a:extLst>
            </p:cNvPr>
            <p:cNvSpPr txBox="1"/>
            <p:nvPr/>
          </p:nvSpPr>
          <p:spPr>
            <a:xfrm>
              <a:off x="3960482" y="3024315"/>
              <a:ext cx="8331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Unsafe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0F4700F-BBBE-815E-3C28-6BB96FA7BE9C}"/>
                </a:ext>
              </a:extLst>
            </p:cNvPr>
            <p:cNvSpPr txBox="1"/>
            <p:nvPr/>
          </p:nvSpPr>
          <p:spPr>
            <a:xfrm>
              <a:off x="6416928" y="232985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E31A37B-CE66-7860-D980-D3EF25E9716A}"/>
                </a:ext>
              </a:extLst>
            </p:cNvPr>
            <p:cNvSpPr txBox="1"/>
            <p:nvPr/>
          </p:nvSpPr>
          <p:spPr>
            <a:xfrm>
              <a:off x="7575177" y="3024315"/>
              <a:ext cx="5799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Safe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4C78D4D-F51B-83C7-3BF3-C93A629D7F7E}"/>
                </a:ext>
              </a:extLst>
            </p:cNvPr>
            <p:cNvSpPr txBox="1"/>
            <p:nvPr/>
          </p:nvSpPr>
          <p:spPr>
            <a:xfrm>
              <a:off x="8119212" y="4170887"/>
              <a:ext cx="7085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srgbClr val="D3D3D3"/>
                  </a:solidFill>
                  <a:latin typeface="Calibri" panose="020F0502020204030204"/>
                  <a:ea typeface="+mn-ea"/>
                  <a:cs typeface="+mn-cs"/>
                </a:rPr>
                <a:t>Great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3D3D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240543-41E4-8B01-A31A-C17BF144751C}"/>
                </a:ext>
              </a:extLst>
            </p:cNvPr>
            <p:cNvSpPr txBox="1"/>
            <p:nvPr/>
          </p:nvSpPr>
          <p:spPr>
            <a:xfrm>
              <a:off x="5143436" y="2329858"/>
              <a:ext cx="81304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Not So</a:t>
              </a:r>
              <a:b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</a:br>
              <a:r>
                <a:rPr lang="en-US" sz="1800" kern="1200" dirty="0">
                  <a:solidFill>
                    <a:prstClr val="black"/>
                  </a:solidFill>
                  <a:latin typeface="Calibri" panose="020F0502020204030204"/>
                  <a:ea typeface="+mn-ea"/>
                  <a:cs typeface="+mn-cs"/>
                </a:rPr>
                <a:t>Ok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3077D6A-D74A-1D72-2E57-D193AB1D8513}"/>
              </a:ext>
            </a:extLst>
          </p:cNvPr>
          <p:cNvGrpSpPr/>
          <p:nvPr/>
        </p:nvGrpSpPr>
        <p:grpSpPr>
          <a:xfrm rot="5146417">
            <a:off x="5775070" y="2387013"/>
            <a:ext cx="641857" cy="5534076"/>
            <a:chOff x="5775072" y="2312872"/>
            <a:chExt cx="641857" cy="5534076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868353E-661E-0E05-076A-5AA8CF994BA3}"/>
                </a:ext>
              </a:extLst>
            </p:cNvPr>
            <p:cNvSpPr/>
            <p:nvPr/>
          </p:nvSpPr>
          <p:spPr>
            <a:xfrm>
              <a:off x="5775072" y="2312872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8E76AA80-9D22-C690-8BA2-877D6CF1DA5D}"/>
                </a:ext>
              </a:extLst>
            </p:cNvPr>
            <p:cNvSpPr/>
            <p:nvPr/>
          </p:nvSpPr>
          <p:spPr>
            <a:xfrm rot="10800000">
              <a:off x="5775073" y="5079910"/>
              <a:ext cx="641856" cy="2767038"/>
            </a:xfrm>
            <a:custGeom>
              <a:avLst/>
              <a:gdLst>
                <a:gd name="connsiteX0" fmla="*/ 320942 w 641856"/>
                <a:gd name="connsiteY0" fmla="*/ 139892 h 2767038"/>
                <a:gd name="connsiteX1" fmla="*/ 154103 w 641856"/>
                <a:gd name="connsiteY1" fmla="*/ 378210 h 2767038"/>
                <a:gd name="connsiteX2" fmla="*/ 487752 w 641856"/>
                <a:gd name="connsiteY2" fmla="*/ 378182 h 2767038"/>
                <a:gd name="connsiteX3" fmla="*/ 320885 w 641856"/>
                <a:gd name="connsiteY3" fmla="*/ 0 h 2767038"/>
                <a:gd name="connsiteX4" fmla="*/ 641856 w 641856"/>
                <a:gd name="connsiteY4" fmla="*/ 458480 h 2767038"/>
                <a:gd name="connsiteX5" fmla="*/ 358549 w 641856"/>
                <a:gd name="connsiteY5" fmla="*/ 458225 h 2767038"/>
                <a:gd name="connsiteX6" fmla="*/ 358573 w 641856"/>
                <a:gd name="connsiteY6" fmla="*/ 1111724 h 2767038"/>
                <a:gd name="connsiteX7" fmla="*/ 358551 w 641856"/>
                <a:gd name="connsiteY7" fmla="*/ 1111725 h 2767038"/>
                <a:gd name="connsiteX8" fmla="*/ 358573 w 641856"/>
                <a:gd name="connsiteY8" fmla="*/ 1717858 h 2767038"/>
                <a:gd name="connsiteX9" fmla="*/ 358543 w 641856"/>
                <a:gd name="connsiteY9" fmla="*/ 1717858 h 2767038"/>
                <a:gd name="connsiteX10" fmla="*/ 358580 w 641856"/>
                <a:gd name="connsiteY10" fmla="*/ 2767038 h 2767038"/>
                <a:gd name="connsiteX11" fmla="*/ 278254 w 641856"/>
                <a:gd name="connsiteY11" fmla="*/ 2767038 h 2767038"/>
                <a:gd name="connsiteX12" fmla="*/ 278331 w 641856"/>
                <a:gd name="connsiteY12" fmla="*/ 1717858 h 2767038"/>
                <a:gd name="connsiteX13" fmla="*/ 278266 w 641856"/>
                <a:gd name="connsiteY13" fmla="*/ 1717858 h 2767038"/>
                <a:gd name="connsiteX14" fmla="*/ 278311 w 641856"/>
                <a:gd name="connsiteY14" fmla="*/ 1111725 h 2767038"/>
                <a:gd name="connsiteX15" fmla="*/ 278266 w 641856"/>
                <a:gd name="connsiteY15" fmla="*/ 1111724 h 2767038"/>
                <a:gd name="connsiteX16" fmla="*/ 278302 w 641856"/>
                <a:gd name="connsiteY16" fmla="*/ 617671 h 2767038"/>
                <a:gd name="connsiteX17" fmla="*/ 278282 w 641856"/>
                <a:gd name="connsiteY17" fmla="*/ 617671 h 2767038"/>
                <a:gd name="connsiteX18" fmla="*/ 278282 w 641856"/>
                <a:gd name="connsiteY18" fmla="*/ 458480 h 2767038"/>
                <a:gd name="connsiteX19" fmla="*/ 0 w 641856"/>
                <a:gd name="connsiteY19" fmla="*/ 458451 h 276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41856" h="2767038">
                  <a:moveTo>
                    <a:pt x="320942" y="139892"/>
                  </a:moveTo>
                  <a:lnTo>
                    <a:pt x="154103" y="378210"/>
                  </a:lnTo>
                  <a:lnTo>
                    <a:pt x="487752" y="378182"/>
                  </a:lnTo>
                  <a:close/>
                  <a:moveTo>
                    <a:pt x="320885" y="0"/>
                  </a:moveTo>
                  <a:lnTo>
                    <a:pt x="641856" y="458480"/>
                  </a:lnTo>
                  <a:lnTo>
                    <a:pt x="358549" y="458225"/>
                  </a:lnTo>
                  <a:lnTo>
                    <a:pt x="358573" y="1111724"/>
                  </a:lnTo>
                  <a:lnTo>
                    <a:pt x="358551" y="1111725"/>
                  </a:lnTo>
                  <a:lnTo>
                    <a:pt x="358573" y="1717858"/>
                  </a:lnTo>
                  <a:lnTo>
                    <a:pt x="358543" y="1717858"/>
                  </a:lnTo>
                  <a:lnTo>
                    <a:pt x="358580" y="2767038"/>
                  </a:lnTo>
                  <a:lnTo>
                    <a:pt x="278254" y="2767038"/>
                  </a:lnTo>
                  <a:lnTo>
                    <a:pt x="278331" y="1717858"/>
                  </a:lnTo>
                  <a:lnTo>
                    <a:pt x="278266" y="1717858"/>
                  </a:lnTo>
                  <a:lnTo>
                    <a:pt x="278311" y="1111725"/>
                  </a:lnTo>
                  <a:lnTo>
                    <a:pt x="278266" y="1111724"/>
                  </a:lnTo>
                  <a:lnTo>
                    <a:pt x="278302" y="617671"/>
                  </a:lnTo>
                  <a:lnTo>
                    <a:pt x="278282" y="617671"/>
                  </a:lnTo>
                  <a:lnTo>
                    <a:pt x="278282" y="458480"/>
                  </a:lnTo>
                  <a:lnTo>
                    <a:pt x="0" y="458451"/>
                  </a:lnTo>
                  <a:close/>
                </a:path>
              </a:pathLst>
            </a:cu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F94D5771-BFDF-EA36-A295-0F4F2C0E8D98}"/>
                </a:ext>
              </a:extLst>
            </p:cNvPr>
            <p:cNvSpPr/>
            <p:nvPr/>
          </p:nvSpPr>
          <p:spPr>
            <a:xfrm rot="10800000">
              <a:off x="5958435" y="4937035"/>
              <a:ext cx="285750" cy="285750"/>
            </a:xfrm>
            <a:prstGeom prst="ellipse">
              <a:avLst/>
            </a:pr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68631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42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AURORA</a:t>
            </a:r>
            <a:endParaRPr/>
          </a:p>
        </p:txBody>
      </p:sp>
      <p:sp>
        <p:nvSpPr>
          <p:cNvPr id="588" name="Google Shape;588;p142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 err="1"/>
              <a:t>Dirsearch</a:t>
            </a:r>
            <a:r>
              <a:rPr lang="en-GB" sz="2400" dirty="0"/>
              <a:t> found a stray image loading advertisements.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Followed that lead.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Found the base building server handling all builds and licensing.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 dirty="0"/>
              <a:t>You could add a user to it and create stealers.</a:t>
            </a:r>
            <a:endParaRPr sz="2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3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AURORA</a:t>
            </a:r>
            <a:endParaRPr/>
          </a:p>
        </p:txBody>
      </p:sp>
      <p:sp>
        <p:nvSpPr>
          <p:cNvPr id="594" name="Google Shape;594;p143"/>
          <p:cNvSpPr txBox="1">
            <a:spLocks noGrp="1"/>
          </p:cNvSpPr>
          <p:nvPr>
            <p:ph type="body" idx="1"/>
          </p:nvPr>
        </p:nvSpPr>
        <p:spPr>
          <a:xfrm>
            <a:off x="1869807" y="2246791"/>
            <a:ext cx="8253247" cy="3729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</p:txBody>
      </p:sp>
      <p:pic>
        <p:nvPicPr>
          <p:cNvPr id="595" name="Google Shape;595;p1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2259" y="1740879"/>
            <a:ext cx="8487497" cy="498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44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AURORA</a:t>
            </a:r>
            <a:endParaRPr/>
          </a:p>
        </p:txBody>
      </p:sp>
      <p:pic>
        <p:nvPicPr>
          <p:cNvPr id="601" name="Google Shape;601;p1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2446" y="1703439"/>
            <a:ext cx="3364092" cy="481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5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ETHICAL DILEMMAS</a:t>
            </a:r>
            <a:endParaRPr/>
          </a:p>
        </p:txBody>
      </p:sp>
      <p:pic>
        <p:nvPicPr>
          <p:cNvPr id="607" name="Google Shape;607;p1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0041" y="1802041"/>
            <a:ext cx="7891918" cy="4853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46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ETHICAL DILEMMAS</a:t>
            </a:r>
            <a:endParaRPr/>
          </a:p>
        </p:txBody>
      </p:sp>
      <p:sp>
        <p:nvSpPr>
          <p:cNvPr id="613" name="Google Shape;613;p146"/>
          <p:cNvSpPr txBox="1">
            <a:spLocks noGrp="1"/>
          </p:cNvSpPr>
          <p:nvPr>
            <p:ph type="body" idx="1"/>
          </p:nvPr>
        </p:nvSpPr>
        <p:spPr>
          <a:xfrm>
            <a:off x="2231100" y="2269525"/>
            <a:ext cx="7729800" cy="3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Criminals will get better.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C2s will get some focus too.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Bar will be raised and today’s 0-days will no longer be valid.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Could interfere with active police investigations.</a:t>
            </a:r>
            <a:endParaRPr sz="2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47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NEXT STEPS </a:t>
            </a:r>
            <a:endParaRPr/>
          </a:p>
        </p:txBody>
      </p:sp>
      <p:sp>
        <p:nvSpPr>
          <p:cNvPr id="619" name="Google Shape;619;p147"/>
          <p:cNvSpPr txBox="1">
            <a:spLocks noGrp="1"/>
          </p:cNvSpPr>
          <p:nvPr>
            <p:ph type="body" idx="1"/>
          </p:nvPr>
        </p:nvSpPr>
        <p:spPr>
          <a:xfrm>
            <a:off x="2815201" y="2303650"/>
            <a:ext cx="6561600" cy="3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Continue monitoring for new panels.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Find more 0-days.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Help researchers identify criminals.</a:t>
            </a: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2400"/>
              <a:t>Continue my 40 years “Don’t get Vanned” Strike.</a:t>
            </a:r>
            <a:endParaRPr sz="24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48"/>
          <p:cNvSpPr txBox="1">
            <a:spLocks noGrp="1"/>
          </p:cNvSpPr>
          <p:nvPr>
            <p:ph type="title"/>
          </p:nvPr>
        </p:nvSpPr>
        <p:spPr>
          <a:xfrm>
            <a:off x="2231136" y="36525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625" name="Google Shape;625;p148"/>
          <p:cNvSpPr txBox="1">
            <a:spLocks noGrp="1"/>
          </p:cNvSpPr>
          <p:nvPr>
            <p:ph type="body" idx="1"/>
          </p:nvPr>
        </p:nvSpPr>
        <p:spPr>
          <a:xfrm>
            <a:off x="2428501" y="2349150"/>
            <a:ext cx="7335000" cy="3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 u="sng">
                <a:solidFill>
                  <a:schemeClr val="hlink"/>
                </a:solidFill>
                <a:hlinkClick r:id="rId3"/>
              </a:rPr>
              <a:t>https://stykas.com/defcon31</a:t>
            </a: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/>
              <a:t>Blog-post explaining this presentation.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 u="sng">
                <a:solidFill>
                  <a:schemeClr val="hlink"/>
                </a:solidFill>
                <a:hlinkClick r:id="rId4"/>
              </a:rPr>
              <a:t>https://github.com/tix/defcon31</a:t>
            </a:r>
            <a:endParaRPr sz="24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2400"/>
              <a:t>All source code released.</a:t>
            </a:r>
            <a:endParaRPr sz="24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49"/>
          <p:cNvSpPr txBox="1">
            <a:spLocks noGrp="1"/>
          </p:cNvSpPr>
          <p:nvPr>
            <p:ph type="title"/>
          </p:nvPr>
        </p:nvSpPr>
        <p:spPr>
          <a:xfrm>
            <a:off x="2035193" y="2455309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</a:pPr>
            <a:r>
              <a:rPr lang="en-GB" dirty="0"/>
              <a:t>THANK YOU </a:t>
            </a:r>
            <a:endParaRPr dirty="0"/>
          </a:p>
        </p:txBody>
      </p:sp>
      <p:sp>
        <p:nvSpPr>
          <p:cNvPr id="631" name="Google Shape;631;p149"/>
          <p:cNvSpPr txBox="1">
            <a:spLocks noGrp="1"/>
          </p:cNvSpPr>
          <p:nvPr>
            <p:ph type="body" idx="1"/>
          </p:nvPr>
        </p:nvSpPr>
        <p:spPr>
          <a:xfrm>
            <a:off x="2231136" y="1838960"/>
            <a:ext cx="7729728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7553</TotalTime>
  <Words>1926</Words>
  <Application>Microsoft Office PowerPoint</Application>
  <PresentationFormat>Widescreen</PresentationFormat>
  <Paragraphs>422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100</vt:i4>
      </vt:variant>
    </vt:vector>
  </HeadingPairs>
  <TitlesOfParts>
    <vt:vector size="105" baseType="lpstr">
      <vt:lpstr>Arial</vt:lpstr>
      <vt:lpstr>Calibri</vt:lpstr>
      <vt:lpstr>Gill Sans</vt:lpstr>
      <vt:lpstr>Parcel</vt:lpstr>
      <vt:lpstr>Parcel</vt:lpstr>
      <vt:lpstr>The Art of Compromising C2 Servers:  A Web Application Vulnerabilities Perspective</vt:lpstr>
      <vt:lpstr>PowerPoint Presentation</vt:lpstr>
      <vt:lpstr>VANGELIS STYKAS</vt:lpstr>
      <vt:lpstr>AI over APIs </vt:lpstr>
      <vt:lpstr>HOW IT STARTED</vt:lpstr>
      <vt:lpstr>MALWARE MARKET </vt:lpstr>
      <vt:lpstr>MALWARE MARKET </vt:lpstr>
      <vt:lpstr>MALWARE MARKET </vt:lpstr>
      <vt:lpstr>PowerPoint Presentation</vt:lpstr>
      <vt:lpstr>MALWARE 101 </vt:lpstr>
      <vt:lpstr>MALWARE LINGO </vt:lpstr>
      <vt:lpstr>MALWARE ANALYSIS </vt:lpstr>
      <vt:lpstr>MALWARE ANALYSIS </vt:lpstr>
      <vt:lpstr>PowerPoint Presentation</vt:lpstr>
      <vt:lpstr>MALWARE C2 ANALYSIS </vt:lpstr>
      <vt:lpstr>MALWARE C2 ANALYSIS </vt:lpstr>
      <vt:lpstr>MALWARE C2 ANALYSIS </vt:lpstr>
      <vt:lpstr>MALWARE C2 ANALYSIS </vt:lpstr>
      <vt:lpstr>MALWARE C2 ANALYSIS </vt:lpstr>
      <vt:lpstr>TOOLSET AND METHODOLOGY</vt:lpstr>
      <vt:lpstr>METHODOLOGY</vt:lpstr>
      <vt:lpstr>GOALS</vt:lpstr>
      <vt:lpstr>GOALS</vt:lpstr>
      <vt:lpstr>NOT HONORABLE MENTION</vt:lpstr>
      <vt:lpstr>PowerPoint Presentation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HARLY</vt:lpstr>
      <vt:lpstr>CLIPPER</vt:lpstr>
      <vt:lpstr>CLIPPER</vt:lpstr>
      <vt:lpstr>CLIPPER</vt:lpstr>
      <vt:lpstr>CLIPPER</vt:lpstr>
      <vt:lpstr>CLIPPER</vt:lpstr>
      <vt:lpstr>CLIPPER</vt:lpstr>
      <vt:lpstr>CLIPPER</vt:lpstr>
      <vt:lpstr>CLIPPER</vt:lpstr>
      <vt:lpstr>CLIPPER</vt:lpstr>
      <vt:lpstr>CLIPPER</vt:lpstr>
      <vt:lpstr>CLIPPER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AMADEY</vt:lpstr>
      <vt:lpstr>SMOKELOADER</vt:lpstr>
      <vt:lpstr>SMOKELOADER</vt:lpstr>
      <vt:lpstr>SMOKELOADER</vt:lpstr>
      <vt:lpstr>SMOKELOADER</vt:lpstr>
      <vt:lpstr>SMOKELOADER</vt:lpstr>
      <vt:lpstr>SMOKELOADER</vt:lpstr>
      <vt:lpstr>SMOKELOADER</vt:lpstr>
      <vt:lpstr>SMOKELOADER</vt:lpstr>
      <vt:lpstr>SMOKELOADER</vt:lpstr>
      <vt:lpstr>MANIPULATED CAIMAN</vt:lpstr>
      <vt:lpstr>MANIPULATED CAIMAN</vt:lpstr>
      <vt:lpstr>MANIPULATED CAIMAN</vt:lpstr>
      <vt:lpstr>MANIPULATED CAIMAN</vt:lpstr>
      <vt:lpstr>MANIPULATED CAIMAN</vt:lpstr>
      <vt:lpstr>MANIPULATED CAIMAN</vt:lpstr>
      <vt:lpstr>MANIPULATED CAIMAN</vt:lpstr>
      <vt:lpstr>MANIPULATED CAIMAN</vt:lpstr>
      <vt:lpstr>NEXUS PANEL</vt:lpstr>
      <vt:lpstr>NEXUS PANEL</vt:lpstr>
      <vt:lpstr>NEXUS PANEL</vt:lpstr>
      <vt:lpstr>NEXUS PANEL</vt:lpstr>
      <vt:lpstr>NEXUS PANEL</vt:lpstr>
      <vt:lpstr>AURORA</vt:lpstr>
      <vt:lpstr>AURORA</vt:lpstr>
      <vt:lpstr>AURORA</vt:lpstr>
      <vt:lpstr>AURORA</vt:lpstr>
      <vt:lpstr>AURORA</vt:lpstr>
      <vt:lpstr>ETHICAL DILEMMAS</vt:lpstr>
      <vt:lpstr>ETHICAL DILEMMAS</vt:lpstr>
      <vt:lpstr>NEXT STEPS 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Compromising C2 Servers:  A Web Application Vulnerabilities Perspective</dc:title>
  <dc:creator>Felipe Solferini</dc:creator>
  <cp:lastModifiedBy>Vangelis Stykas</cp:lastModifiedBy>
  <cp:revision>10</cp:revision>
  <dcterms:created xsi:type="dcterms:W3CDTF">2022-11-19T14:47:05Z</dcterms:created>
  <dcterms:modified xsi:type="dcterms:W3CDTF">2023-08-08T07:53:22Z</dcterms:modified>
</cp:coreProperties>
</file>