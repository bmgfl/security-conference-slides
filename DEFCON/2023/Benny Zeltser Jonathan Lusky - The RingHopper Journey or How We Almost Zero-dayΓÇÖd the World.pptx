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6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4"/>
  </p:sldMasterIdLst>
  <p:notesMasterIdLst>
    <p:notesMasterId r:id="rId106"/>
  </p:notesMasterIdLst>
  <p:sldIdLst>
    <p:sldId id="257" r:id="rId5"/>
    <p:sldId id="525" r:id="rId6"/>
    <p:sldId id="259" r:id="rId7"/>
    <p:sldId id="260" r:id="rId8"/>
    <p:sldId id="527" r:id="rId9"/>
    <p:sldId id="624" r:id="rId10"/>
    <p:sldId id="374" r:id="rId11"/>
    <p:sldId id="528" r:id="rId12"/>
    <p:sldId id="523" r:id="rId13"/>
    <p:sldId id="262" r:id="rId14"/>
    <p:sldId id="263" r:id="rId15"/>
    <p:sldId id="658" r:id="rId16"/>
    <p:sldId id="645" r:id="rId17"/>
    <p:sldId id="463" r:id="rId18"/>
    <p:sldId id="274" r:id="rId19"/>
    <p:sldId id="277" r:id="rId20"/>
    <p:sldId id="278" r:id="rId21"/>
    <p:sldId id="569" r:id="rId22"/>
    <p:sldId id="628" r:id="rId23"/>
    <p:sldId id="564" r:id="rId24"/>
    <p:sldId id="289" r:id="rId25"/>
    <p:sldId id="290" r:id="rId26"/>
    <p:sldId id="634" r:id="rId27"/>
    <p:sldId id="544" r:id="rId28"/>
    <p:sldId id="546" r:id="rId29"/>
    <p:sldId id="294" r:id="rId30"/>
    <p:sldId id="666" r:id="rId31"/>
    <p:sldId id="567" r:id="rId32"/>
    <p:sldId id="376" r:id="rId33"/>
    <p:sldId id="380" r:id="rId34"/>
    <p:sldId id="378" r:id="rId35"/>
    <p:sldId id="408" r:id="rId36"/>
    <p:sldId id="660" r:id="rId37"/>
    <p:sldId id="661" r:id="rId38"/>
    <p:sldId id="305" r:id="rId39"/>
    <p:sldId id="416" r:id="rId40"/>
    <p:sldId id="307" r:id="rId41"/>
    <p:sldId id="327" r:id="rId42"/>
    <p:sldId id="489" r:id="rId43"/>
    <p:sldId id="328" r:id="rId44"/>
    <p:sldId id="646" r:id="rId45"/>
    <p:sldId id="647" r:id="rId46"/>
    <p:sldId id="648" r:id="rId47"/>
    <p:sldId id="649" r:id="rId48"/>
    <p:sldId id="333" r:id="rId49"/>
    <p:sldId id="650" r:id="rId50"/>
    <p:sldId id="664" r:id="rId51"/>
    <p:sldId id="665" r:id="rId52"/>
    <p:sldId id="518" r:id="rId53"/>
    <p:sldId id="338" r:id="rId54"/>
    <p:sldId id="617" r:id="rId55"/>
    <p:sldId id="573" r:id="rId56"/>
    <p:sldId id="399" r:id="rId57"/>
    <p:sldId id="398" r:id="rId58"/>
    <p:sldId id="400" r:id="rId59"/>
    <p:sldId id="457" r:id="rId60"/>
    <p:sldId id="465" r:id="rId61"/>
    <p:sldId id="468" r:id="rId62"/>
    <p:sldId id="643" r:id="rId63"/>
    <p:sldId id="651" r:id="rId64"/>
    <p:sldId id="344" r:id="rId65"/>
    <p:sldId id="345" r:id="rId66"/>
    <p:sldId id="621" r:id="rId67"/>
    <p:sldId id="347" r:id="rId68"/>
    <p:sldId id="402" r:id="rId69"/>
    <p:sldId id="588" r:id="rId70"/>
    <p:sldId id="592" r:id="rId71"/>
    <p:sldId id="593" r:id="rId72"/>
    <p:sldId id="351" r:id="rId73"/>
    <p:sldId id="454" r:id="rId74"/>
    <p:sldId id="581" r:id="rId75"/>
    <p:sldId id="652" r:id="rId76"/>
    <p:sldId id="353" r:id="rId77"/>
    <p:sldId id="455" r:id="rId78"/>
    <p:sldId id="653" r:id="rId79"/>
    <p:sldId id="436" r:id="rId80"/>
    <p:sldId id="438" r:id="rId81"/>
    <p:sldId id="483" r:id="rId82"/>
    <p:sldId id="484" r:id="rId83"/>
    <p:sldId id="655" r:id="rId84"/>
    <p:sldId id="486" r:id="rId85"/>
    <p:sldId id="602" r:id="rId86"/>
    <p:sldId id="603" r:id="rId87"/>
    <p:sldId id="487" r:id="rId88"/>
    <p:sldId id="364" r:id="rId89"/>
    <p:sldId id="365" r:id="rId90"/>
    <p:sldId id="662" r:id="rId91"/>
    <p:sldId id="462" r:id="rId92"/>
    <p:sldId id="366" r:id="rId93"/>
    <p:sldId id="375" r:id="rId94"/>
    <p:sldId id="367" r:id="rId95"/>
    <p:sldId id="389" r:id="rId96"/>
    <p:sldId id="368" r:id="rId97"/>
    <p:sldId id="393" r:id="rId98"/>
    <p:sldId id="667" r:id="rId99"/>
    <p:sldId id="394" r:id="rId100"/>
    <p:sldId id="476" r:id="rId101"/>
    <p:sldId id="656" r:id="rId102"/>
    <p:sldId id="495" r:id="rId103"/>
    <p:sldId id="459" r:id="rId104"/>
    <p:sldId id="491" r:id="rId10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ckground" id="{56C4D222-49AE-4B09-B0BF-C7351BE78A94}">
          <p14:sldIdLst>
            <p14:sldId id="257"/>
            <p14:sldId id="525"/>
            <p14:sldId id="259"/>
            <p14:sldId id="260"/>
            <p14:sldId id="527"/>
            <p14:sldId id="624"/>
            <p14:sldId id="374"/>
            <p14:sldId id="528"/>
            <p14:sldId id="523"/>
            <p14:sldId id="262"/>
            <p14:sldId id="263"/>
            <p14:sldId id="658"/>
            <p14:sldId id="645"/>
            <p14:sldId id="463"/>
            <p14:sldId id="274"/>
            <p14:sldId id="277"/>
            <p14:sldId id="278"/>
            <p14:sldId id="569"/>
            <p14:sldId id="628"/>
            <p14:sldId id="564"/>
            <p14:sldId id="289"/>
            <p14:sldId id="290"/>
            <p14:sldId id="634"/>
            <p14:sldId id="544"/>
            <p14:sldId id="546"/>
            <p14:sldId id="294"/>
            <p14:sldId id="666"/>
            <p14:sldId id="567"/>
          </p14:sldIdLst>
        </p14:section>
        <p14:section name="code exec attempt 0" id="{4614CB59-2696-4DDE-9360-54ED586F1511}">
          <p14:sldIdLst>
            <p14:sldId id="376"/>
            <p14:sldId id="380"/>
            <p14:sldId id="378"/>
            <p14:sldId id="408"/>
            <p14:sldId id="660"/>
            <p14:sldId id="661"/>
            <p14:sldId id="305"/>
            <p14:sldId id="416"/>
            <p14:sldId id="307"/>
            <p14:sldId id="327"/>
            <p14:sldId id="489"/>
          </p14:sldIdLst>
        </p14:section>
        <p14:section name="code execution attempt 1" id="{1131E8FC-4093-4DF8-AB23-E1747E1EB43B}">
          <p14:sldIdLst>
            <p14:sldId id="328"/>
            <p14:sldId id="646"/>
            <p14:sldId id="647"/>
            <p14:sldId id="648"/>
            <p14:sldId id="649"/>
            <p14:sldId id="333"/>
            <p14:sldId id="650"/>
            <p14:sldId id="664"/>
            <p14:sldId id="665"/>
            <p14:sldId id="518"/>
            <p14:sldId id="338"/>
            <p14:sldId id="617"/>
            <p14:sldId id="573"/>
            <p14:sldId id="399"/>
            <p14:sldId id="398"/>
            <p14:sldId id="400"/>
          </p14:sldIdLst>
        </p14:section>
        <p14:section name="advanced mitigations" id="{EB97A4CE-D075-47AE-ACFF-ABA7FE3D1678}">
          <p14:sldIdLst>
            <p14:sldId id="457"/>
            <p14:sldId id="465"/>
            <p14:sldId id="468"/>
            <p14:sldId id="643"/>
            <p14:sldId id="651"/>
            <p14:sldId id="344"/>
            <p14:sldId id="345"/>
            <p14:sldId id="621"/>
          </p14:sldIdLst>
        </p14:section>
        <p14:section name="demo" id="{D000C1AC-1A43-4BE2-85FC-64AFCBBACCA0}">
          <p14:sldIdLst>
            <p14:sldId id="347"/>
          </p14:sldIdLst>
        </p14:section>
        <p14:section name="uefi ecosystem" id="{EA054702-77CE-4856-98F3-E3D1F5E59514}">
          <p14:sldIdLst>
            <p14:sldId id="402"/>
            <p14:sldId id="588"/>
            <p14:sldId id="592"/>
          </p14:sldIdLst>
        </p14:section>
        <p14:section name="ring 3 exploitation" id="{8B927545-78EA-49B3-BA01-52B907743D53}">
          <p14:sldIdLst>
            <p14:sldId id="593"/>
            <p14:sldId id="351"/>
            <p14:sldId id="454"/>
            <p14:sldId id="581"/>
            <p14:sldId id="652"/>
            <p14:sldId id="353"/>
            <p14:sldId id="455"/>
            <p14:sldId id="653"/>
          </p14:sldIdLst>
        </p14:section>
        <p14:section name="ring 3 exploitation - windows" id="{AEAB8528-D892-4C1B-9389-1DEC830D206D}">
          <p14:sldIdLst>
            <p14:sldId id="436"/>
            <p14:sldId id="438"/>
            <p14:sldId id="483"/>
            <p14:sldId id="484"/>
            <p14:sldId id="655"/>
            <p14:sldId id="486"/>
            <p14:sldId id="602"/>
            <p14:sldId id="603"/>
            <p14:sldId id="487"/>
            <p14:sldId id="364"/>
            <p14:sldId id="365"/>
            <p14:sldId id="662"/>
          </p14:sldIdLst>
        </p14:section>
        <p14:section name="ring 3 exploitation linux" id="{FC181A72-E3B7-40C7-9A95-C6E14A86B5DC}">
          <p14:sldIdLst>
            <p14:sldId id="462"/>
            <p14:sldId id="366"/>
            <p14:sldId id="375"/>
            <p14:sldId id="367"/>
            <p14:sldId id="389"/>
            <p14:sldId id="368"/>
            <p14:sldId id="393"/>
            <p14:sldId id="667"/>
            <p14:sldId id="394"/>
            <p14:sldId id="476"/>
            <p14:sldId id="656"/>
          </p14:sldIdLst>
        </p14:section>
        <p14:section name="epilogue" id="{5F79DDCF-936E-4F93-BAA5-A3E99E5420B6}">
          <p14:sldIdLst>
            <p14:sldId id="495"/>
            <p14:sldId id="459"/>
            <p14:sldId id="4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7781"/>
    <a:srgbClr val="F4F4F4"/>
    <a:srgbClr val="7F7F7F"/>
    <a:srgbClr val="E7E6E6"/>
    <a:srgbClr val="FFFFFF"/>
    <a:srgbClr val="F7C475"/>
    <a:srgbClr val="CFA769"/>
    <a:srgbClr val="86CFE2"/>
    <a:srgbClr val="8BC145"/>
    <a:srgbClr val="1D6F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0169" autoAdjust="0"/>
  </p:normalViewPr>
  <p:slideViewPr>
    <p:cSldViewPr snapToGrid="0">
      <p:cViewPr varScale="1">
        <p:scale>
          <a:sx n="77" d="100"/>
          <a:sy n="77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commentAuthors" Target="commentAuthors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presProps" Target="presProp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viewProps" Target="viewProps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2:59:21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0 199,'127'2,"144"22,-98-9,250-10,-226-8,2405 3,-2416-10,-26 1,362-15,-68 2,-332 21,-51 1,105-12,-76 2,-63 9,67-14,-49 4,0 2,81-2,117 13,-96 1,168-1,356-5,-646 0,67-13,12-2,340 13,-52 3,-67-29,139-3,-369 33,125 4,-205 1,1 0,29 9,-33-6,0-2,0-1,28 2,-21-5,-3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5:06:11.3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1 278,'0'0,"7"-2,36-9,78-10,-57 11,527-69,217 5,-732 67,1 4,0 3,-1 3,98 17,-40-1,145 0,136-19,-187-2,164 11,-323-7,102-9,67-22,135-7,-208 35,-12 2,153-21,556-28,-779 52,155 27,-143-15,201 5,4 1,-133 8,-74-11,2-5,103 3,434-43,71 15,-451 12,-80 8,-147-7,-1 1,45 13,-54-12,-10-3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18.6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27,'0'0,"0"0,0 0,0 0,0 0,0 0,0 0,0 0,0 0,0 0,0 0,15 0,528 36,-230-8,425-19,-3-61,-100 5,1 47,56 51,309 10,-739-59,592 29,-303 12,-1-47,-401-7,254-10,-316 21,1 4,141 26,54 33,107 19,-309-70,1-3,154-4,375-85,-407 46,657-76,927 35,-1102 84,1 0,-1-26,-587 10,187-2,-248 10,-1 2,0 2,0 2,0 1,57 20,-8 6,262 89,-300-110,0-2,0-2,1-2,0-2,72-3,-103-4,-12 1,-8 1,2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22.6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1 259,'0'0,"7"0,58 0,555-20,262-94,-647 82,2 10,400 14,-211 38,-30-1,494 53,-104-6,939-28,-346-88,-939 3,485-105,-330 46,-491 88,-1 4,1 4,189 27,330 117,-486-108,22 2,1-7,2-8,1-6,184-5,455-29,-774 16,26-3,-54 3,1 0,0 0,-1 0,1 0,0 0,-1 0,1 0,0 1,0-1,0 0,0 0,0 1,0-1,0 1,0-1,0 1,0-1,0 1,0 0,0-1,0 1,2 0,31-1,-20 2,124-3,172 6,-281 0,0 1,0 1,-1 2,0 1,0 2,42 21,-56-25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2T14:50:36.4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1 595,'0'0,"0"-3,1-1,0 1,-1-1,2 1,-1 0,0-1,1 1,-1 0,1 0,0 0,0 0,0 0,0 0,1 1,-1-1,1 1,0-1,-1 1,1 0,0 0,0 1,1-1,-1 0,4 0,12-6,0 1,39-9,-49 14,105-22,2 5,145-5,243 17,-43 3,463-75,-324 20,282 29,-613 26,582-15,-779 19,0 4,0 2,0 4,129 34,292 57,-271-63,-119-21,2-5,-1-4,194-11,-168-10,-1-5,213-58,-7-32,144-35,-116 62,-299 71,-1 3,1 2,111 6,-73 1,191 22,-145-8,217 48,-110-14,-193-41,0-3,76-3,81-12,159-2,-338 11,-1 2,0 2,1 2,58 16,225 76,-234-70,-79-25,-4 0,-1-2,1 1,0-1,-1 0,1 0,6 0,-12-1,0 0,0 0,0 0,0 0,0 0,0 0,0 0,0 0,0 0,0-1,0 1,0 0,0 0,0 0,0 0,0 0,0 0,0 0,0 0,0 0,0 0,0 0,0 0,0 0,0 0,0 0,0 0,0 0,0 0,1 0,-1 0,0 0,0-1,0 1,0 0,0 0,0 0,0 0,-5-1,5 0,0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28.3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56,'3'-1,"0"0,0 1,1-1,-1 1,0 0,0 0,0 0,5 2,7-1,587-23,-57-8,-366 27,807 11,-344 51,154 9,17-62,335-70,-698 40,524-13,-713 35,479 17,48 109,-529-74,-7-2,341 54,-206-82,3-29,-14 1,9 9,435-2,-229-37,-362 4,-126 16,183-7,-201 19,-59 3,0 1,34 2,-60 0,-1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29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266 228,'0'0,"-20"0,-226 0,282-15,-7 6,1 2,0 2,0 0,0 2,50 1,156 20,-146-8,141 13,772 54,-9-56,91-46,-597-22,239-19,-336 31,376-21,-458 58,208-11,-300-16,72-7,-136 19,244-11,-371 23,0 2,0 1,33 6,-51-6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6-29T16:52:31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1,'0'0,"0"0,0 0,0 0,0 0,0 0,0 0,0 0,0 0,36 7,157 32,281 21,204-28,-551-27,971-27,-1003 17,348-28,-237 14,62-8,-245 24,1-1,-1 0,1 2,33 2,-61 1,4-1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7-02T07:10:50.5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1 215,'30'3,"1"0,-1 2,0 2,0 0,34 14,42 11,163 48,-223-65,1-2,0-2,1-2,0-3,0-1,0-2,1-3,78-9,-4-9,-1-5,135-45,-200 55,1 3,0 2,1 2,62 4,-54 1,-1-3,98-17,-90 4,3-2,0 4,128-8,299 26,102-4,-427-17,39 0,920 16,-546 5,-545-5,77-14,-74 8,56-2,64-8,-114 10,72-2,1068 11,-1153-3,0-3,0-1,0-2,73-24,-93 26,-1 2,37-4,-30 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7D2BD4-A691-43E3-9033-CA470C1BEB85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2E6E4-1928-4F0A-8083-9326BB5D491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5994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49" name="Google Shape;24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Arial" panose="020B0604020202020204" pitchFamily="34" charset="0"/>
              <a:buNone/>
            </a:pPr>
            <a:endParaRPr lang="en-US" dirty="0">
              <a:sym typeface="Quattrocento Sans"/>
            </a:endParaRPr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02522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41a7568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2541a75684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78" name="Google Shape;278;g2541a75684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41a7568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541a75684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85" name="Google Shape;285;g2541a75684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Helvetica Neue"/>
              <a:buNone/>
            </a:pPr>
            <a:endParaRPr lang="en-US" dirty="0"/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8899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9AA120-BDED-4486-9713-9672AD6F3DAA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6255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41a7568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g2541a75684e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g2541a75684e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1145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1200"/>
              <a:buFont typeface="Helvetica Neue"/>
              <a:buNone/>
            </a:pPr>
            <a:endParaRPr lang="en-US" dirty="0"/>
          </a:p>
        </p:txBody>
      </p:sp>
      <p:sp>
        <p:nvSpPr>
          <p:cNvPr id="258" name="Google Shape;25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77074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1969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35783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54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388" name="Google Shape;38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14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9632936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34" name="Google Shape;434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15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3" name="Google Shape;483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27432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1805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9" name="Google Shape;59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0" name="Google Shape;600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6226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10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8" name="Google Shape;638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22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3" name="Google Shape;673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674" name="Google Shape;674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23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123486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3757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01575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9" name="Google Shape;709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710" name="Google Shape;710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26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" name="Google Shape;717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718" name="Google Shape;718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27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6725807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99646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8330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92600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8" name="Google Shape;1148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7167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12585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55864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US"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91024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7" name="Google Shape;807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026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9" name="Google Shape;819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0728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22061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3" name="Google Shape;1013;p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792280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52499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582112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0410106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0" name="Google Shape;1120;p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7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45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026628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178071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849512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582763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6" name="Google Shape;1176;p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7" name="Google Shape;1177;p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50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51039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2" name="Google Shape;1192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193" name="Google Shape;1193;p8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718949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70378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672935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5" name="Google Shape;1205;p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06" name="Google Shape;1206;p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02473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3" name="Google Shape;753;p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9226908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2" name="Google Shape;1222;p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1223" name="Google Shape;1223;p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9" name="Google Shape;1229;p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attrocento Sans"/>
              <a:buNone/>
            </a:pPr>
            <a:endParaRPr lang="en-US" dirty="0">
              <a:sym typeface="Arial"/>
            </a:endParaRPr>
          </a:p>
        </p:txBody>
      </p:sp>
      <p:sp>
        <p:nvSpPr>
          <p:cNvPr id="1230" name="Google Shape;1230;p8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5" name="Google Shape;1185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696492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6" name="Google Shape;1246;p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7" name="Google Shape;1247;p9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444667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359910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6" name="Google Shape;1256;p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7" name="Google Shape;1257;p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86933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7717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69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70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847016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8" name="Google Shape;1348;p9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  <p:sp>
        <p:nvSpPr>
          <p:cNvPr id="1349" name="Google Shape;1349;p9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20"/>
              <a:buFont typeface="Asap SemiBold"/>
              <a:buNone/>
            </a:pPr>
            <a:fld id="{00000000-1234-1234-1234-123412341234}" type="slidenum">
              <a:rPr lang="en-US" sz="1920" b="0" i="0" u="none" strike="noStrike" cap="none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71</a:t>
            </a:fld>
            <a:endParaRPr sz="192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736065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863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9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90452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22689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6562205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012547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107343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516981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1708636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070916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453527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176219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1" name="Google Shape;1451;p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543854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6" name="Google Shape;1566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3" name="Google Shape;15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73" name="Google Shape;1573;p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048837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4085944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281869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210625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9" name="Google Shape;1599;p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844783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983942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2" name="Google Shape;1592;p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10582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6" name="Google Shape;1586;p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9986812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DE7966-BF32-46AD-9C9B-C5B7E179FDDD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58195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4631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p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1" name="Google Shape;1671;p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983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alphaModFix amt="2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7787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3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194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506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4505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3200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4705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658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4406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2066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7250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08359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9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064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/>
            </a:lvl1pPr>
            <a:lvl2pPr marL="914400" lvl="1" indent="-381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lvl="4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11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119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19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0" cy="8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009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Content">
  <p:cSld name="Title &amp;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1"/>
          <p:cNvSpPr txBox="1">
            <a:spLocks noGrp="1"/>
          </p:cNvSpPr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1"/>
          <p:cNvSpPr txBox="1">
            <a:spLocks noGrp="1"/>
          </p:cNvSpPr>
          <p:nvPr>
            <p:ph type="body" idx="1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lvl="5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88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967257" y="6540501"/>
            <a:ext cx="251138" cy="27015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Title Text">
            <a:extLst>
              <a:ext uri="{FF2B5EF4-FFF2-40B4-BE49-F238E27FC236}">
                <a16:creationId xmlns:a16="http://schemas.microsoft.com/office/drawing/2014/main" id="{488D7C78-60DE-F149-8354-104FAEBB00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5825" y="608413"/>
            <a:ext cx="10414000" cy="54192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333" b="1" baseline="0">
                <a:solidFill>
                  <a:schemeClr val="tx2">
                    <a:lumMod val="25000"/>
                  </a:schemeClr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Body Level One…">
            <a:extLst>
              <a:ext uri="{FF2B5EF4-FFF2-40B4-BE49-F238E27FC236}">
                <a16:creationId xmlns:a16="http://schemas.microsoft.com/office/drawing/2014/main" id="{33D8FF27-A2E4-6345-BB51-FCA368E526BC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9000" y="1376266"/>
            <a:ext cx="10414000" cy="4807177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20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1pPr>
            <a:lvl2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667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2pPr>
            <a:lvl3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5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3pPr>
            <a:lvl4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500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4pPr>
            <a:lvl5pPr marL="0" indent="0" algn="ctr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SzTx/>
              <a:buNone/>
              <a:defRPr sz="1167" baseline="0">
                <a:latin typeface="Arial" panose="020B0604020202020204" pitchFamily="34" charset="0"/>
                <a:ea typeface="Segoe UI" panose="020B0502040204020203" pitchFamily="34" charset="0"/>
                <a:cs typeface="Segoe UI" panose="020B0502040204020203" pitchFamily="34" charset="0"/>
                <a:sym typeface="Helvetica Neue"/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lang="en-US"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16837549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153CFF4-3D6F-4111-B8A3-BF667C71A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1D98614-998E-431D-976C-7126752C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1A7BC-B1BB-45F3-9B85-86FD959EE0BD}" type="datetimeFigureOut">
              <a:rPr lang="he-IL" smtClean="0"/>
              <a:t>כ"ג/אב/תשפ"ג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8CEED9C-35B9-4C88-B50F-973E41CF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C46F6F9-515D-457E-AA13-4D0B1008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F37C14-8DB6-4684-8ACF-185DAFEFC19C}" type="slidenum">
              <a:rPr lang="he-IL" smtClean="0"/>
              <a:t>‹#›</a:t>
            </a:fld>
            <a:endParaRPr lang="he-IL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42FF86-E5E1-00F8-8FB9-519A3E6BB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 rtl="0">
              <a:defRPr/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38738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58840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0"/>
          <p:cNvSpPr txBox="1">
            <a:spLocks noGrp="1"/>
          </p:cNvSpPr>
          <p:nvPr>
            <p:ph type="sldNum" idx="12"/>
          </p:nvPr>
        </p:nvSpPr>
        <p:spPr>
          <a:xfrm>
            <a:off x="5967257" y="6540501"/>
            <a:ext cx="251100" cy="2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120"/>
          <p:cNvSpPr txBox="1">
            <a:spLocks noGrp="1"/>
          </p:cNvSpPr>
          <p:nvPr>
            <p:ph type="title"/>
          </p:nvPr>
        </p:nvSpPr>
        <p:spPr>
          <a:xfrm>
            <a:off x="885825" y="608413"/>
            <a:ext cx="10413900" cy="5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33"/>
              <a:buFont typeface="Arial"/>
              <a:buNone/>
              <a:defRPr sz="3333" b="1">
                <a:solidFill>
                  <a:srgbClr val="00122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0"/>
          <p:cNvSpPr txBox="1">
            <a:spLocks noGrp="1"/>
          </p:cNvSpPr>
          <p:nvPr>
            <p:ph type="body" idx="1"/>
          </p:nvPr>
        </p:nvSpPr>
        <p:spPr>
          <a:xfrm>
            <a:off x="889000" y="1376266"/>
            <a:ext cx="10413900" cy="48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67"/>
              <a:buNone/>
              <a:defRPr sz="1667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500"/>
              <a:buNone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167"/>
              <a:buNone/>
              <a:defRPr sz="1167">
                <a:latin typeface="Arial"/>
                <a:ea typeface="Arial"/>
                <a:cs typeface="Arial"/>
                <a:sym typeface="Arial"/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lvl="6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lvl="7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lvl="8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846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6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B0375-F371-42A3-90EF-AEE0BB26A5AC}" type="datetimeFigureOut">
              <a:rPr lang="en-IL" smtClean="0"/>
              <a:t>10/08/2023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B616F-4F66-422C-99C5-815F132084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43790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customXml" Target="../ink/ink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b.cert.org/vuls/id/434994" TargetMode="Externa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ufrisk/pcileech" TargetMode="External"/><Relationship Id="rId4" Type="http://schemas.openxmlformats.org/officeDocument/2006/relationships/image" Target="../media/image1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hyperlink" Target="https://unsplash.com/s/photos/hard-drive?utm_source=unsplash&amp;utm_medium=referral&amp;utm_content=creditCopyText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splash.com/@frank041985?utm_source=unsplash&amp;utm_medium=referral&amp;utm_content=creditCopyText" TargetMode="External"/><Relationship Id="rId5" Type="http://schemas.openxmlformats.org/officeDocument/2006/relationships/image" Target="../media/image15.jpg"/><Relationship Id="rId4" Type="http://schemas.openxmlformats.org/officeDocument/2006/relationships/hyperlink" Target="https://www.blackhat.com/presentations/bh-usa-08/Wojtczuk/BH_US_08_Wojtczuk_Subverting_the_Xen_Hypervisor.pdf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https://unsplash.com/photos/ZFN6UNWhstI?utm_source=unsplash&amp;utm_medium=referral&amp;utm_content=creditCopyText" TargetMode="External"/><Relationship Id="rId5" Type="http://schemas.openxmlformats.org/officeDocument/2006/relationships/hyperlink" Target="https://unsplash.com/es/@victorserban?utm_source=unsplash&amp;utm_medium=referral&amp;utm_content=creditCopyText" TargetMode="External"/><Relationship Id="rId4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image" Target="../media/image1.jp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customXml" Target="../ink/ink3.xml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customXml" Target="../ink/ink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dk2-docs.gitbook.io/a-tour-beyond-bios-mitigate-buffer-overflow-in-ue/summary/policy_control" TargetMode="Externa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customXml" Target="../ink/ink9.xml"/><Relationship Id="rId3" Type="http://schemas.openxmlformats.org/officeDocument/2006/relationships/notesSlide" Target="../notesSlides/notesSlide56.xml"/><Relationship Id="rId7" Type="http://schemas.openxmlformats.org/officeDocument/2006/relationships/customXml" Target="../ink/ink6.xml"/><Relationship Id="rId12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2.png"/><Relationship Id="rId11" Type="http://schemas.openxmlformats.org/officeDocument/2006/relationships/customXml" Target="../ink/ink8.xml"/><Relationship Id="rId5" Type="http://schemas.openxmlformats.org/officeDocument/2006/relationships/hyperlink" Target="https://invisiblethingslab.com/resources/misc09/smm_cache_fun.pdf" TargetMode="External"/><Relationship Id="rId10" Type="http://schemas.openxmlformats.org/officeDocument/2006/relationships/image" Target="../media/image50.png"/><Relationship Id="rId4" Type="http://schemas.openxmlformats.org/officeDocument/2006/relationships/image" Target="../media/image1.jpg"/><Relationship Id="rId9" Type="http://schemas.openxmlformats.org/officeDocument/2006/relationships/customXml" Target="../ink/ink7.xml"/><Relationship Id="rId14" Type="http://schemas.openxmlformats.org/officeDocument/2006/relationships/image" Target="../media/image5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visiblethingslab.com/resources/misc09/smm_cache_fun.pdf" TargetMode="Externa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visiblethingslab.com/resources/misc09/smm_cache_fun.pdf" TargetMode="External"/><Relationship Id="rId5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unsplash.com/s/photos/praying-mantis?utm_source=unsplash&amp;utm_medium=referral&amp;utm_content=creditCopyText" TargetMode="External"/><Relationship Id="rId5" Type="http://schemas.openxmlformats.org/officeDocument/2006/relationships/hyperlink" Target="https://unsplash.com/@anritikhon?utm_source=unsplash&amp;utm_medium=referral&amp;utm_content=creditCopyText" TargetMode="External"/><Relationship Id="rId4" Type="http://schemas.openxmlformats.org/officeDocument/2006/relationships/image" Target="../media/image36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1.jp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8.png"/><Relationship Id="rId10" Type="http://schemas.openxmlformats.org/officeDocument/2006/relationships/image" Target="../media/image44.png"/><Relationship Id="rId4" Type="http://schemas.openxmlformats.org/officeDocument/2006/relationships/image" Target="../media/image37.png"/><Relationship Id="rId9" Type="http://schemas.openxmlformats.org/officeDocument/2006/relationships/image" Target="../media/image43.png"/><Relationship Id="rId14" Type="http://schemas.openxmlformats.org/officeDocument/2006/relationships/image" Target="../media/image3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hyperlink" Target="https://cve.mitre.org/cgi-bin/cvename.cgi?name=CVE-2022-33985" TargetMode="External"/><Relationship Id="rId26" Type="http://schemas.openxmlformats.org/officeDocument/2006/relationships/hyperlink" Target="https://cve.mitre.org/cgi-bin/cvename.cgi?name=CVE-2022-33905" TargetMode="External"/><Relationship Id="rId3" Type="http://schemas.openxmlformats.org/officeDocument/2006/relationships/image" Target="../media/image1.jpg"/><Relationship Id="rId21" Type="http://schemas.openxmlformats.org/officeDocument/2006/relationships/hyperlink" Target="https://cve.mitre.org/cgi-bin/cvename.cgi?name=CVE-2022-33982" TargetMode="Externa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hyperlink" Target="https://cve.mitre.org/cgi-bin/cvename.cgi?name=CVE-2022-33986" TargetMode="External"/><Relationship Id="rId25" Type="http://schemas.openxmlformats.org/officeDocument/2006/relationships/hyperlink" Target="https://cve.mitre.org/cgi-bin/cvename.cgi?name=CVE-2022-33906" TargetMode="External"/><Relationship Id="rId2" Type="http://schemas.openxmlformats.org/officeDocument/2006/relationships/notesSlide" Target="../notesSlides/notesSlide63.xml"/><Relationship Id="rId16" Type="http://schemas.openxmlformats.org/officeDocument/2006/relationships/hyperlink" Target="https://cve.mitre.org/cgi-bin/cvename.cgi?name=CVE-2022-34325" TargetMode="External"/><Relationship Id="rId20" Type="http://schemas.openxmlformats.org/officeDocument/2006/relationships/hyperlink" Target="https://cve.mitre.org/cgi-bin/cvename.cgi?name=CVE-2022-33983" TargetMode="External"/><Relationship Id="rId29" Type="http://schemas.openxmlformats.org/officeDocument/2006/relationships/hyperlink" Target="https://cve.mitre.org/cgi-bin/cvename.cgi?name=CVE-2022-3124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4.png"/><Relationship Id="rId24" Type="http://schemas.openxmlformats.org/officeDocument/2006/relationships/hyperlink" Target="https://cve.mitre.org/cgi-bin/cvename.cgi?name=CVE-2022-33907" TargetMode="External"/><Relationship Id="rId5" Type="http://schemas.openxmlformats.org/officeDocument/2006/relationships/image" Target="../media/image37.png"/><Relationship Id="rId15" Type="http://schemas.openxmlformats.org/officeDocument/2006/relationships/hyperlink" Target="https://nvd.nist.gov/vuln/detail/CVE-2021-33164" TargetMode="External"/><Relationship Id="rId23" Type="http://schemas.openxmlformats.org/officeDocument/2006/relationships/hyperlink" Target="https://cve.mitre.org/cgi-bin/cvename.cgi?name=CVE-2022-33908" TargetMode="External"/><Relationship Id="rId28" Type="http://schemas.openxmlformats.org/officeDocument/2006/relationships/hyperlink" Target="https://cve.mitre.org/cgi-bin/cvename.cgi?name=CVE-2022-32266" TargetMode="External"/><Relationship Id="rId10" Type="http://schemas.openxmlformats.org/officeDocument/2006/relationships/image" Target="../media/image43.png"/><Relationship Id="rId19" Type="http://schemas.openxmlformats.org/officeDocument/2006/relationships/hyperlink" Target="https://cve.mitre.org/cgi-bin/cvename.cgi?name=CVE-CVE-2022-33984" TargetMode="External"/><Relationship Id="rId31" Type="http://schemas.openxmlformats.org/officeDocument/2006/relationships/hyperlink" Target="https://cve.mitre.org/cgi-bin/cvename.cgi?name=CVE-2022-30773" TargetMode="External"/><Relationship Id="rId4" Type="http://schemas.openxmlformats.org/officeDocument/2006/relationships/image" Target="../media/image39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hyperlink" Target="https://cve.mitre.org/cgi-bin/cvename.cgi?name=CVE-2022-33909" TargetMode="External"/><Relationship Id="rId27" Type="http://schemas.openxmlformats.org/officeDocument/2006/relationships/hyperlink" Target="https://cve.mitre.org/cgi-bin/cvename.cgi?name=CVE-2022-32267" TargetMode="External"/><Relationship Id="rId30" Type="http://schemas.openxmlformats.org/officeDocument/2006/relationships/hyperlink" Target="https://cve.mitre.org/cgi-bin/cvename.cgi?name=CVE-2022-30774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jpe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12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jpeg"/><Relationship Id="rId4" Type="http://schemas.openxmlformats.org/officeDocument/2006/relationships/image" Target="../media/image57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C42B8428-D226-C62D-92B3-BA8AE0CF7AB5}"/>
              </a:ext>
            </a:extLst>
          </p:cNvPr>
          <p:cNvSpPr/>
          <p:nvPr/>
        </p:nvSpPr>
        <p:spPr>
          <a:xfrm>
            <a:off x="687184" y="4060723"/>
            <a:ext cx="208165" cy="349352"/>
          </a:xfrm>
          <a:prstGeom prst="ellipse">
            <a:avLst/>
          </a:prstGeom>
          <a:solidFill>
            <a:srgbClr val="DBE8E1"/>
          </a:solidFill>
          <a:ln w="22225">
            <a:solidFill>
              <a:srgbClr val="205250"/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1" name="Google Shape;251;p2"/>
          <p:cNvSpPr txBox="1">
            <a:spLocks noGrp="1"/>
          </p:cNvSpPr>
          <p:nvPr>
            <p:ph type="ctrTitle"/>
          </p:nvPr>
        </p:nvSpPr>
        <p:spPr>
          <a:xfrm>
            <a:off x="643468" y="0"/>
            <a:ext cx="4620584" cy="4567137"/>
          </a:xfrm>
          <a:prstGeom prst="rect">
            <a:avLst/>
          </a:prstGeom>
        </p:spPr>
        <p:txBody>
          <a:bodyPr spcFirstLastPara="1" lIns="0" tIns="0" rIns="0" bIns="0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rial"/>
              <a:buNone/>
            </a:pPr>
            <a:r>
              <a:rPr lang="en-US" sz="4400" dirty="0"/>
              <a:t>The RingHopper Journey </a:t>
            </a:r>
            <a:br>
              <a:rPr lang="en-US" sz="4400" dirty="0"/>
            </a:br>
            <a:r>
              <a:rPr lang="en-US" sz="4400" dirty="0"/>
              <a:t>or </a:t>
            </a:r>
            <a:br>
              <a:rPr lang="en-US" sz="4400" dirty="0"/>
            </a:br>
            <a:r>
              <a:rPr lang="en-US" sz="4400" dirty="0"/>
              <a:t>How We Almost </a:t>
            </a:r>
            <a:br>
              <a:rPr lang="en-US" sz="4400" dirty="0"/>
            </a:br>
            <a:r>
              <a:rPr lang="en-US" sz="4400" dirty="0"/>
              <a:t>0-day’d the World</a:t>
            </a:r>
          </a:p>
        </p:txBody>
      </p:sp>
      <p:sp>
        <p:nvSpPr>
          <p:cNvPr id="252" name="Google Shape;252;p2"/>
          <p:cNvSpPr txBox="1">
            <a:spLocks noGrp="1"/>
          </p:cNvSpPr>
          <p:nvPr>
            <p:ph type="subTitle" idx="1"/>
          </p:nvPr>
        </p:nvSpPr>
        <p:spPr>
          <a:xfrm>
            <a:off x="643467" y="4634217"/>
            <a:ext cx="4620584" cy="775494"/>
          </a:xfrm>
          <a:prstGeom prst="rect">
            <a:avLst/>
          </a:prstGeom>
        </p:spPr>
        <p:txBody>
          <a:bodyPr spcFirstLastPara="1" lIns="0" tIns="0" rIns="0" bIns="0" anchorCtr="0">
            <a:norm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Clr>
                <a:srgbClr val="595959"/>
              </a:buClr>
              <a:buSzPts val="2400"/>
            </a:pPr>
            <a:r>
              <a:rPr lang="en-US" sz="2200" dirty="0"/>
              <a:t>Benny Zeltser, Intel</a:t>
            </a: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Clr>
                <a:srgbClr val="595959"/>
              </a:buClr>
              <a:buSzPts val="2400"/>
              <a:buNone/>
            </a:pPr>
            <a:r>
              <a:rPr lang="en-US" sz="2200" dirty="0"/>
              <a:t>Jonathan Lusky, Cellebrite </a:t>
            </a:r>
          </a:p>
        </p:txBody>
      </p:sp>
      <p:pic>
        <p:nvPicPr>
          <p:cNvPr id="254" name="Google Shape;254;p2" descr="A picture containing weapon, sky, armour, action film&#10;&#10;Description automatically generated"/>
          <p:cNvPicPr preferRelativeResize="0"/>
          <p:nvPr/>
        </p:nvPicPr>
        <p:blipFill rotWithShape="1">
          <a:blip r:embed="rId4"/>
          <a:srcRect l="6298" r="6756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</p:spPr>
      </p:pic>
      <p:sp>
        <p:nvSpPr>
          <p:cNvPr id="253" name="Google Shape;253;p2"/>
          <p:cNvSpPr txBox="1"/>
          <p:nvPr/>
        </p:nvSpPr>
        <p:spPr>
          <a:xfrm>
            <a:off x="6394315" y="6413501"/>
            <a:ext cx="5962785" cy="685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300" b="0" i="0" u="none" strike="noStrike" cap="none" dirty="0">
                <a:solidFill>
                  <a:srgbClr val="FFFFFF"/>
                </a:solidFill>
                <a:sym typeface="Calibri"/>
              </a:rPr>
              <a:t>Generated by the DALL·E 2.5 AI system</a:t>
            </a:r>
            <a:endParaRPr lang="en-US" sz="1300" b="0" i="0" u="none" strike="noStrike" cap="none" dirty="0">
              <a:solidFill>
                <a:srgbClr val="FFFFFF"/>
              </a:solidFill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94D8C29-8745-284B-0F00-9CE416531DDA}"/>
              </a:ext>
            </a:extLst>
          </p:cNvPr>
          <p:cNvGrpSpPr/>
          <p:nvPr/>
        </p:nvGrpSpPr>
        <p:grpSpPr>
          <a:xfrm>
            <a:off x="3181304" y="1705595"/>
            <a:ext cx="368001" cy="370093"/>
            <a:chOff x="6187891" y="4858209"/>
            <a:chExt cx="553038" cy="556182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EF864F0-E540-4CBD-9332-8376E2EA9FEE}"/>
                </a:ext>
              </a:extLst>
            </p:cNvPr>
            <p:cNvSpPr/>
            <p:nvPr/>
          </p:nvSpPr>
          <p:spPr>
            <a:xfrm>
              <a:off x="6187891" y="4858209"/>
              <a:ext cx="553038" cy="556182"/>
            </a:xfrm>
            <a:prstGeom prst="ellipse">
              <a:avLst/>
            </a:prstGeom>
            <a:solidFill>
              <a:srgbClr val="DBE8E1"/>
            </a:solidFill>
            <a:ln w="22225">
              <a:solidFill>
                <a:srgbClr val="205250"/>
              </a:solidFill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oogle Shape;458;p18" descr="Grasshopper outline">
              <a:extLst>
                <a:ext uri="{FF2B5EF4-FFF2-40B4-BE49-F238E27FC236}">
                  <a16:creationId xmlns:a16="http://schemas.microsoft.com/office/drawing/2014/main" id="{56E756E5-7A06-D53D-0FEF-1A098006D87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11467" y="4906334"/>
              <a:ext cx="467385" cy="4673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4296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261;p3">
            <a:extLst>
              <a:ext uri="{FF2B5EF4-FFF2-40B4-BE49-F238E27FC236}">
                <a16:creationId xmlns:a16="http://schemas.microsoft.com/office/drawing/2014/main" id="{FBC3C069-AA14-950A-9C3B-303CA5D7D5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9610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animBg="1"/>
      <p:bldP spid="263" grpId="0"/>
      <p:bldP spid="272" grpId="0"/>
      <p:bldP spid="274" grpId="0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41a75684e_0_0"/>
          <p:cNvSpPr txBox="1">
            <a:spLocks noGrp="1"/>
          </p:cNvSpPr>
          <p:nvPr>
            <p:ph type="title"/>
          </p:nvPr>
        </p:nvSpPr>
        <p:spPr>
          <a:xfrm>
            <a:off x="6096000" y="1"/>
            <a:ext cx="5469716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lang="en-US" dirty="0"/>
              <a:t>How We Almost </a:t>
            </a:r>
            <a:br>
              <a:rPr lang="en-US" dirty="0"/>
            </a:br>
            <a:r>
              <a:rPr lang="en-US" dirty="0"/>
              <a:t>0-day’d the World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DC6D1-30FE-C788-FD01-AFEDD088E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10" y="0"/>
            <a:ext cx="4131780" cy="6858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g2541a75684e_0_22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535841" y="2330631"/>
            <a:ext cx="7120317" cy="2874319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72EAEA-A6E7-C346-D9D9-3E8E5980F493}"/>
                  </a:ext>
                </a:extLst>
              </p14:cNvPr>
              <p14:cNvContentPartPr/>
              <p14:nvPr/>
            </p14:nvContentPartPr>
            <p14:xfrm>
              <a:off x="5240215" y="3964070"/>
              <a:ext cx="3569677" cy="8811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72EAEA-A6E7-C346-D9D9-3E8E5980F4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6216" y="3856180"/>
                <a:ext cx="3677314" cy="30353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Google Shape;261;p3">
            <a:extLst>
              <a:ext uri="{FF2B5EF4-FFF2-40B4-BE49-F238E27FC236}">
                <a16:creationId xmlns:a16="http://schemas.microsoft.com/office/drawing/2014/main" id="{BC31160C-63BE-2C99-AAB5-99683E9F9F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14BCD-3269-0E52-251F-E35AD4C82ACA}"/>
              </a:ext>
            </a:extLst>
          </p:cNvPr>
          <p:cNvSpPr txBox="1"/>
          <p:nvPr/>
        </p:nvSpPr>
        <p:spPr>
          <a:xfrm>
            <a:off x="3268980" y="527350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https://twitter.com/soen_vanned/status/1559993970742005760?t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"/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</a:p>
        </p:txBody>
      </p:sp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5" name="Google Shape;265;p3"/>
          <p:cNvSpPr/>
          <p:nvPr/>
        </p:nvSpPr>
        <p:spPr>
          <a:xfrm>
            <a:off x="6168905" y="4435256"/>
            <a:ext cx="2904036" cy="1727010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(last) embargo expired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(Nov 8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33064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7FAE9-7A6E-88EA-DECA-EBD0040AA1D4}"/>
              </a:ext>
            </a:extLst>
          </p:cNvPr>
          <p:cNvSpPr/>
          <p:nvPr/>
        </p:nvSpPr>
        <p:spPr>
          <a:xfrm>
            <a:off x="729754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30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787463A-05D5-7E88-B435-D9ABF417EAF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2407"/>
          <a:stretch/>
        </p:blipFill>
        <p:spPr>
          <a:xfrm>
            <a:off x="1095375" y="2349260"/>
            <a:ext cx="10163175" cy="2714785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261;p3">
            <a:extLst>
              <a:ext uri="{FF2B5EF4-FFF2-40B4-BE49-F238E27FC236}">
                <a16:creationId xmlns:a16="http://schemas.microsoft.com/office/drawing/2014/main" id="{048638B4-4CF1-9BA6-0046-01DA8AE55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34F1-BB3A-16DF-B023-D51D2CB16CDE}"/>
              </a:ext>
            </a:extLst>
          </p:cNvPr>
          <p:cNvSpPr txBox="1"/>
          <p:nvPr/>
        </p:nvSpPr>
        <p:spPr>
          <a:xfrm>
            <a:off x="1095374" y="6368534"/>
            <a:ext cx="10163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dirty="0">
                <a:hlinkClick r:id="rId5"/>
              </a:rPr>
              <a:t>https://www.kb.cert.org/vuls/id/434994</a:t>
            </a:r>
            <a:r>
              <a:rPr lang="en-US" dirty="0"/>
              <a:t>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59656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D1CF9-6750-2232-CF90-8C6CB1BE5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679" y="1862138"/>
            <a:ext cx="7106642" cy="4163006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61;p3">
            <a:extLst>
              <a:ext uri="{FF2B5EF4-FFF2-40B4-BE49-F238E27FC236}">
                <a16:creationId xmlns:a16="http://schemas.microsoft.com/office/drawing/2014/main" id="{437431FB-182E-31DA-1B87-2AC94B108E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736C9E6-DBCE-4419-838C-B3C7D673052A}"/>
                  </a:ext>
                </a:extLst>
              </p14:cNvPr>
              <p14:cNvContentPartPr/>
              <p14:nvPr/>
            </p14:nvContentPartPr>
            <p14:xfrm>
              <a:off x="4724928" y="3305766"/>
              <a:ext cx="3370560" cy="100008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736C9E6-DBCE-4419-838C-B3C7D67305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70924" y="3197844"/>
                <a:ext cx="3478208" cy="315493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E61346-C2C1-B9F5-A1F6-C65FE464EBEA}"/>
              </a:ext>
            </a:extLst>
          </p:cNvPr>
          <p:cNvSpPr txBox="1"/>
          <p:nvPr/>
        </p:nvSpPr>
        <p:spPr>
          <a:xfrm>
            <a:off x="3362208" y="619659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https://twitter.com/NikolajSchlej/status/1590116934192091136</a:t>
            </a:r>
          </a:p>
        </p:txBody>
      </p:sp>
    </p:spTree>
    <p:extLst>
      <p:ext uri="{BB962C8B-B14F-4D97-AF65-F5344CB8AC3E}">
        <p14:creationId xmlns:p14="http://schemas.microsoft.com/office/powerpoint/2010/main" val="866297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"/>
          <p:cNvSpPr/>
          <p:nvPr/>
        </p:nvSpPr>
        <p:spPr>
          <a:xfrm>
            <a:off x="710514" y="2882679"/>
            <a:ext cx="11038703" cy="2167466"/>
          </a:xfrm>
          <a:prstGeom prst="notchedRigh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 w="34925" cap="flat" cmpd="sng">
            <a:solidFill>
              <a:schemeClr val="tx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3" name="Google Shape;263;p3"/>
          <p:cNvSpPr/>
          <p:nvPr/>
        </p:nvSpPr>
        <p:spPr>
          <a:xfrm>
            <a:off x="714938" y="125707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reported internally 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1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(Jun 1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st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’21)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5" name="Google Shape;265;p3"/>
          <p:cNvSpPr/>
          <p:nvPr/>
        </p:nvSpPr>
        <p:spPr>
          <a:xfrm>
            <a:off x="6168905" y="4435256"/>
            <a:ext cx="2904036" cy="1727010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(last) embargo expired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(Nov 8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’22)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67" name="Google Shape;267;p3"/>
          <p:cNvSpPr/>
          <p:nvPr/>
        </p:nvSpPr>
        <p:spPr>
          <a:xfrm>
            <a:off x="8497953" y="2376446"/>
            <a:ext cx="1723092" cy="1183086"/>
          </a:xfrm>
          <a:custGeom>
            <a:avLst/>
            <a:gdLst/>
            <a:ahLst/>
            <a:cxnLst/>
            <a:rect l="l" t="t" r="r" b="b"/>
            <a:pathLst>
              <a:path w="4486080" h="2167466" extrusionOk="0">
                <a:moveTo>
                  <a:pt x="0" y="0"/>
                </a:moveTo>
                <a:lnTo>
                  <a:pt x="4486080" y="0"/>
                </a:lnTo>
                <a:lnTo>
                  <a:pt x="448608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b" anchorCtr="0">
            <a:noAutofit/>
          </a:bodyPr>
          <a:lstStyle/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DefCon</a:t>
            </a:r>
          </a:p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‘23)</a:t>
            </a:r>
          </a:p>
          <a:p>
            <a:pPr marL="0" marR="0" lvl="0" indent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endParaRPr sz="2200" b="1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2765103" y="4518037"/>
            <a:ext cx="2590430" cy="1235284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CERT/CC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(Jan 19</a:t>
            </a:r>
            <a:r>
              <a:rPr lang="en-US" sz="2200" b="0" i="0" u="none" strike="noStrike" cap="non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th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,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274" name="Google Shape;274;p3"/>
          <p:cNvSpPr/>
          <p:nvPr/>
        </p:nvSpPr>
        <p:spPr>
          <a:xfrm>
            <a:off x="4665004" y="2027799"/>
            <a:ext cx="2590430" cy="2167466"/>
          </a:xfrm>
          <a:custGeom>
            <a:avLst/>
            <a:gdLst/>
            <a:ahLst/>
            <a:cxnLst/>
            <a:rect l="l" t="t" r="r" b="b"/>
            <a:pathLst>
              <a:path w="2590430" h="2167466" extrusionOk="0">
                <a:moveTo>
                  <a:pt x="0" y="0"/>
                </a:moveTo>
                <a:lnTo>
                  <a:pt x="2590430" y="0"/>
                </a:lnTo>
                <a:lnTo>
                  <a:pt x="2590430" y="2167466"/>
                </a:lnTo>
                <a:lnTo>
                  <a:pt x="0" y="2167466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199125" tIns="199125" rIns="199125" bIns="1991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 err="1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BH+DefCon</a:t>
            </a: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 conferences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770"/>
              </a:spcBef>
              <a:spcAft>
                <a:spcPts val="0"/>
              </a:spcAft>
              <a:buClr>
                <a:srgbClr val="96D6F0"/>
              </a:buClr>
              <a:buSzPts val="2200"/>
              <a:buFont typeface="Quattrocento Sans"/>
              <a:buNone/>
            </a:pPr>
            <a:r>
              <a:rPr lang="en-US" sz="22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(Aug ‘22)</a:t>
            </a:r>
            <a:endParaRPr sz="22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37E2EE7-3BFB-3226-C43B-B242FCFDCE06}"/>
              </a:ext>
            </a:extLst>
          </p:cNvPr>
          <p:cNvSpPr/>
          <p:nvPr/>
        </p:nvSpPr>
        <p:spPr>
          <a:xfrm>
            <a:off x="178125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E1EE9C-FC49-3A82-9799-6457E2248612}"/>
              </a:ext>
            </a:extLst>
          </p:cNvPr>
          <p:cNvSpPr/>
          <p:nvPr/>
        </p:nvSpPr>
        <p:spPr>
          <a:xfrm>
            <a:off x="3768586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EF03B8-0D9D-DAA9-38A1-53F19DED4382}"/>
              </a:ext>
            </a:extLst>
          </p:cNvPr>
          <p:cNvSpPr/>
          <p:nvPr/>
        </p:nvSpPr>
        <p:spPr>
          <a:xfrm>
            <a:off x="5512104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07FAE9-7A6E-88EA-DECA-EBD0040AA1D4}"/>
              </a:ext>
            </a:extLst>
          </p:cNvPr>
          <p:cNvSpPr/>
          <p:nvPr/>
        </p:nvSpPr>
        <p:spPr>
          <a:xfrm>
            <a:off x="7297542" y="365431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EF9022-E335-95E5-A2AC-B9EC05BB416A}"/>
              </a:ext>
            </a:extLst>
          </p:cNvPr>
          <p:cNvSpPr/>
          <p:nvPr/>
        </p:nvSpPr>
        <p:spPr>
          <a:xfrm>
            <a:off x="9082980" y="3679527"/>
            <a:ext cx="553038" cy="556182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261;p3">
            <a:extLst>
              <a:ext uri="{FF2B5EF4-FFF2-40B4-BE49-F238E27FC236}">
                <a16:creationId xmlns:a16="http://schemas.microsoft.com/office/drawing/2014/main" id="{0372CB5C-C380-C01A-57AB-A9430AFA93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622607"/>
            <a:ext cx="10515600" cy="1068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lvl="0" algn="ctr"/>
            <a:r>
              <a:rPr lang="en-US" dirty="0"/>
              <a:t>How We Almost 0-day’d the World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8346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"/>
          <p:cNvSpPr txBox="1">
            <a:spLocks noGrp="1"/>
          </p:cNvSpPr>
          <p:nvPr>
            <p:ph type="title"/>
          </p:nvPr>
        </p:nvSpPr>
        <p:spPr>
          <a:xfrm>
            <a:off x="7039428" y="608413"/>
            <a:ext cx="4260397" cy="549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Privilege Rings</a:t>
            </a:r>
            <a:endParaRPr sz="4400" b="0" dirty="0">
              <a:solidFill>
                <a:schemeClr val="tx1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1256201" y="1196701"/>
            <a:ext cx="4730750" cy="4730750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1729276" y="2142850"/>
            <a:ext cx="3784600" cy="3784600"/>
          </a:xfrm>
          <a:custGeom>
            <a:avLst/>
            <a:gdLst/>
            <a:ahLst/>
            <a:cxnLst/>
            <a:rect l="l" t="t" r="r" b="b"/>
            <a:pathLst>
              <a:path w="4541520" h="4541520" extrusionOk="0">
                <a:moveTo>
                  <a:pt x="0" y="2270760"/>
                </a:moveTo>
                <a:cubicBezTo>
                  <a:pt x="0" y="1016654"/>
                  <a:pt x="1016654" y="0"/>
                  <a:pt x="2270760" y="0"/>
                </a:cubicBezTo>
                <a:cubicBezTo>
                  <a:pt x="3524866" y="0"/>
                  <a:pt x="4541520" y="1016654"/>
                  <a:pt x="4541520" y="2270760"/>
                </a:cubicBezTo>
                <a:cubicBezTo>
                  <a:pt x="4541520" y="3524866"/>
                  <a:pt x="3524866" y="4541520"/>
                  <a:pt x="2270760" y="4541520"/>
                </a:cubicBezTo>
                <a:cubicBezTo>
                  <a:pt x="1016654" y="4541520"/>
                  <a:pt x="0" y="3524866"/>
                  <a:pt x="0" y="227076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2202351" y="3089000"/>
            <a:ext cx="2838450" cy="2838450"/>
          </a:xfrm>
          <a:custGeom>
            <a:avLst/>
            <a:gdLst/>
            <a:ahLst/>
            <a:cxnLst/>
            <a:rect l="l" t="t" r="r" b="b"/>
            <a:pathLst>
              <a:path w="3406140" h="3406140" extrusionOk="0">
                <a:moveTo>
                  <a:pt x="0" y="1703070"/>
                </a:moveTo>
                <a:cubicBezTo>
                  <a:pt x="0" y="762490"/>
                  <a:pt x="762490" y="0"/>
                  <a:pt x="1703070" y="0"/>
                </a:cubicBezTo>
                <a:cubicBezTo>
                  <a:pt x="2643650" y="0"/>
                  <a:pt x="3406140" y="762490"/>
                  <a:pt x="3406140" y="1703070"/>
                </a:cubicBezTo>
                <a:cubicBezTo>
                  <a:pt x="3406140" y="2643650"/>
                  <a:pt x="2643650" y="3406140"/>
                  <a:pt x="1703070" y="3406140"/>
                </a:cubicBezTo>
                <a:cubicBezTo>
                  <a:pt x="762490" y="3406140"/>
                  <a:pt x="0" y="2643650"/>
                  <a:pt x="0" y="170307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2675426" y="4035151"/>
            <a:ext cx="1892300" cy="1892300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Kernel [Ring 0]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95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" grpId="0" animBg="1"/>
      <p:bldP spid="297" grpId="0" animBg="1"/>
      <p:bldP spid="2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"/>
          <p:cNvSpPr txBox="1">
            <a:spLocks noGrp="1"/>
          </p:cNvSpPr>
          <p:nvPr>
            <p:ph type="title"/>
          </p:nvPr>
        </p:nvSpPr>
        <p:spPr>
          <a:xfrm>
            <a:off x="7042196" y="608413"/>
            <a:ext cx="4257629" cy="54986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Arial"/>
              </a:rPr>
              <a:t>Privilege Rings</a:t>
            </a:r>
            <a:endParaRPr lang="en-US" b="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04" name="Google Shape;304;p5"/>
          <p:cNvSpPr/>
          <p:nvPr/>
        </p:nvSpPr>
        <p:spPr>
          <a:xfrm>
            <a:off x="1237961" y="1222581"/>
            <a:ext cx="4730750" cy="4730750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300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1592768" y="1932193"/>
            <a:ext cx="4021138" cy="4021138"/>
          </a:xfrm>
          <a:custGeom>
            <a:avLst/>
            <a:gdLst/>
            <a:ahLst/>
            <a:cxnLst/>
            <a:rect l="l" t="t" r="r" b="b"/>
            <a:pathLst>
              <a:path w="4825365" h="4825365" extrusionOk="0">
                <a:moveTo>
                  <a:pt x="0" y="2412683"/>
                </a:moveTo>
                <a:cubicBezTo>
                  <a:pt x="0" y="1080195"/>
                  <a:pt x="1080195" y="0"/>
                  <a:pt x="2412683" y="0"/>
                </a:cubicBezTo>
                <a:cubicBezTo>
                  <a:pt x="3745171" y="0"/>
                  <a:pt x="4825366" y="1080195"/>
                  <a:pt x="4825366" y="2412683"/>
                </a:cubicBezTo>
                <a:cubicBezTo>
                  <a:pt x="4825366" y="3745171"/>
                  <a:pt x="3745171" y="4825366"/>
                  <a:pt x="2412683" y="4825366"/>
                </a:cubicBezTo>
                <a:cubicBezTo>
                  <a:pt x="1080195" y="4825366"/>
                  <a:pt x="0" y="3745171"/>
                  <a:pt x="0" y="241268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1947573" y="2641805"/>
            <a:ext cx="3311525" cy="3311525"/>
          </a:xfrm>
          <a:custGeom>
            <a:avLst/>
            <a:gdLst/>
            <a:ahLst/>
            <a:cxnLst/>
            <a:rect l="l" t="t" r="r" b="b"/>
            <a:pathLst>
              <a:path w="3973830" h="3973830" extrusionOk="0">
                <a:moveTo>
                  <a:pt x="0" y="1986915"/>
                </a:moveTo>
                <a:cubicBezTo>
                  <a:pt x="0" y="889572"/>
                  <a:pt x="889572" y="0"/>
                  <a:pt x="1986915" y="0"/>
                </a:cubicBezTo>
                <a:cubicBezTo>
                  <a:pt x="3084258" y="0"/>
                  <a:pt x="3973830" y="889572"/>
                  <a:pt x="3973830" y="1986915"/>
                </a:cubicBezTo>
                <a:cubicBezTo>
                  <a:pt x="3973830" y="3084258"/>
                  <a:pt x="3084258" y="3973830"/>
                  <a:pt x="1986915" y="3973830"/>
                </a:cubicBezTo>
                <a:cubicBezTo>
                  <a:pt x="889572" y="3973830"/>
                  <a:pt x="0" y="3084258"/>
                  <a:pt x="0" y="1986915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lt1"/>
              </a:solidFill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2302380" y="3351418"/>
            <a:ext cx="2601913" cy="2601913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tIns="288000" rtlCol="0" anchor="t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Kernel [Ring 0]</a:t>
            </a:r>
            <a:endParaRPr lang="en-US" dirty="0">
              <a:solidFill>
                <a:schemeClr val="lt1"/>
              </a:solidFill>
            </a:endParaRPr>
          </a:p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308" name="Google Shape;308;p5"/>
          <p:cNvSpPr/>
          <p:nvPr/>
        </p:nvSpPr>
        <p:spPr>
          <a:xfrm>
            <a:off x="2657186" y="4061031"/>
            <a:ext cx="1892300" cy="1892300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lt1"/>
              </a:solidFill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VMM [Ring -1]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309" name="Google Shape;309;p5"/>
          <p:cNvSpPr/>
          <p:nvPr/>
        </p:nvSpPr>
        <p:spPr>
          <a:xfrm>
            <a:off x="3011993" y="4770644"/>
            <a:ext cx="1182688" cy="1182688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SMM [Ring -2]</a:t>
            </a:r>
            <a:endParaRPr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99009"/>
              <a:buFont typeface="Arial"/>
              <a:buNone/>
            </a:pPr>
            <a:r>
              <a:rPr lang="en-US" dirty="0"/>
              <a:t>System Management Mode</a:t>
            </a:r>
            <a:endParaRPr dirty="0"/>
          </a:p>
        </p:txBody>
      </p:sp>
      <p:sp>
        <p:nvSpPr>
          <p:cNvPr id="315" name="Google Shape;315;p6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285739" lvl="0" indent="-28573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/>
              <a:buChar char="•"/>
            </a:pPr>
            <a:r>
              <a:rPr lang="en-US" dirty="0"/>
              <a:t>Processor operating mode</a:t>
            </a:r>
            <a:endParaRPr dirty="0"/>
          </a:p>
          <a:p>
            <a:pPr marL="285739" lvl="0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Pts val="2000"/>
              <a:buFont typeface="Arial"/>
              <a:buChar char="•"/>
            </a:pPr>
            <a:r>
              <a:rPr lang="en-US" dirty="0"/>
              <a:t>Provides low-level system functionality: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dirty="0"/>
              <a:t>Power management</a:t>
            </a:r>
            <a:endParaRPr lang="en-US" sz="2800" dirty="0"/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sz="2400" dirty="0"/>
              <a:t>System hardware control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SzPts val="2000"/>
              <a:buFont typeface="Arial"/>
              <a:buChar char="•"/>
            </a:pPr>
            <a:r>
              <a:rPr lang="en-US" sz="2400" dirty="0"/>
              <a:t>Proprietary OEM designed code</a:t>
            </a:r>
          </a:p>
          <a:p>
            <a:pPr marL="285739" indent="-285739">
              <a:lnSpc>
                <a:spcPct val="100000"/>
              </a:lnSpc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Additional functionalities: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Interface to SMBIOS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PS/2 mouse/keyboard emulation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dirty="0">
                <a:solidFill>
                  <a:schemeClr val="accent5"/>
                </a:solidFill>
              </a:rPr>
              <a:t>Handle USB events at boot time and run time</a:t>
            </a:r>
          </a:p>
          <a:p>
            <a:pPr marL="742939" lvl="1" indent="-285739">
              <a:lnSpc>
                <a:spcPct val="100000"/>
              </a:lnSpc>
              <a:spcBef>
                <a:spcPts val="1000"/>
              </a:spcBef>
              <a:buClr>
                <a:schemeClr val="tx1">
                  <a:lumMod val="95000"/>
                  <a:lumOff val="5000"/>
                </a:schemeClr>
              </a:buClr>
              <a:buSzPts val="2000"/>
              <a:buFont typeface="Arial"/>
              <a:buChar char="•"/>
            </a:pPr>
            <a:r>
              <a:rPr lang="en-US" sz="2400" dirty="0">
                <a:solidFill>
                  <a:schemeClr val="accent5"/>
                </a:solidFill>
              </a:rPr>
              <a:t>...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ct val="99009"/>
              <a:buFont typeface="Arial"/>
              <a:buNone/>
            </a:pPr>
            <a:r>
              <a:rPr lang="en-US" dirty="0"/>
              <a:t>System Management Mode</a:t>
            </a:r>
            <a:endParaRPr dirty="0"/>
          </a:p>
        </p:txBody>
      </p:sp>
      <p:sp>
        <p:nvSpPr>
          <p:cNvPr id="4" name="Google Shape;322;p7">
            <a:extLst>
              <a:ext uri="{FF2B5EF4-FFF2-40B4-BE49-F238E27FC236}">
                <a16:creationId xmlns:a16="http://schemas.microsoft.com/office/drawing/2014/main" id="{56DA5C33-78BC-9B07-7023-167844681FDD}"/>
              </a:ext>
            </a:extLst>
          </p:cNvPr>
          <p:cNvSpPr txBox="1"/>
          <p:nvPr/>
        </p:nvSpPr>
        <p:spPr>
          <a:xfrm>
            <a:off x="3678626" y="4924049"/>
            <a:ext cx="439102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600"/>
              <a:buFont typeface="Asap SemiBold"/>
              <a:buNone/>
            </a:pPr>
            <a:r>
              <a:rPr lang="en-US" sz="12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sap SemiBold"/>
              </a:rPr>
              <a:t>http://gunshowcomic.com/648 </a:t>
            </a:r>
            <a:endParaRPr sz="12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5" name="Google Shape;323;p7">
            <a:extLst>
              <a:ext uri="{FF2B5EF4-FFF2-40B4-BE49-F238E27FC236}">
                <a16:creationId xmlns:a16="http://schemas.microsoft.com/office/drawing/2014/main" id="{85012C08-73F3-A314-A4B4-BF8C7410B052}"/>
              </a:ext>
            </a:extLst>
          </p:cNvPr>
          <p:cNvPicPr preferRelativeResize="0"/>
          <p:nvPr/>
        </p:nvPicPr>
        <p:blipFill rotWithShape="1">
          <a:blip r:embed="rId4"/>
          <a:srcRect l="2771" t="2374" r="2584" b="67070"/>
          <a:stretch/>
        </p:blipFill>
        <p:spPr>
          <a:xfrm>
            <a:off x="3678626" y="2818500"/>
            <a:ext cx="4391026" cy="2095501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8C2038-8E06-9C95-9CE3-DC6E5A242B03}"/>
              </a:ext>
            </a:extLst>
          </p:cNvPr>
          <p:cNvSpPr txBox="1"/>
          <p:nvPr/>
        </p:nvSpPr>
        <p:spPr>
          <a:xfrm>
            <a:off x="7776543" y="293965"/>
            <a:ext cx="431996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SMRAMC[C_BASE_SEG] SMRAMC[G_SMRAME] ESMRAMC[H_SMRAME] ESMRAMC[TSEG_SZ]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ESMRAMC[T_EN]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TOLUD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GGC[GGMS]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SMRAMC[D_OPEN]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SMRAMC[D_LCK]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IA32_SMRR_PHYSBASE IA32_SMRR_PHYSMASK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TOLUD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TOUUD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TSEGMB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BGSM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TSEGMB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BGSM Lock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SMM_BWP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SMI_EN[GBL_SMI_EN]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TCO_EN</a:t>
            </a:r>
          </a:p>
          <a:p>
            <a:pPr algn="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TCO_LOCK SMI_LOCK</a:t>
            </a:r>
            <a:endParaRPr lang="en-IL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626B95-74C9-5676-00E2-CE413EBE237C}"/>
              </a:ext>
            </a:extLst>
          </p:cNvPr>
          <p:cNvSpPr txBox="1"/>
          <p:nvPr/>
        </p:nvSpPr>
        <p:spPr>
          <a:xfrm>
            <a:off x="8188525" y="6486664"/>
            <a:ext cx="390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“The Memory Sinkhole” by Chris Domas</a:t>
            </a:r>
            <a:endParaRPr lang="en-IL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01BB9-B6F0-E7D4-3704-EBBB3ED4F6C3}"/>
              </a:ext>
            </a:extLst>
          </p:cNvPr>
          <p:cNvSpPr txBox="1"/>
          <p:nvPr/>
        </p:nvSpPr>
        <p:spPr>
          <a:xfrm>
            <a:off x="95491" y="2492594"/>
            <a:ext cx="61445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Stack Guard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NULL pointer detection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Heap Guard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Memory Profile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NX Stack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NX/RO Memory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Image Protection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SMM Static Paging</a:t>
            </a:r>
          </a:p>
          <a:p>
            <a:r>
              <a:rPr lang="en-IL" dirty="0">
                <a:solidFill>
                  <a:schemeClr val="bg1">
                    <a:lumMod val="50000"/>
                  </a:schemeClr>
                </a:solidFill>
              </a:rPr>
              <a:t>Read-only Page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2784CD-FB7C-ACA7-56D8-0E8C25A7C464}"/>
              </a:ext>
            </a:extLst>
          </p:cNvPr>
          <p:cNvSpPr txBox="1"/>
          <p:nvPr/>
        </p:nvSpPr>
        <p:spPr>
          <a:xfrm>
            <a:off x="95491" y="6480274"/>
            <a:ext cx="78106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https://edk2-docs.gitbook.io/a-tour-beyond-bios-mitigate-buffer-overflow-in-ue/summary/policy_control </a:t>
            </a:r>
          </a:p>
        </p:txBody>
      </p:sp>
    </p:spTree>
    <p:extLst>
      <p:ext uri="{BB962C8B-B14F-4D97-AF65-F5344CB8AC3E}">
        <p14:creationId xmlns:p14="http://schemas.microsoft.com/office/powerpoint/2010/main" val="410762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BF87E-9210-4254-A3EF-68532EAA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Invoking SMM From Ring 0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C59641A-A38F-4C11-8D9E-33059B150CE8}"/>
              </a:ext>
            </a:extLst>
          </p:cNvPr>
          <p:cNvSpPr/>
          <p:nvPr/>
        </p:nvSpPr>
        <p:spPr>
          <a:xfrm>
            <a:off x="506363" y="2502697"/>
            <a:ext cx="2601913" cy="2601913"/>
          </a:xfrm>
          <a:custGeom>
            <a:avLst/>
            <a:gdLst>
              <a:gd name="connsiteX0" fmla="*/ 0 w 3122295"/>
              <a:gd name="connsiteY0" fmla="*/ 1561148 h 3122295"/>
              <a:gd name="connsiteX1" fmla="*/ 1561148 w 3122295"/>
              <a:gd name="connsiteY1" fmla="*/ 0 h 3122295"/>
              <a:gd name="connsiteX2" fmla="*/ 3122296 w 3122295"/>
              <a:gd name="connsiteY2" fmla="*/ 1561148 h 3122295"/>
              <a:gd name="connsiteX3" fmla="*/ 1561148 w 3122295"/>
              <a:gd name="connsiteY3" fmla="*/ 3122296 h 3122295"/>
              <a:gd name="connsiteX4" fmla="*/ 0 w 3122295"/>
              <a:gd name="connsiteY4" fmla="*/ 1561148 h 3122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22295" h="3122295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Kernel [Ring 0]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DC33AD8-B9DC-46E5-9A85-5068CE6F0340}"/>
              </a:ext>
            </a:extLst>
          </p:cNvPr>
          <p:cNvSpPr/>
          <p:nvPr/>
        </p:nvSpPr>
        <p:spPr>
          <a:xfrm>
            <a:off x="8728008" y="2482602"/>
            <a:ext cx="2601913" cy="2601913"/>
          </a:xfrm>
          <a:custGeom>
            <a:avLst/>
            <a:gdLst>
              <a:gd name="connsiteX0" fmla="*/ 0 w 1419225"/>
              <a:gd name="connsiteY0" fmla="*/ 709613 h 1419225"/>
              <a:gd name="connsiteX1" fmla="*/ 709613 w 1419225"/>
              <a:gd name="connsiteY1" fmla="*/ 0 h 1419225"/>
              <a:gd name="connsiteX2" fmla="*/ 1419226 w 1419225"/>
              <a:gd name="connsiteY2" fmla="*/ 709613 h 1419225"/>
              <a:gd name="connsiteX3" fmla="*/ 709613 w 1419225"/>
              <a:gd name="connsiteY3" fmla="*/ 1419226 h 1419225"/>
              <a:gd name="connsiteX4" fmla="*/ 0 w 1419225"/>
              <a:gd name="connsiteY4" fmla="*/ 709613 h 141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9225" h="1419225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rgbClr val="1D6FA9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SMM [Ring -2]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9370E8-AEC7-1883-BE79-878E994FF892}"/>
              </a:ext>
            </a:extLst>
          </p:cNvPr>
          <p:cNvSpPr/>
          <p:nvPr/>
        </p:nvSpPr>
        <p:spPr>
          <a:xfrm>
            <a:off x="5063591" y="3324212"/>
            <a:ext cx="1643356" cy="952427"/>
          </a:xfrm>
          <a:prstGeom prst="rect">
            <a:avLst/>
          </a:prstGeom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Helvetica Neue Medium"/>
              </a:rPr>
              <a:t>System Management I</a:t>
            </a:r>
            <a:r>
              <a:rPr lang="en-US" dirty="0">
                <a:solidFill>
                  <a:schemeClr val="lt1"/>
                </a:solidFill>
                <a:sym typeface="Helvetica Neue Medium"/>
              </a:rPr>
              <a:t>nterrupt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0D230-075F-54E3-E0BB-49D71627EBFA}"/>
              </a:ext>
            </a:extLst>
          </p:cNvPr>
          <p:cNvSpPr txBox="1"/>
          <p:nvPr/>
        </p:nvSpPr>
        <p:spPr>
          <a:xfrm>
            <a:off x="5401616" y="4778673"/>
            <a:ext cx="110490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algn="ctr" defTabSz="2438241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sym typeface="Helvetica Neue"/>
              </a:rPr>
              <a:t>SMI handler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809B1A-D248-DEB9-B721-3C578ABB8A66}"/>
              </a:ext>
            </a:extLst>
          </p:cNvPr>
          <p:cNvCxnSpPr>
            <a:cxnSpLocks/>
            <a:stCxn id="10" idx="2"/>
            <a:endCxn id="6" idx="1"/>
          </p:cNvCxnSpPr>
          <p:nvPr/>
        </p:nvCxnSpPr>
        <p:spPr>
          <a:xfrm flipV="1">
            <a:off x="3108277" y="3800426"/>
            <a:ext cx="1955314" cy="3228"/>
          </a:xfrm>
          <a:prstGeom prst="straightConnector1">
            <a:avLst/>
          </a:prstGeom>
          <a:ln w="47625" cap="sq">
            <a:solidFill>
              <a:schemeClr val="accent5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00706E-D24D-FFC0-0BD3-91E41103431A}"/>
              </a:ext>
            </a:extLst>
          </p:cNvPr>
          <p:cNvCxnSpPr>
            <a:cxnSpLocks/>
            <a:stCxn id="6" idx="3"/>
            <a:endCxn id="16" idx="0"/>
          </p:cNvCxnSpPr>
          <p:nvPr/>
        </p:nvCxnSpPr>
        <p:spPr>
          <a:xfrm flipV="1">
            <a:off x="6706947" y="3783559"/>
            <a:ext cx="2021061" cy="16867"/>
          </a:xfrm>
          <a:prstGeom prst="straightConnector1">
            <a:avLst/>
          </a:prstGeom>
          <a:ln w="47625" cap="sq">
            <a:solidFill>
              <a:schemeClr val="accent5"/>
            </a:solidFill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4FB0AD4-C0C4-3196-87EA-ADEFB1C41630}"/>
              </a:ext>
            </a:extLst>
          </p:cNvPr>
          <p:cNvSpPr/>
          <p:nvPr/>
        </p:nvSpPr>
        <p:spPr>
          <a:xfrm>
            <a:off x="4712388" y="2873714"/>
            <a:ext cx="2483357" cy="1819688"/>
          </a:xfrm>
          <a:prstGeom prst="rect">
            <a:avLst/>
          </a:prstGeom>
          <a:solidFill>
            <a:schemeClr val="bg1">
              <a:alpha val="63000"/>
            </a:schemeClr>
          </a:solidFill>
          <a:ln w="28575" cap="flat">
            <a:solidFill>
              <a:srgbClr val="0068B5">
                <a:alpha val="43000"/>
              </a:srgbClr>
            </a:solidFill>
            <a:miter lim="4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895474"/>
                      <a:gd name="connsiteY0" fmla="*/ 0 h 1533524"/>
                      <a:gd name="connsiteX1" fmla="*/ 612870 w 1895474"/>
                      <a:gd name="connsiteY1" fmla="*/ 0 h 1533524"/>
                      <a:gd name="connsiteX2" fmla="*/ 1187830 w 1895474"/>
                      <a:gd name="connsiteY2" fmla="*/ 0 h 1533524"/>
                      <a:gd name="connsiteX3" fmla="*/ 1895474 w 1895474"/>
                      <a:gd name="connsiteY3" fmla="*/ 0 h 1533524"/>
                      <a:gd name="connsiteX4" fmla="*/ 1895474 w 1895474"/>
                      <a:gd name="connsiteY4" fmla="*/ 495839 h 1533524"/>
                      <a:gd name="connsiteX5" fmla="*/ 1895474 w 1895474"/>
                      <a:gd name="connsiteY5" fmla="*/ 976344 h 1533524"/>
                      <a:gd name="connsiteX6" fmla="*/ 1895474 w 1895474"/>
                      <a:gd name="connsiteY6" fmla="*/ 1533524 h 1533524"/>
                      <a:gd name="connsiteX7" fmla="*/ 1263649 w 1895474"/>
                      <a:gd name="connsiteY7" fmla="*/ 1533524 h 1533524"/>
                      <a:gd name="connsiteX8" fmla="*/ 593915 w 1895474"/>
                      <a:gd name="connsiteY8" fmla="*/ 1533524 h 1533524"/>
                      <a:gd name="connsiteX9" fmla="*/ 0 w 1895474"/>
                      <a:gd name="connsiteY9" fmla="*/ 1533524 h 1533524"/>
                      <a:gd name="connsiteX10" fmla="*/ 0 w 1895474"/>
                      <a:gd name="connsiteY10" fmla="*/ 1022349 h 1533524"/>
                      <a:gd name="connsiteX11" fmla="*/ 0 w 1895474"/>
                      <a:gd name="connsiteY11" fmla="*/ 526510 h 1533524"/>
                      <a:gd name="connsiteX12" fmla="*/ 0 w 1895474"/>
                      <a:gd name="connsiteY12" fmla="*/ 0 h 15335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895474" h="1533524" extrusionOk="0">
                        <a:moveTo>
                          <a:pt x="0" y="0"/>
                        </a:moveTo>
                        <a:cubicBezTo>
                          <a:pt x="183687" y="-16767"/>
                          <a:pt x="482985" y="346"/>
                          <a:pt x="612870" y="0"/>
                        </a:cubicBezTo>
                        <a:cubicBezTo>
                          <a:pt x="742755" y="-346"/>
                          <a:pt x="1058009" y="15973"/>
                          <a:pt x="1187830" y="0"/>
                        </a:cubicBezTo>
                        <a:cubicBezTo>
                          <a:pt x="1317651" y="-15973"/>
                          <a:pt x="1615870" y="2949"/>
                          <a:pt x="1895474" y="0"/>
                        </a:cubicBezTo>
                        <a:cubicBezTo>
                          <a:pt x="1890991" y="169861"/>
                          <a:pt x="1871918" y="350525"/>
                          <a:pt x="1895474" y="495839"/>
                        </a:cubicBezTo>
                        <a:cubicBezTo>
                          <a:pt x="1919030" y="641153"/>
                          <a:pt x="1903013" y="788491"/>
                          <a:pt x="1895474" y="976344"/>
                        </a:cubicBezTo>
                        <a:cubicBezTo>
                          <a:pt x="1887935" y="1164197"/>
                          <a:pt x="1869768" y="1334192"/>
                          <a:pt x="1895474" y="1533524"/>
                        </a:cubicBezTo>
                        <a:cubicBezTo>
                          <a:pt x="1680706" y="1556496"/>
                          <a:pt x="1452837" y="1559080"/>
                          <a:pt x="1263649" y="1533524"/>
                        </a:cubicBezTo>
                        <a:cubicBezTo>
                          <a:pt x="1074462" y="1507968"/>
                          <a:pt x="784725" y="1549977"/>
                          <a:pt x="593915" y="1533524"/>
                        </a:cubicBezTo>
                        <a:cubicBezTo>
                          <a:pt x="403105" y="1517071"/>
                          <a:pt x="152296" y="1539008"/>
                          <a:pt x="0" y="1533524"/>
                        </a:cubicBezTo>
                        <a:cubicBezTo>
                          <a:pt x="2439" y="1366453"/>
                          <a:pt x="-17277" y="1205560"/>
                          <a:pt x="0" y="1022349"/>
                        </a:cubicBezTo>
                        <a:cubicBezTo>
                          <a:pt x="17277" y="839138"/>
                          <a:pt x="-4677" y="746703"/>
                          <a:pt x="0" y="526510"/>
                        </a:cubicBezTo>
                        <a:cubicBezTo>
                          <a:pt x="4677" y="306317"/>
                          <a:pt x="12762" y="253598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1400" dirty="0">
              <a:solidFill>
                <a:schemeClr val="accent1">
                  <a:lumMod val="75000"/>
                </a:schemeClr>
              </a:solidFill>
              <a:latin typeface="Segoe UI" panose="020B0502040204020203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92357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EDEDED"/>
                                      </p:to>
                                    </p:animClr>
                                    <p:set>
                                      <p:cBhvr>
                                        <p:cTn id="7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D6FA9"/>
                                      </p:to>
                                    </p:animClr>
                                    <p:set>
                                      <p:cBhvr>
                                        <p:cTn id="3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65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1D6FA9"/>
                                      </p:to>
                                    </p:animClr>
                                    <p:set>
                                      <p:cBhvr>
                                        <p:cTn id="6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11" grpId="0"/>
      <p:bldP spid="11" grpId="1"/>
      <p:bldP spid="12" grpId="0" animBg="1"/>
      <p:bldP spid="12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/>
          <p:nvPr/>
        </p:nvSpPr>
        <p:spPr>
          <a:xfrm>
            <a:off x="0" y="1439418"/>
            <a:ext cx="12192000" cy="4610100"/>
          </a:xfrm>
          <a:prstGeom prst="rect">
            <a:avLst/>
          </a:prstGeom>
          <a:solidFill>
            <a:srgbClr val="E6EBEE"/>
          </a:solidFill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Helvetica Neue"/>
              <a:buNone/>
            </a:pPr>
            <a:r>
              <a:rPr lang="en-US" sz="30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RAM</a:t>
            </a:r>
            <a:endParaRPr dirty="0"/>
          </a:p>
        </p:txBody>
      </p:sp>
      <p:sp>
        <p:nvSpPr>
          <p:cNvPr id="391" name="Google Shape;391;p14"/>
          <p:cNvSpPr/>
          <p:nvPr/>
        </p:nvSpPr>
        <p:spPr>
          <a:xfrm>
            <a:off x="7533542" y="2028014"/>
            <a:ext cx="4248148" cy="3712309"/>
          </a:xfrm>
          <a:prstGeom prst="rect">
            <a:avLst/>
          </a:prstGeom>
          <a:solidFill>
            <a:srgbClr val="CCD7DE"/>
          </a:solidFill>
          <a:ln>
            <a:noFill/>
          </a:ln>
        </p:spPr>
        <p:txBody>
          <a:bodyPr spcFirstLastPara="1" wrap="square" lIns="50800" tIns="50800" rIns="50800" bIns="50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667"/>
              <a:buFont typeface="Helvetica Neue"/>
              <a:buNone/>
            </a:pPr>
            <a:r>
              <a:rPr lang="en-US" sz="2667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SMRAM</a:t>
            </a:r>
            <a:endParaRPr dirty="0"/>
          </a:p>
        </p:txBody>
      </p:sp>
      <p:sp>
        <p:nvSpPr>
          <p:cNvPr id="392" name="Google Shape;392;p14"/>
          <p:cNvSpPr txBox="1">
            <a:spLocks noGrp="1"/>
          </p:cNvSpPr>
          <p:nvPr>
            <p:ph type="title"/>
          </p:nvPr>
        </p:nvSpPr>
        <p:spPr>
          <a:xfrm>
            <a:off x="838200" y="56629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Management RAM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8279384" y="2626589"/>
            <a:ext cx="2756463" cy="2756463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SMM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429829" y="2514829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Kernel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5448924" y="2158254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tx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User-space apps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928398" y="4082487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Kernel  modules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2846519" y="2028014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lt1"/>
                </a:solidFill>
                <a:sym typeface="Arial"/>
              </a:rPr>
              <a:t>Hypervisor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255884" y="3952247"/>
            <a:ext cx="1657835" cy="1657835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VMs</a:t>
            </a: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12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" grpId="0" animBg="1"/>
      <p:bldP spid="393" grpId="0" animBg="1"/>
      <p:bldP spid="394" grpId="0" animBg="1"/>
      <p:bldP spid="395" grpId="0" animBg="1"/>
      <p:bldP spid="396" grpId="0" animBg="1"/>
      <p:bldP spid="397" grpId="0" animBg="1"/>
      <p:bldP spid="39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 txBox="1">
            <a:spLocks noGrp="1"/>
          </p:cNvSpPr>
          <p:nvPr>
            <p:ph type="title"/>
          </p:nvPr>
        </p:nvSpPr>
        <p:spPr>
          <a:xfrm>
            <a:off x="7043659" y="271462"/>
            <a:ext cx="5366244" cy="631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dirty="0"/>
              <a:t>Privilege Escalation</a:t>
            </a:r>
            <a:endParaRPr dirty="0"/>
          </a:p>
        </p:txBody>
      </p:sp>
      <p:sp>
        <p:nvSpPr>
          <p:cNvPr id="438" name="Google Shape;438;p17"/>
          <p:cNvSpPr/>
          <p:nvPr/>
        </p:nvSpPr>
        <p:spPr>
          <a:xfrm>
            <a:off x="607037" y="435222"/>
            <a:ext cx="5987556" cy="5987556"/>
          </a:xfrm>
          <a:custGeom>
            <a:avLst/>
            <a:gdLst/>
            <a:ahLst/>
            <a:cxnLst/>
            <a:rect l="l" t="t" r="r" b="b"/>
            <a:pathLst>
              <a:path w="5676900" h="5676900" extrusionOk="0">
                <a:moveTo>
                  <a:pt x="0" y="2838450"/>
                </a:moveTo>
                <a:cubicBezTo>
                  <a:pt x="0" y="1270817"/>
                  <a:pt x="1270817" y="0"/>
                  <a:pt x="2838450" y="0"/>
                </a:cubicBezTo>
                <a:cubicBezTo>
                  <a:pt x="4406083" y="0"/>
                  <a:pt x="5676900" y="1270817"/>
                  <a:pt x="5676900" y="2838450"/>
                </a:cubicBezTo>
                <a:cubicBezTo>
                  <a:pt x="5676900" y="4406083"/>
                  <a:pt x="4406083" y="5676900"/>
                  <a:pt x="2838450" y="5676900"/>
                </a:cubicBezTo>
                <a:cubicBezTo>
                  <a:pt x="1270817" y="5676900"/>
                  <a:pt x="0" y="4406083"/>
                  <a:pt x="0" y="2838450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900" dirty="0">
              <a:sym typeface="Arial"/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User-mode </a:t>
            </a:r>
            <a:endParaRPr dirty="0">
              <a:solidFill>
                <a:schemeClr val="lt1"/>
              </a:solidFill>
            </a:endParaRPr>
          </a:p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[Ring 3]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1056104" y="1333354"/>
            <a:ext cx="5089423" cy="5089423"/>
          </a:xfrm>
          <a:custGeom>
            <a:avLst/>
            <a:gdLst/>
            <a:ahLst/>
            <a:cxnLst/>
            <a:rect l="l" t="t" r="r" b="b"/>
            <a:pathLst>
              <a:path w="4825365" h="4825365" extrusionOk="0">
                <a:moveTo>
                  <a:pt x="0" y="2412683"/>
                </a:moveTo>
                <a:cubicBezTo>
                  <a:pt x="0" y="1080195"/>
                  <a:pt x="1080195" y="0"/>
                  <a:pt x="2412683" y="0"/>
                </a:cubicBezTo>
                <a:cubicBezTo>
                  <a:pt x="3745171" y="0"/>
                  <a:pt x="4825366" y="1080195"/>
                  <a:pt x="4825366" y="2412683"/>
                </a:cubicBezTo>
                <a:cubicBezTo>
                  <a:pt x="4825366" y="3745171"/>
                  <a:pt x="3745171" y="4825366"/>
                  <a:pt x="2412683" y="4825366"/>
                </a:cubicBezTo>
                <a:cubicBezTo>
                  <a:pt x="1080195" y="4825366"/>
                  <a:pt x="0" y="3745171"/>
                  <a:pt x="0" y="2412683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1505170" y="2231488"/>
            <a:ext cx="4191289" cy="4191289"/>
          </a:xfrm>
          <a:custGeom>
            <a:avLst/>
            <a:gdLst/>
            <a:ahLst/>
            <a:cxnLst/>
            <a:rect l="l" t="t" r="r" b="b"/>
            <a:pathLst>
              <a:path w="3973830" h="3973830" extrusionOk="0">
                <a:moveTo>
                  <a:pt x="0" y="1986915"/>
                </a:moveTo>
                <a:cubicBezTo>
                  <a:pt x="0" y="889572"/>
                  <a:pt x="889572" y="0"/>
                  <a:pt x="1986915" y="0"/>
                </a:cubicBezTo>
                <a:cubicBezTo>
                  <a:pt x="3084258" y="0"/>
                  <a:pt x="3973830" y="889572"/>
                  <a:pt x="3973830" y="1986915"/>
                </a:cubicBezTo>
                <a:cubicBezTo>
                  <a:pt x="3973830" y="3084258"/>
                  <a:pt x="3084258" y="3973830"/>
                  <a:pt x="1986915" y="3973830"/>
                </a:cubicBezTo>
                <a:cubicBezTo>
                  <a:pt x="889572" y="3973830"/>
                  <a:pt x="0" y="3084258"/>
                  <a:pt x="0" y="1986915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ym typeface="Arial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1954238" y="3129621"/>
            <a:ext cx="3293156" cy="3293156"/>
          </a:xfrm>
          <a:custGeom>
            <a:avLst/>
            <a:gdLst/>
            <a:ahLst/>
            <a:cxnLst/>
            <a:rect l="l" t="t" r="r" b="b"/>
            <a:pathLst>
              <a:path w="3122295" h="3122295" extrusionOk="0">
                <a:moveTo>
                  <a:pt x="0" y="1561148"/>
                </a:moveTo>
                <a:cubicBezTo>
                  <a:pt x="0" y="698950"/>
                  <a:pt x="698950" y="0"/>
                  <a:pt x="1561148" y="0"/>
                </a:cubicBezTo>
                <a:cubicBezTo>
                  <a:pt x="2423346" y="0"/>
                  <a:pt x="3122296" y="698950"/>
                  <a:pt x="3122296" y="1561148"/>
                </a:cubicBezTo>
                <a:cubicBezTo>
                  <a:pt x="3122296" y="2423346"/>
                  <a:pt x="2423346" y="3122296"/>
                  <a:pt x="1561148" y="3122296"/>
                </a:cubicBezTo>
                <a:cubicBezTo>
                  <a:pt x="698950" y="3122296"/>
                  <a:pt x="0" y="2423346"/>
                  <a:pt x="0" y="1561148"/>
                </a:cubicBezTo>
                <a:close/>
              </a:path>
            </a:pathLst>
          </a:cu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ym typeface="Arial"/>
            </a:endParaRPr>
          </a:p>
          <a:p>
            <a:pPr algn="ctr"/>
            <a:r>
              <a:rPr lang="en-US" dirty="0">
                <a:sym typeface="Arial"/>
              </a:rPr>
              <a:t>Kernel [Ring 0]</a:t>
            </a:r>
            <a:endParaRPr dirty="0"/>
          </a:p>
        </p:txBody>
      </p:sp>
      <p:sp>
        <p:nvSpPr>
          <p:cNvPr id="442" name="Google Shape;442;p17"/>
          <p:cNvSpPr/>
          <p:nvPr/>
        </p:nvSpPr>
        <p:spPr>
          <a:xfrm>
            <a:off x="2403304" y="4027756"/>
            <a:ext cx="2395022" cy="2395022"/>
          </a:xfrm>
          <a:custGeom>
            <a:avLst/>
            <a:gdLst/>
            <a:ahLst/>
            <a:cxnLst/>
            <a:rect l="l" t="t" r="r" b="b"/>
            <a:pathLst>
              <a:path w="2270760" h="2270760" extrusionOk="0">
                <a:moveTo>
                  <a:pt x="0" y="1135380"/>
                </a:moveTo>
                <a:cubicBezTo>
                  <a:pt x="0" y="508327"/>
                  <a:pt x="508327" y="0"/>
                  <a:pt x="1135380" y="0"/>
                </a:cubicBezTo>
                <a:cubicBezTo>
                  <a:pt x="1762433" y="0"/>
                  <a:pt x="2270760" y="508327"/>
                  <a:pt x="2270760" y="1135380"/>
                </a:cubicBezTo>
                <a:cubicBezTo>
                  <a:pt x="2270760" y="1762433"/>
                  <a:pt x="1762433" y="2270760"/>
                  <a:pt x="1135380" y="2270760"/>
                </a:cubicBezTo>
                <a:cubicBezTo>
                  <a:pt x="508327" y="2270760"/>
                  <a:pt x="0" y="1762433"/>
                  <a:pt x="0" y="1135380"/>
                </a:cubicBez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ym typeface="Arial"/>
            </a:endParaRPr>
          </a:p>
          <a:p>
            <a:pPr algn="ctr"/>
            <a:r>
              <a:rPr lang="en-US" dirty="0">
                <a:sym typeface="Arial"/>
              </a:rPr>
              <a:t>VMM [Ring -1]</a:t>
            </a:r>
            <a:endParaRPr dirty="0"/>
          </a:p>
        </p:txBody>
      </p:sp>
      <p:sp>
        <p:nvSpPr>
          <p:cNvPr id="443" name="Google Shape;443;p17"/>
          <p:cNvSpPr/>
          <p:nvPr/>
        </p:nvSpPr>
        <p:spPr>
          <a:xfrm>
            <a:off x="2852371" y="4925889"/>
            <a:ext cx="1496889" cy="1496889"/>
          </a:xfrm>
          <a:custGeom>
            <a:avLst/>
            <a:gdLst/>
            <a:ahLst/>
            <a:cxnLst/>
            <a:rect l="l" t="t" r="r" b="b"/>
            <a:pathLst>
              <a:path w="1419225" h="1419225" extrusionOk="0">
                <a:moveTo>
                  <a:pt x="0" y="709613"/>
                </a:moveTo>
                <a:cubicBezTo>
                  <a:pt x="0" y="317705"/>
                  <a:pt x="317705" y="0"/>
                  <a:pt x="709613" y="0"/>
                </a:cubicBezTo>
                <a:cubicBezTo>
                  <a:pt x="1101521" y="0"/>
                  <a:pt x="1419226" y="317705"/>
                  <a:pt x="1419226" y="709613"/>
                </a:cubicBezTo>
                <a:cubicBezTo>
                  <a:pt x="1419226" y="1101521"/>
                  <a:pt x="1101521" y="1419226"/>
                  <a:pt x="709613" y="1419226"/>
                </a:cubicBezTo>
                <a:cubicBezTo>
                  <a:pt x="317705" y="1419226"/>
                  <a:pt x="0" y="1101521"/>
                  <a:pt x="0" y="709613"/>
                </a:cubicBezTo>
                <a:close/>
              </a:path>
            </a:pathLst>
          </a:custGeom>
          <a:solidFill>
            <a:schemeClr val="bg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  <a:sym typeface="Arial"/>
              </a:rPr>
              <a:t>SMM </a:t>
            </a:r>
          </a:p>
          <a:p>
            <a:pPr algn="ctr"/>
            <a:r>
              <a:rPr lang="en-US" sz="2000" dirty="0">
                <a:solidFill>
                  <a:srgbClr val="C00000"/>
                </a:solidFill>
                <a:sym typeface="Arial"/>
              </a:rPr>
              <a:t>[Ring -2]</a:t>
            </a:r>
            <a:endParaRPr sz="2000" dirty="0">
              <a:solidFill>
                <a:srgbClr val="C00000"/>
              </a:solidFill>
            </a:endParaRPr>
          </a:p>
        </p:txBody>
      </p:sp>
      <p:pic>
        <p:nvPicPr>
          <p:cNvPr id="444" name="Google Shape;444;p17" descr="Grasshoppe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90703" y="639421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2.59259E-6 L -0.00976 0.4384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5" y="2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76 0.43843 L 0.07774 0.60394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75" y="82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20" descr="Intel® NUC Kit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71530" y="2428249"/>
            <a:ext cx="45720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 dirty="0"/>
              <a:t>Our Target</a:t>
            </a:r>
            <a:endParaRPr dirty="0"/>
          </a:p>
        </p:txBody>
      </p:sp>
      <p:sp>
        <p:nvSpPr>
          <p:cNvPr id="479" name="Google Shape;479;p20"/>
          <p:cNvSpPr txBox="1"/>
          <p:nvPr/>
        </p:nvSpPr>
        <p:spPr>
          <a:xfrm>
            <a:off x="3612363" y="4999999"/>
            <a:ext cx="469033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Intel</a:t>
            </a:r>
            <a:r>
              <a:rPr lang="en-US" sz="2400" b="0" i="0" u="none" strike="noStrike" cap="none" baseline="30000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®</a:t>
            </a:r>
            <a:r>
              <a:rPr lang="en-US" sz="24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NUC (Next Unit of Computing)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400" dirty="0">
                <a:solidFill>
                  <a:schemeClr val="tx1"/>
                </a:solidFill>
                <a:sym typeface="Arial"/>
              </a:rPr>
              <a:t>Time of Check Time of Use Vulnerability</a:t>
            </a:r>
            <a:endParaRPr sz="4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898978-CE18-8017-C267-13375C7AD866}"/>
              </a:ext>
            </a:extLst>
          </p:cNvPr>
          <p:cNvSpPr txBox="1"/>
          <p:nvPr/>
        </p:nvSpPr>
        <p:spPr>
          <a:xfrm>
            <a:off x="3653041" y="2492846"/>
            <a:ext cx="5320137" cy="1887376"/>
          </a:xfrm>
          <a:prstGeom prst="rect">
            <a:avLst/>
          </a:prstGeom>
          <a:solidFill>
            <a:srgbClr val="3F3F3F"/>
          </a:solidFill>
          <a:ln w="381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rtl="0"/>
            <a:r>
              <a:rPr lang="en-US" sz="2333" dirty="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 (!</a:t>
            </a:r>
            <a:r>
              <a:rPr lang="en-US" sz="2333" dirty="0">
                <a:solidFill>
                  <a:srgbClr val="DCDCAA"/>
                </a:solidFill>
                <a:latin typeface="Consolas" panose="020B0609020204030204" pitchFamily="49" charset="0"/>
              </a:rPr>
              <a:t>Validate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sz="2333" dirty="0" err="1">
                <a:solidFill>
                  <a:srgbClr val="D4D4D4"/>
                </a:solidFill>
                <a:latin typeface="Consolas" panose="020B0609020204030204" pitchFamily="49" charset="0"/>
              </a:rPr>
              <a:t>outputBuffer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)) {</a:t>
            </a: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sz="2333" dirty="0">
                <a:solidFill>
                  <a:srgbClr val="C586C0"/>
                </a:solidFill>
                <a:latin typeface="Consolas" panose="020B0609020204030204" pitchFamily="49" charset="0"/>
              </a:rPr>
              <a:t>return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 ACCESS_DENIED;</a:t>
            </a: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}</a:t>
            </a:r>
          </a:p>
          <a:p>
            <a:pPr algn="l" rtl="0"/>
            <a:r>
              <a:rPr lang="en-US" sz="2333" dirty="0">
                <a:solidFill>
                  <a:srgbClr val="6A9955"/>
                </a:solidFill>
                <a:latin typeface="Consolas" panose="020B0609020204030204" pitchFamily="49" charset="0"/>
              </a:rPr>
              <a:t>// [...]</a:t>
            </a:r>
            <a:endParaRPr lang="en-US" sz="2333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algn="l" rtl="0"/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*(</a:t>
            </a:r>
            <a:r>
              <a:rPr lang="en-US" sz="2333" dirty="0" err="1">
                <a:solidFill>
                  <a:srgbClr val="D4D4D4"/>
                </a:solidFill>
                <a:latin typeface="Consolas" panose="020B0609020204030204" pitchFamily="49" charset="0"/>
              </a:rPr>
              <a:t>outputBuffer</a:t>
            </a:r>
            <a:r>
              <a:rPr lang="en-US" sz="2333" dirty="0">
                <a:solidFill>
                  <a:srgbClr val="D4D4D4"/>
                </a:solidFill>
                <a:latin typeface="Consolas" panose="020B0609020204030204" pitchFamily="49" charset="0"/>
              </a:rPr>
              <a:t>) = 0xc0ffee;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FEED1B-9926-EB98-85C9-84BEA6DE38E0}"/>
              </a:ext>
            </a:extLst>
          </p:cNvPr>
          <p:cNvSpPr/>
          <p:nvPr/>
        </p:nvSpPr>
        <p:spPr>
          <a:xfrm>
            <a:off x="3745444" y="2554000"/>
            <a:ext cx="5051168" cy="334829"/>
          </a:xfrm>
          <a:prstGeom prst="rect">
            <a:avLst/>
          </a:prstGeom>
          <a:noFill/>
          <a:ln w="38100" cap="flat">
            <a:solidFill>
              <a:srgbClr val="00B05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3200" dirty="0">
              <a:latin typeface="Segoe UI" panose="020B0502040204020203" pitchFamily="34" charset="0"/>
              <a:ea typeface="Helvetica Neue Medium"/>
              <a:cs typeface="Segoe UI" panose="020B0502040204020203" pitchFamily="34" charset="0"/>
              <a:sym typeface="Helvetica Neue Medium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A9704-4A93-1607-E435-EB8A0136043E}"/>
              </a:ext>
            </a:extLst>
          </p:cNvPr>
          <p:cNvSpPr txBox="1"/>
          <p:nvPr/>
        </p:nvSpPr>
        <p:spPr>
          <a:xfrm>
            <a:off x="9345643" y="2509661"/>
            <a:ext cx="838201" cy="359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241"/>
            <a:r>
              <a:rPr lang="en-US" sz="2333" dirty="0">
                <a:solidFill>
                  <a:srgbClr val="92D050"/>
                </a:solidFill>
                <a:latin typeface="Segoe UI" panose="020B0502040204020203" pitchFamily="34" charset="0"/>
              </a:rPr>
              <a:t>check</a:t>
            </a:r>
            <a:endParaRPr lang="en-US" sz="2333" dirty="0">
              <a:solidFill>
                <a:srgbClr val="92D050"/>
              </a:solidFill>
              <a:latin typeface="Segoe UI" panose="020B0502040204020203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5501F-CC26-EAEE-8BD1-0423A178B74C}"/>
              </a:ext>
            </a:extLst>
          </p:cNvPr>
          <p:cNvSpPr/>
          <p:nvPr/>
        </p:nvSpPr>
        <p:spPr>
          <a:xfrm>
            <a:off x="3745444" y="3969171"/>
            <a:ext cx="5051168" cy="365199"/>
          </a:xfrm>
          <a:prstGeom prst="rect">
            <a:avLst/>
          </a:prstGeom>
          <a:noFill/>
          <a:ln w="38100" cap="flat">
            <a:solidFill>
              <a:srgbClr val="FF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algn="ctr" defTabSz="825467"/>
            <a:endParaRPr lang="en-US" sz="3200" dirty="0">
              <a:latin typeface="Segoe UI" panose="020B0502040204020203" pitchFamily="34" charset="0"/>
              <a:ea typeface="Helvetica Neue Medium"/>
              <a:cs typeface="Segoe UI" panose="020B0502040204020203" pitchFamily="34" charset="0"/>
              <a:sym typeface="Helvetica Neue Medium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BB6C62-F567-3A17-5328-CE72DD188A79}"/>
              </a:ext>
            </a:extLst>
          </p:cNvPr>
          <p:cNvSpPr txBox="1"/>
          <p:nvPr/>
        </p:nvSpPr>
        <p:spPr>
          <a:xfrm>
            <a:off x="9388504" y="3989267"/>
            <a:ext cx="461963" cy="35900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241"/>
            <a:r>
              <a:rPr lang="en-US" sz="2333" dirty="0">
                <a:solidFill>
                  <a:srgbClr val="FF0000"/>
                </a:solidFill>
                <a:latin typeface="Segoe UI" panose="020B0502040204020203" pitchFamily="34" charset="0"/>
              </a:rPr>
              <a:t>use</a:t>
            </a:r>
            <a:endParaRPr lang="en-US" sz="2333" dirty="0">
              <a:solidFill>
                <a:srgbClr val="FF0000"/>
              </a:solidFill>
              <a:latin typeface="Segoe UI" panose="020B0502040204020203" pitchFamily="34" charset="0"/>
              <a:sym typeface="Helvetica Neue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452B65D-1551-2918-DE99-121D2DE80488}"/>
              </a:ext>
            </a:extLst>
          </p:cNvPr>
          <p:cNvCxnSpPr>
            <a:cxnSpLocks/>
            <a:endCxn id="3" idx="1"/>
          </p:cNvCxnSpPr>
          <p:nvPr/>
        </p:nvCxnSpPr>
        <p:spPr>
          <a:xfrm flipV="1">
            <a:off x="1938867" y="3436534"/>
            <a:ext cx="1714174" cy="732269"/>
          </a:xfrm>
          <a:prstGeom prst="bentConnector3">
            <a:avLst>
              <a:gd name="adj1" fmla="val 760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2833FAE-04FD-9BE5-1582-670187E5DB6B}"/>
              </a:ext>
            </a:extLst>
          </p:cNvPr>
          <p:cNvSpPr txBox="1"/>
          <p:nvPr/>
        </p:nvSpPr>
        <p:spPr>
          <a:xfrm>
            <a:off x="973667" y="4185647"/>
            <a:ext cx="2446867" cy="6309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algn="l" defTabSz="2438241" rtl="0"/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sym typeface="Helvetica Neue"/>
              </a:rPr>
              <a:t>modify the value of </a:t>
            </a:r>
            <a:r>
              <a:rPr lang="en-US" sz="21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outputBuffer</a:t>
            </a:r>
            <a:endParaRPr lang="en-US" sz="2100" i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F9CDC-41A8-49BB-F841-4FCC4D07EFCD}"/>
              </a:ext>
            </a:extLst>
          </p:cNvPr>
          <p:cNvSpPr/>
          <p:nvPr/>
        </p:nvSpPr>
        <p:spPr>
          <a:xfrm>
            <a:off x="2076286" y="1349568"/>
            <a:ext cx="3301251" cy="4158863"/>
          </a:xfrm>
          <a:prstGeom prst="rect">
            <a:avLst/>
          </a:prstGeom>
          <a:solidFill>
            <a:srgbClr val="F2F2F2">
              <a:alpha val="87843"/>
            </a:srgbClr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D4112E-A531-FC26-554C-1D69F02C05C8}"/>
              </a:ext>
            </a:extLst>
          </p:cNvPr>
          <p:cNvSpPr/>
          <p:nvPr/>
        </p:nvSpPr>
        <p:spPr>
          <a:xfrm>
            <a:off x="2076286" y="3792962"/>
            <a:ext cx="3299982" cy="1543085"/>
          </a:xfrm>
          <a:prstGeom prst="rect">
            <a:avLst/>
          </a:prstGeom>
          <a:solidFill>
            <a:srgbClr val="F2F2F2">
              <a:alpha val="87843"/>
            </a:srgbClr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920"/>
            </a:pPr>
            <a:r>
              <a:rPr lang="en-US" sz="192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SMRAM</a:t>
            </a:r>
            <a:endParaRPr lang="en-IL" sz="192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04EB7688-BAE1-416B-BB70-F599A140A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9447" y="365125"/>
            <a:ext cx="4974352" cy="5492750"/>
          </a:xfrm>
        </p:spPr>
        <p:txBody>
          <a:bodyPr>
            <a:normAutofit/>
          </a:bodyPr>
          <a:lstStyle/>
          <a:p>
            <a:r>
              <a:rPr lang="en-US" dirty="0"/>
              <a:t>TOCTOU Vulnerability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Toy Example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03BCA8E-D820-B312-EB27-FC575FF0E3CE}"/>
              </a:ext>
            </a:extLst>
          </p:cNvPr>
          <p:cNvSpPr txBox="1"/>
          <p:nvPr/>
        </p:nvSpPr>
        <p:spPr>
          <a:xfrm>
            <a:off x="2785931" y="685935"/>
            <a:ext cx="1808806" cy="458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accent4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RAM</a:t>
            </a:r>
            <a:endParaRPr lang="en-US" sz="1100" dirty="0">
              <a:solidFill>
                <a:schemeClr val="accent4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95E2420-42D5-8EE5-1317-2DE01AB860C9}"/>
              </a:ext>
            </a:extLst>
          </p:cNvPr>
          <p:cNvCxnSpPr/>
          <p:nvPr/>
        </p:nvCxnSpPr>
        <p:spPr>
          <a:xfrm flipH="1" flipV="1">
            <a:off x="2067821" y="609029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A751A2-BC7C-0809-AF18-AAFDE4D8C0C1}"/>
              </a:ext>
            </a:extLst>
          </p:cNvPr>
          <p:cNvCxnSpPr/>
          <p:nvPr/>
        </p:nvCxnSpPr>
        <p:spPr>
          <a:xfrm flipH="1" flipV="1">
            <a:off x="5367803" y="601624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969284-2E34-2382-87DD-857A09373723}"/>
              </a:ext>
            </a:extLst>
          </p:cNvPr>
          <p:cNvCxnSpPr/>
          <p:nvPr/>
        </p:nvCxnSpPr>
        <p:spPr>
          <a:xfrm flipH="1" flipV="1">
            <a:off x="2076816" y="5448919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38A4D6B-7D8A-0E9A-FD22-842EE06C6BFF}"/>
              </a:ext>
            </a:extLst>
          </p:cNvPr>
          <p:cNvCxnSpPr/>
          <p:nvPr/>
        </p:nvCxnSpPr>
        <p:spPr>
          <a:xfrm flipH="1" flipV="1">
            <a:off x="5377535" y="5495131"/>
            <a:ext cx="8464" cy="740538"/>
          </a:xfrm>
          <a:prstGeom prst="line">
            <a:avLst/>
          </a:prstGeom>
          <a:solidFill>
            <a:srgbClr val="F2F2F2"/>
          </a:solidFill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033C163-E239-03FB-EF84-E43540559B39}"/>
              </a:ext>
            </a:extLst>
          </p:cNvPr>
          <p:cNvSpPr txBox="1"/>
          <p:nvPr/>
        </p:nvSpPr>
        <p:spPr>
          <a:xfrm>
            <a:off x="-291762" y="2228546"/>
            <a:ext cx="2202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US" dirty="0" err="1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inputBuffer</a:t>
            </a:r>
            <a:endParaRPr lang="en-IL" dirty="0">
              <a:solidFill>
                <a:schemeClr val="accent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BADF9E-0847-E87E-0F7F-AB41E986ADE5}"/>
              </a:ext>
            </a:extLst>
          </p:cNvPr>
          <p:cNvSpPr txBox="1"/>
          <p:nvPr/>
        </p:nvSpPr>
        <p:spPr>
          <a:xfrm>
            <a:off x="2095011" y="4092733"/>
            <a:ext cx="3267643" cy="3755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>
                <a:solidFill>
                  <a:schemeClr val="accent5"/>
                </a:solidFill>
              </a:rPr>
              <a:t>0xc0ffee</a:t>
            </a:r>
            <a:endParaRPr lang="en-IL" dirty="0">
              <a:solidFill>
                <a:schemeClr val="accent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1428D-4831-8FC7-CB0E-F35B77996D08}"/>
              </a:ext>
            </a:extLst>
          </p:cNvPr>
          <p:cNvSpPr txBox="1"/>
          <p:nvPr/>
        </p:nvSpPr>
        <p:spPr>
          <a:xfrm>
            <a:off x="2095011" y="3283982"/>
            <a:ext cx="3270832" cy="3755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0xc0ffee</a:t>
            </a:r>
            <a:endParaRPr lang="en-IL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B9386-5C72-1EEB-2D16-2102B815900A}"/>
              </a:ext>
            </a:extLst>
          </p:cNvPr>
          <p:cNvSpPr txBox="1"/>
          <p:nvPr/>
        </p:nvSpPr>
        <p:spPr>
          <a:xfrm>
            <a:off x="-291762" y="3241784"/>
            <a:ext cx="2202252" cy="37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he-IL"/>
            </a:defPPr>
            <a:lvl1pPr algn="ctr" rtl="0">
              <a:defRPr>
                <a:solidFill>
                  <a:srgbClr val="D4D4D4"/>
                </a:solidFill>
                <a:latin typeface="Consolas" panose="020B0609020204030204" pitchFamily="49" charset="0"/>
              </a:defRPr>
            </a:lvl1pPr>
          </a:lstStyle>
          <a:p>
            <a:pPr algn="r"/>
            <a:r>
              <a:rPr lang="en-US" dirty="0" err="1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outputBuffer</a:t>
            </a:r>
            <a:endParaRPr lang="en-IL" dirty="0">
              <a:solidFill>
                <a:schemeClr val="accent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BF8CF9-1183-8008-8D4A-E3F867135995}"/>
              </a:ext>
            </a:extLst>
          </p:cNvPr>
          <p:cNvSpPr txBox="1"/>
          <p:nvPr/>
        </p:nvSpPr>
        <p:spPr>
          <a:xfrm>
            <a:off x="2084238" y="2223448"/>
            <a:ext cx="3278416" cy="374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/>
              <a:t>&amp;</a:t>
            </a:r>
            <a:r>
              <a:rPr lang="en-US" dirty="0" err="1"/>
              <a:t>outputBuffer</a:t>
            </a:r>
            <a:endParaRPr lang="en-IL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5465770-F3A8-9CB7-8486-8D346F65F7D4}"/>
              </a:ext>
            </a:extLst>
          </p:cNvPr>
          <p:cNvCxnSpPr>
            <a:cxnSpLocks/>
            <a:stCxn id="34" idx="3"/>
            <a:endCxn id="4" idx="3"/>
          </p:cNvCxnSpPr>
          <p:nvPr/>
        </p:nvCxnSpPr>
        <p:spPr>
          <a:xfrm>
            <a:off x="5362654" y="2410663"/>
            <a:ext cx="3189" cy="1061095"/>
          </a:xfrm>
          <a:prstGeom prst="bentConnector3">
            <a:avLst>
              <a:gd name="adj1" fmla="val 7268391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09D91D2-0580-668E-9A99-6497AE77C143}"/>
              </a:ext>
            </a:extLst>
          </p:cNvPr>
          <p:cNvCxnSpPr>
            <a:cxnSpLocks/>
            <a:stCxn id="56" idx="3"/>
            <a:endCxn id="30" idx="3"/>
          </p:cNvCxnSpPr>
          <p:nvPr/>
        </p:nvCxnSpPr>
        <p:spPr>
          <a:xfrm flipH="1">
            <a:off x="5362654" y="2410663"/>
            <a:ext cx="1064" cy="1869846"/>
          </a:xfrm>
          <a:prstGeom prst="bentConnector3">
            <a:avLst>
              <a:gd name="adj1" fmla="val -21484962"/>
            </a:avLst>
          </a:prstGeom>
          <a:noFill/>
          <a:ln w="41275" cap="flat">
            <a:solidFill>
              <a:schemeClr val="bg1">
                <a:lumMod val="5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86E2554-F06B-4855-CE78-35B13EF1B19B}"/>
              </a:ext>
            </a:extLst>
          </p:cNvPr>
          <p:cNvSpPr txBox="1"/>
          <p:nvPr/>
        </p:nvSpPr>
        <p:spPr>
          <a:xfrm>
            <a:off x="2085302" y="2223448"/>
            <a:ext cx="3278416" cy="374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R="0" lvl="0" indent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688CCF"/>
              </a:buClr>
              <a:buSzPts val="1600"/>
              <a:buFont typeface="Calibri"/>
              <a:buNone/>
              <a:defRPr b="0" i="0" u="none" strike="noStrike" cap="none">
                <a:solidFill>
                  <a:srgbClr val="688CCF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en-US" dirty="0"/>
              <a:t>&amp;SMRAM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012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" grpId="0" animBg="1"/>
      <p:bldP spid="4" grpId="1" animBg="1"/>
      <p:bldP spid="34" grpId="0" animBg="1"/>
      <p:bldP spid="34" grpId="1" animBg="1"/>
      <p:bldP spid="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dirty="0"/>
              <a:t>TOCTOU Exploitation</a:t>
            </a:r>
            <a:endParaRPr dirty="0"/>
          </a:p>
        </p:txBody>
      </p:sp>
      <p:cxnSp>
        <p:nvCxnSpPr>
          <p:cNvPr id="605" name="Google Shape;605;p30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06" name="Google Shape;606;p30"/>
          <p:cNvSpPr/>
          <p:nvPr/>
        </p:nvSpPr>
        <p:spPr>
          <a:xfrm>
            <a:off x="10193664" y="5662137"/>
            <a:ext cx="1309974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 sz="24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0" name="Google Shape;620;p30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81564" y="1200620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0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51087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8B2EF7-05C7-913D-4BA4-DF4B5902F59F}"/>
              </a:ext>
            </a:extLst>
          </p:cNvPr>
          <p:cNvGraphicFramePr>
            <a:graphicFrameLocks noGrp="1"/>
          </p:cNvGraphicFramePr>
          <p:nvPr/>
        </p:nvGraphicFramePr>
        <p:xfrm>
          <a:off x="2649156" y="2516783"/>
          <a:ext cx="7933220" cy="349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3305">
                  <a:extLst>
                    <a:ext uri="{9D8B030D-6E8A-4147-A177-3AD203B41FA5}">
                      <a16:colId xmlns:a16="http://schemas.microsoft.com/office/drawing/2014/main" val="4038798458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1236591127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456060285"/>
                    </a:ext>
                  </a:extLst>
                </a:gridCol>
                <a:gridCol w="1983305">
                  <a:extLst>
                    <a:ext uri="{9D8B030D-6E8A-4147-A177-3AD203B41FA5}">
                      <a16:colId xmlns:a16="http://schemas.microsoft.com/office/drawing/2014/main" val="3398330598"/>
                    </a:ext>
                  </a:extLst>
                </a:gridCol>
              </a:tblGrid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5045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10612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93745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7110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92914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174890"/>
                  </a:ext>
                </a:extLst>
              </a:tr>
            </a:tbl>
          </a:graphicData>
        </a:graphic>
      </p:graphicFrame>
      <p:pic>
        <p:nvPicPr>
          <p:cNvPr id="9" name="Google Shape;620;p30" descr="Processor outline">
            <a:extLst>
              <a:ext uri="{FF2B5EF4-FFF2-40B4-BE49-F238E27FC236}">
                <a16:creationId xmlns:a16="http://schemas.microsoft.com/office/drawing/2014/main" id="{E95BA8BF-803C-3821-D6B7-D2F0847CB8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9794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620;p30" descr="Processor outline">
            <a:extLst>
              <a:ext uri="{FF2B5EF4-FFF2-40B4-BE49-F238E27FC236}">
                <a16:creationId xmlns:a16="http://schemas.microsoft.com/office/drawing/2014/main" id="{41323168-A659-086F-B323-3F221FE86D4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00271" y="1195861"/>
            <a:ext cx="1366448" cy="1366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613;p30">
            <a:extLst>
              <a:ext uri="{FF2B5EF4-FFF2-40B4-BE49-F238E27FC236}">
                <a16:creationId xmlns:a16="http://schemas.microsoft.com/office/drawing/2014/main" id="{10777966-F6E3-FE71-5712-AB7713C05E74}"/>
              </a:ext>
            </a:extLst>
          </p:cNvPr>
          <p:cNvSpPr/>
          <p:nvPr/>
        </p:nvSpPr>
        <p:spPr>
          <a:xfrm>
            <a:off x="6976033" y="5662137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2" name="Google Shape;614;p30">
            <a:extLst>
              <a:ext uri="{FF2B5EF4-FFF2-40B4-BE49-F238E27FC236}">
                <a16:creationId xmlns:a16="http://schemas.microsoft.com/office/drawing/2014/main" id="{03610B4E-D6C0-71D3-7E82-D47C844DEEA6}"/>
              </a:ext>
            </a:extLst>
          </p:cNvPr>
          <p:cNvCxnSpPr>
            <a:stCxn id="11" idx="1"/>
          </p:cNvCxnSpPr>
          <p:nvPr/>
        </p:nvCxnSpPr>
        <p:spPr>
          <a:xfrm rot="10800000">
            <a:off x="2366233" y="5838072"/>
            <a:ext cx="46098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" name="Google Shape;615;p30">
            <a:extLst>
              <a:ext uri="{FF2B5EF4-FFF2-40B4-BE49-F238E27FC236}">
                <a16:creationId xmlns:a16="http://schemas.microsoft.com/office/drawing/2014/main" id="{F1284550-78DF-5EB1-EF8E-E4CFDFD93BF6}"/>
              </a:ext>
            </a:extLst>
          </p:cNvPr>
          <p:cNvSpPr/>
          <p:nvPr/>
        </p:nvSpPr>
        <p:spPr>
          <a:xfrm>
            <a:off x="8941191" y="4114136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4" name="Google Shape;616;p30">
            <a:extLst>
              <a:ext uri="{FF2B5EF4-FFF2-40B4-BE49-F238E27FC236}">
                <a16:creationId xmlns:a16="http://schemas.microsoft.com/office/drawing/2014/main" id="{13A09A68-1144-520B-A3A2-898BA16190CE}"/>
              </a:ext>
            </a:extLst>
          </p:cNvPr>
          <p:cNvCxnSpPr>
            <a:stCxn id="13" idx="1"/>
          </p:cNvCxnSpPr>
          <p:nvPr/>
        </p:nvCxnSpPr>
        <p:spPr>
          <a:xfrm rot="10800000">
            <a:off x="2366091" y="4290071"/>
            <a:ext cx="6575100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5" name="Google Shape;607;p30">
            <a:extLst>
              <a:ext uri="{FF2B5EF4-FFF2-40B4-BE49-F238E27FC236}">
                <a16:creationId xmlns:a16="http://schemas.microsoft.com/office/drawing/2014/main" id="{35E592B0-07F8-FBE1-C2AE-B3D573F191B7}"/>
              </a:ext>
            </a:extLst>
          </p:cNvPr>
          <p:cNvSpPr/>
          <p:nvPr/>
        </p:nvSpPr>
        <p:spPr>
          <a:xfrm>
            <a:off x="3048000" y="3353090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6" name="Google Shape;608;p30">
            <a:extLst>
              <a:ext uri="{FF2B5EF4-FFF2-40B4-BE49-F238E27FC236}">
                <a16:creationId xmlns:a16="http://schemas.microsoft.com/office/drawing/2014/main" id="{A4E77E8B-29AD-ED9B-B9A5-A907D47E7487}"/>
              </a:ext>
            </a:extLst>
          </p:cNvPr>
          <p:cNvCxnSpPr>
            <a:stCxn id="15" idx="1"/>
          </p:cNvCxnSpPr>
          <p:nvPr/>
        </p:nvCxnSpPr>
        <p:spPr>
          <a:xfrm flipH="1">
            <a:off x="2366100" y="3529025"/>
            <a:ext cx="681900" cy="30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7" name="Google Shape;609;p30">
            <a:extLst>
              <a:ext uri="{FF2B5EF4-FFF2-40B4-BE49-F238E27FC236}">
                <a16:creationId xmlns:a16="http://schemas.microsoft.com/office/drawing/2014/main" id="{611DD7B6-0877-5E49-4330-E681EADD5D09}"/>
              </a:ext>
            </a:extLst>
          </p:cNvPr>
          <p:cNvSpPr/>
          <p:nvPr/>
        </p:nvSpPr>
        <p:spPr>
          <a:xfrm>
            <a:off x="3048000" y="4925462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8" name="Google Shape;610;p30">
            <a:extLst>
              <a:ext uri="{FF2B5EF4-FFF2-40B4-BE49-F238E27FC236}">
                <a16:creationId xmlns:a16="http://schemas.microsoft.com/office/drawing/2014/main" id="{0B8A1289-8449-154F-45C1-61D4AC4E7E82}"/>
              </a:ext>
            </a:extLst>
          </p:cNvPr>
          <p:cNvCxnSpPr>
            <a:stCxn id="17" idx="1"/>
          </p:cNvCxnSpPr>
          <p:nvPr/>
        </p:nvCxnSpPr>
        <p:spPr>
          <a:xfrm flipH="1">
            <a:off x="2366100" y="5101397"/>
            <a:ext cx="681900" cy="30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9" name="Google Shape;611;p30">
            <a:extLst>
              <a:ext uri="{FF2B5EF4-FFF2-40B4-BE49-F238E27FC236}">
                <a16:creationId xmlns:a16="http://schemas.microsoft.com/office/drawing/2014/main" id="{78A46826-A689-B559-E2EB-46905119C7A5}"/>
              </a:ext>
            </a:extLst>
          </p:cNvPr>
          <p:cNvSpPr/>
          <p:nvPr/>
        </p:nvSpPr>
        <p:spPr>
          <a:xfrm>
            <a:off x="5063549" y="2839453"/>
            <a:ext cx="1138990" cy="351869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Corrupt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20" name="Google Shape;612;p30">
            <a:extLst>
              <a:ext uri="{FF2B5EF4-FFF2-40B4-BE49-F238E27FC236}">
                <a16:creationId xmlns:a16="http://schemas.microsoft.com/office/drawing/2014/main" id="{4A2CB1DE-F4D0-82AC-3BAC-9F207C0BBB2C}"/>
              </a:ext>
            </a:extLst>
          </p:cNvPr>
          <p:cNvCxnSpPr>
            <a:stCxn id="19" idx="1"/>
          </p:cNvCxnSpPr>
          <p:nvPr/>
        </p:nvCxnSpPr>
        <p:spPr>
          <a:xfrm rot="10800000">
            <a:off x="2366249" y="3015388"/>
            <a:ext cx="2697300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miter lim="4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111007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8" dur="indefinite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indefinite"/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1" dur="indefinite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F62A36B-1F88-4C66-800E-6865C53A5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1127"/>
            <a:ext cx="10515600" cy="558583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accent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DMA</a:t>
            </a:r>
            <a:r>
              <a:rPr lang="en-US" sz="3200" dirty="0">
                <a:solidFill>
                  <a:srgbClr val="2EAFDD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3200" dirty="0">
                <a:latin typeface="Segoe UI" panose="020B0502040204020203" pitchFamily="34" charset="0"/>
                <a:cs typeface="Segoe UI" panose="020B0502040204020203" pitchFamily="34" charset="0"/>
              </a:rPr>
              <a:t>is the way of peripheral devices to access RAM directly, without the CPU</a:t>
            </a:r>
          </a:p>
        </p:txBody>
      </p:sp>
    </p:spTree>
    <p:extLst>
      <p:ext uri="{BB962C8B-B14F-4D97-AF65-F5344CB8AC3E}">
        <p14:creationId xmlns:p14="http://schemas.microsoft.com/office/powerpoint/2010/main" val="286660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 sz="4400" dirty="0">
                <a:solidFill>
                  <a:schemeClr val="tx1"/>
                </a:solidFill>
              </a:rPr>
              <a:t>DMA via </a:t>
            </a:r>
            <a:r>
              <a:rPr lang="en-US" sz="4400" dirty="0" err="1">
                <a:solidFill>
                  <a:schemeClr val="tx1"/>
                </a:solidFill>
              </a:rPr>
              <a:t>PCILeech</a:t>
            </a:r>
            <a:endParaRPr sz="4400" dirty="0">
              <a:solidFill>
                <a:schemeClr val="tx1"/>
              </a:solidFill>
            </a:endParaRPr>
          </a:p>
        </p:txBody>
      </p:sp>
      <p:pic>
        <p:nvPicPr>
          <p:cNvPr id="634" name="Google Shape;634;p32" descr="A picture containing electronics&#10;&#10;Description automatically generated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720850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35" name="Google Shape;635;p32"/>
          <p:cNvSpPr txBox="1"/>
          <p:nvPr/>
        </p:nvSpPr>
        <p:spPr>
          <a:xfrm>
            <a:off x="4320542" y="6138926"/>
            <a:ext cx="37993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800"/>
              <a:buFont typeface="Arial"/>
              <a:buNone/>
            </a:pPr>
            <a:r>
              <a:rPr lang="en-US" sz="14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by Ulf Frisk - </a:t>
            </a:r>
            <a:r>
              <a:rPr lang="en-US" sz="14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https://github.com/ufrisk/pcileech</a:t>
            </a:r>
            <a:endParaRPr sz="14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3"/>
          <p:cNvSpPr txBox="1">
            <a:spLocks noGrp="1"/>
          </p:cNvSpPr>
          <p:nvPr>
            <p:ph type="title"/>
          </p:nvPr>
        </p:nvSpPr>
        <p:spPr>
          <a:xfrm>
            <a:off x="4895850" y="365125"/>
            <a:ext cx="64579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300"/>
              <a:buFont typeface="Arial"/>
              <a:buNone/>
            </a:pPr>
            <a:r>
              <a:rPr lang="en-US" dirty="0"/>
              <a:t>Physical to Remote</a:t>
            </a:r>
            <a:endParaRPr dirty="0"/>
          </a:p>
        </p:txBody>
      </p:sp>
      <p:sp>
        <p:nvSpPr>
          <p:cNvPr id="642" name="Google Shape;642;p33"/>
          <p:cNvSpPr txBox="1">
            <a:spLocks noGrp="1"/>
          </p:cNvSpPr>
          <p:nvPr>
            <p:ph idx="1"/>
          </p:nvPr>
        </p:nvSpPr>
        <p:spPr>
          <a:xfrm>
            <a:off x="4895850" y="1825625"/>
            <a:ext cx="64579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380985" lvl="0" indent="-38098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/>
              <a:t>Utilized the HDD to perform DMA</a:t>
            </a:r>
            <a:endParaRPr dirty="0"/>
          </a:p>
          <a:p>
            <a:pPr marL="380985" lvl="0" indent="-380985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/>
              <a:t>Generated DMA transactions based on work by </a:t>
            </a:r>
            <a:r>
              <a:rPr lang="en-US" sz="2333" dirty="0" err="1"/>
              <a:t>Rafal</a:t>
            </a:r>
            <a:r>
              <a:rPr lang="en-US" sz="2333" dirty="0"/>
              <a:t> </a:t>
            </a:r>
            <a:r>
              <a:rPr lang="en-US" sz="2333" dirty="0" err="1"/>
              <a:t>Wojtczuk</a:t>
            </a:r>
            <a:r>
              <a:rPr lang="en-US" sz="2333" dirty="0"/>
              <a:t> in </a:t>
            </a:r>
            <a:r>
              <a:rPr lang="en-US" sz="2333" i="1" u="sng" dirty="0">
                <a:solidFill>
                  <a:schemeClr val="hlink"/>
                </a:solidFill>
                <a:hlinkClick r:id="rId4"/>
              </a:rPr>
              <a:t>Subverting the Xen Hypervisor</a:t>
            </a:r>
            <a:endParaRPr sz="2333" i="1" dirty="0"/>
          </a:p>
        </p:txBody>
      </p:sp>
      <p:pic>
        <p:nvPicPr>
          <p:cNvPr id="643" name="Google Shape;643;p33" descr="black and silver hard disk drive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0" y="1"/>
            <a:ext cx="4571999" cy="6857999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644" name="Google Shape;644;p33"/>
          <p:cNvSpPr txBox="1"/>
          <p:nvPr/>
        </p:nvSpPr>
        <p:spPr>
          <a:xfrm>
            <a:off x="2286001" y="6598761"/>
            <a:ext cx="335404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sap SemiBold"/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Photo by </a:t>
            </a:r>
            <a:r>
              <a:rPr lang="en-US" sz="12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Frank R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on </a:t>
            </a:r>
            <a:r>
              <a:rPr lang="en-US" sz="1200" b="0" i="0" u="sng" strike="noStrike" cap="none" dirty="0" err="1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2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lang="en-US" dirty="0"/>
              <a:t>TOCTOU SMM Exploitation</a:t>
            </a:r>
            <a:endParaRPr sz="2333" dirty="0">
              <a:solidFill>
                <a:srgbClr val="A5A5A5"/>
              </a:solidFill>
            </a:endParaRPr>
          </a:p>
        </p:txBody>
      </p:sp>
      <p:pic>
        <p:nvPicPr>
          <p:cNvPr id="678" name="Google Shape;678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23294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9" name="Google Shape;679;p35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80" name="Google Shape;680;p35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685" name="Google Shape;685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60362" y="145089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0" y="145089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5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449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BD722287-AF1D-4943-4B63-1A0BD7A14623}"/>
              </a:ext>
            </a:extLst>
          </p:cNvPr>
          <p:cNvGraphicFramePr>
            <a:graphicFrameLocks noGrp="1"/>
          </p:cNvGraphicFramePr>
          <p:nvPr/>
        </p:nvGraphicFramePr>
        <p:xfrm>
          <a:off x="2304037" y="2606965"/>
          <a:ext cx="7933220" cy="349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6644">
                  <a:extLst>
                    <a:ext uri="{9D8B030D-6E8A-4147-A177-3AD203B41FA5}">
                      <a16:colId xmlns:a16="http://schemas.microsoft.com/office/drawing/2014/main" val="4038798458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1236591127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456060285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3398330598"/>
                    </a:ext>
                  </a:extLst>
                </a:gridCol>
                <a:gridCol w="1586644">
                  <a:extLst>
                    <a:ext uri="{9D8B030D-6E8A-4147-A177-3AD203B41FA5}">
                      <a16:colId xmlns:a16="http://schemas.microsoft.com/office/drawing/2014/main" val="4273058017"/>
                    </a:ext>
                  </a:extLst>
                </a:gridCol>
              </a:tblGrid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5045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10612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093745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971107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192914"/>
                  </a:ext>
                </a:extLst>
              </a:tr>
              <a:tr h="582821"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IL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174890"/>
                  </a:ext>
                </a:extLst>
              </a:tr>
            </a:tbl>
          </a:graphicData>
        </a:graphic>
      </p:graphicFrame>
      <p:pic>
        <p:nvPicPr>
          <p:cNvPr id="3" name="Google Shape;690;p35">
            <a:extLst>
              <a:ext uri="{FF2B5EF4-FFF2-40B4-BE49-F238E27FC236}">
                <a16:creationId xmlns:a16="http://schemas.microsoft.com/office/drawing/2014/main" id="{EE78E8B5-55A5-99B2-C2A2-733247A224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51427" y="1450892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696;p35">
            <a:extLst>
              <a:ext uri="{FF2B5EF4-FFF2-40B4-BE49-F238E27FC236}">
                <a16:creationId xmlns:a16="http://schemas.microsoft.com/office/drawing/2014/main" id="{FEAD1BD7-2F06-DCF7-1196-583C7168CDFE}"/>
              </a:ext>
            </a:extLst>
          </p:cNvPr>
          <p:cNvSpPr/>
          <p:nvPr/>
        </p:nvSpPr>
        <p:spPr>
          <a:xfrm>
            <a:off x="2511479" y="2889881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DMA request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5" name="Google Shape;681;p35">
            <a:extLst>
              <a:ext uri="{FF2B5EF4-FFF2-40B4-BE49-F238E27FC236}">
                <a16:creationId xmlns:a16="http://schemas.microsoft.com/office/drawing/2014/main" id="{2FCBBC20-4A0A-C934-C8F3-71BE1E8CA469}"/>
              </a:ext>
            </a:extLst>
          </p:cNvPr>
          <p:cNvCxnSpPr>
            <a:cxnSpLocks/>
          </p:cNvCxnSpPr>
          <p:nvPr/>
        </p:nvCxnSpPr>
        <p:spPr>
          <a:xfrm flipV="1">
            <a:off x="3769728" y="3055289"/>
            <a:ext cx="5315529" cy="10528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6" name="Google Shape;691;p35">
            <a:extLst>
              <a:ext uri="{FF2B5EF4-FFF2-40B4-BE49-F238E27FC236}">
                <a16:creationId xmlns:a16="http://schemas.microsoft.com/office/drawing/2014/main" id="{6C6D8650-63A6-4F2F-5C91-599D75A7CF48}"/>
              </a:ext>
            </a:extLst>
          </p:cNvPr>
          <p:cNvSpPr/>
          <p:nvPr/>
        </p:nvSpPr>
        <p:spPr>
          <a:xfrm>
            <a:off x="9085258" y="2889881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8" name="Google Shape;699;p35">
            <a:extLst>
              <a:ext uri="{FF2B5EF4-FFF2-40B4-BE49-F238E27FC236}">
                <a16:creationId xmlns:a16="http://schemas.microsoft.com/office/drawing/2014/main" id="{75703680-B8A0-7E14-4156-FC298DA20B83}"/>
              </a:ext>
            </a:extLst>
          </p:cNvPr>
          <p:cNvSpPr/>
          <p:nvPr/>
        </p:nvSpPr>
        <p:spPr>
          <a:xfrm>
            <a:off x="9323953" y="2747589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7" name="Google Shape;689;p35">
            <a:extLst>
              <a:ext uri="{FF2B5EF4-FFF2-40B4-BE49-F238E27FC236}">
                <a16:creationId xmlns:a16="http://schemas.microsoft.com/office/drawing/2014/main" id="{7A19486C-E80B-ECDE-07D3-C2FAE0171536}"/>
              </a:ext>
            </a:extLst>
          </p:cNvPr>
          <p:cNvSpPr/>
          <p:nvPr/>
        </p:nvSpPr>
        <p:spPr>
          <a:xfrm>
            <a:off x="2511479" y="35575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9" name="Google Shape;607;p30">
            <a:extLst>
              <a:ext uri="{FF2B5EF4-FFF2-40B4-BE49-F238E27FC236}">
                <a16:creationId xmlns:a16="http://schemas.microsoft.com/office/drawing/2014/main" id="{505C7CC2-3BDA-CC3C-8EF2-1B0FD6CB5C6C}"/>
              </a:ext>
            </a:extLst>
          </p:cNvPr>
          <p:cNvSpPr/>
          <p:nvPr/>
        </p:nvSpPr>
        <p:spPr>
          <a:xfrm>
            <a:off x="2511479" y="4225299"/>
            <a:ext cx="1258248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0" name="Google Shape;608;p30">
            <a:extLst>
              <a:ext uri="{FF2B5EF4-FFF2-40B4-BE49-F238E27FC236}">
                <a16:creationId xmlns:a16="http://schemas.microsoft.com/office/drawing/2014/main" id="{761B7599-BE30-2D9D-E411-D026D86A001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178174" y="4401234"/>
            <a:ext cx="333305" cy="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2" name="Google Shape;607;p30">
            <a:extLst>
              <a:ext uri="{FF2B5EF4-FFF2-40B4-BE49-F238E27FC236}">
                <a16:creationId xmlns:a16="http://schemas.microsoft.com/office/drawing/2014/main" id="{5B325B15-B17E-3026-E8A0-1753C9006670}"/>
              </a:ext>
            </a:extLst>
          </p:cNvPr>
          <p:cNvSpPr/>
          <p:nvPr/>
        </p:nvSpPr>
        <p:spPr>
          <a:xfrm>
            <a:off x="2511479" y="5563281"/>
            <a:ext cx="1258248" cy="351869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23" name="Google Shape;608;p30">
            <a:extLst>
              <a:ext uri="{FF2B5EF4-FFF2-40B4-BE49-F238E27FC236}">
                <a16:creationId xmlns:a16="http://schemas.microsoft.com/office/drawing/2014/main" id="{F4E49386-8F3D-18EF-EB15-8EE3105AA4CE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2178174" y="5739216"/>
            <a:ext cx="333305" cy="0"/>
          </a:xfrm>
          <a:prstGeom prst="straightConnector1">
            <a:avLst/>
          </a:prstGeom>
          <a:noFill/>
          <a:ln w="25400" cap="flat" cmpd="sng">
            <a:solidFill>
              <a:schemeClr val="bg2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1" name="Google Shape;615;p30">
            <a:extLst>
              <a:ext uri="{FF2B5EF4-FFF2-40B4-BE49-F238E27FC236}">
                <a16:creationId xmlns:a16="http://schemas.microsoft.com/office/drawing/2014/main" id="{E34BE264-C165-6BD2-1DB3-B0D1ABDA47C7}"/>
              </a:ext>
            </a:extLst>
          </p:cNvPr>
          <p:cNvSpPr/>
          <p:nvPr/>
        </p:nvSpPr>
        <p:spPr>
          <a:xfrm>
            <a:off x="9085258" y="4993261"/>
            <a:ext cx="1152000" cy="318036"/>
          </a:xfrm>
          <a:prstGeom prst="rect">
            <a:avLst/>
          </a:prstGeom>
          <a:solidFill>
            <a:schemeClr val="accent5"/>
          </a:solidFill>
          <a:ln w="12700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data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2" name="Google Shape;616;p30">
            <a:extLst>
              <a:ext uri="{FF2B5EF4-FFF2-40B4-BE49-F238E27FC236}">
                <a16:creationId xmlns:a16="http://schemas.microsoft.com/office/drawing/2014/main" id="{F046EEF5-EE35-4110-A2EE-BE2658115F61}"/>
              </a:ext>
            </a:extLst>
          </p:cNvPr>
          <p:cNvCxnSpPr>
            <a:cxnSpLocks/>
          </p:cNvCxnSpPr>
          <p:nvPr/>
        </p:nvCxnSpPr>
        <p:spPr>
          <a:xfrm flipH="1">
            <a:off x="2178174" y="5152279"/>
            <a:ext cx="6944660" cy="1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miter lim="400000"/>
            <a:headEnd type="none" w="sm" len="sm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5030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8" dur="indefinite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1" dur="indefinite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7" grpId="0" animBg="1"/>
      <p:bldP spid="9" grpId="0" animBg="1"/>
      <p:bldP spid="22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een frog plush toy on brown textile">
            <a:extLst>
              <a:ext uri="{FF2B5EF4-FFF2-40B4-BE49-F238E27FC236}">
                <a16:creationId xmlns:a16="http://schemas.microsoft.com/office/drawing/2014/main" id="{57B34B9D-53AD-1940-FD63-D62D9E5D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208" y="1009361"/>
            <a:ext cx="8340777" cy="483927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E654BA-8C69-F66B-399D-7F558DCB51F9}"/>
              </a:ext>
            </a:extLst>
          </p:cNvPr>
          <p:cNvSpPr txBox="1"/>
          <p:nvPr/>
        </p:nvSpPr>
        <p:spPr>
          <a:xfrm>
            <a:off x="4617402" y="5933786"/>
            <a:ext cx="2340384" cy="2539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 rtl="0"/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photo by 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Victor </a:t>
            </a:r>
            <a:r>
              <a:rPr lang="en-US" sz="1050" dirty="0" err="1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Serban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on </a:t>
            </a:r>
            <a:r>
              <a:rPr lang="en-US" sz="1050" dirty="0" err="1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BE26F6-8287-EAFB-8698-217142170D50}"/>
              </a:ext>
            </a:extLst>
          </p:cNvPr>
          <p:cNvSpPr/>
          <p:nvPr/>
        </p:nvSpPr>
        <p:spPr>
          <a:xfrm>
            <a:off x="4823347" y="1009361"/>
            <a:ext cx="2340384" cy="4924425"/>
          </a:xfrm>
          <a:prstGeom prst="rect">
            <a:avLst/>
          </a:prstGeom>
          <a:noFill/>
          <a:effectLst/>
        </p:spPr>
        <p:txBody>
          <a:bodyPr wrap="none" lIns="76200" tIns="38100" rIns="76200" bIns="38100">
            <a:spAutoFit/>
          </a:bodyPr>
          <a:lstStyle/>
          <a:p>
            <a:pPr algn="ctr"/>
            <a:r>
              <a:rPr lang="en-US" sz="45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Impact" panose="020B0806030902050204" pitchFamily="34" charset="0"/>
              </a:rPr>
              <a:t>RECAP</a:t>
            </a: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endParaRPr lang="en-US" sz="4500" b="1" dirty="0">
              <a:ln w="2857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Impact" panose="020B0806030902050204" pitchFamily="34" charset="0"/>
            </a:endParaRPr>
          </a:p>
          <a:p>
            <a:pPr algn="ctr"/>
            <a:r>
              <a:rPr lang="en-US" sz="4500" b="1" dirty="0">
                <a:ln w="2857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Impact" panose="020B0806030902050204" pitchFamily="34" charset="0"/>
              </a:rPr>
              <a:t>TIME IT IS</a:t>
            </a:r>
          </a:p>
        </p:txBody>
      </p:sp>
    </p:spTree>
    <p:extLst>
      <p:ext uri="{BB962C8B-B14F-4D97-AF65-F5344CB8AC3E}">
        <p14:creationId xmlns:p14="http://schemas.microsoft.com/office/powerpoint/2010/main" val="211226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C1204-8C99-E084-CA71-6EEB80654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76200" tIns="38100" rIns="76200" bIns="38100" rtlCol="0" anchor="ctr">
            <a:normAutofit/>
          </a:bodyPr>
          <a:lstStyle/>
          <a:p>
            <a:pPr algn="ctr" defTabSz="761970"/>
            <a:r>
              <a:rPr lang="en-US" dirty="0"/>
              <a:t>Recap</a:t>
            </a:r>
            <a:endParaRPr lang="en-US" sz="4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488A9-F506-19A5-A10E-B32124592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750" y="2325360"/>
            <a:ext cx="10178322" cy="872605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200" dirty="0"/>
              <a:t>What is SMM and how to work with it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9591AE-1CCA-9825-9715-A4E6CA3D285A}"/>
              </a:ext>
            </a:extLst>
          </p:cNvPr>
          <p:cNvSpPr/>
          <p:nvPr/>
        </p:nvSpPr>
        <p:spPr>
          <a:xfrm>
            <a:off x="1001770" y="2483572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AC0FB3-DE49-0991-0D91-EBF41B65ACD2}"/>
              </a:ext>
            </a:extLst>
          </p:cNvPr>
          <p:cNvSpPr/>
          <p:nvPr/>
        </p:nvSpPr>
        <p:spPr>
          <a:xfrm>
            <a:off x="1001770" y="3429000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CA11DCD-12F3-EF09-EC9D-749F6C867676}"/>
              </a:ext>
            </a:extLst>
          </p:cNvPr>
          <p:cNvSpPr/>
          <p:nvPr/>
        </p:nvSpPr>
        <p:spPr>
          <a:xfrm>
            <a:off x="1001770" y="4374428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EA1B01-C409-F5A9-B9A4-C166FB88BF88}"/>
              </a:ext>
            </a:extLst>
          </p:cNvPr>
          <p:cNvSpPr/>
          <p:nvPr/>
        </p:nvSpPr>
        <p:spPr>
          <a:xfrm>
            <a:off x="1001770" y="5319856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17554A9-E2EA-8AD4-256A-1F1B068B084B}"/>
              </a:ext>
            </a:extLst>
          </p:cNvPr>
          <p:cNvSpPr txBox="1">
            <a:spLocks/>
          </p:cNvSpPr>
          <p:nvPr/>
        </p:nvSpPr>
        <p:spPr>
          <a:xfrm>
            <a:off x="1903750" y="3270788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Turning TOCTOU issues into write primitive to the SMRAM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0968A31-91CD-FFF0-B9B1-D13BA3D8F64C}"/>
              </a:ext>
            </a:extLst>
          </p:cNvPr>
          <p:cNvSpPr txBox="1">
            <a:spLocks/>
          </p:cNvSpPr>
          <p:nvPr/>
        </p:nvSpPr>
        <p:spPr>
          <a:xfrm>
            <a:off x="1903750" y="4216216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Manipulating DMA transactions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4313DCE-2D73-7682-D181-BA2EC8E6E055}"/>
              </a:ext>
            </a:extLst>
          </p:cNvPr>
          <p:cNvSpPr txBox="1">
            <a:spLocks/>
          </p:cNvSpPr>
          <p:nvPr/>
        </p:nvSpPr>
        <p:spPr>
          <a:xfrm>
            <a:off x="1903750" y="5161644"/>
            <a:ext cx="10178322" cy="8726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3200" dirty="0"/>
              <a:t>Executing code in SMM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92EA659-54EC-2E4B-A974-2C1D09451F71}"/>
              </a:ext>
            </a:extLst>
          </p:cNvPr>
          <p:cNvSpPr/>
          <p:nvPr/>
        </p:nvSpPr>
        <p:spPr>
          <a:xfrm>
            <a:off x="1001770" y="5319855"/>
            <a:ext cx="553038" cy="556182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CC0FD8-7EAB-2B01-31E0-41D53F9CDE2D}"/>
              </a:ext>
            </a:extLst>
          </p:cNvPr>
          <p:cNvCxnSpPr>
            <a:cxnSpLocks/>
          </p:cNvCxnSpPr>
          <p:nvPr/>
        </p:nvCxnSpPr>
        <p:spPr>
          <a:xfrm>
            <a:off x="1903750" y="5657907"/>
            <a:ext cx="4192250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79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animBg="1"/>
      <p:bldP spid="4" grpId="0" animBg="1"/>
      <p:bldP spid="5" grpId="0" animBg="1"/>
      <p:bldP spid="6" grpId="0" animBg="1"/>
      <p:bldP spid="10" grpId="0"/>
      <p:bldP spid="11" grpId="0"/>
      <p:bldP spid="12" grpId="0"/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7"/>
          <p:cNvSpPr txBox="1"/>
          <p:nvPr/>
        </p:nvSpPr>
        <p:spPr>
          <a:xfrm>
            <a:off x="1906016" y="3029520"/>
            <a:ext cx="8910320" cy="1631216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0x28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sub_2428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v3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0xa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sub_248C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0xe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qword_6C08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qword_6C08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qword_6D58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F9D6D"/>
              </a:buClr>
              <a:buSzPts val="2000"/>
              <a:buFont typeface="Consolas"/>
              <a:buNone/>
            </a:pP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**(</a:t>
            </a:r>
            <a:r>
              <a:rPr lang="en-US" sz="2000" b="0" i="0" u="none" strike="noStrike" cap="none" dirty="0" err="1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input_buffer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8CD0D3"/>
                </a:solidFill>
                <a:latin typeface="Consolas"/>
                <a:ea typeface="Consolas"/>
                <a:cs typeface="Consolas"/>
                <a:sym typeface="Consolas"/>
              </a:rPr>
              <a:t>0x12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CDCCC"/>
                </a:solidFill>
                <a:latin typeface="Consolas"/>
                <a:ea typeface="Consolas"/>
                <a:cs typeface="Consolas"/>
                <a:sym typeface="Consolas"/>
              </a:rPr>
              <a:t> word_6D68</a:t>
            </a:r>
            <a:r>
              <a:rPr lang="en-US" sz="2000" b="1" i="0" u="none" strike="noStrike" cap="none" dirty="0">
                <a:solidFill>
                  <a:srgbClr val="9F9D6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713" name="Google Shape;713;p37"/>
          <p:cNvSpPr txBox="1"/>
          <p:nvPr/>
        </p:nvSpPr>
        <p:spPr>
          <a:xfrm>
            <a:off x="1704848" y="2405829"/>
            <a:ext cx="5112385" cy="49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67"/>
              <a:buFont typeface="Asap SemiBold"/>
              <a:buNone/>
            </a:pPr>
            <a:r>
              <a:rPr lang="en-US" sz="2667" b="0" i="0" u="none" strike="noStrike" cap="none" dirty="0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Write-primitives from the </a:t>
            </a:r>
            <a:endParaRPr sz="2667" b="0" i="0" u="none" strike="noStrike" cap="none" dirty="0">
              <a:solidFill>
                <a:srgbClr val="171717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6CD509-A1DB-A4BF-8479-D2774773C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Initial Capabilities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sp>
        <p:nvSpPr>
          <p:cNvPr id="4" name="Google Shape;705;p36">
            <a:extLst>
              <a:ext uri="{FF2B5EF4-FFF2-40B4-BE49-F238E27FC236}">
                <a16:creationId xmlns:a16="http://schemas.microsoft.com/office/drawing/2014/main" id="{D2810728-861B-5FFF-6E80-45196B038011}"/>
              </a:ext>
            </a:extLst>
          </p:cNvPr>
          <p:cNvSpPr txBox="1"/>
          <p:nvPr/>
        </p:nvSpPr>
        <p:spPr>
          <a:xfrm>
            <a:off x="5213168" y="2405829"/>
            <a:ext cx="6020724" cy="49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667"/>
              <a:buFont typeface="Asap SemiBold"/>
              <a:buNone/>
            </a:pPr>
            <a:r>
              <a:rPr lang="en-US" sz="2667" b="0" i="1" u="none" strike="noStrike" cap="none" dirty="0" err="1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SmbiosDmiEdit</a:t>
            </a:r>
            <a:r>
              <a:rPr lang="en-US" sz="2667" b="0" i="0" u="none" strike="noStrike" cap="none" dirty="0">
                <a:solidFill>
                  <a:srgbClr val="171717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DXE driver</a:t>
            </a:r>
            <a:endParaRPr sz="2667" b="0" i="0" u="none" strike="noStrike" cap="none" dirty="0">
              <a:solidFill>
                <a:srgbClr val="171717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2" grpId="0" animBg="1"/>
      <p:bldP spid="713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Classic Approach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21" name="Google Shape;721;p38"/>
          <p:cNvSpPr txBox="1"/>
          <p:nvPr/>
        </p:nvSpPr>
        <p:spPr>
          <a:xfrm>
            <a:off x="699839" y="2468636"/>
            <a:ext cx="5672386" cy="518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1">
              <a:lnSpc>
                <a:spcPct val="150000"/>
              </a:lnSpc>
              <a:buClr>
                <a:srgbClr val="525252"/>
              </a:buClr>
              <a:buSzPts val="2400"/>
            </a:pPr>
            <a:r>
              <a:rPr lang="en-US" sz="2800" dirty="0">
                <a:solidFill>
                  <a:srgbClr val="525252"/>
                </a:solidFill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Find an executable memory region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722" name="Google Shape;722;p38"/>
          <p:cNvSpPr txBox="1"/>
          <p:nvPr/>
        </p:nvSpPr>
        <p:spPr>
          <a:xfrm>
            <a:off x="6809619" y="4911027"/>
            <a:ext cx="3827901" cy="560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Autofit/>
          </a:bodyPr>
          <a:lstStyle/>
          <a:p>
            <a:pPr marL="0" lvl="1">
              <a:lnSpc>
                <a:spcPct val="150000"/>
              </a:lnSpc>
              <a:buClr>
                <a:srgbClr val="C00000"/>
              </a:buClr>
              <a:buSzPts val="2400"/>
            </a:pPr>
            <a:r>
              <a:rPr lang="en-US" sz="2800" dirty="0">
                <a:solidFill>
                  <a:schemeClr val="accent2"/>
                </a:solidFill>
                <a:latin typeface="Segoe UI" panose="020B0502040204020203" pitchFamily="34" charset="0"/>
              </a:rPr>
              <a:t>Not all RAM mapped</a:t>
            </a:r>
            <a:endParaRPr lang="en-US" sz="2800" b="0" i="0" u="none" strike="noStrike" cap="none" dirty="0">
              <a:solidFill>
                <a:schemeClr val="accent2"/>
              </a:solidFill>
              <a:latin typeface="Segoe UI" panose="020B0502040204020203" pitchFamily="34" charset="0"/>
              <a:ea typeface="Quattrocento Sans"/>
              <a:cs typeface="Segoe UI" panose="020B0502040204020203" pitchFamily="34" charset="0"/>
              <a:sym typeface="Quattrocento Sans"/>
            </a:endParaRPr>
          </a:p>
        </p:txBody>
      </p:sp>
      <p:cxnSp>
        <p:nvCxnSpPr>
          <p:cNvPr id="723" name="Google Shape;723;p38"/>
          <p:cNvCxnSpPr/>
          <p:nvPr/>
        </p:nvCxnSpPr>
        <p:spPr>
          <a:xfrm>
            <a:off x="6410114" y="2178755"/>
            <a:ext cx="0" cy="3672673"/>
          </a:xfrm>
          <a:prstGeom prst="straightConnector1">
            <a:avLst/>
          </a:prstGeom>
          <a:noFill/>
          <a:ln w="25400" cap="flat" cmpd="sng">
            <a:solidFill>
              <a:srgbClr val="D8D8D8">
                <a:alpha val="24705"/>
              </a:srgbClr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45F432-E65D-D961-12BE-14F8C911DD73}"/>
              </a:ext>
            </a:extLst>
          </p:cNvPr>
          <p:cNvSpPr txBox="1"/>
          <p:nvPr/>
        </p:nvSpPr>
        <p:spPr>
          <a:xfrm>
            <a:off x="6809619" y="5399955"/>
            <a:ext cx="2623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BC145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+mn-cs"/>
              </a:rPr>
              <a:t>RO page table</a:t>
            </a:r>
            <a:endParaRPr lang="en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6A2CC-4DE3-2982-ED26-4B94A5293C36}"/>
              </a:ext>
            </a:extLst>
          </p:cNvPr>
          <p:cNvSpPr txBox="1"/>
          <p:nvPr/>
        </p:nvSpPr>
        <p:spPr>
          <a:xfrm>
            <a:off x="10019392" y="4957756"/>
            <a:ext cx="706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Segoe UI" panose="020B0502040204020203" pitchFamily="34" charset="0"/>
              </a:rPr>
              <a:t> +</a:t>
            </a:r>
            <a:endParaRPr lang="en-I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0F8BB-11C3-609B-5194-6395DD720FAB}"/>
              </a:ext>
            </a:extLst>
          </p:cNvPr>
          <p:cNvSpPr txBox="1"/>
          <p:nvPr/>
        </p:nvSpPr>
        <p:spPr>
          <a:xfrm>
            <a:off x="699839" y="3563476"/>
            <a:ext cx="6372224" cy="6583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1" indent="0" algn="l" defTabSz="457200" eaLnBrk="1" fontAlgn="auto" latinLnBrk="0" hangingPunct="1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Clr>
                <a:srgbClr val="525252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Forge arbitrary payload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326624-E7F1-5676-C689-C02E5243623C}"/>
              </a:ext>
            </a:extLst>
          </p:cNvPr>
          <p:cNvSpPr txBox="1"/>
          <p:nvPr/>
        </p:nvSpPr>
        <p:spPr>
          <a:xfrm>
            <a:off x="699839" y="4802735"/>
            <a:ext cx="6372224" cy="6689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1" indent="0" algn="l" defTabSz="457200" eaLnBrk="1" fontAlgn="auto" latinLnBrk="0" hangingPunct="1">
              <a:lnSpc>
                <a:spcPct val="150000"/>
              </a:lnSpc>
              <a:spcBef>
                <a:spcPts val="3500"/>
              </a:spcBef>
              <a:spcAft>
                <a:spcPts val="0"/>
              </a:spcAft>
              <a:buClr>
                <a:srgbClr val="525252"/>
              </a:buClr>
              <a:buSzPts val="2400"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</a:rPr>
              <a:t>Get unrestricted memory access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6D424-0BDF-20D8-2B94-9BDC3F2C7783}"/>
              </a:ext>
            </a:extLst>
          </p:cNvPr>
          <p:cNvSpPr txBox="1"/>
          <p:nvPr/>
        </p:nvSpPr>
        <p:spPr>
          <a:xfrm>
            <a:off x="6809619" y="2387310"/>
            <a:ext cx="6372224" cy="668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Code is RO, data is NX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F677CF-2A8C-BD60-AA77-3DC0C5EF0CD5}"/>
              </a:ext>
            </a:extLst>
          </p:cNvPr>
          <p:cNvSpPr txBox="1"/>
          <p:nvPr/>
        </p:nvSpPr>
        <p:spPr>
          <a:xfrm>
            <a:off x="6809619" y="3563476"/>
            <a:ext cx="3691542" cy="65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0" algn="l" defTabSz="457200" rtl="0" eaLnBrk="1" fontAlgn="auto" latinLnBrk="0" hangingPunct="1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Quattrocento Sans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1D6FA9"/>
                </a:solidFill>
                <a:effectLst/>
                <a:uLnTx/>
                <a:uFillTx/>
                <a:latin typeface="Segoe UI" panose="020B0502040204020203" pitchFamily="34" charset="0"/>
                <a:ea typeface="Quattrocento Sans"/>
                <a:cs typeface="Segoe UI" panose="020B0502040204020203" pitchFamily="34" charset="0"/>
                <a:sym typeface="Quattrocento Sans"/>
              </a:rPr>
              <a:t>Weak write primitives</a:t>
            </a:r>
          </a:p>
        </p:txBody>
      </p:sp>
    </p:spTree>
    <p:extLst>
      <p:ext uri="{BB962C8B-B14F-4D97-AF65-F5344CB8AC3E}">
        <p14:creationId xmlns:p14="http://schemas.microsoft.com/office/powerpoint/2010/main" val="224116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" grpId="0"/>
      <p:bldP spid="722" grpId="0"/>
      <p:bldP spid="5" grpId="0"/>
      <p:bldP spid="6" grpId="0"/>
      <p:bldP spid="8" grpId="0"/>
      <p:bldP spid="12" grpId="0"/>
      <p:bldP spid="16" grpId="0"/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Challenges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29" name="Google Shape;729;p39"/>
          <p:cNvSpPr txBox="1">
            <a:spLocks noGrp="1"/>
          </p:cNvSpPr>
          <p:nvPr>
            <p:ph idx="1"/>
          </p:nvPr>
        </p:nvSpPr>
        <p:spPr>
          <a:xfrm>
            <a:off x="838200" y="1835150"/>
            <a:ext cx="10515600" cy="37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/>
              <a:t>A classic approach might not work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endParaRPr dirty="0"/>
          </a:p>
        </p:txBody>
      </p:sp>
      <p:pic>
        <p:nvPicPr>
          <p:cNvPr id="730" name="Google Shape;730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6626" y="2740957"/>
            <a:ext cx="2238160" cy="223816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39"/>
          <p:cNvSpPr txBox="1"/>
          <p:nvPr/>
        </p:nvSpPr>
        <p:spPr>
          <a:xfrm>
            <a:off x="3831135" y="4979117"/>
            <a:ext cx="3932121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1400"/>
              <a:buFont typeface="Asap SemiBold"/>
              <a:buNone/>
            </a:pPr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sap SemiBold"/>
              </a:rPr>
              <a:t>https://www.mememaker.net/meme/such-challenge-very-hard</a:t>
            </a:r>
            <a:endParaRPr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2FEF5-C242-3422-8B7E-34C0B30EC85A}"/>
              </a:ext>
            </a:extLst>
          </p:cNvPr>
          <p:cNvSpPr txBox="1"/>
          <p:nvPr/>
        </p:nvSpPr>
        <p:spPr>
          <a:xfrm>
            <a:off x="838200" y="5512127"/>
            <a:ext cx="102393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E7E6E6"/>
              </a:buClr>
              <a:buSzPts val="2800"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=&gt;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Let’s try to leverage SMM internal mechanisms to our advantage</a:t>
            </a:r>
          </a:p>
        </p:txBody>
      </p:sp>
    </p:spTree>
    <p:extLst>
      <p:ext uri="{BB962C8B-B14F-4D97-AF65-F5344CB8AC3E}">
        <p14:creationId xmlns:p14="http://schemas.microsoft.com/office/powerpoint/2010/main" val="3876561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1" grpId="0"/>
      <p:bldP spid="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1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lang="en-US" sz="4800" dirty="0"/>
              <a:t>Code Execution – Attempt #0</a:t>
            </a:r>
            <a:endParaRPr lang="en-US" dirty="0"/>
          </a:p>
        </p:txBody>
      </p:sp>
      <p:sp>
        <p:nvSpPr>
          <p:cNvPr id="1017" name="Google Shape;1017;p71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</a:pPr>
            <a:endParaRPr sz="3200" dirty="0"/>
          </a:p>
        </p:txBody>
      </p:sp>
    </p:spTree>
    <p:extLst>
      <p:ext uri="{BB962C8B-B14F-4D97-AF65-F5344CB8AC3E}">
        <p14:creationId xmlns:p14="http://schemas.microsoft.com/office/powerpoint/2010/main" val="3668321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6;p46">
            <a:extLst>
              <a:ext uri="{FF2B5EF4-FFF2-40B4-BE49-F238E27FC236}">
                <a16:creationId xmlns:a16="http://schemas.microsoft.com/office/drawing/2014/main" id="{2C3844A1-0AE5-6919-CB22-28462D422EA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68209" y="2081024"/>
            <a:ext cx="10012172" cy="2695951"/>
          </a:xfrm>
          <a:prstGeom prst="rect">
            <a:avLst/>
          </a:prstGeom>
          <a:noFill/>
          <a:ln w="2857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B53E11-D502-10EB-5F0A-0F6C2C96E878}"/>
                  </a:ext>
                </a:extLst>
              </p14:cNvPr>
              <p14:cNvContentPartPr/>
              <p14:nvPr/>
            </p14:nvContentPartPr>
            <p14:xfrm>
              <a:off x="4832405" y="3387130"/>
              <a:ext cx="5962680" cy="1288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B53E11-D502-10EB-5F0A-0F6C2C96E8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78765" y="3279490"/>
                <a:ext cx="60703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7FF1C1F-8818-8EB6-5DD0-ED395A8C7A43}"/>
                  </a:ext>
                </a:extLst>
              </p14:cNvPr>
              <p14:cNvContentPartPr/>
              <p14:nvPr/>
            </p14:nvContentPartPr>
            <p14:xfrm>
              <a:off x="1140965" y="3776290"/>
              <a:ext cx="5132880" cy="135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7FF1C1F-8818-8EB6-5DD0-ED395A8C7A4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87325" y="3668650"/>
                <a:ext cx="52405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E9635AA-A64F-3EF9-C293-D7125E93E6B9}"/>
                  </a:ext>
                </a:extLst>
              </p14:cNvPr>
              <p14:cNvContentPartPr/>
              <p14:nvPr/>
            </p14:nvContentPartPr>
            <p14:xfrm>
              <a:off x="3297005" y="4545970"/>
              <a:ext cx="4265280" cy="214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E9635AA-A64F-3EF9-C293-D7125E93E6B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43365" y="4438330"/>
                <a:ext cx="4372920" cy="429840"/>
              </a:xfrm>
              <a:prstGeom prst="rect">
                <a:avLst/>
              </a:prstGeom>
            </p:spPr>
          </p:pic>
        </mc:Fallback>
      </mc:AlternateContent>
      <p:sp>
        <p:nvSpPr>
          <p:cNvPr id="29" name="Google Shape;764;p44">
            <a:extLst>
              <a:ext uri="{FF2B5EF4-FFF2-40B4-BE49-F238E27FC236}">
                <a16:creationId xmlns:a16="http://schemas.microsoft.com/office/drawing/2014/main" id="{A240300B-E11B-2886-F414-0F467C038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sz="3700" b="1" dirty="0"/>
            </a:br>
            <a:r>
              <a:rPr kumimoji="0" lang="en-US" sz="360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sym typeface="Arial"/>
              </a:rPr>
              <a:t>Digging Up the Past</a:t>
            </a:r>
            <a:endParaRPr sz="3600" dirty="0"/>
          </a:p>
        </p:txBody>
      </p:sp>
      <p:sp>
        <p:nvSpPr>
          <p:cNvPr id="32" name="Google Shape;787;p46">
            <a:extLst>
              <a:ext uri="{FF2B5EF4-FFF2-40B4-BE49-F238E27FC236}">
                <a16:creationId xmlns:a16="http://schemas.microsoft.com/office/drawing/2014/main" id="{5D31FB5F-0766-3BF7-272E-71192466742C}"/>
              </a:ext>
            </a:extLst>
          </p:cNvPr>
          <p:cNvSpPr txBox="1"/>
          <p:nvPr/>
        </p:nvSpPr>
        <p:spPr>
          <a:xfrm>
            <a:off x="1282149" y="4967538"/>
            <a:ext cx="9711296" cy="369332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4E87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“Attacking UEFI Boot Script” by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Corey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Kallenberg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2015</a:t>
            </a:r>
            <a:endParaRPr sz="24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603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  <a:sym typeface="Arial"/>
              </a:rPr>
              <a:t>S3 Sleep State</a:t>
            </a:r>
            <a:endParaRPr lang="en-US" dirty="0"/>
          </a:p>
        </p:txBody>
      </p:sp>
      <p:pic>
        <p:nvPicPr>
          <p:cNvPr id="1151" name="Google Shape;1151;p79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2" name="Google Shape;1152;p7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53;p79">
            <a:extLst>
              <a:ext uri="{FF2B5EF4-FFF2-40B4-BE49-F238E27FC236}">
                <a16:creationId xmlns:a16="http://schemas.microsoft.com/office/drawing/2014/main" id="{7C673FA5-B19C-02A3-92E8-226CDF2D057F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43749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1" dur="indefinite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87BBC-A058-A95F-F357-0DC92DF99DEF}"/>
              </a:ext>
            </a:extLst>
          </p:cNvPr>
          <p:cNvSpPr/>
          <p:nvPr/>
        </p:nvSpPr>
        <p:spPr>
          <a:xfrm>
            <a:off x="3819347" y="3429000"/>
            <a:ext cx="2038018" cy="6184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8BA24E-B695-1D24-8146-9B5E0D5B346A}"/>
              </a:ext>
            </a:extLst>
          </p:cNvPr>
          <p:cNvCxnSpPr>
            <a:cxnSpLocks/>
          </p:cNvCxnSpPr>
          <p:nvPr/>
        </p:nvCxnSpPr>
        <p:spPr>
          <a:xfrm flipH="1">
            <a:off x="4838356" y="2350294"/>
            <a:ext cx="5107" cy="107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D16325-38CA-C43B-D731-C3827FAE3AE8}"/>
              </a:ext>
            </a:extLst>
          </p:cNvPr>
          <p:cNvSpPr txBox="1"/>
          <p:nvPr/>
        </p:nvSpPr>
        <p:spPr>
          <a:xfrm>
            <a:off x="4917359" y="2713091"/>
            <a:ext cx="862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save</a:t>
            </a:r>
            <a:endParaRPr lang="en-IL" sz="20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D49B07-5DEF-6701-FA6A-28E95E5629BB}"/>
              </a:ext>
            </a:extLst>
          </p:cNvPr>
          <p:cNvCxnSpPr>
            <a:cxnSpLocks/>
          </p:cNvCxnSpPr>
          <p:nvPr/>
        </p:nvCxnSpPr>
        <p:spPr>
          <a:xfrm flipV="1">
            <a:off x="4838356" y="4047462"/>
            <a:ext cx="0" cy="115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49FB6C-AEF9-AAE1-9182-2D84DA3922EC}"/>
              </a:ext>
            </a:extLst>
          </p:cNvPr>
          <p:cNvSpPr txBox="1"/>
          <p:nvPr/>
        </p:nvSpPr>
        <p:spPr>
          <a:xfrm>
            <a:off x="4838356" y="4307388"/>
            <a:ext cx="131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</a:t>
            </a:r>
            <a:endParaRPr lang="en-IL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369E13-A0F8-7C9D-4068-FF8F304C0FFE}"/>
              </a:ext>
            </a:extLst>
          </p:cNvPr>
          <p:cNvSpPr txBox="1"/>
          <p:nvPr/>
        </p:nvSpPr>
        <p:spPr>
          <a:xfrm>
            <a:off x="6412543" y="2913146"/>
            <a:ext cx="584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⁞</a:t>
            </a:r>
            <a:endParaRPr lang="en-US" sz="16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IO_WRITE_OPCODE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IO_READ_WRITE_OPCODE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MEM_WRITE_OPCODE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MEM_READ_WRITE_OPCODE</a:t>
            </a:r>
          </a:p>
          <a:p>
            <a:r>
              <a:rPr lang="en-US" sz="1600" b="0" dirty="0">
                <a:solidFill>
                  <a:schemeClr val="bg2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PCI_CONFIG_WRITE_OPCODE</a:t>
            </a:r>
          </a:p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⁞</a:t>
            </a:r>
            <a:endParaRPr lang="en-US" sz="1600" b="0" dirty="0">
              <a:solidFill>
                <a:schemeClr val="bg2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95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3" grpId="0"/>
      <p:bldP spid="3" grpId="0"/>
      <p:bldP spid="6" grpId="0"/>
      <p:bldP spid="7" grpId="0" animBg="1"/>
      <p:bldP spid="10" grpId="0"/>
      <p:bldP spid="12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87BBC-A058-A95F-F357-0DC92DF99DEF}"/>
              </a:ext>
            </a:extLst>
          </p:cNvPr>
          <p:cNvSpPr/>
          <p:nvPr/>
        </p:nvSpPr>
        <p:spPr>
          <a:xfrm>
            <a:off x="3819347" y="3429000"/>
            <a:ext cx="2038018" cy="618462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B8BA24E-B695-1D24-8146-9B5E0D5B346A}"/>
              </a:ext>
            </a:extLst>
          </p:cNvPr>
          <p:cNvCxnSpPr>
            <a:cxnSpLocks/>
          </p:cNvCxnSpPr>
          <p:nvPr/>
        </p:nvCxnSpPr>
        <p:spPr>
          <a:xfrm flipH="1">
            <a:off x="4838356" y="2350294"/>
            <a:ext cx="5107" cy="1078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8D16325-38CA-C43B-D731-C3827FAE3AE8}"/>
              </a:ext>
            </a:extLst>
          </p:cNvPr>
          <p:cNvSpPr txBox="1"/>
          <p:nvPr/>
        </p:nvSpPr>
        <p:spPr>
          <a:xfrm>
            <a:off x="4917358" y="2713091"/>
            <a:ext cx="39350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save</a:t>
            </a:r>
            <a:r>
              <a:rPr lang="en-US" sz="2000" dirty="0">
                <a:solidFill>
                  <a:schemeClr val="accent5"/>
                </a:solidFill>
              </a:rPr>
              <a:t>d into location accessible to OS</a:t>
            </a:r>
            <a:endParaRPr lang="en-IL" sz="2000" dirty="0">
              <a:solidFill>
                <a:schemeClr val="accent5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ED49B07-5DEF-6701-FA6A-28E95E5629BB}"/>
              </a:ext>
            </a:extLst>
          </p:cNvPr>
          <p:cNvCxnSpPr>
            <a:cxnSpLocks/>
          </p:cNvCxnSpPr>
          <p:nvPr/>
        </p:nvCxnSpPr>
        <p:spPr>
          <a:xfrm flipV="1">
            <a:off x="4838356" y="4047462"/>
            <a:ext cx="0" cy="115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49FB6C-AEF9-AAE1-9182-2D84DA3922EC}"/>
              </a:ext>
            </a:extLst>
          </p:cNvPr>
          <p:cNvSpPr txBox="1"/>
          <p:nvPr/>
        </p:nvSpPr>
        <p:spPr>
          <a:xfrm>
            <a:off x="4838356" y="4307388"/>
            <a:ext cx="1319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execute</a:t>
            </a: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162104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S3 Boot Script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1053C0-667C-582A-6C57-01245A57384B}"/>
              </a:ext>
            </a:extLst>
          </p:cNvPr>
          <p:cNvCxnSpPr>
            <a:cxnSpLocks/>
            <a:stCxn id="19" idx="3"/>
            <a:endCxn id="8" idx="1"/>
          </p:cNvCxnSpPr>
          <p:nvPr/>
        </p:nvCxnSpPr>
        <p:spPr>
          <a:xfrm flipV="1">
            <a:off x="1301645" y="2336829"/>
            <a:ext cx="9646142" cy="30402"/>
          </a:xfrm>
          <a:prstGeom prst="straightConnector1">
            <a:avLst/>
          </a:prstGeom>
          <a:ln w="571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655B824-E79F-E730-0E7E-1D01D9231899}"/>
              </a:ext>
            </a:extLst>
          </p:cNvPr>
          <p:cNvSpPr txBox="1"/>
          <p:nvPr/>
        </p:nvSpPr>
        <p:spPr>
          <a:xfrm>
            <a:off x="10947787" y="2136774"/>
            <a:ext cx="111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OS load</a:t>
            </a:r>
            <a:endParaRPr lang="en-IL" sz="2000" dirty="0"/>
          </a:p>
        </p:txBody>
      </p:sp>
      <p:pic>
        <p:nvPicPr>
          <p:cNvPr id="19" name="Graphic 18" descr="Boot outline">
            <a:extLst>
              <a:ext uri="{FF2B5EF4-FFF2-40B4-BE49-F238E27FC236}">
                <a16:creationId xmlns:a16="http://schemas.microsoft.com/office/drawing/2014/main" id="{0AA79727-E659-33EB-1651-4289CE0317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245" y="1910031"/>
            <a:ext cx="914400" cy="9144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789B71F-DA39-FA4D-565B-F9BC38C592E3}"/>
              </a:ext>
            </a:extLst>
          </p:cNvPr>
          <p:cNvSpPr txBox="1"/>
          <p:nvPr/>
        </p:nvSpPr>
        <p:spPr>
          <a:xfrm>
            <a:off x="498195" y="2597661"/>
            <a:ext cx="69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boot</a:t>
            </a:r>
            <a:endParaRPr lang="en-IL" sz="20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02DC168E-EBFA-7277-4D07-A3D9C5007836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050537" y="5197994"/>
            <a:ext cx="6897250" cy="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303DFEF-2B7F-F43E-9802-7736615457D1}"/>
              </a:ext>
            </a:extLst>
          </p:cNvPr>
          <p:cNvSpPr txBox="1"/>
          <p:nvPr/>
        </p:nvSpPr>
        <p:spPr>
          <a:xfrm>
            <a:off x="3005736" y="5551937"/>
            <a:ext cx="16272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S3 resume</a:t>
            </a:r>
            <a:endParaRPr lang="en-IL" sz="2000" dirty="0"/>
          </a:p>
        </p:txBody>
      </p:sp>
      <p:pic>
        <p:nvPicPr>
          <p:cNvPr id="5" name="Graphic 4" descr="Alarm Ringing outline">
            <a:extLst>
              <a:ext uri="{FF2B5EF4-FFF2-40B4-BE49-F238E27FC236}">
                <a16:creationId xmlns:a16="http://schemas.microsoft.com/office/drawing/2014/main" id="{B90D8CE9-5EEF-E075-C004-2286C0AC1E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36137" y="4740794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3B63D4-CA43-2617-F374-39282FFF5168}"/>
              </a:ext>
            </a:extLst>
          </p:cNvPr>
          <p:cNvSpPr txBox="1"/>
          <p:nvPr/>
        </p:nvSpPr>
        <p:spPr>
          <a:xfrm>
            <a:off x="10947787" y="4844051"/>
            <a:ext cx="1163889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/>
              <a:t>OS resume</a:t>
            </a:r>
            <a:endParaRPr lang="en-IL" sz="200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497E08F-1E66-D864-8A90-78D7142C847C}"/>
              </a:ext>
            </a:extLst>
          </p:cNvPr>
          <p:cNvGrpSpPr/>
          <p:nvPr/>
        </p:nvGrpSpPr>
        <p:grpSpPr>
          <a:xfrm>
            <a:off x="3394307" y="2992352"/>
            <a:ext cx="3213940" cy="1246898"/>
            <a:chOff x="3475587" y="2931448"/>
            <a:chExt cx="3213940" cy="12468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0317300-4953-E26E-5990-631AC11857CC}"/>
                </a:ext>
              </a:extLst>
            </p:cNvPr>
            <p:cNvSpPr/>
            <p:nvPr/>
          </p:nvSpPr>
          <p:spPr>
            <a:xfrm>
              <a:off x="4007290" y="2931448"/>
              <a:ext cx="2682237" cy="88741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8AEBA6-DE54-734E-7B27-DC0741860A7B}"/>
                </a:ext>
              </a:extLst>
            </p:cNvPr>
            <p:cNvCxnSpPr/>
            <p:nvPr/>
          </p:nvCxnSpPr>
          <p:spPr>
            <a:xfrm flipV="1">
              <a:off x="3475587" y="382183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9F848AB-1343-10B7-E9AB-4A3F3297B499}"/>
                </a:ext>
              </a:extLst>
            </p:cNvPr>
            <p:cNvSpPr/>
            <p:nvPr/>
          </p:nvSpPr>
          <p:spPr>
            <a:xfrm>
              <a:off x="3485747" y="3287956"/>
              <a:ext cx="2682237" cy="88741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E4FEFB8-4B62-B7D2-CE9F-C6CD566924D7}"/>
                </a:ext>
              </a:extLst>
            </p:cNvPr>
            <p:cNvCxnSpPr/>
            <p:nvPr/>
          </p:nvCxnSpPr>
          <p:spPr>
            <a:xfrm flipV="1">
              <a:off x="6157824" y="293144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73D831A-B95E-D46C-2695-8D68D6641F33}"/>
                </a:ext>
              </a:extLst>
            </p:cNvPr>
            <p:cNvCxnSpPr/>
            <p:nvPr/>
          </p:nvCxnSpPr>
          <p:spPr>
            <a:xfrm flipV="1">
              <a:off x="6157824" y="3821674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D9F0C4E-E74B-EB8A-88B8-9B38EA9FBFE6}"/>
                </a:ext>
              </a:extLst>
            </p:cNvPr>
            <p:cNvCxnSpPr/>
            <p:nvPr/>
          </p:nvCxnSpPr>
          <p:spPr>
            <a:xfrm flipV="1">
              <a:off x="3475587" y="2938558"/>
              <a:ext cx="531703" cy="356508"/>
            </a:xfrm>
            <a:prstGeom prst="line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6A19E5C-1E6E-6826-1725-21A3E16B1F47}"/>
              </a:ext>
            </a:extLst>
          </p:cNvPr>
          <p:cNvSpPr txBox="1"/>
          <p:nvPr/>
        </p:nvSpPr>
        <p:spPr>
          <a:xfrm>
            <a:off x="4248119" y="4196121"/>
            <a:ext cx="2038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LockBox</a:t>
            </a:r>
            <a:endParaRPr lang="en-IL" sz="2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02F9F1-D1BA-550F-254A-56CCC6D088A7}"/>
              </a:ext>
            </a:extLst>
          </p:cNvPr>
          <p:cNvSpPr/>
          <p:nvPr/>
        </p:nvSpPr>
        <p:spPr>
          <a:xfrm>
            <a:off x="3820043" y="3432784"/>
            <a:ext cx="2038018" cy="618462"/>
          </a:xfrm>
          <a:prstGeom prst="rect">
            <a:avLst/>
          </a:prstGeom>
          <a:solidFill>
            <a:srgbClr val="E7E6E6"/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S3 boot script</a:t>
            </a:r>
            <a:endParaRPr lang="en-IL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298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S3 Boot Script – </a:t>
            </a:r>
            <a:r>
              <a:rPr lang="en-US" sz="3600" kern="0" dirty="0" err="1">
                <a:solidFill>
                  <a:srgbClr val="A5A5A5"/>
                </a:solidFill>
              </a:rPr>
              <a:t>LockBox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803" name="Google Shape;803;p48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Provides integrity of stored data</a:t>
            </a:r>
          </a:p>
          <a:p>
            <a:pPr>
              <a:lnSpc>
                <a:spcPct val="100000"/>
              </a:lnSpc>
              <a:spcBef>
                <a:spcPts val="1200"/>
              </a:spcBef>
              <a:buClrTx/>
              <a:buSzPts val="2800"/>
              <a:buFont typeface="Arial"/>
              <a:buChar char="•"/>
            </a:pPr>
            <a:r>
              <a:rPr lang="en-US" dirty="0"/>
              <a:t>Located in SMRAM</a:t>
            </a:r>
          </a:p>
          <a:p>
            <a:pPr marL="2286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Standard implementation</a:t>
            </a:r>
            <a:endParaRPr dirty="0"/>
          </a:p>
          <a:p>
            <a:pPr marL="2286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ts val="2800"/>
              <a:buFont typeface="Arial"/>
              <a:buChar char="•"/>
            </a:pPr>
            <a:r>
              <a:rPr lang="en-US" dirty="0"/>
              <a:t>API for reading/writing/updating from ring 0</a:t>
            </a:r>
            <a:endParaRPr dirty="0"/>
          </a:p>
        </p:txBody>
      </p:sp>
      <p:sp>
        <p:nvSpPr>
          <p:cNvPr id="2" name="Google Shape;804;p48">
            <a:extLst>
              <a:ext uri="{FF2B5EF4-FFF2-40B4-BE49-F238E27FC236}">
                <a16:creationId xmlns:a16="http://schemas.microsoft.com/office/drawing/2014/main" id="{EB2A0A96-754C-B580-C152-AF5E2854280C}"/>
              </a:ext>
            </a:extLst>
          </p:cNvPr>
          <p:cNvSpPr/>
          <p:nvPr/>
        </p:nvSpPr>
        <p:spPr>
          <a:xfrm>
            <a:off x="4482545" y="4654180"/>
            <a:ext cx="1372155" cy="595035"/>
          </a:xfrm>
          <a:prstGeom prst="rect">
            <a:avLst/>
          </a:prstGeom>
          <a:noFill/>
          <a:ln w="381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" grpId="0" build="p"/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 – </a:t>
            </a:r>
            <a:r>
              <a:rPr kumimoji="0" lang="en-US" sz="3600" b="0" i="0" u="none" strike="noStrike" kern="0" cap="none" spc="0" normalizeH="0" baseline="0" noProof="0" dirty="0" err="1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SmmLockBoxUpdate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37E2-6EC4-875E-98C6-EF4FF74E3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811" name="Google Shape;811;p49"/>
          <p:cNvSpPr txBox="1"/>
          <p:nvPr/>
        </p:nvSpPr>
        <p:spPr>
          <a:xfrm>
            <a:off x="571370" y="1962150"/>
            <a:ext cx="11125201" cy="397031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sz="1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SmmLockBoxUpdate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IN EFI_SMM_LOCK_BOX_PARAMETER_UPDATE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800" b="0" i="0" u="none" strike="noStrike" cap="none" dirty="0" err="1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mLocked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DEBUG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EFI_D_ERROR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E8C9B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 err="1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SmmLockBox</a:t>
            </a:r>
            <a:r>
              <a:rPr lang="en-US" sz="1800" b="0" i="0" u="none" strike="noStrike" cap="none" dirty="0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 Locked!</a:t>
            </a:r>
            <a:r>
              <a:rPr lang="en-US" sz="1800" b="0" i="0" u="none" strike="noStrike" cap="none" dirty="0">
                <a:solidFill>
                  <a:srgbClr val="FFD68F"/>
                </a:solidFill>
                <a:latin typeface="Consolas"/>
                <a:ea typeface="Consolas"/>
                <a:cs typeface="Consolas"/>
                <a:sym typeface="Consolas"/>
              </a:rPr>
              <a:t>\n</a:t>
            </a:r>
            <a:r>
              <a:rPr lang="en-US" sz="1800" b="0" i="0" u="none" strike="noStrike" cap="none" dirty="0">
                <a:solidFill>
                  <a:srgbClr val="E8C9BB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en-US" sz="1800" b="0" i="0" u="none" strike="noStrike" cap="none" dirty="0" err="1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ReturnStatus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EFI_ACCESS_DENIED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b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b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Status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UpdateLockBox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([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]);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LockBoxParameterUpdate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Header</a:t>
            </a:r>
            <a:r>
              <a:rPr lang="en-US" sz="1800" b="0" i="0" u="none" strike="noStrike" cap="none" dirty="0" err="1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-US" sz="18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ReturnStatus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UINT64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>
                <a:solidFill>
                  <a:srgbClr val="D8A0D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2" name="Google Shape;812;p49"/>
          <p:cNvSpPr/>
          <p:nvPr/>
        </p:nvSpPr>
        <p:spPr>
          <a:xfrm>
            <a:off x="7334237" y="3010255"/>
            <a:ext cx="3515511" cy="473297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813" name="Google Shape;813;p49"/>
          <p:cNvSpPr/>
          <p:nvPr/>
        </p:nvSpPr>
        <p:spPr>
          <a:xfrm>
            <a:off x="6871763" y="4916120"/>
            <a:ext cx="2097169" cy="473297"/>
          </a:xfrm>
          <a:prstGeom prst="rect">
            <a:avLst/>
          </a:prstGeom>
          <a:noFill/>
          <a:ln w="31750" cap="flat" cmpd="sng">
            <a:solidFill>
              <a:srgbClr val="FF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2" name="Google Shape;816;p49">
            <a:extLst>
              <a:ext uri="{FF2B5EF4-FFF2-40B4-BE49-F238E27FC236}">
                <a16:creationId xmlns:a16="http://schemas.microsoft.com/office/drawing/2014/main" id="{2896EFCD-B17C-D573-3BB9-B4D6890A3C85}"/>
              </a:ext>
            </a:extLst>
          </p:cNvPr>
          <p:cNvSpPr/>
          <p:nvPr/>
        </p:nvSpPr>
        <p:spPr>
          <a:xfrm>
            <a:off x="1695307" y="2466108"/>
            <a:ext cx="1088502" cy="434705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51508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2" grpId="0" animBg="1"/>
      <p:bldP spid="813" grpId="0" animBg="1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5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 – The Plan</a:t>
            </a:r>
            <a:endParaRPr lang="en-US" sz="36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D656FC4-9B7A-BBB9-35B0-4FCDE25D09E0}"/>
              </a:ext>
            </a:extLst>
          </p:cNvPr>
          <p:cNvGrpSpPr/>
          <p:nvPr/>
        </p:nvGrpSpPr>
        <p:grpSpPr>
          <a:xfrm>
            <a:off x="573718" y="2112686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B4D22CC-1C7E-3591-F3C6-FA25106CA449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933D9D7-7758-3588-E1D3-9A94ED4C4AA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Zero out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mLocked</a:t>
              </a:r>
              <a:endParaRPr lang="en-US" sz="2400" kern="1200" dirty="0"/>
            </a:p>
          </p:txBody>
        </p:sp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B9D88B1F-3837-1992-1699-0BFC0A27FC0F}"/>
              </a:ext>
            </a:extLst>
          </p:cNvPr>
          <p:cNvSpPr/>
          <p:nvPr/>
        </p:nvSpPr>
        <p:spPr>
          <a:xfrm>
            <a:off x="1309045" y="2061631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D2F80DA-5F7F-E760-2937-035B1C36B3B9}"/>
              </a:ext>
            </a:extLst>
          </p:cNvPr>
          <p:cNvGrpSpPr/>
          <p:nvPr/>
        </p:nvGrpSpPr>
        <p:grpSpPr>
          <a:xfrm>
            <a:off x="573718" y="2937693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F65E27-3BE1-1CDB-0426-D587965E2CEF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33FEA1-B577-E004-55B7-D8C305F08879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Invoke S3 boot script update procedure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9D2BBD-F162-3735-0F50-7B759E87AF02}"/>
              </a:ext>
            </a:extLst>
          </p:cNvPr>
          <p:cNvGrpSpPr/>
          <p:nvPr/>
        </p:nvGrpSpPr>
        <p:grpSpPr>
          <a:xfrm>
            <a:off x="573718" y="3758500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DD23915-7E03-A5CC-C3C7-9B08E89AEA31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FAA244-70A4-87B1-5088-337BFA838091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BC2173B-6F53-1594-BF99-59BD0B733254}"/>
              </a:ext>
            </a:extLst>
          </p:cNvPr>
          <p:cNvGrpSpPr/>
          <p:nvPr/>
        </p:nvGrpSpPr>
        <p:grpSpPr>
          <a:xfrm>
            <a:off x="573718" y="4587677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768D0C-092D-918F-3527-C756EACBBC49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D2F23A7-DEF5-86CC-C6C6-ECAAFD118BD7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BBBB97-8602-9DF1-6D9B-84193FC42013}"/>
              </a:ext>
            </a:extLst>
          </p:cNvPr>
          <p:cNvGrpSpPr/>
          <p:nvPr/>
        </p:nvGrpSpPr>
        <p:grpSpPr>
          <a:xfrm>
            <a:off x="573718" y="5406159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F516DD-53C4-7BF8-5AAE-1014D9ECCC2C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412746E-AAA2-84BD-7458-5C1764FFD837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rgbClr val="004E87"/>
                </a:buClr>
                <a:buSzPts val="2333"/>
              </a:pPr>
              <a:r>
                <a:rPr lang="en-US" sz="2400" dirty="0"/>
                <a:t>Execute code in SMM 😎</a:t>
              </a:r>
            </a:p>
          </p:txBody>
        </p: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149317CB-0AFB-57DF-AE98-5FF9F6294C59}"/>
              </a:ext>
            </a:extLst>
          </p:cNvPr>
          <p:cNvSpPr/>
          <p:nvPr/>
        </p:nvSpPr>
        <p:spPr>
          <a:xfrm>
            <a:off x="1300517" y="2887691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B61C9E-D30F-C12D-D8F7-DA938A5294A9}"/>
              </a:ext>
            </a:extLst>
          </p:cNvPr>
          <p:cNvSpPr/>
          <p:nvPr/>
        </p:nvSpPr>
        <p:spPr>
          <a:xfrm>
            <a:off x="1300518" y="3720074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CC77DE2-03E8-894D-646E-9A45429DBA69}"/>
              </a:ext>
            </a:extLst>
          </p:cNvPr>
          <p:cNvSpPr/>
          <p:nvPr/>
        </p:nvSpPr>
        <p:spPr>
          <a:xfrm>
            <a:off x="1309045" y="4549989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B6F4220-3A7C-A017-DB12-71B37F56C147}"/>
              </a:ext>
            </a:extLst>
          </p:cNvPr>
          <p:cNvSpPr/>
          <p:nvPr/>
        </p:nvSpPr>
        <p:spPr>
          <a:xfrm>
            <a:off x="1300518" y="5378429"/>
            <a:ext cx="596042" cy="599430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</a:t>
            </a:r>
            <a:endParaRPr sz="3600" dirty="0"/>
          </a:p>
        </p:txBody>
      </p:sp>
      <p:sp>
        <p:nvSpPr>
          <p:cNvPr id="1009" name="Google Shape;1009;p70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Clr>
                <a:srgbClr val="6E7781"/>
              </a:buClr>
              <a:buSzPts val="2800"/>
              <a:buNone/>
            </a:pP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“The function will close and lock SMRAM and then jump to boot script [...]</a:t>
            </a:r>
            <a:r>
              <a:rPr 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”  </a:t>
            </a:r>
          </a:p>
          <a:p>
            <a:pPr marL="0" indent="0" algn="r">
              <a:lnSpc>
                <a:spcPct val="100000"/>
              </a:lnSpc>
              <a:spcBef>
                <a:spcPts val="1200"/>
              </a:spcBef>
              <a:buClr>
                <a:srgbClr val="6E7781"/>
              </a:buClr>
              <a:buSzPts val="2800"/>
              <a:buNone/>
            </a:pPr>
            <a:r>
              <a:rPr lang="en-US" dirty="0">
                <a:solidFill>
                  <a:srgbClr val="6E7781"/>
                </a:solidFill>
                <a:ea typeface="Calibri"/>
                <a:cs typeface="Calibri"/>
                <a:sym typeface="Calibri"/>
              </a:rPr>
              <a:t>S3ResumeExecuteBootScript’s docs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73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9" grpId="0" uiExpan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7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 – Attempt #0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S3 Boot Script</a:t>
            </a:r>
            <a:endParaRPr lang="en-US" dirty="0"/>
          </a:p>
        </p:txBody>
      </p:sp>
      <p:pic>
        <p:nvPicPr>
          <p:cNvPr id="1010" name="Google Shape;1010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2256" y="1903436"/>
            <a:ext cx="3347487" cy="398798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108155-5430-6B93-93E8-20C909FB23C0}"/>
              </a:ext>
            </a:extLst>
          </p:cNvPr>
          <p:cNvSpPr txBox="1"/>
          <p:nvPr/>
        </p:nvSpPr>
        <p:spPr>
          <a:xfrm flipH="1">
            <a:off x="4852121" y="5845973"/>
            <a:ext cx="2453934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https://www.reddit.com/r/ProgrammerHumor/comments/lbgkg7/trying_random_stuff_for_2_hours_instead_of/</a:t>
            </a:r>
            <a:endParaRPr lang="en-IL" sz="105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389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71"/>
          <p:cNvSpPr txBox="1">
            <a:spLocks noGrp="1"/>
          </p:cNvSpPr>
          <p:nvPr>
            <p:ph type="ctrTitle"/>
          </p:nvPr>
        </p:nvSpPr>
        <p:spPr>
          <a:xfrm>
            <a:off x="2589213" y="2514600"/>
            <a:ext cx="8915400" cy="22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Arial"/>
              <a:buNone/>
            </a:pPr>
            <a:r>
              <a:rPr lang="en-US" sz="4800" dirty="0"/>
              <a:t>Code Execution – Attempt #1</a:t>
            </a:r>
            <a:endParaRPr dirty="0"/>
          </a:p>
        </p:txBody>
      </p:sp>
      <p:sp>
        <p:nvSpPr>
          <p:cNvPr id="1017" name="Google Shape;1017;p71"/>
          <p:cNvSpPr txBox="1">
            <a:spLocks noGrp="1"/>
          </p:cNvSpPr>
          <p:nvPr>
            <p:ph type="subTitle" idx="1"/>
          </p:nvPr>
        </p:nvSpPr>
        <p:spPr>
          <a:xfrm>
            <a:off x="2589213" y="4777379"/>
            <a:ext cx="8915400" cy="11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algn="l" rtl="1">
              <a:lnSpc>
                <a:spcPct val="100000"/>
              </a:lnSpc>
              <a:spcBef>
                <a:spcPts val="0"/>
              </a:spcBef>
              <a:buClr>
                <a:srgbClr val="595959"/>
              </a:buClr>
              <a:buSzPts val="3200"/>
            </a:pPr>
            <a:r>
              <a:rPr lang="en-US" sz="3200" dirty="0"/>
              <a:t>The One That Worked</a:t>
            </a:r>
          </a:p>
          <a:p>
            <a:pPr marL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None/>
            </a:pP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75E1323-4E08-CD72-F39F-9E7CEA6AAA57}"/>
              </a:ext>
            </a:extLst>
          </p:cNvPr>
          <p:cNvSpPr/>
          <p:nvPr/>
        </p:nvSpPr>
        <p:spPr>
          <a:xfrm>
            <a:off x="1013213" y="1800621"/>
            <a:ext cx="3301251" cy="4158863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8088CC7-3B40-3D45-1F58-53121E47C27F}"/>
              </a:ext>
            </a:extLst>
          </p:cNvPr>
          <p:cNvSpPr txBox="1"/>
          <p:nvPr/>
        </p:nvSpPr>
        <p:spPr>
          <a:xfrm>
            <a:off x="2028371" y="1158661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8AACD4-CD68-A1FF-6DD2-4D4E5125F77D}"/>
              </a:ext>
            </a:extLst>
          </p:cNvPr>
          <p:cNvCxnSpPr/>
          <p:nvPr/>
        </p:nvCxnSpPr>
        <p:spPr>
          <a:xfrm flipH="1" flipV="1">
            <a:off x="1004748" y="106008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30FF0-45F4-CFE1-C3D9-38302BEAA12F}"/>
              </a:ext>
            </a:extLst>
          </p:cNvPr>
          <p:cNvCxnSpPr/>
          <p:nvPr/>
        </p:nvCxnSpPr>
        <p:spPr>
          <a:xfrm flipH="1" flipV="1">
            <a:off x="1013743" y="589997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6AD5CD81-5B42-2739-B0B3-41AD8425119E}"/>
              </a:ext>
            </a:extLst>
          </p:cNvPr>
          <p:cNvSpPr txBox="1"/>
          <p:nvPr/>
        </p:nvSpPr>
        <p:spPr>
          <a:xfrm>
            <a:off x="4426978" y="247398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0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AF70638-8ABD-9FC4-6BBC-A5893318E6F9}"/>
              </a:ext>
            </a:extLst>
          </p:cNvPr>
          <p:cNvSpPr txBox="1"/>
          <p:nvPr/>
        </p:nvSpPr>
        <p:spPr>
          <a:xfrm>
            <a:off x="4426978" y="355276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1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07D57C7-980B-B7D2-002E-5565FC952F91}"/>
              </a:ext>
            </a:extLst>
          </p:cNvPr>
          <p:cNvSpPr txBox="1"/>
          <p:nvPr/>
        </p:nvSpPr>
        <p:spPr>
          <a:xfrm>
            <a:off x="4426978" y="4631543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2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16BFAA1-EB69-1B85-074D-E4A7B8F0BBD8}"/>
              </a:ext>
            </a:extLst>
          </p:cNvPr>
          <p:cNvSpPr txBox="1"/>
          <p:nvPr/>
        </p:nvSpPr>
        <p:spPr>
          <a:xfrm>
            <a:off x="4426980" y="5514491"/>
            <a:ext cx="1807047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⁞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21AFAA-49E4-AA8F-71C1-2C62BF1A5491}"/>
              </a:ext>
            </a:extLst>
          </p:cNvPr>
          <p:cNvCxnSpPr>
            <a:cxnSpLocks/>
          </p:cNvCxnSpPr>
          <p:nvPr/>
        </p:nvCxnSpPr>
        <p:spPr>
          <a:xfrm flipV="1">
            <a:off x="1022207" y="4795931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4EF9F1-5A86-F303-45D4-3E114C5FE45E}"/>
              </a:ext>
            </a:extLst>
          </p:cNvPr>
          <p:cNvCxnSpPr>
            <a:cxnSpLocks/>
          </p:cNvCxnSpPr>
          <p:nvPr/>
        </p:nvCxnSpPr>
        <p:spPr>
          <a:xfrm flipV="1">
            <a:off x="1004747" y="3732680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77D91B-6090-A04A-F059-389103C71C88}"/>
              </a:ext>
            </a:extLst>
          </p:cNvPr>
          <p:cNvCxnSpPr>
            <a:cxnSpLocks/>
          </p:cNvCxnSpPr>
          <p:nvPr/>
        </p:nvCxnSpPr>
        <p:spPr>
          <a:xfrm flipV="1">
            <a:off x="1004747" y="2669428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5A3D57-A637-3E0B-86C9-9D7960DDCE0A}"/>
              </a:ext>
            </a:extLst>
          </p:cNvPr>
          <p:cNvCxnSpPr/>
          <p:nvPr/>
        </p:nvCxnSpPr>
        <p:spPr>
          <a:xfrm flipH="1" flipV="1">
            <a:off x="4304937" y="5946184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4E6F7A2-9608-5729-F24E-86D87052169F}"/>
              </a:ext>
            </a:extLst>
          </p:cNvPr>
          <p:cNvCxnSpPr/>
          <p:nvPr/>
        </p:nvCxnSpPr>
        <p:spPr>
          <a:xfrm flipH="1" flipV="1">
            <a:off x="4301555" y="1052677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877088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5">
            <a:extLst>
              <a:ext uri="{FF2B5EF4-FFF2-40B4-BE49-F238E27FC236}">
                <a16:creationId xmlns:a16="http://schemas.microsoft.com/office/drawing/2014/main" id="{6AD5CD81-5B42-2739-B0B3-41AD8425119E}"/>
              </a:ext>
            </a:extLst>
          </p:cNvPr>
          <p:cNvSpPr txBox="1"/>
          <p:nvPr/>
        </p:nvSpPr>
        <p:spPr>
          <a:xfrm>
            <a:off x="4426978" y="247398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0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AF70638-8ABD-9FC4-6BBC-A5893318E6F9}"/>
              </a:ext>
            </a:extLst>
          </p:cNvPr>
          <p:cNvSpPr txBox="1"/>
          <p:nvPr/>
        </p:nvSpPr>
        <p:spPr>
          <a:xfrm>
            <a:off x="4426978" y="3552762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1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07D57C7-980B-B7D2-002E-5565FC952F91}"/>
              </a:ext>
            </a:extLst>
          </p:cNvPr>
          <p:cNvSpPr txBox="1"/>
          <p:nvPr/>
        </p:nvSpPr>
        <p:spPr>
          <a:xfrm>
            <a:off x="4426978" y="4631543"/>
            <a:ext cx="275464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SMBASE of core 2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3190FF1-ADC4-7FC4-A409-747C30590AEF}"/>
              </a:ext>
            </a:extLst>
          </p:cNvPr>
          <p:cNvSpPr/>
          <p:nvPr/>
        </p:nvSpPr>
        <p:spPr>
          <a:xfrm>
            <a:off x="4283107" y="1800566"/>
            <a:ext cx="1848050" cy="4158114"/>
          </a:xfrm>
          <a:custGeom>
            <a:avLst/>
            <a:gdLst>
              <a:gd name="connsiteX0" fmla="*/ 0 w 1848050"/>
              <a:gd name="connsiteY0" fmla="*/ 1963554 h 4158114"/>
              <a:gd name="connsiteX1" fmla="*/ 1848050 w 1848050"/>
              <a:gd name="connsiteY1" fmla="*/ 0 h 4158114"/>
              <a:gd name="connsiteX2" fmla="*/ 1838425 w 1848050"/>
              <a:gd name="connsiteY2" fmla="*/ 4158114 h 4158114"/>
              <a:gd name="connsiteX3" fmla="*/ 9625 w 1848050"/>
              <a:gd name="connsiteY3" fmla="*/ 2983832 h 4158114"/>
              <a:gd name="connsiteX4" fmla="*/ 9625 w 1848050"/>
              <a:gd name="connsiteY4" fmla="*/ 2983832 h 4158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8050" h="4158114">
                <a:moveTo>
                  <a:pt x="0" y="1963554"/>
                </a:moveTo>
                <a:lnTo>
                  <a:pt x="1848050" y="0"/>
                </a:lnTo>
                <a:cubicBezTo>
                  <a:pt x="1844842" y="1386038"/>
                  <a:pt x="1841633" y="2772076"/>
                  <a:pt x="1838425" y="4158114"/>
                </a:cubicBezTo>
                <a:lnTo>
                  <a:pt x="9625" y="2983832"/>
                </a:lnTo>
                <a:lnTo>
                  <a:pt x="9625" y="2983832"/>
                </a:lnTo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16BFAA1-EB69-1B85-074D-E4A7B8F0BBD8}"/>
              </a:ext>
            </a:extLst>
          </p:cNvPr>
          <p:cNvSpPr txBox="1"/>
          <p:nvPr/>
        </p:nvSpPr>
        <p:spPr>
          <a:xfrm>
            <a:off x="4426980" y="5514491"/>
            <a:ext cx="1807047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⁞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B82920-E0CA-FEFE-9DCF-28C463DFEC4F}"/>
              </a:ext>
            </a:extLst>
          </p:cNvPr>
          <p:cNvCxnSpPr>
            <a:cxnSpLocks/>
          </p:cNvCxnSpPr>
          <p:nvPr/>
        </p:nvCxnSpPr>
        <p:spPr>
          <a:xfrm flipV="1">
            <a:off x="4327171" y="1800620"/>
            <a:ext cx="1798607" cy="1953797"/>
          </a:xfrm>
          <a:prstGeom prst="line">
            <a:avLst/>
          </a:prstGeom>
          <a:solidFill>
            <a:srgbClr val="F2F2F2"/>
          </a:solidFill>
          <a:ln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665977D-CB3C-EA04-AAF5-4BEAF59E7FCA}"/>
              </a:ext>
            </a:extLst>
          </p:cNvPr>
          <p:cNvCxnSpPr>
            <a:cxnSpLocks/>
          </p:cNvCxnSpPr>
          <p:nvPr/>
        </p:nvCxnSpPr>
        <p:spPr>
          <a:xfrm>
            <a:off x="4335637" y="4811273"/>
            <a:ext cx="1780880" cy="1148210"/>
          </a:xfrm>
          <a:prstGeom prst="line">
            <a:avLst/>
          </a:prstGeom>
          <a:solidFill>
            <a:srgbClr val="F2F2F2"/>
          </a:solidFill>
          <a:ln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9098" y="2199961"/>
            <a:ext cx="3301251" cy="301972"/>
          </a:xfrm>
          <a:prstGeom prst="rect">
            <a:avLst/>
          </a:prstGeom>
          <a:solidFill>
            <a:srgbClr val="F2F2F2">
              <a:alpha val="16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FFA76-7CA9-044B-6405-7ACE5952E6B5}"/>
              </a:ext>
            </a:extLst>
          </p:cNvPr>
          <p:cNvSpPr txBox="1"/>
          <p:nvPr/>
        </p:nvSpPr>
        <p:spPr>
          <a:xfrm>
            <a:off x="9566057" y="3896831"/>
            <a:ext cx="2955325" cy="59858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1667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First code executed upon entering SMM</a:t>
            </a:r>
            <a:endParaRPr lang="en-IL" sz="1667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E1323-4E08-CD72-F39F-9E7CEA6AAA57}"/>
              </a:ext>
            </a:extLst>
          </p:cNvPr>
          <p:cNvSpPr/>
          <p:nvPr/>
        </p:nvSpPr>
        <p:spPr>
          <a:xfrm>
            <a:off x="1013213" y="1800621"/>
            <a:ext cx="3301251" cy="4158863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58088CC7-3B40-3D45-1F58-53121E47C27F}"/>
              </a:ext>
            </a:extLst>
          </p:cNvPr>
          <p:cNvSpPr txBox="1"/>
          <p:nvPr/>
        </p:nvSpPr>
        <p:spPr>
          <a:xfrm>
            <a:off x="2028371" y="1158661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E8AACD4-CD68-A1FF-6DD2-4D4E5125F77D}"/>
              </a:ext>
            </a:extLst>
          </p:cNvPr>
          <p:cNvCxnSpPr/>
          <p:nvPr/>
        </p:nvCxnSpPr>
        <p:spPr>
          <a:xfrm flipH="1" flipV="1">
            <a:off x="1004748" y="106008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7BBD66-6741-14D5-AC34-5E430CCF3ED0}"/>
              </a:ext>
            </a:extLst>
          </p:cNvPr>
          <p:cNvCxnSpPr/>
          <p:nvPr/>
        </p:nvCxnSpPr>
        <p:spPr>
          <a:xfrm flipH="1" flipV="1">
            <a:off x="4301555" y="1052677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730FF0-45F4-CFE1-C3D9-38302BEAA12F}"/>
              </a:ext>
            </a:extLst>
          </p:cNvPr>
          <p:cNvCxnSpPr/>
          <p:nvPr/>
        </p:nvCxnSpPr>
        <p:spPr>
          <a:xfrm flipH="1" flipV="1">
            <a:off x="1013743" y="5899972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C7C275-C703-4D1A-C957-EBF43BB94BFE}"/>
              </a:ext>
            </a:extLst>
          </p:cNvPr>
          <p:cNvCxnSpPr/>
          <p:nvPr/>
        </p:nvCxnSpPr>
        <p:spPr>
          <a:xfrm flipH="1" flipV="1">
            <a:off x="4304937" y="5946184"/>
            <a:ext cx="8464" cy="740538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E21AFAA-49E4-AA8F-71C1-2C62BF1A5491}"/>
              </a:ext>
            </a:extLst>
          </p:cNvPr>
          <p:cNvCxnSpPr>
            <a:cxnSpLocks/>
          </p:cNvCxnSpPr>
          <p:nvPr/>
        </p:nvCxnSpPr>
        <p:spPr>
          <a:xfrm flipV="1">
            <a:off x="1022207" y="4795931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54EF9F1-5A86-F303-45D4-3E114C5FE45E}"/>
              </a:ext>
            </a:extLst>
          </p:cNvPr>
          <p:cNvCxnSpPr>
            <a:cxnSpLocks/>
          </p:cNvCxnSpPr>
          <p:nvPr/>
        </p:nvCxnSpPr>
        <p:spPr>
          <a:xfrm flipV="1">
            <a:off x="1004747" y="3732680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877D91B-6090-A04A-F059-389103C71C88}"/>
              </a:ext>
            </a:extLst>
          </p:cNvPr>
          <p:cNvCxnSpPr>
            <a:cxnSpLocks/>
          </p:cNvCxnSpPr>
          <p:nvPr/>
        </p:nvCxnSpPr>
        <p:spPr>
          <a:xfrm flipV="1">
            <a:off x="1004747" y="2669428"/>
            <a:ext cx="3290987" cy="21887"/>
          </a:xfrm>
          <a:prstGeom prst="line">
            <a:avLst/>
          </a:prstGeom>
          <a:solidFill>
            <a:srgbClr val="F2F2F2"/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9060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/>
      <p:bldP spid="11" grpId="0"/>
      <p:bldP spid="14" grpId="0"/>
      <p:bldP spid="15" grpId="0"/>
      <p:bldP spid="22" grpId="0" animBg="1"/>
      <p:bldP spid="27" grpId="0"/>
      <p:bldP spid="2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80A56EB-325A-0B46-9E13-9064389EAC21}"/>
              </a:ext>
            </a:extLst>
          </p:cNvPr>
          <p:cNvSpPr txBox="1"/>
          <p:nvPr/>
        </p:nvSpPr>
        <p:spPr>
          <a:xfrm>
            <a:off x="6130276" y="2198732"/>
            <a:ext cx="3301251" cy="301972"/>
          </a:xfrm>
          <a:prstGeom prst="rect">
            <a:avLst/>
          </a:prstGeom>
          <a:solidFill>
            <a:srgbClr val="C00000">
              <a:alpha val="13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</a:t>
            </a:r>
            <a:r>
              <a:rPr lang="en-US" sz="4000" dirty="0">
                <a:solidFill>
                  <a:srgbClr val="7F7F7F"/>
                </a:solidFill>
              </a:rPr>
              <a:t> </a:t>
            </a:r>
            <a:r>
              <a:rPr lang="en-US" sz="4000" kern="0" dirty="0">
                <a:solidFill>
                  <a:srgbClr val="A5A5A5"/>
                </a:solidFill>
              </a:rPr>
              <a:t>Relocation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6042" y="2198456"/>
            <a:ext cx="3301251" cy="301972"/>
          </a:xfrm>
          <a:prstGeom prst="rect">
            <a:avLst/>
          </a:prstGeom>
          <a:noFill/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14E3A-D6F6-A39B-FBF0-FB7FFA422E02}"/>
              </a:ext>
            </a:extLst>
          </p:cNvPr>
          <p:cNvSpPr/>
          <p:nvPr/>
        </p:nvSpPr>
        <p:spPr>
          <a:xfrm>
            <a:off x="180474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D78FE2B-FE78-6293-ACB3-5A9ED74939D5}"/>
              </a:ext>
            </a:extLst>
          </p:cNvPr>
          <p:cNvCxnSpPr>
            <a:cxnSpLocks/>
            <a:stCxn id="22" idx="1"/>
            <a:endCxn id="2" idx="0"/>
          </p:cNvCxnSpPr>
          <p:nvPr/>
        </p:nvCxnSpPr>
        <p:spPr>
          <a:xfrm rot="10800000">
            <a:off x="3455374" y="1793216"/>
            <a:ext cx="2670668" cy="556227"/>
          </a:xfrm>
          <a:prstGeom prst="bentConnector4">
            <a:avLst>
              <a:gd name="adj1" fmla="val 19097"/>
              <a:gd name="adj2" fmla="val 141098"/>
            </a:avLst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38" name="TextBox 6">
            <a:extLst>
              <a:ext uri="{FF2B5EF4-FFF2-40B4-BE49-F238E27FC236}">
                <a16:creationId xmlns:a16="http://schemas.microsoft.com/office/drawing/2014/main" id="{F703F6F0-9119-9ABC-9041-FDE1EF502E75}"/>
              </a:ext>
            </a:extLst>
          </p:cNvPr>
          <p:cNvSpPr txBox="1"/>
          <p:nvPr/>
        </p:nvSpPr>
        <p:spPr>
          <a:xfrm>
            <a:off x="7247275" y="6180982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</p:spTree>
    <p:extLst>
      <p:ext uri="{BB962C8B-B14F-4D97-AF65-F5344CB8AC3E}">
        <p14:creationId xmlns:p14="http://schemas.microsoft.com/office/powerpoint/2010/main" val="365663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1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2" grpId="0" animBg="1"/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E06B08-E49A-0A9D-8334-1376C49F904B}"/>
              </a:ext>
            </a:extLst>
          </p:cNvPr>
          <p:cNvSpPr/>
          <p:nvPr/>
        </p:nvSpPr>
        <p:spPr>
          <a:xfrm>
            <a:off x="612909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920"/>
            </a:pPr>
            <a:endParaRPr lang="en-US" sz="192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A80A56EB-325A-0B46-9E13-9064389EAC21}"/>
              </a:ext>
            </a:extLst>
          </p:cNvPr>
          <p:cNvSpPr txBox="1"/>
          <p:nvPr/>
        </p:nvSpPr>
        <p:spPr>
          <a:xfrm>
            <a:off x="6130276" y="2198732"/>
            <a:ext cx="3301251" cy="301972"/>
          </a:xfrm>
          <a:prstGeom prst="rect">
            <a:avLst/>
          </a:prstGeom>
          <a:solidFill>
            <a:srgbClr val="C00000">
              <a:alpha val="13000"/>
            </a:srgbClr>
          </a:solidFill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32DD6DD-AEAF-F857-BB8D-BA85889A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9022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4900" dirty="0"/>
              <a:t>Code Execution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D2B91"/>
                </a:solidFill>
                <a:effectLst/>
                <a:uLnTx/>
                <a:uFillTx/>
                <a:ea typeface="+mj-ea"/>
                <a:cs typeface="+mj-cs"/>
              </a:rPr>
            </a:br>
            <a:r>
              <a:rPr lang="en-US" sz="4000" kern="0" dirty="0">
                <a:solidFill>
                  <a:srgbClr val="A5A5A5"/>
                </a:solidFill>
              </a:rPr>
              <a:t>SMBASE Relocation Attack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1C13CEF-4992-B18E-F0B7-8B6F4000BF17}"/>
              </a:ext>
            </a:extLst>
          </p:cNvPr>
          <p:cNvSpPr txBox="1"/>
          <p:nvPr/>
        </p:nvSpPr>
        <p:spPr>
          <a:xfrm>
            <a:off x="9451127" y="1531840"/>
            <a:ext cx="2754640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+ 0xFFFF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90FAF534-A5A7-33DD-8B83-E0082748F977}"/>
              </a:ext>
            </a:extLst>
          </p:cNvPr>
          <p:cNvSpPr txBox="1"/>
          <p:nvPr/>
        </p:nvSpPr>
        <p:spPr>
          <a:xfrm>
            <a:off x="9451127" y="5795303"/>
            <a:ext cx="2793366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C6C2C140-82C1-79ED-31F3-A320E7B0991E}"/>
              </a:ext>
            </a:extLst>
          </p:cNvPr>
          <p:cNvSpPr txBox="1"/>
          <p:nvPr/>
        </p:nvSpPr>
        <p:spPr>
          <a:xfrm>
            <a:off x="9454936" y="2350947"/>
            <a:ext cx="2789557" cy="328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SMBASE + 0x8000 + 0x7EF8</a:t>
            </a:r>
            <a:endParaRPr lang="en-US" sz="1100" dirty="0"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Box 10">
            <a:extLst>
              <a:ext uri="{FF2B5EF4-FFF2-40B4-BE49-F238E27FC236}">
                <a16:creationId xmlns:a16="http://schemas.microsoft.com/office/drawing/2014/main" id="{677A21AE-D232-97EE-D743-CD7EB028DC7B}"/>
              </a:ext>
            </a:extLst>
          </p:cNvPr>
          <p:cNvSpPr txBox="1"/>
          <p:nvPr/>
        </p:nvSpPr>
        <p:spPr>
          <a:xfrm>
            <a:off x="6415038" y="2503227"/>
            <a:ext cx="2683359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Save State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7098763-7A39-9C0D-1A89-23DBA3ED1901}"/>
              </a:ext>
            </a:extLst>
          </p:cNvPr>
          <p:cNvSpPr txBox="1"/>
          <p:nvPr/>
        </p:nvSpPr>
        <p:spPr>
          <a:xfrm>
            <a:off x="6126042" y="2198456"/>
            <a:ext cx="3301251" cy="301972"/>
          </a:xfrm>
          <a:prstGeom prst="rect">
            <a:avLst/>
          </a:prstGeom>
          <a:noFill/>
          <a:ln w="19050">
            <a:solidFill>
              <a:srgbClr val="7F7F7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he-IL"/>
            </a:defPPr>
            <a:lvl1pPr algn="l" rtl="0">
              <a:defRPr sz="1920">
                <a:solidFill>
                  <a:schemeClr val="lt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ctr" rtl="1">
              <a:lnSpc>
                <a:spcPct val="107000"/>
              </a:lnSpc>
              <a:spcAft>
                <a:spcPts val="800"/>
              </a:spcAft>
            </a:pPr>
            <a:r>
              <a:rPr lang="en-US" sz="1500" dirty="0">
                <a:solidFill>
                  <a:srgbClr val="688CCF"/>
                </a:solidFill>
                <a:ea typeface="Calibri" panose="020F0502020204030204" pitchFamily="34" charset="0"/>
                <a:cs typeface="Segoe UI" panose="020B0502040204020203" pitchFamily="34" charset="0"/>
              </a:rPr>
              <a:t>SMBASE value</a:t>
            </a:r>
            <a:endParaRPr lang="en-US" sz="1100" dirty="0">
              <a:solidFill>
                <a:prstClr val="black"/>
              </a:solidFill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4A6AA4-89D0-4D59-B5AD-0CCA98B6F910}"/>
              </a:ext>
            </a:extLst>
          </p:cNvPr>
          <p:cNvCxnSpPr/>
          <p:nvPr/>
        </p:nvCxnSpPr>
        <p:spPr>
          <a:xfrm>
            <a:off x="6116517" y="3429726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E454F8-453C-FCBB-8E36-FB4C082183C5}"/>
              </a:ext>
            </a:extLst>
          </p:cNvPr>
          <p:cNvCxnSpPr/>
          <p:nvPr/>
        </p:nvCxnSpPr>
        <p:spPr>
          <a:xfrm>
            <a:off x="6116517" y="4936624"/>
            <a:ext cx="3301251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">
            <a:extLst>
              <a:ext uri="{FF2B5EF4-FFF2-40B4-BE49-F238E27FC236}">
                <a16:creationId xmlns:a16="http://schemas.microsoft.com/office/drawing/2014/main" id="{89BEC271-204E-C44C-9F55-61551D498D9A}"/>
              </a:ext>
            </a:extLst>
          </p:cNvPr>
          <p:cNvSpPr txBox="1"/>
          <p:nvPr/>
        </p:nvSpPr>
        <p:spPr>
          <a:xfrm>
            <a:off x="6554824" y="3724796"/>
            <a:ext cx="25855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SMI Handler </a:t>
            </a:r>
          </a:p>
          <a:p>
            <a:pPr algn="ctr" rtl="0"/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Entry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14E3A-D6F6-A39B-FBF0-FB7FFA422E02}"/>
              </a:ext>
            </a:extLst>
          </p:cNvPr>
          <p:cNvSpPr/>
          <p:nvPr/>
        </p:nvSpPr>
        <p:spPr>
          <a:xfrm>
            <a:off x="1804748" y="1793215"/>
            <a:ext cx="3301251" cy="4166268"/>
          </a:xfrm>
          <a:prstGeom prst="rect">
            <a:avLst/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1920"/>
            </a:pPr>
            <a:r>
              <a:rPr lang="en-US" sz="3600" dirty="0">
                <a:solidFill>
                  <a:srgbClr val="688CCF"/>
                </a:solidFill>
                <a:ea typeface="Calibri"/>
                <a:cs typeface="Calibri"/>
              </a:rPr>
              <a:t>User controlled memory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D78FE2B-FE78-6293-ACB3-5A9ED74939D5}"/>
              </a:ext>
            </a:extLst>
          </p:cNvPr>
          <p:cNvCxnSpPr>
            <a:cxnSpLocks/>
            <a:stCxn id="22" idx="1"/>
            <a:endCxn id="2" idx="0"/>
          </p:cNvCxnSpPr>
          <p:nvPr/>
        </p:nvCxnSpPr>
        <p:spPr>
          <a:xfrm rot="10800000">
            <a:off x="3455374" y="1793216"/>
            <a:ext cx="2670668" cy="556227"/>
          </a:xfrm>
          <a:prstGeom prst="bentConnector4">
            <a:avLst>
              <a:gd name="adj1" fmla="val 19097"/>
              <a:gd name="adj2" fmla="val 141098"/>
            </a:avLst>
          </a:prstGeom>
          <a:solidFill>
            <a:srgbClr val="F2F2F2"/>
          </a:solidFill>
          <a:ln w="25400" cap="flat" cmpd="sng">
            <a:solidFill>
              <a:schemeClr val="bg1">
                <a:lumMod val="50000"/>
              </a:schemeClr>
            </a:solidFill>
            <a:prstDash val="solid"/>
            <a:round/>
            <a:headEnd type="none" w="lg" len="lg"/>
            <a:tailEnd type="stealth" w="lg" len="lg"/>
          </a:ln>
        </p:spPr>
      </p:cxnSp>
      <p:sp>
        <p:nvSpPr>
          <p:cNvPr id="12" name="TextBox 6">
            <a:extLst>
              <a:ext uri="{FF2B5EF4-FFF2-40B4-BE49-F238E27FC236}">
                <a16:creationId xmlns:a16="http://schemas.microsoft.com/office/drawing/2014/main" id="{744E0714-4F19-4E0D-4C76-66AE399D8B74}"/>
              </a:ext>
            </a:extLst>
          </p:cNvPr>
          <p:cNvSpPr txBox="1"/>
          <p:nvPr/>
        </p:nvSpPr>
        <p:spPr>
          <a:xfrm>
            <a:off x="7247275" y="6180982"/>
            <a:ext cx="1200604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SMRAM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A93E632-91CF-285A-8733-0BC1A2853A92}"/>
              </a:ext>
            </a:extLst>
          </p:cNvPr>
          <p:cNvSpPr txBox="1"/>
          <p:nvPr/>
        </p:nvSpPr>
        <p:spPr>
          <a:xfrm>
            <a:off x="2555040" y="6185099"/>
            <a:ext cx="1794668" cy="47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rPr>
              <a:t>non-SMRAM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6E8509-49E4-FB81-E8B5-12F82B6DFCFC}"/>
              </a:ext>
            </a:extLst>
          </p:cNvPr>
          <p:cNvGrpSpPr/>
          <p:nvPr/>
        </p:nvGrpSpPr>
        <p:grpSpPr>
          <a:xfrm>
            <a:off x="1801454" y="3370572"/>
            <a:ext cx="3508110" cy="1566053"/>
            <a:chOff x="1801454" y="3370572"/>
            <a:chExt cx="3508110" cy="156605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CE4BBB-D6C3-F97C-9D72-4C7DCE125AB9}"/>
                </a:ext>
              </a:extLst>
            </p:cNvPr>
            <p:cNvSpPr/>
            <p:nvPr/>
          </p:nvSpPr>
          <p:spPr>
            <a:xfrm>
              <a:off x="1801454" y="3429001"/>
              <a:ext cx="3301840" cy="1507624"/>
            </a:xfrm>
            <a:prstGeom prst="rect">
              <a:avLst/>
            </a:prstGeom>
            <a:solidFill>
              <a:srgbClr val="F2F2F2">
                <a:alpha val="86000"/>
              </a:srgbClr>
            </a:solidFill>
            <a:ln w="25400" cap="flat" cmpd="sng">
              <a:solidFill>
                <a:schemeClr val="bg1">
                  <a:lumMod val="5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920"/>
              </a:pPr>
              <a:endParaRPr lang="en-US" sz="2400" dirty="0">
                <a:solidFill>
                  <a:srgbClr val="688CCF"/>
                </a:solidFill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7" name="Graphic 6" descr="Devil face outline outline">
              <a:extLst>
                <a:ext uri="{FF2B5EF4-FFF2-40B4-BE49-F238E27FC236}">
                  <a16:creationId xmlns:a16="http://schemas.microsoft.com/office/drawing/2014/main" id="{B212690F-B6A4-5CB2-5336-A5B647FB4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02147" y="3781749"/>
              <a:ext cx="823762" cy="82376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CE86B9-85E1-6CFF-4FC8-45ABA5A7BCAD}"/>
                </a:ext>
              </a:extLst>
            </p:cNvPr>
            <p:cNvSpPr/>
            <p:nvPr/>
          </p:nvSpPr>
          <p:spPr>
            <a:xfrm>
              <a:off x="2363289" y="3370572"/>
              <a:ext cx="2946275" cy="1539443"/>
            </a:xfrm>
            <a:prstGeom prst="rect">
              <a:avLst/>
            </a:prstGeom>
            <a:noFill/>
            <a:ln w="2540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920"/>
              </a:pPr>
              <a:r>
                <a:rPr lang="en-US" sz="2400" dirty="0">
                  <a:solidFill>
                    <a:srgbClr val="688CCF"/>
                  </a:solidFill>
                  <a:ea typeface="Calibri"/>
                  <a:cs typeface="Calibri"/>
                </a:rPr>
                <a:t>SMI Handler </a:t>
              </a:r>
            </a:p>
            <a:p>
              <a:pPr algn="ctr">
                <a:buClr>
                  <a:srgbClr val="000000"/>
                </a:buClr>
                <a:buSzPts val="1920"/>
              </a:pPr>
              <a:r>
                <a:rPr lang="en-US" sz="2400" dirty="0">
                  <a:solidFill>
                    <a:srgbClr val="688CCF"/>
                  </a:solidFill>
                  <a:ea typeface="Calibri"/>
                  <a:cs typeface="Calibri"/>
                </a:rPr>
                <a:t>Entry Point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D79E9AC-E31D-B330-F7D7-FF3D0875D252}"/>
              </a:ext>
            </a:extLst>
          </p:cNvPr>
          <p:cNvGrpSpPr/>
          <p:nvPr/>
        </p:nvGrpSpPr>
        <p:grpSpPr>
          <a:xfrm rot="19666844">
            <a:off x="3828603" y="2961024"/>
            <a:ext cx="3688326" cy="1316599"/>
            <a:chOff x="-1163715" y="1379235"/>
            <a:chExt cx="3752850" cy="1579919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7F0748A-A158-CF7B-DC88-D9942E2B85EF}"/>
                </a:ext>
              </a:extLst>
            </p:cNvPr>
            <p:cNvCxnSpPr>
              <a:cxnSpLocks/>
            </p:cNvCxnSpPr>
            <p:nvPr/>
          </p:nvCxnSpPr>
          <p:spPr>
            <a:xfrm>
              <a:off x="-1078119" y="1664262"/>
              <a:ext cx="3405743" cy="0"/>
            </a:xfrm>
            <a:prstGeom prst="line">
              <a:avLst/>
            </a:prstGeom>
            <a:noFill/>
            <a:ln w="635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95E25E-8881-55C6-0607-3ED873DDAC4B}"/>
                </a:ext>
              </a:extLst>
            </p:cNvPr>
            <p:cNvCxnSpPr>
              <a:cxnSpLocks/>
            </p:cNvCxnSpPr>
            <p:nvPr/>
          </p:nvCxnSpPr>
          <p:spPr>
            <a:xfrm>
              <a:off x="-1078119" y="2688697"/>
              <a:ext cx="3405743" cy="0"/>
            </a:xfrm>
            <a:prstGeom prst="line">
              <a:avLst/>
            </a:prstGeom>
            <a:noFill/>
            <a:ln w="63500" cap="flat">
              <a:solidFill>
                <a:srgbClr val="C00000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37C09C5-E63D-5EBD-9D34-25BFC226EB6F}"/>
                </a:ext>
              </a:extLst>
            </p:cNvPr>
            <p:cNvSpPr txBox="1"/>
            <p:nvPr/>
          </p:nvSpPr>
          <p:spPr>
            <a:xfrm>
              <a:off x="-1163715" y="1379235"/>
              <a:ext cx="3752850" cy="15799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2333" tIns="42333" rIns="42333" bIns="42333" numCol="1" spcCol="38100" rtlCol="0" anchor="ctr">
              <a:spAutoFit/>
            </a:bodyPr>
            <a:lstStyle/>
            <a:p>
              <a:pPr algn="l" defTabSz="687889" rtl="0" hangingPunct="0"/>
              <a:r>
                <a:rPr lang="en-US" sz="8000" b="1" dirty="0">
                  <a:solidFill>
                    <a:srgbClr val="C00000"/>
                  </a:solidFill>
                  <a:latin typeface="Segoe UI" panose="020B0502040204020203" pitchFamily="34" charset="0"/>
                  <a:ea typeface="Asap SemiBold"/>
                  <a:cs typeface="Segoe UI" panose="020B0502040204020203" pitchFamily="34" charset="0"/>
                  <a:sym typeface="Asap SemiBold"/>
                </a:rPr>
                <a:t>FAILED</a:t>
              </a:r>
              <a:endParaRPr lang="en-IL" sz="2667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103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 override="childStyle">
                                        <p:cTn id="23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22" grpId="0" animBg="1"/>
      <p:bldP spid="2" grpId="0" animBg="1"/>
      <p:bldP spid="1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lang="en-US" dirty="0"/>
              <a:t>Code Execution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SMM “SMEP”</a:t>
            </a:r>
            <a:endParaRPr sz="3600" kern="0" dirty="0">
              <a:solidFill>
                <a:srgbClr val="A5A5A5"/>
              </a:solidFill>
            </a:endParaRPr>
          </a:p>
        </p:txBody>
      </p:sp>
      <p:pic>
        <p:nvPicPr>
          <p:cNvPr id="1125" name="Google Shape;1125;p7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7945" y="2256929"/>
            <a:ext cx="8597667" cy="3416038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76"/>
          <p:cNvSpPr/>
          <p:nvPr/>
        </p:nvSpPr>
        <p:spPr>
          <a:xfrm>
            <a:off x="6076777" y="3752137"/>
            <a:ext cx="4298834" cy="1641130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2" name="Google Shape;1134;p77">
            <a:extLst>
              <a:ext uri="{FF2B5EF4-FFF2-40B4-BE49-F238E27FC236}">
                <a16:creationId xmlns:a16="http://schemas.microsoft.com/office/drawing/2014/main" id="{6A70801F-3ACB-8FF4-2E42-4425705EA4E4}"/>
              </a:ext>
            </a:extLst>
          </p:cNvPr>
          <p:cNvSpPr/>
          <p:nvPr/>
        </p:nvSpPr>
        <p:spPr>
          <a:xfrm>
            <a:off x="6076777" y="2969342"/>
            <a:ext cx="4298834" cy="503095"/>
          </a:xfrm>
          <a:prstGeom prst="rect">
            <a:avLst/>
          </a:prstGeom>
          <a:noFill/>
          <a:ln w="31750" cap="flat" cmpd="sng">
            <a:solidFill>
              <a:srgbClr val="0070C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3" name="Google Shape;1135;p77">
            <a:extLst>
              <a:ext uri="{FF2B5EF4-FFF2-40B4-BE49-F238E27FC236}">
                <a16:creationId xmlns:a16="http://schemas.microsoft.com/office/drawing/2014/main" id="{AF673ABB-403D-FF30-0C18-8AD4490CF17E}"/>
              </a:ext>
            </a:extLst>
          </p:cNvPr>
          <p:cNvSpPr txBox="1"/>
          <p:nvPr/>
        </p:nvSpPr>
        <p:spPr>
          <a:xfrm>
            <a:off x="898823" y="1716063"/>
            <a:ext cx="9175750" cy="377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ct val="100000"/>
              <a:buFont typeface="Noto Sans Symbols"/>
              <a:buNone/>
            </a:pPr>
            <a:r>
              <a:rPr lang="en-US" sz="2800" b="0" i="0" u="none" strike="noStrike" cap="none" dirty="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SMM_FEATURE_CONTROL cannot be modified until reboot…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 sz="2800" b="0" i="0" u="none" strike="noStrike" cap="none" dirty="0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42;p78">
            <a:extLst>
              <a:ext uri="{FF2B5EF4-FFF2-40B4-BE49-F238E27FC236}">
                <a16:creationId xmlns:a16="http://schemas.microsoft.com/office/drawing/2014/main" id="{B675AB0B-A6D5-4486-3B07-0DAF4CE8AB1C}"/>
              </a:ext>
            </a:extLst>
          </p:cNvPr>
          <p:cNvSpPr txBox="1"/>
          <p:nvPr/>
        </p:nvSpPr>
        <p:spPr>
          <a:xfrm>
            <a:off x="866955" y="5887574"/>
            <a:ext cx="11010900" cy="45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8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… what if we cut the power to the CPU?</a:t>
            </a:r>
            <a:endParaRPr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" grpId="0" animBg="1"/>
      <p:bldP spid="1126" grpId="1" animBg="1"/>
      <p:bldP spid="2" grpId="0" animBg="1"/>
      <p:bldP spid="3" grpId="0"/>
      <p:bldP spid="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196514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8BB9A01-41DE-A6A5-BDB3-C905F9DCBDE5}"/>
              </a:ext>
            </a:extLst>
          </p:cNvPr>
          <p:cNvGrpSpPr/>
          <p:nvPr/>
        </p:nvGrpSpPr>
        <p:grpSpPr>
          <a:xfrm>
            <a:off x="3238500" y="3698875"/>
            <a:ext cx="726351" cy="490287"/>
            <a:chOff x="3238500" y="3698875"/>
            <a:chExt cx="726351" cy="4902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2F16537-DC94-E137-982C-005F6D26B1AC}"/>
                </a:ext>
              </a:extLst>
            </p:cNvPr>
            <p:cNvSpPr/>
            <p:nvPr/>
          </p:nvSpPr>
          <p:spPr>
            <a:xfrm>
              <a:off x="3238500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FB34BC-60DD-15A9-96F2-0E1F4BD90D5D}"/>
                </a:ext>
              </a:extLst>
            </p:cNvPr>
            <p:cNvSpPr/>
            <p:nvPr/>
          </p:nvSpPr>
          <p:spPr>
            <a:xfrm>
              <a:off x="3465945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FC4835C-6114-691D-1D96-E65CA504A004}"/>
                </a:ext>
              </a:extLst>
            </p:cNvPr>
            <p:cNvSpPr/>
            <p:nvPr/>
          </p:nvSpPr>
          <p:spPr>
            <a:xfrm>
              <a:off x="3707676" y="3698875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293B698-F5BF-298D-E61D-D33BB65005C2}"/>
                </a:ext>
              </a:extLst>
            </p:cNvPr>
            <p:cNvSpPr/>
            <p:nvPr/>
          </p:nvSpPr>
          <p:spPr>
            <a:xfrm>
              <a:off x="3707676" y="3879850"/>
              <a:ext cx="257175" cy="190500"/>
            </a:xfrm>
            <a:prstGeom prst="rect">
              <a:avLst/>
            </a:prstGeom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C4A4FB7-DCC3-FA09-FC27-A48C3FB35C88}"/>
                </a:ext>
              </a:extLst>
            </p:cNvPr>
            <p:cNvSpPr/>
            <p:nvPr/>
          </p:nvSpPr>
          <p:spPr>
            <a:xfrm>
              <a:off x="3474676" y="3883025"/>
              <a:ext cx="257175" cy="190500"/>
            </a:xfrm>
            <a:prstGeom prst="rect">
              <a:avLst/>
            </a:prstGeom>
            <a:solidFill>
              <a:srgbClr val="00B0F0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0F32AEA-F1DB-450A-9C2A-D24E240D50C7}"/>
                </a:ext>
              </a:extLst>
            </p:cNvPr>
            <p:cNvSpPr/>
            <p:nvPr/>
          </p:nvSpPr>
          <p:spPr>
            <a:xfrm>
              <a:off x="3238500" y="3879850"/>
              <a:ext cx="236175" cy="161925"/>
            </a:xfrm>
            <a:prstGeom prst="rect">
              <a:avLst/>
            </a:prstGeom>
            <a:solidFill>
              <a:srgbClr val="7F7F7F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1DE756-526D-48FB-EAD3-319D06F90384}"/>
                </a:ext>
              </a:extLst>
            </p:cNvPr>
            <p:cNvSpPr/>
            <p:nvPr/>
          </p:nvSpPr>
          <p:spPr>
            <a:xfrm>
              <a:off x="3238500" y="4027237"/>
              <a:ext cx="257175" cy="161925"/>
            </a:xfrm>
            <a:prstGeom prst="rect">
              <a:avLst/>
            </a:prstGeom>
            <a:solidFill>
              <a:srgbClr val="F4F4F4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796143-90D1-85ED-A9A6-2111D3EF97BC}"/>
                </a:ext>
              </a:extLst>
            </p:cNvPr>
            <p:cNvSpPr/>
            <p:nvPr/>
          </p:nvSpPr>
          <p:spPr>
            <a:xfrm>
              <a:off x="3474675" y="4027236"/>
              <a:ext cx="257175" cy="161925"/>
            </a:xfrm>
            <a:prstGeom prst="rect">
              <a:avLst/>
            </a:prstGeom>
            <a:solidFill>
              <a:schemeClr val="accent5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C29FEAC-D843-7778-B5B4-F2962F0F3947}"/>
                </a:ext>
              </a:extLst>
            </p:cNvPr>
            <p:cNvSpPr/>
            <p:nvPr/>
          </p:nvSpPr>
          <p:spPr>
            <a:xfrm>
              <a:off x="3717201" y="4027236"/>
              <a:ext cx="247649" cy="161925"/>
            </a:xfrm>
            <a:prstGeom prst="rect">
              <a:avLst/>
            </a:prstGeom>
            <a:solidFill>
              <a:schemeClr val="accent1"/>
            </a:solidFill>
            <a:ln w="19050">
              <a:noFill/>
            </a:ln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pic>
        <p:nvPicPr>
          <p:cNvPr id="9" name="Graphic 8" descr="Table outline">
            <a:extLst>
              <a:ext uri="{FF2B5EF4-FFF2-40B4-BE49-F238E27FC236}">
                <a16:creationId xmlns:a16="http://schemas.microsoft.com/office/drawing/2014/main" id="{43D7FFF9-AA76-0BAC-8C22-65F95DB8DF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46062" y="3492500"/>
            <a:ext cx="914400" cy="914400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03805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1"/>
      <p:bldP spid="7" grpId="2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B7A8-4BF0-459D-9CF2-3E44C38C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pic>
        <p:nvPicPr>
          <p:cNvPr id="3" name="Google Shape;1151;p79" descr="Processor outline">
            <a:extLst>
              <a:ext uri="{FF2B5EF4-FFF2-40B4-BE49-F238E27FC236}">
                <a16:creationId xmlns:a16="http://schemas.microsoft.com/office/drawing/2014/main" id="{B8FE46CD-E6A2-107D-EF6C-C0BB4A035F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6591" y="2109449"/>
            <a:ext cx="3680503" cy="3680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2;p79">
            <a:extLst>
              <a:ext uri="{FF2B5EF4-FFF2-40B4-BE49-F238E27FC236}">
                <a16:creationId xmlns:a16="http://schemas.microsoft.com/office/drawing/2014/main" id="{BAF3A5AB-3590-C0E1-D157-8DA3E6C36D4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76289" y="2497369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153;p79">
            <a:extLst>
              <a:ext uri="{FF2B5EF4-FFF2-40B4-BE49-F238E27FC236}">
                <a16:creationId xmlns:a16="http://schemas.microsoft.com/office/drawing/2014/main" id="{FA600EAF-4A55-1BD1-55DB-E14674F9D2C9}"/>
              </a:ext>
            </a:extLst>
          </p:cNvPr>
          <p:cNvSpPr txBox="1"/>
          <p:nvPr/>
        </p:nvSpPr>
        <p:spPr>
          <a:xfrm>
            <a:off x="4791636" y="2355868"/>
            <a:ext cx="1685365" cy="598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333"/>
              <a:buFont typeface="Arial Black"/>
              <a:buNone/>
            </a:pPr>
            <a:r>
              <a:rPr lang="en-US" sz="3333" b="0" i="0" u="none" strike="noStrike" cap="none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3333" b="0" i="0" u="none" strike="noStrike" cap="none" baseline="3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r>
              <a:rPr lang="en-US" sz="2800" b="0" i="0" u="none" strike="noStrike" cap="none" baseline="60000" dirty="0">
                <a:solidFill>
                  <a:srgbClr val="5E5E5E"/>
                </a:solidFill>
                <a:latin typeface="Arial Black"/>
                <a:ea typeface="Arial Black"/>
                <a:cs typeface="Arial Black"/>
                <a:sym typeface="Arial Black"/>
              </a:rPr>
              <a:t>Z</a:t>
            </a:r>
            <a:endParaRPr sz="3333" b="0" i="0" u="none" strike="noStrike" cap="none" baseline="60000" dirty="0">
              <a:solidFill>
                <a:srgbClr val="5E5E5E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2195A-4217-6D2E-66DD-D06A597F6EEC}"/>
              </a:ext>
            </a:extLst>
          </p:cNvPr>
          <p:cNvSpPr txBox="1"/>
          <p:nvPr/>
        </p:nvSpPr>
        <p:spPr>
          <a:xfrm>
            <a:off x="3198083" y="3729981"/>
            <a:ext cx="929417" cy="439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2300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MSRs</a:t>
            </a:r>
            <a:endParaRPr lang="en-IL" sz="2300" b="1" dirty="0">
              <a:solidFill>
                <a:srgbClr val="C00000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3E06A-7C20-8D66-13BA-3EDB0AACCD45}"/>
              </a:ext>
            </a:extLst>
          </p:cNvPr>
          <p:cNvSpPr txBox="1"/>
          <p:nvPr/>
        </p:nvSpPr>
        <p:spPr>
          <a:xfrm>
            <a:off x="3198194" y="3729981"/>
            <a:ext cx="929417" cy="43943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2333" tIns="42333" rIns="42333" bIns="42333" numCol="1" spcCol="38100" rtlCol="0" anchor="ctr">
            <a:spAutoFit/>
          </a:bodyPr>
          <a:lstStyle/>
          <a:p>
            <a:pPr algn="l" defTabSz="687889" rtl="0" hangingPunct="0"/>
            <a:r>
              <a:rPr lang="en-US" sz="2300" b="1" dirty="0">
                <a:solidFill>
                  <a:srgbClr val="C00000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MSRs</a:t>
            </a:r>
            <a:endParaRPr lang="en-IL" sz="2300" b="1" dirty="0">
              <a:solidFill>
                <a:srgbClr val="C00000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87819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4.07407E-6 L 0.38945 4.0740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66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2F2F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1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mph" presetSubtype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0" dur="indefinite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945 4.07407E-6 L -6.25E-7 4.07407E-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479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3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4" grpId="0"/>
      <p:bldP spid="4" grpId="1"/>
      <p:bldP spid="4" grpId="2"/>
      <p:bldP spid="4" grpId="3"/>
      <p:bldP spid="5" grpId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S3 Sleep State</a:t>
            </a:r>
          </a:p>
        </p:txBody>
      </p:sp>
      <p:sp>
        <p:nvSpPr>
          <p:cNvPr id="1160" name="Google Shape;1160;p80"/>
          <p:cNvSpPr/>
          <p:nvPr/>
        </p:nvSpPr>
        <p:spPr>
          <a:xfrm>
            <a:off x="3323069" y="2154665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Normal execution</a:t>
            </a:r>
            <a:endParaRPr dirty="0"/>
          </a:p>
        </p:txBody>
      </p:sp>
      <p:sp>
        <p:nvSpPr>
          <p:cNvPr id="1161" name="Google Shape;1161;p80"/>
          <p:cNvSpPr/>
          <p:nvPr/>
        </p:nvSpPr>
        <p:spPr>
          <a:xfrm>
            <a:off x="3323069" y="3305499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Going into S3</a:t>
            </a:r>
            <a:endParaRPr dirty="0"/>
          </a:p>
        </p:txBody>
      </p:sp>
      <p:sp>
        <p:nvSpPr>
          <p:cNvPr id="1162" name="Google Shape;1162;p80"/>
          <p:cNvSpPr/>
          <p:nvPr/>
        </p:nvSpPr>
        <p:spPr>
          <a:xfrm>
            <a:off x="3323069" y="4456333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00"/>
              <a:buFont typeface="Arial"/>
              <a:buNone/>
            </a:pPr>
            <a:r>
              <a:rPr lang="en-US" sz="19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Back from S3</a:t>
            </a:r>
            <a:endParaRPr dirty="0"/>
          </a:p>
        </p:txBody>
      </p:sp>
      <p:sp>
        <p:nvSpPr>
          <p:cNvPr id="1163" name="Google Shape;1163;p80"/>
          <p:cNvSpPr/>
          <p:nvPr/>
        </p:nvSpPr>
        <p:spPr>
          <a:xfrm>
            <a:off x="3323069" y="5607167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rgbClr val="F2F2F2"/>
          </a:solidFill>
          <a:ln w="254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4850" tIns="94850" rIns="94850" bIns="9485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rial"/>
              <a:buNone/>
            </a:pPr>
            <a:r>
              <a:rPr lang="en-US" sz="17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Initialization code</a:t>
            </a:r>
            <a:endParaRPr sz="1700" dirty="0"/>
          </a:p>
        </p:txBody>
      </p:sp>
      <p:sp>
        <p:nvSpPr>
          <p:cNvPr id="1164" name="Google Shape;1164;p80"/>
          <p:cNvSpPr txBox="1"/>
          <p:nvPr/>
        </p:nvSpPr>
        <p:spPr>
          <a:xfrm>
            <a:off x="5325111" y="1590910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1" i="0" u="none" strike="noStrike" cap="none" dirty="0" err="1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SMM_Code_Chk_En</a:t>
            </a:r>
            <a:r>
              <a:rPr lang="en-US" sz="2000" b="1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9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state</a:t>
            </a:r>
            <a:endParaRPr dirty="0"/>
          </a:p>
        </p:txBody>
      </p:sp>
      <p:cxnSp>
        <p:nvCxnSpPr>
          <p:cNvPr id="1165" name="Google Shape;1165;p80"/>
          <p:cNvCxnSpPr/>
          <p:nvPr/>
        </p:nvCxnSpPr>
        <p:spPr>
          <a:xfrm>
            <a:off x="2094308" y="3090787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6" name="Google Shape;1166;p80"/>
          <p:cNvCxnSpPr/>
          <p:nvPr/>
        </p:nvCxnSpPr>
        <p:spPr>
          <a:xfrm>
            <a:off x="2094308" y="4297418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7" name="Google Shape;1167;p80"/>
          <p:cNvCxnSpPr/>
          <p:nvPr/>
        </p:nvCxnSpPr>
        <p:spPr>
          <a:xfrm>
            <a:off x="2094308" y="5447488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cxnSp>
        <p:nvCxnSpPr>
          <p:cNvPr id="1168" name="Google Shape;1168;p80"/>
          <p:cNvCxnSpPr/>
          <p:nvPr/>
        </p:nvCxnSpPr>
        <p:spPr>
          <a:xfrm>
            <a:off x="2094308" y="1997317"/>
            <a:ext cx="8766928" cy="0"/>
          </a:xfrm>
          <a:prstGeom prst="straightConnector1">
            <a:avLst/>
          </a:prstGeom>
          <a:noFill/>
          <a:ln w="25400" cap="flat" cmpd="sng">
            <a:solidFill>
              <a:srgbClr val="D8D8D8"/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1169" name="Google Shape;1169;p80"/>
          <p:cNvSpPr txBox="1"/>
          <p:nvPr/>
        </p:nvSpPr>
        <p:spPr>
          <a:xfrm>
            <a:off x="5566897" y="2362914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0" name="Google Shape;1170;p80"/>
          <p:cNvSpPr txBox="1"/>
          <p:nvPr/>
        </p:nvSpPr>
        <p:spPr>
          <a:xfrm>
            <a:off x="5566897" y="356954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1" name="Google Shape;1171;p80"/>
          <p:cNvSpPr txBox="1"/>
          <p:nvPr/>
        </p:nvSpPr>
        <p:spPr>
          <a:xfrm>
            <a:off x="5566897" y="465753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clear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172" name="Google Shape;1172;p80"/>
          <p:cNvSpPr txBox="1"/>
          <p:nvPr/>
        </p:nvSpPr>
        <p:spPr>
          <a:xfrm>
            <a:off x="5566897" y="5802265"/>
            <a:ext cx="359869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2000"/>
              <a:buFont typeface="Courier New"/>
              <a:buNone/>
            </a:pPr>
            <a:r>
              <a:rPr lang="en-US" sz="2000" b="0" i="0" u="none" strike="noStrike" cap="none" dirty="0">
                <a:solidFill>
                  <a:srgbClr val="353535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sz="20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173" name="Google Shape;1173;p80"/>
          <p:cNvCxnSpPr/>
          <p:nvPr/>
        </p:nvCxnSpPr>
        <p:spPr>
          <a:xfrm>
            <a:off x="5199380" y="1643844"/>
            <a:ext cx="0" cy="4953715"/>
          </a:xfrm>
          <a:prstGeom prst="straightConnector1">
            <a:avLst/>
          </a:prstGeom>
          <a:noFill/>
          <a:ln w="25400" cap="flat" cmpd="sng">
            <a:solidFill>
              <a:srgbClr val="D8D8D8">
                <a:alpha val="24705"/>
              </a:srgbClr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3" name="Google Shape;1163;p80">
            <a:extLst>
              <a:ext uri="{FF2B5EF4-FFF2-40B4-BE49-F238E27FC236}">
                <a16:creationId xmlns:a16="http://schemas.microsoft.com/office/drawing/2014/main" id="{C8B7A3C0-E8E5-B81D-F8C4-10DCB4703F9A}"/>
              </a:ext>
            </a:extLst>
          </p:cNvPr>
          <p:cNvSpPr/>
          <p:nvPr/>
        </p:nvSpPr>
        <p:spPr>
          <a:xfrm>
            <a:off x="3320875" y="5601969"/>
            <a:ext cx="1381000" cy="767222"/>
          </a:xfrm>
          <a:custGeom>
            <a:avLst/>
            <a:gdLst/>
            <a:ahLst/>
            <a:cxnLst/>
            <a:rect l="l" t="t" r="r" b="b"/>
            <a:pathLst>
              <a:path w="1381000" h="767222" extrusionOk="0">
                <a:moveTo>
                  <a:pt x="0" y="76722"/>
                </a:moveTo>
                <a:cubicBezTo>
                  <a:pt x="0" y="34350"/>
                  <a:pt x="34350" y="0"/>
                  <a:pt x="76722" y="0"/>
                </a:cubicBezTo>
                <a:lnTo>
                  <a:pt x="1304278" y="0"/>
                </a:lnTo>
                <a:cubicBezTo>
                  <a:pt x="1346650" y="0"/>
                  <a:pt x="1381000" y="34350"/>
                  <a:pt x="1381000" y="76722"/>
                </a:cubicBezTo>
                <a:lnTo>
                  <a:pt x="1381000" y="690500"/>
                </a:lnTo>
                <a:cubicBezTo>
                  <a:pt x="1381000" y="732872"/>
                  <a:pt x="1346650" y="767222"/>
                  <a:pt x="1304278" y="767222"/>
                </a:cubicBezTo>
                <a:lnTo>
                  <a:pt x="76722" y="767222"/>
                </a:lnTo>
                <a:cubicBezTo>
                  <a:pt x="34350" y="767222"/>
                  <a:pt x="0" y="732872"/>
                  <a:pt x="0" y="690500"/>
                </a:cubicBezTo>
                <a:lnTo>
                  <a:pt x="0" y="76722"/>
                </a:lnTo>
                <a:close/>
              </a:path>
            </a:pathLst>
          </a:cu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Initialization code</a:t>
            </a:r>
            <a:endParaRPr sz="1700" dirty="0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98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0" grpId="0" animBg="1"/>
      <p:bldP spid="1161" grpId="0" animBg="1"/>
      <p:bldP spid="1162" grpId="0" animBg="1"/>
      <p:bldP spid="1163" grpId="0" animBg="1"/>
      <p:bldP spid="1169" grpId="0"/>
      <p:bldP spid="1170" grpId="0"/>
      <p:bldP spid="1171" grpId="0"/>
      <p:bldP spid="1172" grpId="0"/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1"/>
          <p:cNvSpPr txBox="1"/>
          <p:nvPr/>
        </p:nvSpPr>
        <p:spPr>
          <a:xfrm>
            <a:off x="347818" y="2236924"/>
            <a:ext cx="11557000" cy="3477835"/>
          </a:xfrm>
          <a:prstGeom prst="rect">
            <a:avLst/>
          </a:prstGeom>
          <a:solidFill>
            <a:srgbClr val="30384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VOID EFIAPI </a:t>
            </a:r>
            <a:r>
              <a:rPr lang="en-US" sz="2200" b="0" i="0" u="none" strike="noStrike" cap="none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SmmCpuFeaturesSetSmmRegister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UINTN         </a:t>
            </a:r>
            <a:r>
              <a:rPr lang="en-US" sz="22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CpuIndex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SMM_REG_NAME  </a:t>
            </a:r>
            <a:r>
              <a:rPr lang="en-US" sz="2200" b="0" i="0" u="none" strike="noStrike" cap="none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RegName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IN UINT64        Value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)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200" b="0" i="0" u="none" strike="noStrike" cap="none" dirty="0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mSmmFeatureControlSupported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&amp;&amp; (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RegName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== </a:t>
            </a:r>
            <a:r>
              <a:rPr lang="en-US" sz="2200" b="0" i="0" u="none" strike="noStrike" cap="none" dirty="0" err="1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SmmRegFeatureControl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)) {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200" b="0" i="0" u="none" strike="noStrike" cap="none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AsmWriteMsr64</a:t>
            </a: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 (SMM_FEATURES_LIB_SMM_FEATURE_CONTROL, Value);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  }</a:t>
            </a:r>
            <a:endParaRPr sz="2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D4D4"/>
              </a:buClr>
              <a:buSzPts val="1600"/>
              <a:buFont typeface="Consolas"/>
              <a:buNone/>
            </a:pPr>
            <a:r>
              <a:rPr lang="en-US" sz="2200" b="0" i="0" u="none" strike="noStrike" cap="none" dirty="0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 dirty="0"/>
          </a:p>
        </p:txBody>
      </p:sp>
      <p:sp>
        <p:nvSpPr>
          <p:cNvPr id="1180" name="Google Shape;1180;p8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lang="en-US" sz="4400" b="0" dirty="0">
                <a:latin typeface="Segoe UI" panose="020B0502040204020203" pitchFamily="34" charset="0"/>
                <a:cs typeface="Segoe UI" panose="020B0502040204020203" pitchFamily="34" charset="0"/>
              </a:rPr>
              <a:t>Code Execution</a:t>
            </a:r>
            <a:br>
              <a:rPr lang="en-US" sz="3600" b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SMM “SMEP” + S3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181" name="Google Shape;1181;p81"/>
          <p:cNvSpPr/>
          <p:nvPr/>
        </p:nvSpPr>
        <p:spPr>
          <a:xfrm>
            <a:off x="1018300" y="4634654"/>
            <a:ext cx="9290826" cy="381152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182" name="Google Shape;1182;p81"/>
          <p:cNvSpPr/>
          <p:nvPr/>
        </p:nvSpPr>
        <p:spPr>
          <a:xfrm>
            <a:off x="1309168" y="4253502"/>
            <a:ext cx="4296449" cy="381152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68ACFD-E31B-24E9-BEE1-46764E54C05B}"/>
              </a:ext>
            </a:extLst>
          </p:cNvPr>
          <p:cNvGrpSpPr/>
          <p:nvPr/>
        </p:nvGrpSpPr>
        <p:grpSpPr>
          <a:xfrm>
            <a:off x="459753" y="1741743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F2136B-2782-3C74-8A39-35B3EEFFFB6B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6C6E3D-2887-2D3B-F327-F2E706DE4EDD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L="0" lvl="0" indent="0" algn="l" defTabSz="488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/>
                <a:t>Set the value of </a:t>
              </a:r>
              <a:r>
                <a:rPr lang="en-US" sz="2400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mSmmFeatureControlSupported</a:t>
              </a:r>
              <a:r>
                <a:rPr lang="en-US" sz="2400" kern="1200" dirty="0"/>
                <a:t> to 0</a:t>
              </a:r>
            </a:p>
          </p:txBody>
        </p:sp>
      </p:grpSp>
      <p:sp>
        <p:nvSpPr>
          <p:cNvPr id="1187" name="Google Shape;1187;p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r>
              <a:rPr kumimoji="0" lang="he-IL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Full Recipe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5C034-8108-EF98-68CC-A184EBC1B50D}"/>
              </a:ext>
            </a:extLst>
          </p:cNvPr>
          <p:cNvSpPr/>
          <p:nvPr/>
        </p:nvSpPr>
        <p:spPr>
          <a:xfrm>
            <a:off x="1195080" y="1690688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F92819-26F2-B565-0673-D926595EB83D}"/>
              </a:ext>
            </a:extLst>
          </p:cNvPr>
          <p:cNvGrpSpPr/>
          <p:nvPr/>
        </p:nvGrpSpPr>
        <p:grpSpPr>
          <a:xfrm>
            <a:off x="459753" y="2566750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AC51B8-3522-8BF0-53B3-474D2F0C3583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CB11FF-81BD-02B1-BFE3-BC3963538562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 sleep mode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DA8099-5922-86BB-A082-52BFFE7FED6E}"/>
              </a:ext>
            </a:extLst>
          </p:cNvPr>
          <p:cNvGrpSpPr/>
          <p:nvPr/>
        </p:nvGrpSpPr>
        <p:grpSpPr>
          <a:xfrm>
            <a:off x="459753" y="3387557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B0F034-B93C-895F-9ADB-C945EA110BC7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00DF35-EF8C-C36C-957D-F1238683738E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B33726-EEDE-AD08-C087-A1C106CD3838}"/>
              </a:ext>
            </a:extLst>
          </p:cNvPr>
          <p:cNvGrpSpPr/>
          <p:nvPr/>
        </p:nvGrpSpPr>
        <p:grpSpPr>
          <a:xfrm>
            <a:off x="459753" y="4216734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648E998-00A8-360C-E1F3-738CF9EEE8A8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93863-EB1C-DF4E-CB01-EAFD33B81DE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Create a fake SMI Handler Entry Point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6F14C7D-9A4B-E106-0D5D-0AD0C2C8EFD5}"/>
              </a:ext>
            </a:extLst>
          </p:cNvPr>
          <p:cNvGrpSpPr/>
          <p:nvPr/>
        </p:nvGrpSpPr>
        <p:grpSpPr>
          <a:xfrm>
            <a:off x="459753" y="5035216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2D3254B-79E9-BDD4-2628-52F93D80FE6C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F47FFD5-327A-8183-AB46-5278A6298BAC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rgbClr val="004E87"/>
                </a:buClr>
                <a:buSzPts val="2333"/>
              </a:pPr>
              <a:r>
                <a:rPr lang="en-US" sz="2400" dirty="0"/>
                <a:t>Modify the SMBASE field in the save state to point to that memory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D8B5ED-FD88-70BC-86EE-1FD345C5DF9F}"/>
              </a:ext>
            </a:extLst>
          </p:cNvPr>
          <p:cNvGrpSpPr/>
          <p:nvPr/>
        </p:nvGrpSpPr>
        <p:grpSpPr>
          <a:xfrm>
            <a:off x="459753" y="5853698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83BA65D-1CD8-B511-267D-5B2737FAF886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21E64BA-CA5A-FF09-D886-7F45E930411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>
                  <a:schemeClr val="lt2"/>
                </a:buClr>
                <a:buSzPts val="2333"/>
              </a:pPr>
              <a:r>
                <a:rPr lang="en-US" sz="2400" dirty="0"/>
                <a:t>Trigger an SMI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222501A-4624-03F1-E545-FB4AC258950E}"/>
              </a:ext>
            </a:extLst>
          </p:cNvPr>
          <p:cNvSpPr/>
          <p:nvPr/>
        </p:nvSpPr>
        <p:spPr>
          <a:xfrm>
            <a:off x="1186552" y="2516748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58532D-4A39-1BCB-8369-13727D8486DD}"/>
              </a:ext>
            </a:extLst>
          </p:cNvPr>
          <p:cNvSpPr/>
          <p:nvPr/>
        </p:nvSpPr>
        <p:spPr>
          <a:xfrm>
            <a:off x="1186553" y="3349131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B8BBE-3000-6015-A899-5C97837530E3}"/>
              </a:ext>
            </a:extLst>
          </p:cNvPr>
          <p:cNvSpPr/>
          <p:nvPr/>
        </p:nvSpPr>
        <p:spPr>
          <a:xfrm>
            <a:off x="1195080" y="4179046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BA4A7A-E2DA-E7B6-7A2D-2E86E4DAA91B}"/>
              </a:ext>
            </a:extLst>
          </p:cNvPr>
          <p:cNvSpPr/>
          <p:nvPr/>
        </p:nvSpPr>
        <p:spPr>
          <a:xfrm>
            <a:off x="1186553" y="5007486"/>
            <a:ext cx="596042" cy="599430"/>
          </a:xfrm>
          <a:prstGeom prst="ellipse">
            <a:avLst/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9068380-FC67-2B77-A19A-9FBB42B14C38}"/>
              </a:ext>
            </a:extLst>
          </p:cNvPr>
          <p:cNvSpPr/>
          <p:nvPr/>
        </p:nvSpPr>
        <p:spPr>
          <a:xfrm>
            <a:off x="1186552" y="5835926"/>
            <a:ext cx="596043" cy="599432"/>
          </a:xfrm>
          <a:prstGeom prst="ellipse">
            <a:avLst/>
          </a:prstGeom>
          <a:solidFill>
            <a:schemeClr val="tx2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6</a:t>
            </a:r>
          </a:p>
        </p:txBody>
      </p:sp>
      <p:pic>
        <p:nvPicPr>
          <p:cNvPr id="50" name="Google Shape;1189;p82">
            <a:extLst>
              <a:ext uri="{FF2B5EF4-FFF2-40B4-BE49-F238E27FC236}">
                <a16:creationId xmlns:a16="http://schemas.microsoft.com/office/drawing/2014/main" id="{EB87C5A9-10CC-F82A-61B3-D142D66F0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4335" y="2149768"/>
            <a:ext cx="5583766" cy="368615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807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</a:rPr>
              <a:t>Defeating RO Pages</a:t>
            </a:r>
          </a:p>
        </p:txBody>
      </p:sp>
      <p:sp>
        <p:nvSpPr>
          <p:cNvPr id="1196" name="Google Shape;1196;p83"/>
          <p:cNvSpPr txBox="1">
            <a:spLocks noGrp="1"/>
          </p:cNvSpPr>
          <p:nvPr>
            <p:ph idx="1"/>
          </p:nvPr>
        </p:nvSpPr>
        <p:spPr>
          <a:xfrm>
            <a:off x="838200" y="20034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>
              <a:spcBef>
                <a:spcPts val="0"/>
              </a:spcBef>
              <a:buClr>
                <a:srgbClr val="00070D"/>
              </a:buClr>
              <a:buSzPts val="2333"/>
              <a:buNone/>
            </a:pPr>
            <a:r>
              <a:rPr lang="en-US" dirty="0">
                <a:solidFill>
                  <a:srgbClr val="00070D"/>
                </a:solidFill>
                <a:latin typeface="Calibri (Body)"/>
                <a:cs typeface="Arial"/>
              </a:rPr>
              <a:t>SMI Handler Entry Point starts running in real mode</a:t>
            </a:r>
          </a:p>
          <a:p>
            <a:pPr marL="0" indent="273050">
              <a:spcBef>
                <a:spcPts val="0"/>
              </a:spcBef>
              <a:buClr>
                <a:srgbClr val="00070D"/>
              </a:buClr>
              <a:buSzPts val="2333"/>
              <a:buNone/>
            </a:pPr>
            <a:r>
              <a:rPr lang="en-US" b="1" dirty="0">
                <a:solidFill>
                  <a:schemeClr val="accent5"/>
                </a:solidFill>
                <a:latin typeface="Calibri (Body)"/>
                <a:cs typeface="Arial"/>
              </a:rPr>
              <a:t>=&gt;</a:t>
            </a:r>
            <a:r>
              <a:rPr lang="en-US" dirty="0">
                <a:solidFill>
                  <a:srgbClr val="00070D"/>
                </a:solidFill>
                <a:latin typeface="Calibri (Body)"/>
                <a:cs typeface="Arial"/>
              </a:rPr>
              <a:t>  no paging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lang="en-US"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lang="en-US"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dirty="0">
              <a:solidFill>
                <a:srgbClr val="00070D"/>
              </a:solidFill>
              <a:latin typeface="Calibri (Body)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70D"/>
              </a:buClr>
              <a:buSzPts val="2333"/>
              <a:buNone/>
            </a:pPr>
            <a:r>
              <a:rPr lang="en-US" dirty="0">
                <a:solidFill>
                  <a:srgbClr val="00070D"/>
                </a:solidFill>
                <a:latin typeface="Calibri (Body)"/>
                <a:ea typeface="Arial"/>
                <a:cs typeface="Arial"/>
                <a:sym typeface="Arial"/>
              </a:rPr>
              <a:t>We execute our own SMI Handler Entry Point </a:t>
            </a:r>
            <a:endParaRPr dirty="0">
              <a:latin typeface="Calibri (Body)"/>
            </a:endParaRPr>
          </a:p>
          <a:p>
            <a:pPr marL="0" lvl="0" indent="2730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70D"/>
              </a:buClr>
              <a:buSzPts val="2333"/>
              <a:buNone/>
            </a:pPr>
            <a:r>
              <a:rPr lang="en-US" b="1" dirty="0">
                <a:solidFill>
                  <a:schemeClr val="accent3"/>
                </a:solidFill>
                <a:latin typeface="Calibri (Body)"/>
                <a:ea typeface="Arial"/>
                <a:cs typeface="Arial"/>
                <a:sym typeface="Arial"/>
              </a:rPr>
              <a:t>=&gt;</a:t>
            </a:r>
            <a:r>
              <a:rPr lang="en-US" dirty="0">
                <a:solidFill>
                  <a:srgbClr val="00070D"/>
                </a:solidFill>
                <a:latin typeface="Calibri (Body)"/>
                <a:ea typeface="Arial"/>
                <a:cs typeface="Arial"/>
                <a:sym typeface="Arial"/>
              </a:rPr>
              <a:t> we’re accessible to all RAM w/o page-table restrictions</a:t>
            </a:r>
            <a:endParaRPr dirty="0">
              <a:latin typeface="Calibri (Body)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2E18B4-25A5-9BF9-2E92-D3FE04423AF1}"/>
              </a:ext>
            </a:extLst>
          </p:cNvPr>
          <p:cNvSpPr txBox="1"/>
          <p:nvPr/>
        </p:nvSpPr>
        <p:spPr>
          <a:xfrm>
            <a:off x="8450490" y="1974850"/>
            <a:ext cx="221750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70D"/>
              </a:buClr>
              <a:buSzPts val="2333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70D"/>
              </a:solidFill>
              <a:effectLst/>
              <a:uLnTx/>
              <a:uFillTx/>
              <a:latin typeface="Calibri (Body)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197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6" grpId="0" uiExpand="1" build="p"/>
      <p:bldP spid="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en-US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endParaRPr lang="he-IL" sz="2333" b="0" i="0" u="none" strike="noStrike" cap="none" dirty="0">
              <a:solidFill>
                <a:srgbClr val="5E5E5E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1212" name="Google Shape;1212;p85"/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don’t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20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0" grpId="0"/>
      <p:bldP spid="1211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Stack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NULL pointer detection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Heap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Memory Profile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Image Protection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1212" name="Google Shape;1212;p85"/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don’t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520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8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ct val="1000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Mitigations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1209" name="Google Shape;1209;p85"/>
          <p:cNvSpPr txBox="1"/>
          <p:nvPr/>
        </p:nvSpPr>
        <p:spPr>
          <a:xfrm>
            <a:off x="1880638" y="6088004"/>
            <a:ext cx="95211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sap SemiBold"/>
              <a:buNone/>
            </a:pPr>
            <a:r>
              <a:rPr lang="en-US" sz="1600" b="0" i="0" u="sng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https://edk2-docs.gitbook.io/a-tour-beyond-bios-mitigate-buffer-overflow-in-ue/summary/policy_control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 </a:t>
            </a:r>
            <a:endParaRPr dirty="0"/>
          </a:p>
        </p:txBody>
      </p:sp>
      <p:sp>
        <p:nvSpPr>
          <p:cNvPr id="1210" name="Google Shape;1210;p85"/>
          <p:cNvSpPr txBox="1"/>
          <p:nvPr/>
        </p:nvSpPr>
        <p:spPr>
          <a:xfrm>
            <a:off x="2249545" y="2798750"/>
            <a:ext cx="4267653" cy="188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Stack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NULL pointer detection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Heap Guard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Memory Profile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 Stack</a:t>
            </a:r>
            <a:endParaRPr dirty="0"/>
          </a:p>
        </p:txBody>
      </p:sp>
      <p:sp>
        <p:nvSpPr>
          <p:cNvPr id="1211" name="Google Shape;1211;p85"/>
          <p:cNvSpPr txBox="1"/>
          <p:nvPr/>
        </p:nvSpPr>
        <p:spPr>
          <a:xfrm>
            <a:off x="6517198" y="2798750"/>
            <a:ext cx="3819814" cy="152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NX/RO Memory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Image Protection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SMM Static Paging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rgbClr val="5E5E5E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Read-only Page Table</a:t>
            </a:r>
            <a:endParaRPr dirty="0"/>
          </a:p>
        </p:txBody>
      </p:sp>
      <p:sp>
        <p:nvSpPr>
          <p:cNvPr id="2" name="Google Shape;1211;p85">
            <a:extLst>
              <a:ext uri="{FF2B5EF4-FFF2-40B4-BE49-F238E27FC236}">
                <a16:creationId xmlns:a16="http://schemas.microsoft.com/office/drawing/2014/main" id="{2A4696E5-CD18-F292-CFED-4E0DDA795A55}"/>
              </a:ext>
            </a:extLst>
          </p:cNvPr>
          <p:cNvSpPr txBox="1"/>
          <p:nvPr/>
        </p:nvSpPr>
        <p:spPr>
          <a:xfrm>
            <a:off x="6517197" y="4213257"/>
            <a:ext cx="3819814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chemeClr val="accent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SMBASE lock</a:t>
            </a:r>
          </a:p>
        </p:txBody>
      </p:sp>
      <p:sp>
        <p:nvSpPr>
          <p:cNvPr id="3" name="Google Shape;1212;p85">
            <a:extLst>
              <a:ext uri="{FF2B5EF4-FFF2-40B4-BE49-F238E27FC236}">
                <a16:creationId xmlns:a16="http://schemas.microsoft.com/office/drawing/2014/main" id="{2729B518-D848-9A90-5FF6-CAC4EF80CAA7}"/>
              </a:ext>
            </a:extLst>
          </p:cNvPr>
          <p:cNvSpPr txBox="1"/>
          <p:nvPr/>
        </p:nvSpPr>
        <p:spPr>
          <a:xfrm>
            <a:off x="3470063" y="2259906"/>
            <a:ext cx="6094268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We </a:t>
            </a:r>
            <a:r>
              <a:rPr lang="en-US" sz="2400" b="0" i="0" u="none" strike="noStrike" cap="none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do</a:t>
            </a:r>
            <a:r>
              <a:rPr lang="en-US" sz="2400" b="0" i="0" u="none" strike="noStrike" cap="none" dirty="0">
                <a:solidFill>
                  <a:schemeClr val="bg2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mind: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Google Shape;1211;p85">
            <a:extLst>
              <a:ext uri="{FF2B5EF4-FFF2-40B4-BE49-F238E27FC236}">
                <a16:creationId xmlns:a16="http://schemas.microsoft.com/office/drawing/2014/main" id="{8A442276-091E-0B70-94BD-50B650668A9B}"/>
              </a:ext>
            </a:extLst>
          </p:cNvPr>
          <p:cNvSpPr txBox="1"/>
          <p:nvPr/>
        </p:nvSpPr>
        <p:spPr>
          <a:xfrm>
            <a:off x="2249544" y="4606112"/>
            <a:ext cx="3819814" cy="45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333"/>
              <a:buFont typeface="Asap SemiBold"/>
              <a:buNone/>
            </a:pPr>
            <a:r>
              <a:rPr lang="en-US" sz="2333" b="0" i="0" u="none" strike="noStrike" cap="none" dirty="0">
                <a:solidFill>
                  <a:schemeClr val="accent5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CR3 lock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A1455-F221-A145-8EBB-2E19A93EA5B8}"/>
              </a:ext>
            </a:extLst>
          </p:cNvPr>
          <p:cNvSpPr txBox="1"/>
          <p:nvPr/>
        </p:nvSpPr>
        <p:spPr>
          <a:xfrm>
            <a:off x="0" y="6354415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https://edk2-docs.gitbook.io/a-tour-beyond-bios-mitigate-buffer-overflow-in-ue/summary/policy_control </a:t>
            </a:r>
          </a:p>
        </p:txBody>
      </p:sp>
    </p:spTree>
    <p:extLst>
      <p:ext uri="{BB962C8B-B14F-4D97-AF65-F5344CB8AC3E}">
        <p14:creationId xmlns:p14="http://schemas.microsoft.com/office/powerpoint/2010/main" val="408519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764;p44">
            <a:extLst>
              <a:ext uri="{FF2B5EF4-FFF2-40B4-BE49-F238E27FC236}">
                <a16:creationId xmlns:a16="http://schemas.microsoft.com/office/drawing/2014/main" id="{A240300B-E11B-2886-F414-0F467C038E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Digging up the Past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32" name="Google Shape;787;p46">
            <a:extLst>
              <a:ext uri="{FF2B5EF4-FFF2-40B4-BE49-F238E27FC236}">
                <a16:creationId xmlns:a16="http://schemas.microsoft.com/office/drawing/2014/main" id="{5D31FB5F-0766-3BF7-272E-71192466742C}"/>
              </a:ext>
            </a:extLst>
          </p:cNvPr>
          <p:cNvSpPr txBox="1"/>
          <p:nvPr/>
        </p:nvSpPr>
        <p:spPr>
          <a:xfrm>
            <a:off x="1022928" y="5787132"/>
            <a:ext cx="10515600" cy="261610"/>
          </a:xfrm>
          <a:prstGeom prst="rect">
            <a:avLst/>
          </a:prstGeom>
          <a:solidFill>
            <a:schemeClr val="lt1"/>
          </a:solidFill>
          <a:ln w="28575" cap="flat" cmpd="sng">
            <a:solidFill>
              <a:srgbClr val="004E87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defPPr>
              <a:defRPr lang="en-US"/>
            </a:defPPr>
            <a:lvl1pPr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ctr"/>
            <a:r>
              <a:rPr lang="en-US" sz="1700" dirty="0"/>
              <a:t>“</a:t>
            </a:r>
            <a:r>
              <a:rPr lang="en-US" sz="17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Intel® CPU Cache Poisoning</a:t>
            </a:r>
            <a:r>
              <a:rPr lang="en-US" sz="1700" dirty="0"/>
              <a:t>” by </a:t>
            </a:r>
            <a:r>
              <a:rPr lang="en-US" sz="1700" dirty="0" err="1">
                <a:sym typeface="Arial"/>
              </a:rPr>
              <a:t>Rafal</a:t>
            </a:r>
            <a:r>
              <a:rPr lang="en-US" sz="1700" dirty="0">
                <a:sym typeface="Arial"/>
              </a:rPr>
              <a:t> </a:t>
            </a:r>
            <a:r>
              <a:rPr lang="en-US" sz="1700" dirty="0" err="1">
                <a:sym typeface="Arial"/>
              </a:rPr>
              <a:t>Wojtczuk</a:t>
            </a:r>
            <a:r>
              <a:rPr lang="en-US" sz="1700" dirty="0">
                <a:sym typeface="Arial"/>
              </a:rPr>
              <a:t> and Joanna </a:t>
            </a:r>
            <a:r>
              <a:rPr lang="en-US" sz="1700" dirty="0" err="1">
                <a:sym typeface="Arial"/>
              </a:rPr>
              <a:t>Rutkowska</a:t>
            </a:r>
            <a:r>
              <a:rPr lang="en-US" sz="1700" dirty="0">
                <a:sym typeface="Arial"/>
              </a:rPr>
              <a:t>, 2009</a:t>
            </a:r>
            <a:endParaRPr sz="1700" dirty="0"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F5B12-CEF4-81B5-D7C6-9F2B93814D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rcRect b="36515"/>
          <a:stretch/>
        </p:blipFill>
        <p:spPr>
          <a:xfrm>
            <a:off x="1930715" y="2208146"/>
            <a:ext cx="8330569" cy="3025908"/>
          </a:xfrm>
          <a:prstGeom prst="rect">
            <a:avLst/>
          </a:prstGeom>
          <a:noFill/>
          <a:ln w="2857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1C34B79-4383-4254-0666-2FD0D1E8352F}"/>
                  </a:ext>
                </a:extLst>
              </p14:cNvPr>
              <p14:cNvContentPartPr/>
              <p14:nvPr/>
            </p14:nvContentPartPr>
            <p14:xfrm>
              <a:off x="5061594" y="2890908"/>
              <a:ext cx="4982760" cy="13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1C34B79-4383-4254-0666-2FD0D1E8352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07594" y="2782908"/>
                <a:ext cx="5090400" cy="35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AFB1B95-A9FC-3DBC-9B68-9172F6B23EB0}"/>
                  </a:ext>
                </a:extLst>
              </p14:cNvPr>
              <p14:cNvContentPartPr/>
              <p14:nvPr/>
            </p14:nvContentPartPr>
            <p14:xfrm>
              <a:off x="2141634" y="3345228"/>
              <a:ext cx="2989800" cy="119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AFB1B95-A9FC-3DBC-9B68-9172F6B23EB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87634" y="3237228"/>
                <a:ext cx="309744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0646A27-36EF-84B9-9637-B7437C4BAAF4}"/>
                  </a:ext>
                </a:extLst>
              </p14:cNvPr>
              <p14:cNvContentPartPr/>
              <p14:nvPr/>
            </p14:nvContentPartPr>
            <p14:xfrm>
              <a:off x="8696514" y="3291228"/>
              <a:ext cx="1357200" cy="518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0646A27-36EF-84B9-9637-B7437C4BAA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42514" y="3183228"/>
                <a:ext cx="146484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9976AE9-D961-A28C-7682-AAD8582ED647}"/>
                  </a:ext>
                </a:extLst>
              </p14:cNvPr>
              <p14:cNvContentPartPr/>
              <p14:nvPr/>
            </p14:nvContentPartPr>
            <p14:xfrm>
              <a:off x="2107900" y="2881520"/>
              <a:ext cx="2958840" cy="156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9976AE9-D961-A28C-7682-AAD8582ED64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53900" y="2773520"/>
                <a:ext cx="3066480" cy="37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97882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6" name="Google Shape;787;p46">
            <a:extLst>
              <a:ext uri="{FF2B5EF4-FFF2-40B4-BE49-F238E27FC236}">
                <a16:creationId xmlns:a16="http://schemas.microsoft.com/office/drawing/2014/main" id="{7B2919F4-6029-2220-B8BE-C9B47A806814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66A77F-FDF8-5854-DAB7-2B2CE160B311}"/>
              </a:ext>
            </a:extLst>
          </p:cNvPr>
          <p:cNvGrpSpPr/>
          <p:nvPr/>
        </p:nvGrpSpPr>
        <p:grpSpPr>
          <a:xfrm>
            <a:off x="2205463" y="3277471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EAAF462E-8A09-85FC-1982-8D85D3158742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6A0582-65F9-051F-C6F4-EA1023DBD828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cxnSp>
        <p:nvCxnSpPr>
          <p:cNvPr id="15" name="Google Shape;848;p53">
            <a:extLst>
              <a:ext uri="{FF2B5EF4-FFF2-40B4-BE49-F238E27FC236}">
                <a16:creationId xmlns:a16="http://schemas.microsoft.com/office/drawing/2014/main" id="{FB33A6FE-DE9E-0E39-CC2D-CBA708710FDD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1273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40912 0.001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456" y="9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cxnSp>
        <p:nvCxnSpPr>
          <p:cNvPr id="18" name="Google Shape;848;p53">
            <a:extLst>
              <a:ext uri="{FF2B5EF4-FFF2-40B4-BE49-F238E27FC236}">
                <a16:creationId xmlns:a16="http://schemas.microsoft.com/office/drawing/2014/main" id="{8EC2773E-4DEB-2B81-ACB8-DC4DF5D365E6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4F6CE62-3234-567F-A825-04CC02B305CD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65527EB-7484-7EB9-63E8-805A55B7E0E7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A54CEB8-4C7D-A304-687A-0FF3350BA31F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FF05C2-7CDD-B30B-EB91-3E6AFBDC70A4}"/>
              </a:ext>
            </a:extLst>
          </p:cNvPr>
          <p:cNvGrpSpPr/>
          <p:nvPr/>
        </p:nvGrpSpPr>
        <p:grpSpPr>
          <a:xfrm>
            <a:off x="2205463" y="3277471"/>
            <a:ext cx="809837" cy="812969"/>
            <a:chOff x="7358921" y="1821560"/>
            <a:chExt cx="809837" cy="812969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1A6C78F-6758-C9CC-7BAA-8509A058137C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9CB9C06-6684-EAD7-DB6E-310F38A8F309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89EEB7E-E2F8-6C7D-DFFF-B5FC02BC00B0}"/>
              </a:ext>
            </a:extLst>
          </p:cNvPr>
          <p:cNvSpPr/>
          <p:nvPr/>
        </p:nvSpPr>
        <p:spPr>
          <a:xfrm>
            <a:off x="5308600" y="3341140"/>
            <a:ext cx="1338580" cy="117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80547BF-4A03-CE14-948A-0312A5EBF6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sp>
        <p:nvSpPr>
          <p:cNvPr id="2" name="Google Shape;1154;p79">
            <a:extLst>
              <a:ext uri="{FF2B5EF4-FFF2-40B4-BE49-F238E27FC236}">
                <a16:creationId xmlns:a16="http://schemas.microsoft.com/office/drawing/2014/main" id="{AC542C62-D457-66EB-8C27-43076D3F2503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75431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27344 -0.0004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672" y="-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54;p79">
            <a:extLst>
              <a:ext uri="{FF2B5EF4-FFF2-40B4-BE49-F238E27FC236}">
                <a16:creationId xmlns:a16="http://schemas.microsoft.com/office/drawing/2014/main" id="{19B2BE59-C0A4-804C-8C3F-0BD0CE5EA5E6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2" name="Google Shape;1154;p79">
            <a:extLst>
              <a:ext uri="{FF2B5EF4-FFF2-40B4-BE49-F238E27FC236}">
                <a16:creationId xmlns:a16="http://schemas.microsoft.com/office/drawing/2014/main" id="{538F35AD-69D2-5F40-B5FD-3347F04096DB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cxnSp>
        <p:nvCxnSpPr>
          <p:cNvPr id="18" name="Google Shape;848;p53">
            <a:extLst>
              <a:ext uri="{FF2B5EF4-FFF2-40B4-BE49-F238E27FC236}">
                <a16:creationId xmlns:a16="http://schemas.microsoft.com/office/drawing/2014/main" id="{8EC2773E-4DEB-2B81-ACB8-DC4DF5D365E6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4D6D2D-73E5-81E3-8EBE-02E890EED0FA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34DF81-D07B-B54A-51D6-7E21C630B6A5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BC3D43-9C59-6AB7-1B6B-FBCD6CB04EE2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5666940-E35B-3782-6190-48EA187ED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046659-7F42-FECB-C281-0347B49B6700}"/>
              </a:ext>
            </a:extLst>
          </p:cNvPr>
          <p:cNvSpPr txBox="1"/>
          <p:nvPr/>
        </p:nvSpPr>
        <p:spPr>
          <a:xfrm>
            <a:off x="2295036" y="3435109"/>
            <a:ext cx="933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SMI</a:t>
            </a:r>
            <a:endParaRPr lang="en-IL" sz="2400" b="1" dirty="0">
              <a:solidFill>
                <a:schemeClr val="accent5"/>
              </a:solidFill>
            </a:endParaRPr>
          </a:p>
        </p:txBody>
      </p:sp>
      <p:sp>
        <p:nvSpPr>
          <p:cNvPr id="5" name="Google Shape;1154;p79">
            <a:extLst>
              <a:ext uri="{FF2B5EF4-FFF2-40B4-BE49-F238E27FC236}">
                <a16:creationId xmlns:a16="http://schemas.microsoft.com/office/drawing/2014/main" id="{BA75AE2E-0ED8-7005-BC8F-62B8F24A89D4}"/>
              </a:ext>
            </a:extLst>
          </p:cNvPr>
          <p:cNvSpPr txBox="1"/>
          <p:nvPr/>
        </p:nvSpPr>
        <p:spPr>
          <a:xfrm>
            <a:off x="22342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587886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8DBA6-7F09-52C9-B918-6023851D7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Cache Poisoning</a:t>
            </a:r>
            <a:endParaRPr lang="en-IL" sz="3600" kern="0" dirty="0">
              <a:solidFill>
                <a:srgbClr val="A5A5A5"/>
              </a:solidFill>
            </a:endParaRPr>
          </a:p>
        </p:txBody>
      </p:sp>
      <p:pic>
        <p:nvPicPr>
          <p:cNvPr id="4" name="Google Shape;1151;p79">
            <a:extLst>
              <a:ext uri="{FF2B5EF4-FFF2-40B4-BE49-F238E27FC236}">
                <a16:creationId xmlns:a16="http://schemas.microsoft.com/office/drawing/2014/main" id="{FF3732B1-BBD8-8E74-8CF0-A752841FFD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605" y="2018734"/>
            <a:ext cx="3334295" cy="3334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52;p79">
            <a:extLst>
              <a:ext uri="{FF2B5EF4-FFF2-40B4-BE49-F238E27FC236}">
                <a16:creationId xmlns:a16="http://schemas.microsoft.com/office/drawing/2014/main" id="{2D2388BC-D55D-72BE-71CA-0F4BA6AFF15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15849" y="2291866"/>
            <a:ext cx="2830546" cy="2748153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154;p79">
            <a:extLst>
              <a:ext uri="{FF2B5EF4-FFF2-40B4-BE49-F238E27FC236}">
                <a16:creationId xmlns:a16="http://schemas.microsoft.com/office/drawing/2014/main" id="{08B444B4-2E1E-1833-1CA7-801667460BD2}"/>
              </a:ext>
            </a:extLst>
          </p:cNvPr>
          <p:cNvSpPr txBox="1"/>
          <p:nvPr/>
        </p:nvSpPr>
        <p:spPr>
          <a:xfrm>
            <a:off x="9384898" y="4959776"/>
            <a:ext cx="1118002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SMRAM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D82FB1-2CB6-4953-3EC1-6509D6DF8B0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5226441" y="2767888"/>
            <a:ext cx="1478634" cy="1998894"/>
          </a:xfrm>
          <a:prstGeom prst="rect">
            <a:avLst/>
          </a:prstGeom>
        </p:spPr>
      </p:pic>
      <p:sp>
        <p:nvSpPr>
          <p:cNvPr id="24" name="Google Shape;787;p46">
            <a:extLst>
              <a:ext uri="{FF2B5EF4-FFF2-40B4-BE49-F238E27FC236}">
                <a16:creationId xmlns:a16="http://schemas.microsoft.com/office/drawing/2014/main" id="{9CAEC2EE-A7BD-68AE-AA9D-6738112A8E3F}"/>
              </a:ext>
            </a:extLst>
          </p:cNvPr>
          <p:cNvSpPr txBox="1"/>
          <p:nvPr/>
        </p:nvSpPr>
        <p:spPr>
          <a:xfrm>
            <a:off x="1240352" y="6310821"/>
            <a:ext cx="9711296" cy="246221"/>
          </a:xfrm>
          <a:prstGeom prst="rect">
            <a:avLst/>
          </a:prstGeom>
          <a:noFill/>
          <a:ln w="28575" cap="flat" cmpd="sng">
            <a:noFill/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SzPts val="2400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Attacking SMM Memory via Intel</a:t>
            </a:r>
            <a:r>
              <a:rPr lang="en-US" sz="1600" b="0" i="0" u="sng" strike="noStrike" cap="none" baseline="30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®</a:t>
            </a:r>
            <a:r>
              <a:rPr lang="en-US" sz="16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CPU Cache Poisoning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Rafal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Wojtczuk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Joanna </a:t>
            </a:r>
            <a:r>
              <a:rPr lang="en-US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Rutkowska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2009</a:t>
            </a:r>
            <a:endParaRPr sz="16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154;p79">
            <a:extLst>
              <a:ext uri="{FF2B5EF4-FFF2-40B4-BE49-F238E27FC236}">
                <a16:creationId xmlns:a16="http://schemas.microsoft.com/office/drawing/2014/main" id="{EB4C1C3D-B74D-CED6-B97D-9583346ED091}"/>
              </a:ext>
            </a:extLst>
          </p:cNvPr>
          <p:cNvSpPr txBox="1"/>
          <p:nvPr/>
        </p:nvSpPr>
        <p:spPr>
          <a:xfrm>
            <a:off x="7304824" y="2568267"/>
            <a:ext cx="1140855" cy="33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16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write-back</a:t>
            </a:r>
            <a:endParaRPr sz="16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15" name="Google Shape;1154;p79">
            <a:extLst>
              <a:ext uri="{FF2B5EF4-FFF2-40B4-BE49-F238E27FC236}">
                <a16:creationId xmlns:a16="http://schemas.microsoft.com/office/drawing/2014/main" id="{5341FD9F-803A-7A5B-E073-357694D46CD0}"/>
              </a:ext>
            </a:extLst>
          </p:cNvPr>
          <p:cNvSpPr txBox="1"/>
          <p:nvPr/>
        </p:nvSpPr>
        <p:spPr>
          <a:xfrm>
            <a:off x="22342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SMM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A76CD532-26AE-7F36-69F9-F8160188FFE6}"/>
              </a:ext>
            </a:extLst>
          </p:cNvPr>
          <p:cNvSpPr/>
          <p:nvPr/>
        </p:nvSpPr>
        <p:spPr>
          <a:xfrm>
            <a:off x="6096000" y="2514813"/>
            <a:ext cx="3409950" cy="1157941"/>
          </a:xfrm>
          <a:prstGeom prst="arc">
            <a:avLst>
              <a:gd name="adj1" fmla="val 10966821"/>
              <a:gd name="adj2" fmla="val 0"/>
            </a:avLst>
          </a:prstGeom>
          <a:ln w="444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4D6D2D-73E5-81E3-8EBE-02E890EED0FA}"/>
              </a:ext>
            </a:extLst>
          </p:cNvPr>
          <p:cNvGrpSpPr/>
          <p:nvPr/>
        </p:nvGrpSpPr>
        <p:grpSpPr>
          <a:xfrm rot="1109305">
            <a:off x="5603241" y="2444618"/>
            <a:ext cx="809837" cy="812969"/>
            <a:chOff x="7358921" y="1821560"/>
            <a:chExt cx="809837" cy="81296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234DF81-D07B-B54A-51D6-7E21C630B6A5}"/>
                </a:ext>
              </a:extLst>
            </p:cNvPr>
            <p:cNvSpPr/>
            <p:nvPr/>
          </p:nvSpPr>
          <p:spPr>
            <a:xfrm>
              <a:off x="7359989" y="1821560"/>
              <a:ext cx="792480" cy="812969"/>
            </a:xfrm>
            <a:prstGeom prst="roundRect">
              <a:avLst/>
            </a:prstGeom>
            <a:solidFill>
              <a:srgbClr val="FFFFFF">
                <a:alpha val="82000"/>
              </a:srgb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3BC3D43-9C59-6AB7-1B6B-FBCD6CB04EE2}"/>
                </a:ext>
              </a:extLst>
            </p:cNvPr>
            <p:cNvSpPr/>
            <p:nvPr/>
          </p:nvSpPr>
          <p:spPr>
            <a:xfrm>
              <a:off x="7358921" y="1885229"/>
              <a:ext cx="809837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67 65 74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20 61 20 </a:t>
              </a:r>
            </a:p>
            <a:p>
              <a:pPr algn="ctr"/>
              <a:r>
                <a:rPr lang="en-US" sz="1300" b="0" cap="none" spc="0" dirty="0">
                  <a:ln w="0"/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6c 69 66 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85666940-E35B-3782-6190-48EA187EDC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9353" y="3039671"/>
            <a:ext cx="1477838" cy="1727111"/>
          </a:xfrm>
          <a:prstGeom prst="rect">
            <a:avLst/>
          </a:prstGeom>
        </p:spPr>
      </p:pic>
      <p:cxnSp>
        <p:nvCxnSpPr>
          <p:cNvPr id="17" name="Google Shape;848;p53">
            <a:extLst>
              <a:ext uri="{FF2B5EF4-FFF2-40B4-BE49-F238E27FC236}">
                <a16:creationId xmlns:a16="http://schemas.microsoft.com/office/drawing/2014/main" id="{689D4192-8219-0770-5C9F-1997AE1D3597}"/>
              </a:ext>
            </a:extLst>
          </p:cNvPr>
          <p:cNvCxnSpPr>
            <a:cxnSpLocks/>
          </p:cNvCxnSpPr>
          <p:nvPr/>
        </p:nvCxnSpPr>
        <p:spPr>
          <a:xfrm>
            <a:off x="8248196" y="2073852"/>
            <a:ext cx="0" cy="3061163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5715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med" len="med"/>
          </a:ln>
        </p:spPr>
      </p:cxnSp>
      <p:sp>
        <p:nvSpPr>
          <p:cNvPr id="19" name="Google Shape;1154;p79">
            <a:extLst>
              <a:ext uri="{FF2B5EF4-FFF2-40B4-BE49-F238E27FC236}">
                <a16:creationId xmlns:a16="http://schemas.microsoft.com/office/drawing/2014/main" id="{4FEC703D-69D9-6EE0-2A55-AF0555308811}"/>
              </a:ext>
            </a:extLst>
          </p:cNvPr>
          <p:cNvSpPr txBox="1"/>
          <p:nvPr/>
        </p:nvSpPr>
        <p:spPr>
          <a:xfrm>
            <a:off x="2166528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Ring 0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sp>
        <p:nvSpPr>
          <p:cNvPr id="2" name="Google Shape;1154;p79">
            <a:extLst>
              <a:ext uri="{FF2B5EF4-FFF2-40B4-BE49-F238E27FC236}">
                <a16:creationId xmlns:a16="http://schemas.microsoft.com/office/drawing/2014/main" id="{C8D83565-C524-38E7-E66F-387711A96830}"/>
              </a:ext>
            </a:extLst>
          </p:cNvPr>
          <p:cNvSpPr txBox="1"/>
          <p:nvPr/>
        </p:nvSpPr>
        <p:spPr>
          <a:xfrm>
            <a:off x="5757463" y="4959776"/>
            <a:ext cx="892448" cy="393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325" tIns="42325" rIns="42325" bIns="423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sap SemiBold"/>
              <a:buNone/>
            </a:pPr>
            <a:r>
              <a:rPr lang="en-US" sz="2000" i="0" u="none" strike="noStrike" cap="none" dirty="0">
                <a:solidFill>
                  <a:srgbClr val="7F7F7F"/>
                </a:solidFill>
                <a:latin typeface="+mj-lt"/>
                <a:ea typeface="Asap SemiBold"/>
                <a:cs typeface="Segoe UI" panose="020B0502040204020203" pitchFamily="34" charset="0"/>
                <a:sym typeface="Asap SemiBold"/>
              </a:rPr>
              <a:t>cache</a:t>
            </a:r>
            <a:endParaRPr sz="2000" i="0" u="none" strike="noStrike" cap="none" dirty="0">
              <a:solidFill>
                <a:srgbClr val="7F7F7F"/>
              </a:solidFill>
              <a:latin typeface="+mj-lt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906918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33000" decel="67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7.40741E-7 C 0.02213 -0.01343 0.04818 -0.02083 0.07044 -0.03403 C 0.08489 -0.04305 0.10377 -0.0456 0.1293 -0.04491 C 0.15469 -0.04421 0.20911 -0.03866 0.22344 -0.02963 C 0.24531 -0.01667 0.26797 -0.00555 0.28099 0.01574 C 0.29401 0.03704 0.29622 0.09051 0.30417 0.10347 " pathEditMode="relative" rAng="0" ptsTypes="AAAAAA">
                                      <p:cBhvr>
                                        <p:cTn id="6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08" y="29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080000">
                                      <p:cBhvr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5" grpId="0"/>
      <p:bldP spid="7" grpId="0" animBg="1"/>
      <p:bldP spid="1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SMRR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pic>
        <p:nvPicPr>
          <p:cNvPr id="1226" name="Google Shape;1226;p87"/>
          <p:cNvPicPr preferRelativeResize="0">
            <a:picLocks noGrp="1"/>
          </p:cNvPicPr>
          <p:nvPr>
            <p:ph idx="1"/>
          </p:nvPr>
        </p:nvPicPr>
        <p:blipFill rotWithShape="1">
          <a:blip r:embed="rId4">
            <a:alphaModFix/>
          </a:blip>
          <a:stretch/>
        </p:blipFill>
        <p:spPr>
          <a:xfrm>
            <a:off x="838200" y="3380535"/>
            <a:ext cx="10515600" cy="1241518"/>
          </a:xfrm>
          <a:prstGeom prst="rect">
            <a:avLst/>
          </a:prstGeom>
          <a:noFill/>
          <a:ln w="9525" cap="flat" cmpd="sng">
            <a:solidFill>
              <a:srgbClr val="004E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EAF02E-E063-B802-D40D-F51FA45B280F}"/>
              </a:ext>
            </a:extLst>
          </p:cNvPr>
          <p:cNvSpPr txBox="1"/>
          <p:nvPr/>
        </p:nvSpPr>
        <p:spPr>
          <a:xfrm>
            <a:off x="685907" y="6286500"/>
            <a:ext cx="108201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solidFill>
                  <a:schemeClr val="tx1"/>
                </a:solidFill>
                <a:effectLst/>
                <a:latin typeface="+mj-lt"/>
              </a:rPr>
              <a:t>Intel® 64 and IA-32 Architectures Software Developer Manual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Code Execution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01221"/>
                </a:solidFill>
                <a:effectLst/>
                <a:uLnTx/>
                <a:uFillTx/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</a:br>
            <a:r>
              <a:rPr lang="en-US" sz="3600" kern="0" dirty="0">
                <a:solidFill>
                  <a:srgbClr val="A5A5A5"/>
                </a:solidFill>
                <a:sym typeface="Arial"/>
              </a:rPr>
              <a:t>SMRR + S3</a:t>
            </a:r>
            <a:endParaRPr lang="en-US" sz="3600" kern="0" dirty="0">
              <a:solidFill>
                <a:srgbClr val="A5A5A5"/>
              </a:solidFill>
            </a:endParaRPr>
          </a:p>
        </p:txBody>
      </p:sp>
      <p:sp>
        <p:nvSpPr>
          <p:cNvPr id="7" name="Google Shape;1179;p81">
            <a:extLst>
              <a:ext uri="{FF2B5EF4-FFF2-40B4-BE49-F238E27FC236}">
                <a16:creationId xmlns:a16="http://schemas.microsoft.com/office/drawing/2014/main" id="{7DCE89DA-E8E7-11A4-B7AD-2634AB2B2F28}"/>
              </a:ext>
            </a:extLst>
          </p:cNvPr>
          <p:cNvSpPr txBox="1"/>
          <p:nvPr/>
        </p:nvSpPr>
        <p:spPr>
          <a:xfrm>
            <a:off x="0" y="2138349"/>
            <a:ext cx="12192000" cy="3231614"/>
          </a:xfrm>
          <a:prstGeom prst="rect">
            <a:avLst/>
          </a:prstGeom>
          <a:solidFill>
            <a:srgbClr val="30384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/**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  Enable SMRR register if SMRR is supported and </a:t>
            </a:r>
            <a:r>
              <a:rPr lang="en-US" sz="1700" b="0" dirty="0" err="1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SmmCpuFeaturesNeedConfigureMtrrs</a:t>
            </a:r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  returns TRUE.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**/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VOID</a:t>
            </a: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EFIAPI</a:t>
            </a:r>
          </a:p>
          <a:p>
            <a:r>
              <a:rPr lang="en-US" sz="17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SmmCpuFeaturesReenableSmrr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D8A0D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mSmrrSupported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mNeedConfigureMtrrs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AsmWriteMsr64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mSmrrPhysMaskMsr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AsmReadMsr64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mSmrrPhysMaskMsr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EFI_MSR_SMRR_PHYS_MASK_VALID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7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7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34" name="Google Shape;1234;p88"/>
          <p:cNvSpPr/>
          <p:nvPr/>
        </p:nvSpPr>
        <p:spPr>
          <a:xfrm>
            <a:off x="751642" y="4226377"/>
            <a:ext cx="1787443" cy="335641"/>
          </a:xfrm>
          <a:prstGeom prst="rect">
            <a:avLst/>
          </a:prstGeom>
          <a:noFill/>
          <a:ln w="3175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235" name="Google Shape;1235;p88"/>
          <p:cNvSpPr/>
          <p:nvPr/>
        </p:nvSpPr>
        <p:spPr>
          <a:xfrm>
            <a:off x="538282" y="4497501"/>
            <a:ext cx="11409207" cy="335641"/>
          </a:xfrm>
          <a:prstGeom prst="rect">
            <a:avLst/>
          </a:prstGeom>
          <a:noFill/>
          <a:ln w="31750" cap="flat" cmpd="sng">
            <a:solidFill>
              <a:srgbClr val="00B05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068ACFD-E31B-24E9-BEE1-46764E54C05B}"/>
              </a:ext>
            </a:extLst>
          </p:cNvPr>
          <p:cNvGrpSpPr/>
          <p:nvPr/>
        </p:nvGrpSpPr>
        <p:grpSpPr>
          <a:xfrm>
            <a:off x="478803" y="2113218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F2136B-2782-3C74-8A39-35B3EEFFFB6B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36C6E3D-2887-2D3B-F327-F2E706DE4EDD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4E87"/>
                </a:buClr>
                <a:buSzPts val="2800"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Set the value of </a:t>
              </a:r>
              <a:r>
                <a:rPr kumimoji="0" lang="en-US" sz="2800" b="0" i="1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mSmrrSupported</a:t>
              </a: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to 0</a:t>
              </a:r>
            </a:p>
          </p:txBody>
        </p:sp>
      </p:grpSp>
      <p:sp>
        <p:nvSpPr>
          <p:cNvPr id="1187" name="Google Shape;1187;p82"/>
          <p:cNvSpPr txBox="1">
            <a:spLocks noGrp="1"/>
          </p:cNvSpPr>
          <p:nvPr>
            <p:ph type="title"/>
          </p:nvPr>
        </p:nvSpPr>
        <p:spPr>
          <a:xfrm>
            <a:off x="915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21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Code Execution</a:t>
            </a:r>
            <a:r>
              <a:rPr kumimoji="0" lang="he-IL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Full Recipe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E35C034-8108-EF98-68CC-A184EBC1B50D}"/>
              </a:ext>
            </a:extLst>
          </p:cNvPr>
          <p:cNvSpPr/>
          <p:nvPr/>
        </p:nvSpPr>
        <p:spPr>
          <a:xfrm>
            <a:off x="1214130" y="2062163"/>
            <a:ext cx="588981" cy="592329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1F92819-26F2-B565-0673-D926595EB83D}"/>
              </a:ext>
            </a:extLst>
          </p:cNvPr>
          <p:cNvGrpSpPr/>
          <p:nvPr/>
        </p:nvGrpSpPr>
        <p:grpSpPr>
          <a:xfrm>
            <a:off x="478803" y="2938225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FAC51B8-3522-8BF0-53B3-474D2F0C3583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9CB11FF-81BD-02B1-BFE3-BC3963538562}"/>
                </a:ext>
              </a:extLst>
            </p:cNvPr>
            <p:cNvSpPr txBox="1"/>
            <p:nvPr/>
          </p:nvSpPr>
          <p:spPr>
            <a:xfrm>
              <a:off x="226049" y="1043496"/>
              <a:ext cx="1392622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Go into S3 sleep mode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ADA8099-5922-86BB-A082-52BFFE7FED6E}"/>
              </a:ext>
            </a:extLst>
          </p:cNvPr>
          <p:cNvGrpSpPr/>
          <p:nvPr/>
        </p:nvGrpSpPr>
        <p:grpSpPr>
          <a:xfrm>
            <a:off x="478803" y="3759032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5B0F034-B93C-895F-9ADB-C945EA110BC7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C00DF35-EF8C-C36C-957D-F1238683738E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>
                <a:lnSpc>
                  <a:spcPct val="100000"/>
                </a:lnSpc>
                <a:buClrTx/>
                <a:buSzPts val="2333"/>
              </a:pPr>
              <a:r>
                <a:rPr lang="en-US" sz="2400" dirty="0"/>
                <a:t>Return from S3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B33726-EEDE-AD08-C087-A1C106CD3838}"/>
              </a:ext>
            </a:extLst>
          </p:cNvPr>
          <p:cNvGrpSpPr/>
          <p:nvPr/>
        </p:nvGrpSpPr>
        <p:grpSpPr>
          <a:xfrm>
            <a:off x="478803" y="4588209"/>
            <a:ext cx="11272494" cy="534749"/>
            <a:chOff x="1283" y="1043496"/>
            <a:chExt cx="1617389" cy="2264345"/>
          </a:xfrm>
          <a:solidFill>
            <a:schemeClr val="bg1">
              <a:lumMod val="9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648E998-00A8-360C-E1F3-738CF9EEE8A8}"/>
                </a:ext>
              </a:extLst>
            </p:cNvPr>
            <p:cNvSpPr/>
            <p:nvPr/>
          </p:nvSpPr>
          <p:spPr>
            <a:xfrm>
              <a:off x="1283" y="1043496"/>
              <a:ext cx="1617389" cy="22643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anchor="b"/>
            <a:lstStyle/>
            <a:p>
              <a:endParaRPr lang="en-IL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E693863-EB1C-DF4E-CB01-EAFD33B81DE8}"/>
                </a:ext>
              </a:extLst>
            </p:cNvPr>
            <p:cNvSpPr txBox="1"/>
            <p:nvPr/>
          </p:nvSpPr>
          <p:spPr>
            <a:xfrm>
              <a:off x="228782" y="1043496"/>
              <a:ext cx="1389889" cy="2219058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6098" tIns="330200" rIns="126098" bIns="330200" numCol="1" spcCol="1270" anchor="ctr" anchorCtr="0">
              <a:noAutofit/>
            </a:bodyPr>
            <a:lstStyle/>
            <a:p>
              <a:pPr marR="0" lvl="0" algn="l" defTabSz="9144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E7E6E6"/>
                </a:buClr>
                <a:buSzPts val="2800"/>
                <a:tabLst/>
                <a:defRPr/>
              </a:pPr>
              <a:r>
                <a:rPr lang="en-US" sz="2400" dirty="0"/>
                <a:t>Write to SMRAM through the cache</a:t>
              </a:r>
            </a:p>
          </p:txBody>
        </p:sp>
      </p:grpSp>
      <p:sp>
        <p:nvSpPr>
          <p:cNvPr id="3" name="Oval 2">
            <a:extLst>
              <a:ext uri="{FF2B5EF4-FFF2-40B4-BE49-F238E27FC236}">
                <a16:creationId xmlns:a16="http://schemas.microsoft.com/office/drawing/2014/main" id="{2222501A-4624-03F1-E545-FB4AC258950E}"/>
              </a:ext>
            </a:extLst>
          </p:cNvPr>
          <p:cNvSpPr/>
          <p:nvPr/>
        </p:nvSpPr>
        <p:spPr>
          <a:xfrm>
            <a:off x="1205602" y="2888223"/>
            <a:ext cx="596042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2</a:t>
            </a:r>
            <a:endParaRPr lang="en-US" sz="28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58532D-4A39-1BCB-8369-13727D8486DD}"/>
              </a:ext>
            </a:extLst>
          </p:cNvPr>
          <p:cNvSpPr/>
          <p:nvPr/>
        </p:nvSpPr>
        <p:spPr>
          <a:xfrm>
            <a:off x="1205603" y="3720606"/>
            <a:ext cx="597508" cy="600905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F8B8BBE-3000-6015-A899-5C97837530E3}"/>
              </a:ext>
            </a:extLst>
          </p:cNvPr>
          <p:cNvSpPr/>
          <p:nvPr/>
        </p:nvSpPr>
        <p:spPr>
          <a:xfrm>
            <a:off x="1214130" y="4550521"/>
            <a:ext cx="596043" cy="599430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4</a:t>
            </a:r>
          </a:p>
        </p:txBody>
      </p:sp>
      <p:pic>
        <p:nvPicPr>
          <p:cNvPr id="11" name="Google Shape;1189;p82">
            <a:extLst>
              <a:ext uri="{FF2B5EF4-FFF2-40B4-BE49-F238E27FC236}">
                <a16:creationId xmlns:a16="http://schemas.microsoft.com/office/drawing/2014/main" id="{1A58A2A3-EF47-E563-8586-443032A105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4117" y="1784008"/>
            <a:ext cx="5583766" cy="368615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54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9" name="Google Shape;1249;p90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4847262" y="1063301"/>
            <a:ext cx="6228309" cy="4154282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250" name="Google Shape;1250;p90"/>
          <p:cNvSpPr txBox="1">
            <a:spLocks noGrp="1"/>
          </p:cNvSpPr>
          <p:nvPr>
            <p:ph type="ctrTitle"/>
          </p:nvPr>
        </p:nvSpPr>
        <p:spPr>
          <a:xfrm>
            <a:off x="-169998" y="2357120"/>
            <a:ext cx="3979998" cy="156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800"/>
              <a:buFont typeface="Arial"/>
              <a:buNone/>
            </a:pPr>
            <a:r>
              <a:rPr lang="en-US" sz="8800" dirty="0"/>
              <a:t>Demo</a:t>
            </a:r>
            <a:endParaRPr sz="12400" dirty="0"/>
          </a:p>
        </p:txBody>
      </p:sp>
      <p:sp>
        <p:nvSpPr>
          <p:cNvPr id="1251" name="Google Shape;1251;p90"/>
          <p:cNvSpPr/>
          <p:nvPr/>
        </p:nvSpPr>
        <p:spPr>
          <a:xfrm>
            <a:off x="6310048" y="1103589"/>
            <a:ext cx="3156633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Narrow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LET’S PRAY</a:t>
            </a:r>
            <a:endParaRPr/>
          </a:p>
        </p:txBody>
      </p:sp>
      <p:sp>
        <p:nvSpPr>
          <p:cNvPr id="1252" name="Google Shape;1252;p90"/>
          <p:cNvSpPr/>
          <p:nvPr/>
        </p:nvSpPr>
        <p:spPr>
          <a:xfrm>
            <a:off x="5230429" y="4406694"/>
            <a:ext cx="5315878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 Narrow"/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Arial Narrow"/>
                <a:ea typeface="Arial Narrow"/>
                <a:cs typeface="Arial Narrow"/>
                <a:sym typeface="Arial Narrow"/>
              </a:rPr>
              <a:t>TO THE DEMO GODS</a:t>
            </a:r>
            <a:endParaRPr sz="4800" b="1" i="0" u="none" strike="noStrike" cap="none">
              <a:solidFill>
                <a:srgbClr val="FFFFF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253" name="Google Shape;1253;p90"/>
          <p:cNvSpPr txBox="1"/>
          <p:nvPr/>
        </p:nvSpPr>
        <p:spPr>
          <a:xfrm>
            <a:off x="6096001" y="5257871"/>
            <a:ext cx="3808288" cy="28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 by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Andrey Tikhonovskiy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on </a:t>
            </a:r>
            <a:r>
              <a:rPr lang="en-US" sz="1400" b="0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Unsplash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283;p91">
            <a:extLst>
              <a:ext uri="{FF2B5EF4-FFF2-40B4-BE49-F238E27FC236}">
                <a16:creationId xmlns:a16="http://schemas.microsoft.com/office/drawing/2014/main" id="{F1A3EF5E-32F9-87EF-155F-983042455BF3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3" name="Google Shape;1263;p91">
            <a:extLst>
              <a:ext uri="{FF2B5EF4-FFF2-40B4-BE49-F238E27FC236}">
                <a16:creationId xmlns:a16="http://schemas.microsoft.com/office/drawing/2014/main" id="{41C967D8-3416-1EBE-71F3-ABE3ACE10EFD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6" name="Google Shape;1264;p91">
            <a:extLst>
              <a:ext uri="{FF2B5EF4-FFF2-40B4-BE49-F238E27FC236}">
                <a16:creationId xmlns:a16="http://schemas.microsoft.com/office/drawing/2014/main" id="{BD47C53F-25CF-98F8-699C-63AAD17A4C88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207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7" name="Google Shape;1265;p91">
            <a:extLst>
              <a:ext uri="{FF2B5EF4-FFF2-40B4-BE49-F238E27FC236}">
                <a16:creationId xmlns:a16="http://schemas.microsoft.com/office/drawing/2014/main" id="{590D417F-D05D-CC89-CD25-846BE67041B6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dirty="0"/>
          </a:p>
        </p:txBody>
      </p:sp>
      <p:sp>
        <p:nvSpPr>
          <p:cNvPr id="8" name="Google Shape;1278;p91">
            <a:extLst>
              <a:ext uri="{FF2B5EF4-FFF2-40B4-BE49-F238E27FC236}">
                <a16:creationId xmlns:a16="http://schemas.microsoft.com/office/drawing/2014/main" id="{ED8530FA-FFED-3C19-5B4D-DFF4334F8301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" name="Google Shape;1283;p91">
            <a:extLst>
              <a:ext uri="{FF2B5EF4-FFF2-40B4-BE49-F238E27FC236}">
                <a16:creationId xmlns:a16="http://schemas.microsoft.com/office/drawing/2014/main" id="{711024E9-C2FC-BB96-B003-64C4890D130A}"/>
              </a:ext>
            </a:extLst>
          </p:cNvPr>
          <p:cNvSpPr/>
          <p:nvPr/>
        </p:nvSpPr>
        <p:spPr>
          <a:xfrm>
            <a:off x="1124980" y="2869581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D34E86-776F-2EA7-8A83-02827EF6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nsyde Software">
            <a:extLst>
              <a:ext uri="{FF2B5EF4-FFF2-40B4-BE49-F238E27FC236}">
                <a16:creationId xmlns:a16="http://schemas.microsoft.com/office/drawing/2014/main" id="{F7D0F1F2-A03B-065A-8587-F2B7A467E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268;p91">
            <a:extLst>
              <a:ext uri="{FF2B5EF4-FFF2-40B4-BE49-F238E27FC236}">
                <a16:creationId xmlns:a16="http://schemas.microsoft.com/office/drawing/2014/main" id="{60920512-DB03-9EA4-058C-9A89220F09FC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F3832B-7AA7-1FBC-B19D-11EA5742564B}"/>
              </a:ext>
            </a:extLst>
          </p:cNvPr>
          <p:cNvSpPr txBox="1"/>
          <p:nvPr/>
        </p:nvSpPr>
        <p:spPr>
          <a:xfrm>
            <a:off x="93306" y="6308209"/>
            <a:ext cx="1200849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05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2" grpId="0"/>
      <p:bldP spid="1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65;p91">
            <a:extLst>
              <a:ext uri="{FF2B5EF4-FFF2-40B4-BE49-F238E27FC236}">
                <a16:creationId xmlns:a16="http://schemas.microsoft.com/office/drawing/2014/main" id="{D5AB0A41-1BA7-98BB-D391-FF76C1A0FDEB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 dirty="0"/>
          </a:p>
        </p:txBody>
      </p:sp>
      <p:sp>
        <p:nvSpPr>
          <p:cNvPr id="6" name="Google Shape;1268;p91">
            <a:extLst>
              <a:ext uri="{FF2B5EF4-FFF2-40B4-BE49-F238E27FC236}">
                <a16:creationId xmlns:a16="http://schemas.microsoft.com/office/drawing/2014/main" id="{F968DC6A-4AF1-0BBD-1AD7-83B68AE87E3F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9BC775-DFFD-8A9A-B022-23A7F302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1DC1D-CD8D-63AB-CE3D-6FC8A76217AD}"/>
              </a:ext>
            </a:extLst>
          </p:cNvPr>
          <p:cNvSpPr txBox="1"/>
          <p:nvPr/>
        </p:nvSpPr>
        <p:spPr>
          <a:xfrm>
            <a:off x="0" y="6254735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https://en.wikipedia.org/wiki/Insyde_Software; https://en.wikipedia.org/wiki/Lenovo; https://en.wikipedia.org/wiki/Dell;  https://en.wikipedia.org/wiki/Gigabyte_Technology; https://en.wikipedia.org/wiki/Asus; https://en.wikipedia.org/wiki/HP_Inc; https://en.wikipedia.org/wiki/Acer_Inc;  https://en.wikipedia.org/wiki/Intel; https://en.wikipedia.org/wiki/Micro-Star_International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ogle Shape;1269;p91">
            <a:extLst>
              <a:ext uri="{FF2B5EF4-FFF2-40B4-BE49-F238E27FC236}">
                <a16:creationId xmlns:a16="http://schemas.microsoft.com/office/drawing/2014/main" id="{284441E2-CE7A-D6AA-9418-BAF6A8D45836}"/>
              </a:ext>
            </a:extLst>
          </p:cNvPr>
          <p:cNvSpPr txBox="1"/>
          <p:nvPr/>
        </p:nvSpPr>
        <p:spPr>
          <a:xfrm>
            <a:off x="9945123" y="3681353"/>
            <a:ext cx="11479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OEMs</a:t>
            </a:r>
            <a:endParaRPr dirty="0"/>
          </a:p>
        </p:txBody>
      </p:sp>
      <p:cxnSp>
        <p:nvCxnSpPr>
          <p:cNvPr id="15" name="Google Shape;1273;p91">
            <a:extLst>
              <a:ext uri="{FF2B5EF4-FFF2-40B4-BE49-F238E27FC236}">
                <a16:creationId xmlns:a16="http://schemas.microsoft.com/office/drawing/2014/main" id="{F21D5FCE-0B4F-3BF4-415E-B0F347ABB15D}"/>
              </a:ext>
            </a:extLst>
          </p:cNvPr>
          <p:cNvCxnSpPr>
            <a:cxnSpLocks/>
            <a:endCxn id="2056" idx="0"/>
          </p:cNvCxnSpPr>
          <p:nvPr/>
        </p:nvCxnSpPr>
        <p:spPr>
          <a:xfrm flipH="1">
            <a:off x="2288132" y="3469451"/>
            <a:ext cx="3303361" cy="120643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6" name="Google Shape;1274;p91">
            <a:extLst>
              <a:ext uri="{FF2B5EF4-FFF2-40B4-BE49-F238E27FC236}">
                <a16:creationId xmlns:a16="http://schemas.microsoft.com/office/drawing/2014/main" id="{3E55FD45-73CB-0BAB-FF1F-642EC611D55C}"/>
              </a:ext>
            </a:extLst>
          </p:cNvPr>
          <p:cNvCxnSpPr>
            <a:cxnSpLocks/>
            <a:endCxn id="2052" idx="0"/>
          </p:cNvCxnSpPr>
          <p:nvPr/>
        </p:nvCxnSpPr>
        <p:spPr>
          <a:xfrm flipH="1">
            <a:off x="3506780" y="3469451"/>
            <a:ext cx="2366146" cy="978561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7" name="Google Shape;1275;p91">
            <a:extLst>
              <a:ext uri="{FF2B5EF4-FFF2-40B4-BE49-F238E27FC236}">
                <a16:creationId xmlns:a16="http://schemas.microsoft.com/office/drawing/2014/main" id="{63283E34-735D-21C3-5BE6-78846C63C42D}"/>
              </a:ext>
            </a:extLst>
          </p:cNvPr>
          <p:cNvCxnSpPr>
            <a:cxnSpLocks/>
            <a:endCxn id="2062" idx="0"/>
          </p:cNvCxnSpPr>
          <p:nvPr/>
        </p:nvCxnSpPr>
        <p:spPr>
          <a:xfrm>
            <a:off x="6467889" y="3469451"/>
            <a:ext cx="1532583" cy="108704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8" name="Google Shape;1276;p91">
            <a:extLst>
              <a:ext uri="{FF2B5EF4-FFF2-40B4-BE49-F238E27FC236}">
                <a16:creationId xmlns:a16="http://schemas.microsoft.com/office/drawing/2014/main" id="{E8864352-B743-2A38-BD85-A57B8F67282B}"/>
              </a:ext>
            </a:extLst>
          </p:cNvPr>
          <p:cNvCxnSpPr>
            <a:cxnSpLocks/>
            <a:endCxn id="2064" idx="0"/>
          </p:cNvCxnSpPr>
          <p:nvPr/>
        </p:nvCxnSpPr>
        <p:spPr>
          <a:xfrm>
            <a:off x="6958776" y="3469451"/>
            <a:ext cx="4012952" cy="104351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1" name="Google Shape;1281;p91">
            <a:extLst>
              <a:ext uri="{FF2B5EF4-FFF2-40B4-BE49-F238E27FC236}">
                <a16:creationId xmlns:a16="http://schemas.microsoft.com/office/drawing/2014/main" id="{559EDEDA-37B0-D53D-88E6-94FF28C81614}"/>
              </a:ext>
            </a:extLst>
          </p:cNvPr>
          <p:cNvSpPr/>
          <p:nvPr/>
        </p:nvSpPr>
        <p:spPr>
          <a:xfrm>
            <a:off x="1931177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1282;p91">
            <a:extLst>
              <a:ext uri="{FF2B5EF4-FFF2-40B4-BE49-F238E27FC236}">
                <a16:creationId xmlns:a16="http://schemas.microsoft.com/office/drawing/2014/main" id="{57A1A2DA-FACC-F8B4-B112-2B0E47AB8948}"/>
              </a:ext>
            </a:extLst>
          </p:cNvPr>
          <p:cNvSpPr/>
          <p:nvPr/>
        </p:nvSpPr>
        <p:spPr>
          <a:xfrm>
            <a:off x="562170" y="5175604"/>
            <a:ext cx="656420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CDE31C-5EAC-F144-D8CA-39D8DE9E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440" y="4534633"/>
            <a:ext cx="1263746" cy="41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FF2445C-53FD-8E1F-23F3-A3859A3F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70" y="4448012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50FA8BB-B486-09A3-59D0-92FADAEBA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60" y="4678284"/>
            <a:ext cx="2233715" cy="2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C0F5823-FE85-CD90-E6C3-B2987CD8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4" y="4675888"/>
            <a:ext cx="1427815" cy="28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A75E08-A0D3-270C-B7C0-554365DB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28" y="4470466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454AFA2F-5D20-AAA1-F8E5-FB03D71C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16" y="4675889"/>
            <a:ext cx="1179299" cy="28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EAFC79E-E261-39AF-432D-50876A83A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23" y="4556499"/>
            <a:ext cx="1024498" cy="39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E1FE3EF8-4CD6-2323-E318-79AF0152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62" y="4512963"/>
            <a:ext cx="1369732" cy="44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Google Shape;1276;p91">
            <a:extLst>
              <a:ext uri="{FF2B5EF4-FFF2-40B4-BE49-F238E27FC236}">
                <a16:creationId xmlns:a16="http://schemas.microsoft.com/office/drawing/2014/main" id="{F530B922-C0A7-6A69-88F8-B916D2832789}"/>
              </a:ext>
            </a:extLst>
          </p:cNvPr>
          <p:cNvCxnSpPr>
            <a:cxnSpLocks/>
            <a:endCxn id="2050" idx="0"/>
          </p:cNvCxnSpPr>
          <p:nvPr/>
        </p:nvCxnSpPr>
        <p:spPr>
          <a:xfrm>
            <a:off x="6711126" y="3469451"/>
            <a:ext cx="2578187" cy="106518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9" name="Google Shape;1275;p91">
            <a:extLst>
              <a:ext uri="{FF2B5EF4-FFF2-40B4-BE49-F238E27FC236}">
                <a16:creationId xmlns:a16="http://schemas.microsoft.com/office/drawing/2014/main" id="{0172B925-F022-6E92-1744-767CEBAE55C7}"/>
              </a:ext>
            </a:extLst>
          </p:cNvPr>
          <p:cNvCxnSpPr>
            <a:cxnSpLocks/>
            <a:endCxn id="2058" idx="0"/>
          </p:cNvCxnSpPr>
          <p:nvPr/>
        </p:nvCxnSpPr>
        <p:spPr>
          <a:xfrm>
            <a:off x="6272975" y="3469451"/>
            <a:ext cx="591963" cy="1001015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2" name="Google Shape;1275;p91">
            <a:extLst>
              <a:ext uri="{FF2B5EF4-FFF2-40B4-BE49-F238E27FC236}">
                <a16:creationId xmlns:a16="http://schemas.microsoft.com/office/drawing/2014/main" id="{CE8B8E16-D5F9-02B0-6E31-2B548765BF69}"/>
              </a:ext>
            </a:extLst>
          </p:cNvPr>
          <p:cNvCxnSpPr>
            <a:cxnSpLocks/>
            <a:endCxn id="2054" idx="0"/>
          </p:cNvCxnSpPr>
          <p:nvPr/>
        </p:nvCxnSpPr>
        <p:spPr>
          <a:xfrm flipH="1">
            <a:off x="5156118" y="3469451"/>
            <a:ext cx="921947" cy="1208833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41" name="Google Shape;1273;p91">
            <a:extLst>
              <a:ext uri="{FF2B5EF4-FFF2-40B4-BE49-F238E27FC236}">
                <a16:creationId xmlns:a16="http://schemas.microsoft.com/office/drawing/2014/main" id="{6957D4B1-33B9-52FB-5A1D-2D4DC0AF3D7A}"/>
              </a:ext>
            </a:extLst>
          </p:cNvPr>
          <p:cNvCxnSpPr>
            <a:cxnSpLocks/>
            <a:endCxn id="2060" idx="0"/>
          </p:cNvCxnSpPr>
          <p:nvPr/>
        </p:nvCxnSpPr>
        <p:spPr>
          <a:xfrm flipH="1">
            <a:off x="931466" y="3469451"/>
            <a:ext cx="4357145" cy="120643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9" name="Google Shape;1281;p91">
            <a:extLst>
              <a:ext uri="{FF2B5EF4-FFF2-40B4-BE49-F238E27FC236}">
                <a16:creationId xmlns:a16="http://schemas.microsoft.com/office/drawing/2014/main" id="{AB3A4C15-52B1-BD5B-B81B-A63CF099E9C4}"/>
              </a:ext>
            </a:extLst>
          </p:cNvPr>
          <p:cNvSpPr/>
          <p:nvPr/>
        </p:nvSpPr>
        <p:spPr>
          <a:xfrm>
            <a:off x="3197045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0" name="Google Shape;1281;p91">
            <a:extLst>
              <a:ext uri="{FF2B5EF4-FFF2-40B4-BE49-F238E27FC236}">
                <a16:creationId xmlns:a16="http://schemas.microsoft.com/office/drawing/2014/main" id="{E632F3FB-A140-DFFC-B783-B5193A99780E}"/>
              </a:ext>
            </a:extLst>
          </p:cNvPr>
          <p:cNvSpPr/>
          <p:nvPr/>
        </p:nvSpPr>
        <p:spPr>
          <a:xfrm>
            <a:off x="4727992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1" name="Google Shape;1281;p91">
            <a:extLst>
              <a:ext uri="{FF2B5EF4-FFF2-40B4-BE49-F238E27FC236}">
                <a16:creationId xmlns:a16="http://schemas.microsoft.com/office/drawing/2014/main" id="{EE06ABDC-418C-D054-A0A8-28E6CA58EF4D}"/>
              </a:ext>
            </a:extLst>
          </p:cNvPr>
          <p:cNvSpPr/>
          <p:nvPr/>
        </p:nvSpPr>
        <p:spPr>
          <a:xfrm>
            <a:off x="6583542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2" name="Google Shape;1281;p91">
            <a:extLst>
              <a:ext uri="{FF2B5EF4-FFF2-40B4-BE49-F238E27FC236}">
                <a16:creationId xmlns:a16="http://schemas.microsoft.com/office/drawing/2014/main" id="{78FF31DD-B0D9-0CA4-3A8A-3B8B8A4F611D}"/>
              </a:ext>
            </a:extLst>
          </p:cNvPr>
          <p:cNvSpPr/>
          <p:nvPr/>
        </p:nvSpPr>
        <p:spPr>
          <a:xfrm>
            <a:off x="7643518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3" name="Google Shape;1281;p91">
            <a:extLst>
              <a:ext uri="{FF2B5EF4-FFF2-40B4-BE49-F238E27FC236}">
                <a16:creationId xmlns:a16="http://schemas.microsoft.com/office/drawing/2014/main" id="{CEC312FB-8ED2-D47C-6222-E837569C05A5}"/>
              </a:ext>
            </a:extLst>
          </p:cNvPr>
          <p:cNvSpPr/>
          <p:nvPr/>
        </p:nvSpPr>
        <p:spPr>
          <a:xfrm>
            <a:off x="8932359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4" name="Google Shape;1281;p91">
            <a:extLst>
              <a:ext uri="{FF2B5EF4-FFF2-40B4-BE49-F238E27FC236}">
                <a16:creationId xmlns:a16="http://schemas.microsoft.com/office/drawing/2014/main" id="{959012E7-7A5C-FF41-2C93-04181A55E743}"/>
              </a:ext>
            </a:extLst>
          </p:cNvPr>
          <p:cNvSpPr/>
          <p:nvPr/>
        </p:nvSpPr>
        <p:spPr>
          <a:xfrm>
            <a:off x="10736073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5" name="Google Shape;1278;p91">
            <a:extLst>
              <a:ext uri="{FF2B5EF4-FFF2-40B4-BE49-F238E27FC236}">
                <a16:creationId xmlns:a16="http://schemas.microsoft.com/office/drawing/2014/main" id="{E8659016-D883-7C81-2AED-6C74FFC6F215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6" name="Google Shape;1283;p91">
            <a:extLst>
              <a:ext uri="{FF2B5EF4-FFF2-40B4-BE49-F238E27FC236}">
                <a16:creationId xmlns:a16="http://schemas.microsoft.com/office/drawing/2014/main" id="{3F3E0B35-6DAC-EE24-B165-96DAB9F18FF6}"/>
              </a:ext>
            </a:extLst>
          </p:cNvPr>
          <p:cNvSpPr/>
          <p:nvPr/>
        </p:nvSpPr>
        <p:spPr>
          <a:xfrm>
            <a:off x="1124980" y="2869581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57" name="Google Shape;1283;p91">
            <a:extLst>
              <a:ext uri="{FF2B5EF4-FFF2-40B4-BE49-F238E27FC236}">
                <a16:creationId xmlns:a16="http://schemas.microsoft.com/office/drawing/2014/main" id="{CF6A78B3-5F91-D743-A5A1-F820EA89D60D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4" name="Google Shape;1263;p91">
            <a:extLst>
              <a:ext uri="{FF2B5EF4-FFF2-40B4-BE49-F238E27FC236}">
                <a16:creationId xmlns:a16="http://schemas.microsoft.com/office/drawing/2014/main" id="{0985636B-FB0E-348F-579D-338DDAE35463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7" name="Google Shape;1264;p91">
            <a:extLst>
              <a:ext uri="{FF2B5EF4-FFF2-40B4-BE49-F238E27FC236}">
                <a16:creationId xmlns:a16="http://schemas.microsoft.com/office/drawing/2014/main" id="{89B5E056-0189-F29F-94BE-EC713BD9C19A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446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8" name="Picture 4" descr="Insyde Software">
            <a:extLst>
              <a:ext uri="{FF2B5EF4-FFF2-40B4-BE49-F238E27FC236}">
                <a16:creationId xmlns:a16="http://schemas.microsoft.com/office/drawing/2014/main" id="{FD311EDE-07BE-E880-1861-8E72E81E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Google Shape;1284;p91">
            <a:extLst>
              <a:ext uri="{FF2B5EF4-FFF2-40B4-BE49-F238E27FC236}">
                <a16:creationId xmlns:a16="http://schemas.microsoft.com/office/drawing/2014/main" id="{0ACE285A-E110-6F36-B4CB-063C258DD219}"/>
              </a:ext>
            </a:extLst>
          </p:cNvPr>
          <p:cNvSpPr/>
          <p:nvPr/>
        </p:nvSpPr>
        <p:spPr>
          <a:xfrm>
            <a:off x="267815" y="2512048"/>
            <a:ext cx="11620499" cy="3242591"/>
          </a:xfrm>
          <a:prstGeom prst="rect">
            <a:avLst/>
          </a:prstGeom>
          <a:noFill/>
          <a:ln w="254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2" name="Google Shape;1285;p91">
            <a:extLst>
              <a:ext uri="{FF2B5EF4-FFF2-40B4-BE49-F238E27FC236}">
                <a16:creationId xmlns:a16="http://schemas.microsoft.com/office/drawing/2014/main" id="{3CD82CBF-248D-B542-8BCB-C0E6F93C675C}"/>
              </a:ext>
            </a:extLst>
          </p:cNvPr>
          <p:cNvSpPr txBox="1"/>
          <p:nvPr/>
        </p:nvSpPr>
        <p:spPr>
          <a:xfrm>
            <a:off x="3349641" y="5765918"/>
            <a:ext cx="5524224" cy="426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&gt; 200 million devices in 2020 only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89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 animBg="1"/>
      <p:bldP spid="22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9" grpId="0" animBg="1"/>
      <p:bldP spid="1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Google Shape;1263;p91">
            <a:extLst>
              <a:ext uri="{FF2B5EF4-FFF2-40B4-BE49-F238E27FC236}">
                <a16:creationId xmlns:a16="http://schemas.microsoft.com/office/drawing/2014/main" id="{F43DA399-43C2-749A-32DA-9FF8AC5370E3}"/>
              </a:ext>
            </a:extLst>
          </p:cNvPr>
          <p:cNvCxnSpPr>
            <a:cxnSpLocks/>
          </p:cNvCxnSpPr>
          <p:nvPr/>
        </p:nvCxnSpPr>
        <p:spPr>
          <a:xfrm flipH="1">
            <a:off x="3880012" y="2143124"/>
            <a:ext cx="2392964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pic>
        <p:nvPicPr>
          <p:cNvPr id="13" name="Picture 4" descr="Insyde Software">
            <a:extLst>
              <a:ext uri="{FF2B5EF4-FFF2-40B4-BE49-F238E27FC236}">
                <a16:creationId xmlns:a16="http://schemas.microsoft.com/office/drawing/2014/main" id="{F60F66AD-FB54-252D-06F4-A6D7884E9A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171" y="2786671"/>
            <a:ext cx="2379824" cy="56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59" name="Google Shape;1259;p9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/>
              <a:t>The FW Ecosystem </a:t>
            </a:r>
            <a:endParaRPr dirty="0"/>
          </a:p>
        </p:txBody>
      </p:sp>
      <p:pic>
        <p:nvPicPr>
          <p:cNvPr id="1262" name="Google Shape;1262;p9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8038" y="1333499"/>
            <a:ext cx="2809875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265;p91">
            <a:extLst>
              <a:ext uri="{FF2B5EF4-FFF2-40B4-BE49-F238E27FC236}">
                <a16:creationId xmlns:a16="http://schemas.microsoft.com/office/drawing/2014/main" id="{D5AB0A41-1BA7-98BB-D391-FF76C1A0FDEB}"/>
              </a:ext>
            </a:extLst>
          </p:cNvPr>
          <p:cNvSpPr txBox="1"/>
          <p:nvPr/>
        </p:nvSpPr>
        <p:spPr>
          <a:xfrm>
            <a:off x="5288611" y="2907981"/>
            <a:ext cx="18161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6" name="Google Shape;1268;p91">
            <a:extLst>
              <a:ext uri="{FF2B5EF4-FFF2-40B4-BE49-F238E27FC236}">
                <a16:creationId xmlns:a16="http://schemas.microsoft.com/office/drawing/2014/main" id="{F968DC6A-4AF1-0BBD-1AD7-83B68AE87E3F}"/>
              </a:ext>
            </a:extLst>
          </p:cNvPr>
          <p:cNvSpPr txBox="1"/>
          <p:nvPr/>
        </p:nvSpPr>
        <p:spPr>
          <a:xfrm>
            <a:off x="8951675" y="2081161"/>
            <a:ext cx="114790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IBVs</a:t>
            </a:r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9BC775-DFFD-8A9A-B022-23A7F302B1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783" y="2701339"/>
            <a:ext cx="2270478" cy="608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C1DC1D-CD8D-63AB-CE3D-6FC8A76217AD}"/>
              </a:ext>
            </a:extLst>
          </p:cNvPr>
          <p:cNvSpPr txBox="1"/>
          <p:nvPr/>
        </p:nvSpPr>
        <p:spPr>
          <a:xfrm>
            <a:off x="0" y="6254735"/>
            <a:ext cx="12192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https://en.wikipedia.org/wiki/American_Megatrends</a:t>
            </a:r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https://en.wikipedia.org/wiki/Insyde_Software; https://en.wikipedia.org/wiki/Lenovo; https://en.wikipedia.org/wiki/Dell;  https://en.wikipedia.org/wiki/Gigabyte_Technology; https://en.wikipedia.org/wiki/Asus; https://en.wikipedia.org/wiki/HP_Inc; https://en.wikipedia.org/wiki/Acer_Inc;  https://en.wikipedia.org/wiki/Intel; https://en.wikipedia.org/wiki/Micro-Star_International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Google Shape;1269;p91">
            <a:extLst>
              <a:ext uri="{FF2B5EF4-FFF2-40B4-BE49-F238E27FC236}">
                <a16:creationId xmlns:a16="http://schemas.microsoft.com/office/drawing/2014/main" id="{284441E2-CE7A-D6AA-9418-BAF6A8D45836}"/>
              </a:ext>
            </a:extLst>
          </p:cNvPr>
          <p:cNvSpPr txBox="1"/>
          <p:nvPr/>
        </p:nvSpPr>
        <p:spPr>
          <a:xfrm>
            <a:off x="9945123" y="3681353"/>
            <a:ext cx="114790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A6A6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A6A6A6"/>
                </a:solidFill>
                <a:latin typeface="Arial"/>
                <a:ea typeface="Arial"/>
                <a:cs typeface="Arial"/>
                <a:sym typeface="Arial"/>
              </a:rPr>
              <a:t>OEMs</a:t>
            </a:r>
            <a:endParaRPr dirty="0"/>
          </a:p>
        </p:txBody>
      </p:sp>
      <p:cxnSp>
        <p:nvCxnSpPr>
          <p:cNvPr id="15" name="Google Shape;1273;p91">
            <a:extLst>
              <a:ext uri="{FF2B5EF4-FFF2-40B4-BE49-F238E27FC236}">
                <a16:creationId xmlns:a16="http://schemas.microsoft.com/office/drawing/2014/main" id="{F21D5FCE-0B4F-3BF4-415E-B0F347ABB15D}"/>
              </a:ext>
            </a:extLst>
          </p:cNvPr>
          <p:cNvCxnSpPr>
            <a:cxnSpLocks/>
            <a:endCxn id="2056" idx="0"/>
          </p:cNvCxnSpPr>
          <p:nvPr/>
        </p:nvCxnSpPr>
        <p:spPr>
          <a:xfrm flipH="1">
            <a:off x="2288132" y="3469451"/>
            <a:ext cx="3303361" cy="120643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6" name="Google Shape;1274;p91">
            <a:extLst>
              <a:ext uri="{FF2B5EF4-FFF2-40B4-BE49-F238E27FC236}">
                <a16:creationId xmlns:a16="http://schemas.microsoft.com/office/drawing/2014/main" id="{3E55FD45-73CB-0BAB-FF1F-642EC611D55C}"/>
              </a:ext>
            </a:extLst>
          </p:cNvPr>
          <p:cNvCxnSpPr>
            <a:cxnSpLocks/>
            <a:endCxn id="2052" idx="0"/>
          </p:cNvCxnSpPr>
          <p:nvPr/>
        </p:nvCxnSpPr>
        <p:spPr>
          <a:xfrm flipH="1">
            <a:off x="3506780" y="3469451"/>
            <a:ext cx="2366146" cy="978561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7" name="Google Shape;1275;p91">
            <a:extLst>
              <a:ext uri="{FF2B5EF4-FFF2-40B4-BE49-F238E27FC236}">
                <a16:creationId xmlns:a16="http://schemas.microsoft.com/office/drawing/2014/main" id="{63283E34-735D-21C3-5BE6-78846C63C42D}"/>
              </a:ext>
            </a:extLst>
          </p:cNvPr>
          <p:cNvCxnSpPr>
            <a:cxnSpLocks/>
            <a:endCxn id="2062" idx="0"/>
          </p:cNvCxnSpPr>
          <p:nvPr/>
        </p:nvCxnSpPr>
        <p:spPr>
          <a:xfrm>
            <a:off x="6467889" y="3469451"/>
            <a:ext cx="1532583" cy="108704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8" name="Google Shape;1276;p91">
            <a:extLst>
              <a:ext uri="{FF2B5EF4-FFF2-40B4-BE49-F238E27FC236}">
                <a16:creationId xmlns:a16="http://schemas.microsoft.com/office/drawing/2014/main" id="{E8864352-B743-2A38-BD85-A57B8F67282B}"/>
              </a:ext>
            </a:extLst>
          </p:cNvPr>
          <p:cNvCxnSpPr>
            <a:cxnSpLocks/>
            <a:endCxn id="2064" idx="0"/>
          </p:cNvCxnSpPr>
          <p:nvPr/>
        </p:nvCxnSpPr>
        <p:spPr>
          <a:xfrm>
            <a:off x="6958776" y="3469451"/>
            <a:ext cx="4012952" cy="104351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21" name="Google Shape;1281;p91">
            <a:extLst>
              <a:ext uri="{FF2B5EF4-FFF2-40B4-BE49-F238E27FC236}">
                <a16:creationId xmlns:a16="http://schemas.microsoft.com/office/drawing/2014/main" id="{559EDEDA-37B0-D53D-88E6-94FF28C81614}"/>
              </a:ext>
            </a:extLst>
          </p:cNvPr>
          <p:cNvSpPr/>
          <p:nvPr/>
        </p:nvSpPr>
        <p:spPr>
          <a:xfrm>
            <a:off x="1931177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2" name="Google Shape;1282;p91">
            <a:extLst>
              <a:ext uri="{FF2B5EF4-FFF2-40B4-BE49-F238E27FC236}">
                <a16:creationId xmlns:a16="http://schemas.microsoft.com/office/drawing/2014/main" id="{57A1A2DA-FACC-F8B4-B112-2B0E47AB8948}"/>
              </a:ext>
            </a:extLst>
          </p:cNvPr>
          <p:cNvSpPr/>
          <p:nvPr/>
        </p:nvSpPr>
        <p:spPr>
          <a:xfrm>
            <a:off x="562170" y="5175604"/>
            <a:ext cx="656420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5CDE31C-5EAC-F144-D8CA-39D8DE9E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440" y="4534633"/>
            <a:ext cx="1263746" cy="41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FF2445C-53FD-8E1F-23F3-A3859A3F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70" y="4448012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50FA8BB-B486-09A3-59D0-92FADAEBA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60" y="4678284"/>
            <a:ext cx="2233715" cy="284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C0F5823-FE85-CD90-E6C3-B2987CD88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224" y="4675888"/>
            <a:ext cx="1427815" cy="28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C4A75E08-A0D3-270C-B7C0-554365DB7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528" y="4470466"/>
            <a:ext cx="658820" cy="65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454AFA2F-5D20-AAA1-F8E5-FB03D71C2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16" y="4675889"/>
            <a:ext cx="1179299" cy="28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>
            <a:extLst>
              <a:ext uri="{FF2B5EF4-FFF2-40B4-BE49-F238E27FC236}">
                <a16:creationId xmlns:a16="http://schemas.microsoft.com/office/drawing/2014/main" id="{CEAFC79E-E261-39AF-432D-50876A83A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223" y="4556499"/>
            <a:ext cx="1024498" cy="399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>
            <a:extLst>
              <a:ext uri="{FF2B5EF4-FFF2-40B4-BE49-F238E27FC236}">
                <a16:creationId xmlns:a16="http://schemas.microsoft.com/office/drawing/2014/main" id="{E1FE3EF8-4CD6-2323-E318-79AF0152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6862" y="4512963"/>
            <a:ext cx="1369732" cy="44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Google Shape;1276;p91">
            <a:extLst>
              <a:ext uri="{FF2B5EF4-FFF2-40B4-BE49-F238E27FC236}">
                <a16:creationId xmlns:a16="http://schemas.microsoft.com/office/drawing/2014/main" id="{F530B922-C0A7-6A69-88F8-B916D2832789}"/>
              </a:ext>
            </a:extLst>
          </p:cNvPr>
          <p:cNvCxnSpPr>
            <a:cxnSpLocks/>
            <a:endCxn id="2050" idx="0"/>
          </p:cNvCxnSpPr>
          <p:nvPr/>
        </p:nvCxnSpPr>
        <p:spPr>
          <a:xfrm>
            <a:off x="6711126" y="3469451"/>
            <a:ext cx="2578187" cy="1065182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29" name="Google Shape;1275;p91">
            <a:extLst>
              <a:ext uri="{FF2B5EF4-FFF2-40B4-BE49-F238E27FC236}">
                <a16:creationId xmlns:a16="http://schemas.microsoft.com/office/drawing/2014/main" id="{0172B925-F022-6E92-1744-767CEBAE55C7}"/>
              </a:ext>
            </a:extLst>
          </p:cNvPr>
          <p:cNvCxnSpPr>
            <a:cxnSpLocks/>
            <a:endCxn id="2058" idx="0"/>
          </p:cNvCxnSpPr>
          <p:nvPr/>
        </p:nvCxnSpPr>
        <p:spPr>
          <a:xfrm>
            <a:off x="6272975" y="3469451"/>
            <a:ext cx="591963" cy="1001015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32" name="Google Shape;1275;p91">
            <a:extLst>
              <a:ext uri="{FF2B5EF4-FFF2-40B4-BE49-F238E27FC236}">
                <a16:creationId xmlns:a16="http://schemas.microsoft.com/office/drawing/2014/main" id="{CE8B8E16-D5F9-02B0-6E31-2B548765BF69}"/>
              </a:ext>
            </a:extLst>
          </p:cNvPr>
          <p:cNvCxnSpPr>
            <a:cxnSpLocks/>
            <a:endCxn id="2054" idx="0"/>
          </p:cNvCxnSpPr>
          <p:nvPr/>
        </p:nvCxnSpPr>
        <p:spPr>
          <a:xfrm flipH="1">
            <a:off x="5156118" y="3469451"/>
            <a:ext cx="921947" cy="1208833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41" name="Google Shape;1273;p91">
            <a:extLst>
              <a:ext uri="{FF2B5EF4-FFF2-40B4-BE49-F238E27FC236}">
                <a16:creationId xmlns:a16="http://schemas.microsoft.com/office/drawing/2014/main" id="{6957D4B1-33B9-52FB-5A1D-2D4DC0AF3D7A}"/>
              </a:ext>
            </a:extLst>
          </p:cNvPr>
          <p:cNvCxnSpPr>
            <a:cxnSpLocks/>
            <a:endCxn id="2060" idx="0"/>
          </p:cNvCxnSpPr>
          <p:nvPr/>
        </p:nvCxnSpPr>
        <p:spPr>
          <a:xfrm flipH="1">
            <a:off x="931466" y="3469451"/>
            <a:ext cx="4357145" cy="1206438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9" name="Google Shape;1281;p91">
            <a:extLst>
              <a:ext uri="{FF2B5EF4-FFF2-40B4-BE49-F238E27FC236}">
                <a16:creationId xmlns:a16="http://schemas.microsoft.com/office/drawing/2014/main" id="{AB3A4C15-52B1-BD5B-B81B-A63CF099E9C4}"/>
              </a:ext>
            </a:extLst>
          </p:cNvPr>
          <p:cNvSpPr/>
          <p:nvPr/>
        </p:nvSpPr>
        <p:spPr>
          <a:xfrm>
            <a:off x="3197045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0" name="Google Shape;1281;p91">
            <a:extLst>
              <a:ext uri="{FF2B5EF4-FFF2-40B4-BE49-F238E27FC236}">
                <a16:creationId xmlns:a16="http://schemas.microsoft.com/office/drawing/2014/main" id="{E632F3FB-A140-DFFC-B783-B5193A99780E}"/>
              </a:ext>
            </a:extLst>
          </p:cNvPr>
          <p:cNvSpPr/>
          <p:nvPr/>
        </p:nvSpPr>
        <p:spPr>
          <a:xfrm>
            <a:off x="4727992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1" name="Google Shape;1281;p91">
            <a:extLst>
              <a:ext uri="{FF2B5EF4-FFF2-40B4-BE49-F238E27FC236}">
                <a16:creationId xmlns:a16="http://schemas.microsoft.com/office/drawing/2014/main" id="{EE06ABDC-418C-D054-A0A8-28E6CA58EF4D}"/>
              </a:ext>
            </a:extLst>
          </p:cNvPr>
          <p:cNvSpPr/>
          <p:nvPr/>
        </p:nvSpPr>
        <p:spPr>
          <a:xfrm>
            <a:off x="6583542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2" name="Google Shape;1281;p91">
            <a:extLst>
              <a:ext uri="{FF2B5EF4-FFF2-40B4-BE49-F238E27FC236}">
                <a16:creationId xmlns:a16="http://schemas.microsoft.com/office/drawing/2014/main" id="{78FF31DD-B0D9-0CA4-3A8A-3B8B8A4F611D}"/>
              </a:ext>
            </a:extLst>
          </p:cNvPr>
          <p:cNvSpPr/>
          <p:nvPr/>
        </p:nvSpPr>
        <p:spPr>
          <a:xfrm>
            <a:off x="7643518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lt1"/>
                </a:solidFill>
                <a:sym typeface="Arial"/>
              </a:rPr>
              <a:t>edk2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53" name="Google Shape;1281;p91">
            <a:extLst>
              <a:ext uri="{FF2B5EF4-FFF2-40B4-BE49-F238E27FC236}">
                <a16:creationId xmlns:a16="http://schemas.microsoft.com/office/drawing/2014/main" id="{CEC312FB-8ED2-D47C-6222-E837569C05A5}"/>
              </a:ext>
            </a:extLst>
          </p:cNvPr>
          <p:cNvSpPr/>
          <p:nvPr/>
        </p:nvSpPr>
        <p:spPr>
          <a:xfrm>
            <a:off x="8932359" y="5175603"/>
            <a:ext cx="713908" cy="306467"/>
          </a:xfrm>
          <a:prstGeom prst="roundRect">
            <a:avLst>
              <a:gd name="adj" fmla="val 16667"/>
            </a:avLst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4" name="Google Shape;1281;p91">
            <a:extLst>
              <a:ext uri="{FF2B5EF4-FFF2-40B4-BE49-F238E27FC236}">
                <a16:creationId xmlns:a16="http://schemas.microsoft.com/office/drawing/2014/main" id="{959012E7-7A5C-FF41-2C93-04181A55E743}"/>
              </a:ext>
            </a:extLst>
          </p:cNvPr>
          <p:cNvSpPr/>
          <p:nvPr/>
        </p:nvSpPr>
        <p:spPr>
          <a:xfrm>
            <a:off x="10736073" y="5175603"/>
            <a:ext cx="713908" cy="30646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ym typeface="Arial"/>
              </a:rPr>
              <a:t>edk2</a:t>
            </a:r>
            <a:endParaRPr dirty="0"/>
          </a:p>
        </p:txBody>
      </p:sp>
      <p:sp>
        <p:nvSpPr>
          <p:cNvPr id="55" name="Google Shape;1278;p91">
            <a:extLst>
              <a:ext uri="{FF2B5EF4-FFF2-40B4-BE49-F238E27FC236}">
                <a16:creationId xmlns:a16="http://schemas.microsoft.com/office/drawing/2014/main" id="{E8659016-D883-7C81-2AED-6C74FFC6F215}"/>
              </a:ext>
            </a:extLst>
          </p:cNvPr>
          <p:cNvSpPr/>
          <p:nvPr/>
        </p:nvSpPr>
        <p:spPr>
          <a:xfrm>
            <a:off x="9805499" y="3005788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lt1"/>
                </a:solidFill>
                <a:sym typeface="Arial"/>
              </a:rPr>
              <a:t>edk2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56" name="Google Shape;1283;p91">
            <a:extLst>
              <a:ext uri="{FF2B5EF4-FFF2-40B4-BE49-F238E27FC236}">
                <a16:creationId xmlns:a16="http://schemas.microsoft.com/office/drawing/2014/main" id="{3F3E0B35-6DAC-EE24-B165-96DAB9F18FF6}"/>
              </a:ext>
            </a:extLst>
          </p:cNvPr>
          <p:cNvSpPr/>
          <p:nvPr/>
        </p:nvSpPr>
        <p:spPr>
          <a:xfrm>
            <a:off x="1124980" y="2877671"/>
            <a:ext cx="804983" cy="26432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lt1"/>
                </a:solidFill>
                <a:sym typeface="Arial"/>
              </a:rPr>
              <a:t>edk2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57" name="Google Shape;1283;p91">
            <a:extLst>
              <a:ext uri="{FF2B5EF4-FFF2-40B4-BE49-F238E27FC236}">
                <a16:creationId xmlns:a16="http://schemas.microsoft.com/office/drawing/2014/main" id="{CF6A78B3-5F91-D743-A5A1-F820EA89D60D}"/>
              </a:ext>
            </a:extLst>
          </p:cNvPr>
          <p:cNvSpPr/>
          <p:nvPr/>
        </p:nvSpPr>
        <p:spPr>
          <a:xfrm>
            <a:off x="3880012" y="1601152"/>
            <a:ext cx="804983" cy="272415"/>
          </a:xfrm>
          <a:prstGeom prst="roundRect">
            <a:avLst>
              <a:gd name="adj" fmla="val 16667"/>
            </a:avLst>
          </a:prstGeom>
          <a:solidFill>
            <a:schemeClr val="bg1">
              <a:lumMod val="50000"/>
            </a:schemeClr>
          </a:solidFill>
          <a:ln w="19050"/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ym typeface="Arial"/>
              </a:rPr>
              <a:t>edk2</a:t>
            </a:r>
            <a:endParaRPr sz="1600" dirty="0"/>
          </a:p>
        </p:txBody>
      </p:sp>
      <p:cxnSp>
        <p:nvCxnSpPr>
          <p:cNvPr id="2" name="Google Shape;1264;p91">
            <a:extLst>
              <a:ext uri="{FF2B5EF4-FFF2-40B4-BE49-F238E27FC236}">
                <a16:creationId xmlns:a16="http://schemas.microsoft.com/office/drawing/2014/main" id="{9EBF629B-8C85-A8C6-46F4-14226B585091}"/>
              </a:ext>
            </a:extLst>
          </p:cNvPr>
          <p:cNvCxnSpPr>
            <a:cxnSpLocks/>
          </p:cNvCxnSpPr>
          <p:nvPr/>
        </p:nvCxnSpPr>
        <p:spPr>
          <a:xfrm>
            <a:off x="6272975" y="2143124"/>
            <a:ext cx="2384465" cy="43335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4" name="Google Shape;1284;p91">
            <a:extLst>
              <a:ext uri="{FF2B5EF4-FFF2-40B4-BE49-F238E27FC236}">
                <a16:creationId xmlns:a16="http://schemas.microsoft.com/office/drawing/2014/main" id="{A06663FF-6B2A-BD8F-7D14-767FCC7EE43D}"/>
              </a:ext>
            </a:extLst>
          </p:cNvPr>
          <p:cNvSpPr/>
          <p:nvPr/>
        </p:nvSpPr>
        <p:spPr>
          <a:xfrm>
            <a:off x="267815" y="2512048"/>
            <a:ext cx="11620499" cy="3242591"/>
          </a:xfrm>
          <a:prstGeom prst="rect">
            <a:avLst/>
          </a:prstGeom>
          <a:solidFill>
            <a:srgbClr val="FFFFFF">
              <a:alpha val="93000"/>
            </a:srgbClr>
          </a:solidFill>
          <a:ln w="25400" cap="flat" cmpd="sng">
            <a:solidFill>
              <a:srgbClr val="C00000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CVE-2021-33164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CVE-2022-34325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CVE-2022-33983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CVE-2022-33982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CVE-2022-33909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CVE-2022-33908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CVE-2022-33907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CVE-2022-33905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CVE-2022-32267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CVE-2022-32266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CVE-2022-31243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CVE-2022-30774</a:t>
            </a:r>
            <a:r>
              <a:rPr lang="en-US" sz="3200" b="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</a:rPr>
              <a:t>, </a:t>
            </a:r>
            <a:r>
              <a:rPr lang="en-US" sz="3200" b="0" i="0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Calibri" panose="020F0502020204030204" pitchFamily="34" charset="0"/>
                <a:hlinkClick r:id="rId3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CVE-2022-30773</a:t>
            </a:r>
            <a:endParaRPr sz="4400" b="0" i="0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031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132596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sp>
        <p:nvSpPr>
          <p:cNvPr id="1352" name="Google Shape;1352;p94"/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DMA request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 w="28575">
            <a:solidFill>
              <a:srgbClr val="C00000"/>
            </a:solidFill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Read file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5" name="Google Shape;1352;p94">
            <a:extLst>
              <a:ext uri="{FF2B5EF4-FFF2-40B4-BE49-F238E27FC236}">
                <a16:creationId xmlns:a16="http://schemas.microsoft.com/office/drawing/2014/main" id="{ACFEFBCD-7B9D-D5AF-14DE-1189FEBF07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</p:spTree>
    <p:extLst>
      <p:ext uri="{BB962C8B-B14F-4D97-AF65-F5344CB8AC3E}">
        <p14:creationId xmlns:p14="http://schemas.microsoft.com/office/powerpoint/2010/main" val="221577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1" name="Google Shape;1351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-47269" y="2889881"/>
            <a:ext cx="3085136" cy="308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3" name="Google Shape;1353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05953" y="1440757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4" name="Google Shape;1354;p94"/>
          <p:cNvCxnSpPr/>
          <p:nvPr/>
        </p:nvCxnSpPr>
        <p:spPr>
          <a:xfrm>
            <a:off x="10851502" y="2839453"/>
            <a:ext cx="0" cy="2656278"/>
          </a:xfrm>
          <a:prstGeom prst="straightConnector1">
            <a:avLst/>
          </a:prstGeom>
          <a:noFill/>
          <a:ln w="381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55" name="Google Shape;1355;p94"/>
          <p:cNvSpPr/>
          <p:nvPr/>
        </p:nvSpPr>
        <p:spPr>
          <a:xfrm>
            <a:off x="10363120" y="5662138"/>
            <a:ext cx="100540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92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timeline</a:t>
            </a:r>
            <a:endParaRPr sz="16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Asap SemiBold"/>
              <a:cs typeface="Segoe UI" panose="020B0502040204020203" pitchFamily="34" charset="0"/>
              <a:sym typeface="Asap SemiBold"/>
            </a:endParaRPr>
          </a:p>
        </p:txBody>
      </p:sp>
      <p:cxnSp>
        <p:nvCxnSpPr>
          <p:cNvPr id="1356" name="Google Shape;1356;p94"/>
          <p:cNvCxnSpPr/>
          <p:nvPr/>
        </p:nvCxnSpPr>
        <p:spPr>
          <a:xfrm rot="10800000" flipH="1">
            <a:off x="3999879" y="3043588"/>
            <a:ext cx="5079598" cy="4063"/>
          </a:xfrm>
          <a:prstGeom prst="straightConnector1">
            <a:avLst/>
          </a:prstGeom>
          <a:noFill/>
          <a:ln w="25400" cap="flat" cmpd="sng">
            <a:solidFill>
              <a:srgbClr val="979797"/>
            </a:solidFill>
            <a:prstDash val="solid"/>
            <a:miter lim="400000"/>
            <a:headEnd type="none" w="sm" len="sm"/>
            <a:tailEnd type="triangle" w="med" len="med"/>
          </a:ln>
        </p:spPr>
      </p:cxnSp>
      <p:cxnSp>
        <p:nvCxnSpPr>
          <p:cNvPr id="1357" name="Google Shape;1357;p94"/>
          <p:cNvCxnSpPr/>
          <p:nvPr/>
        </p:nvCxnSpPr>
        <p:spPr>
          <a:xfrm>
            <a:off x="4263488" y="2488568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8" name="Google Shape;1358;p94"/>
          <p:cNvCxnSpPr/>
          <p:nvPr/>
        </p:nvCxnSpPr>
        <p:spPr>
          <a:xfrm>
            <a:off x="5635531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cxnSp>
        <p:nvCxnSpPr>
          <p:cNvPr id="1359" name="Google Shape;1359;p94"/>
          <p:cNvCxnSpPr/>
          <p:nvPr/>
        </p:nvCxnSpPr>
        <p:spPr>
          <a:xfrm>
            <a:off x="6905764" y="2490151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pic>
        <p:nvPicPr>
          <p:cNvPr id="1360" name="Google Shape;1360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7728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1" name="Google Shape;1361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7431" y="1450893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4" descr="Processor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20361" y="1460532"/>
            <a:ext cx="1146433" cy="1146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3" name="Google Shape;1363;p94"/>
          <p:cNvCxnSpPr/>
          <p:nvPr/>
        </p:nvCxnSpPr>
        <p:spPr>
          <a:xfrm>
            <a:off x="8192123" y="2490149"/>
            <a:ext cx="0" cy="3598065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dash"/>
            <a:miter lim="400000"/>
            <a:headEnd type="none" w="sm" len="sm"/>
            <a:tailEnd type="none" w="sm" len="sm"/>
          </a:ln>
        </p:spPr>
      </p:cxnSp>
      <p:sp>
        <p:nvSpPr>
          <p:cNvPr id="1364" name="Google Shape;1364;p94"/>
          <p:cNvSpPr/>
          <p:nvPr/>
        </p:nvSpPr>
        <p:spPr>
          <a:xfrm>
            <a:off x="2731732" y="353089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Trigger SMI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pic>
        <p:nvPicPr>
          <p:cNvPr id="1365" name="Google Shape;1365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7491" y="1457327"/>
            <a:ext cx="634557" cy="1075139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94"/>
          <p:cNvSpPr/>
          <p:nvPr/>
        </p:nvSpPr>
        <p:spPr>
          <a:xfrm>
            <a:off x="9079476" y="2965885"/>
            <a:ext cx="1152000" cy="19750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Processing Request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500"/>
              <a:buFont typeface="Helvetica Neue"/>
              <a:buNone/>
            </a:pPr>
            <a:r>
              <a:rPr lang="en-US" sz="15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⁞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 dirty="0">
              <a:solidFill>
                <a:srgbClr val="7F7F7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2741630" y="4314631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Validate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68" name="Google Shape;1368;p94"/>
          <p:cNvCxnSpPr>
            <a:stCxn id="1367" idx="1"/>
          </p:cNvCxnSpPr>
          <p:nvPr/>
        </p:nvCxnSpPr>
        <p:spPr>
          <a:xfrm rot="10800000">
            <a:off x="2348930" y="4490566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69" name="Google Shape;1369;p94"/>
          <p:cNvSpPr/>
          <p:nvPr/>
        </p:nvSpPr>
        <p:spPr>
          <a:xfrm>
            <a:off x="2741630" y="5442442"/>
            <a:ext cx="1263375" cy="351869"/>
          </a:xfrm>
          <a:prstGeom prst="roundRect">
            <a:avLst>
              <a:gd name="adj" fmla="val 16667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Use</a:t>
            </a:r>
            <a:endParaRPr sz="14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cxnSp>
        <p:nvCxnSpPr>
          <p:cNvPr id="1370" name="Google Shape;1370;p94"/>
          <p:cNvCxnSpPr>
            <a:stCxn id="1369" idx="1"/>
          </p:cNvCxnSpPr>
          <p:nvPr/>
        </p:nvCxnSpPr>
        <p:spPr>
          <a:xfrm rot="10800000">
            <a:off x="2348930" y="5618377"/>
            <a:ext cx="392700" cy="0"/>
          </a:xfrm>
          <a:prstGeom prst="straightConnector1">
            <a:avLst/>
          </a:prstGeom>
          <a:noFill/>
          <a:ln w="25400" cap="flat" cmpd="sng">
            <a:solidFill>
              <a:srgbClr val="7F7F7F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1" name="Google Shape;1371;p94"/>
          <p:cNvSpPr/>
          <p:nvPr/>
        </p:nvSpPr>
        <p:spPr>
          <a:xfrm>
            <a:off x="2741630" y="2871716"/>
            <a:ext cx="1258248" cy="351869"/>
          </a:xfrm>
          <a:prstGeom prst="roundRect">
            <a:avLst>
              <a:gd name="adj" fmla="val 16667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353535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Read file</a:t>
            </a:r>
            <a:endParaRPr sz="1400" b="0" i="0" u="none" strike="noStrike" cap="none" dirty="0">
              <a:solidFill>
                <a:srgbClr val="353535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2" name="Google Shape;1372;p94"/>
          <p:cNvSpPr/>
          <p:nvPr/>
        </p:nvSpPr>
        <p:spPr>
          <a:xfrm>
            <a:off x="9068769" y="4981329"/>
            <a:ext cx="1152000" cy="372431"/>
          </a:xfrm>
          <a:prstGeom prst="rect">
            <a:avLst/>
          </a:prstGeom>
          <a:solidFill>
            <a:srgbClr val="F7A893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333"/>
              <a:buFont typeface="Helvetica Neue"/>
              <a:buNone/>
            </a:pPr>
            <a:r>
              <a:rPr lang="en-US" sz="1333" b="0" i="0" u="none" strike="noStrike" cap="none" dirty="0">
                <a:solidFill>
                  <a:srgbClr val="C00000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Returns file</a:t>
            </a:r>
          </a:p>
        </p:txBody>
      </p:sp>
      <p:cxnSp>
        <p:nvCxnSpPr>
          <p:cNvPr id="1373" name="Google Shape;1373;p94"/>
          <p:cNvCxnSpPr>
            <a:stCxn id="1372" idx="1"/>
          </p:cNvCxnSpPr>
          <p:nvPr/>
        </p:nvCxnSpPr>
        <p:spPr>
          <a:xfrm rot="10800000">
            <a:off x="2349069" y="5116245"/>
            <a:ext cx="6719700" cy="51300"/>
          </a:xfrm>
          <a:prstGeom prst="straightConnector1">
            <a:avLst/>
          </a:prstGeom>
          <a:noFill/>
          <a:ln w="25400" cap="flat" cmpd="sng">
            <a:solidFill>
              <a:srgbClr val="FF0000"/>
            </a:solidFill>
            <a:prstDash val="solid"/>
            <a:miter lim="400000"/>
            <a:headEnd type="none" w="sm" len="sm"/>
            <a:tailEnd type="triangle" w="med" len="med"/>
          </a:ln>
        </p:spPr>
      </p:cxnSp>
      <p:sp>
        <p:nvSpPr>
          <p:cNvPr id="1374" name="Google Shape;1374;p94"/>
          <p:cNvSpPr/>
          <p:nvPr/>
        </p:nvSpPr>
        <p:spPr>
          <a:xfrm>
            <a:off x="9298908" y="2881004"/>
            <a:ext cx="713135" cy="284780"/>
          </a:xfrm>
          <a:prstGeom prst="parallelogram">
            <a:avLst>
              <a:gd name="adj" fmla="val 25000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F2F2F2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hook</a:t>
            </a:r>
            <a:endParaRPr sz="1400" b="0" i="0" u="none" strike="noStrike" cap="none" dirty="0">
              <a:solidFill>
                <a:srgbClr val="F2F2F2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1375" name="Google Shape;1375;p94"/>
          <p:cNvSpPr/>
          <p:nvPr/>
        </p:nvSpPr>
        <p:spPr>
          <a:xfrm>
            <a:off x="9220556" y="2592742"/>
            <a:ext cx="857242" cy="865505"/>
          </a:xfrm>
          <a:prstGeom prst="mathMultiply">
            <a:avLst>
              <a:gd name="adj1" fmla="val 23520"/>
            </a:avLst>
          </a:prstGeom>
          <a:solidFill>
            <a:srgbClr val="0068B5">
              <a:alpha val="74901"/>
            </a:srgbClr>
          </a:solidFill>
          <a:ln>
            <a:noFill/>
          </a:ln>
        </p:spPr>
        <p:txBody>
          <a:bodyPr spcFirstLastPara="1" wrap="square" lIns="50800" tIns="50800" rIns="50800" bIns="508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rgbClr val="FFFFFF"/>
              </a:solidFill>
              <a:latin typeface="Segoe UI" panose="020B0502040204020203" pitchFamily="34" charset="0"/>
              <a:ea typeface="Helvetica Neue"/>
              <a:cs typeface="Segoe UI" panose="020B0502040204020203" pitchFamily="34" charset="0"/>
              <a:sym typeface="Helvetica Neue"/>
            </a:endParaRPr>
          </a:p>
        </p:txBody>
      </p:sp>
      <p:sp>
        <p:nvSpPr>
          <p:cNvPr id="5" name="Google Shape;1352;p94">
            <a:extLst>
              <a:ext uri="{FF2B5EF4-FFF2-40B4-BE49-F238E27FC236}">
                <a16:creationId xmlns:a16="http://schemas.microsoft.com/office/drawing/2014/main" id="{6E1F5C77-BA39-EAF3-3428-8CDE590068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2947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3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Generating DMA Transactions</a:t>
            </a:r>
          </a:p>
        </p:txBody>
      </p:sp>
    </p:spTree>
    <p:extLst>
      <p:ext uri="{BB962C8B-B14F-4D97-AF65-F5344CB8AC3E}">
        <p14:creationId xmlns:p14="http://schemas.microsoft.com/office/powerpoint/2010/main" val="40554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10056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9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sz="4400" dirty="0"/>
              <a:t>Exploitation From Ring 3</a:t>
            </a:r>
            <a:endParaRPr sz="4400" dirty="0">
              <a:solidFill>
                <a:srgbClr val="A5A5A5"/>
              </a:solidFill>
            </a:endParaRPr>
          </a:p>
        </p:txBody>
      </p:sp>
      <p:pic>
        <p:nvPicPr>
          <p:cNvPr id="1411" name="Google Shape;1411;p96"/>
          <p:cNvPicPr preferRelativeResize="0"/>
          <p:nvPr/>
        </p:nvPicPr>
        <p:blipFill rotWithShape="1">
          <a:blip r:embed="rId4"/>
          <a:srcRect/>
          <a:stretch/>
        </p:blipFill>
        <p:spPr>
          <a:xfrm>
            <a:off x="2014960" y="2354198"/>
            <a:ext cx="8782393" cy="2638393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412" name="Google Shape;1412;p96"/>
          <p:cNvSpPr txBox="1"/>
          <p:nvPr/>
        </p:nvSpPr>
        <p:spPr>
          <a:xfrm>
            <a:off x="3552790" y="5090871"/>
            <a:ext cx="60960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600"/>
              <a:buFont typeface="Asap SemiBold"/>
              <a:buNone/>
            </a:pPr>
            <a:r>
              <a:rPr lang="en-US" sz="1600" b="0" i="0" u="none" strike="noStrike" cap="none" dirty="0">
                <a:solidFill>
                  <a:srgbClr val="7F7F7F"/>
                </a:solidFill>
                <a:latin typeface="Segoe UI" panose="020B0502040204020203" pitchFamily="34" charset="0"/>
                <a:ea typeface="Asap SemiBold"/>
                <a:cs typeface="Segoe UI" panose="020B0502040204020203" pitchFamily="34" charset="0"/>
                <a:sym typeface="Asap SemiBold"/>
              </a:rPr>
              <a:t>https://twitter.com/matrosov/status/1045922881677352961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sz="4400" dirty="0"/>
              <a:t>Exploitation From Ring 3</a:t>
            </a:r>
            <a:br>
              <a:rPr lang="en-US" sz="4400" dirty="0"/>
            </a:br>
            <a:r>
              <a:rPr lang="en-US" sz="3600" kern="0" dirty="0">
                <a:solidFill>
                  <a:srgbClr val="A5A5A5"/>
                </a:solidFill>
              </a:rPr>
              <a:t>Triggering SMI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418" name="Google Shape;1418;p9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AMI provides:</a:t>
            </a:r>
            <a:endParaRPr dirty="0"/>
          </a:p>
          <a:p>
            <a:pPr marL="603226" lvl="1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 Linux driver (</a:t>
            </a:r>
            <a:r>
              <a:rPr lang="en-US" sz="2333" dirty="0" err="1">
                <a:latin typeface="Arial"/>
                <a:ea typeface="Arial"/>
                <a:cs typeface="Arial"/>
                <a:sym typeface="Arial"/>
              </a:rPr>
              <a:t>amifldrv_mod</a:t>
            </a: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603226" lvl="1" indent="-285739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Font typeface="Arial"/>
              <a:buChar char="•"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A signed Windows driver (amifldrv64.sys)</a:t>
            </a:r>
            <a:endParaRPr dirty="0"/>
          </a:p>
          <a:p>
            <a:pPr marL="317487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endParaRPr sz="2333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333"/>
              <a:buNone/>
            </a:pPr>
            <a:r>
              <a:rPr lang="en-US" sz="2333" dirty="0">
                <a:latin typeface="Arial"/>
                <a:ea typeface="Arial"/>
                <a:cs typeface="Arial"/>
                <a:sym typeface="Arial"/>
              </a:rPr>
              <a:t>Both drivers expose APIs for triggering any SMI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191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8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</p:spTree>
    <p:extLst>
      <p:ext uri="{BB962C8B-B14F-4D97-AF65-F5344CB8AC3E}">
        <p14:creationId xmlns:p14="http://schemas.microsoft.com/office/powerpoint/2010/main" val="3626127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707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456;p99">
            <a:extLst>
              <a:ext uri="{FF2B5EF4-FFF2-40B4-BE49-F238E27FC236}">
                <a16:creationId xmlns:a16="http://schemas.microsoft.com/office/drawing/2014/main" id="{940A6534-A122-5DB0-CCDB-D04AC8BDEE93}"/>
              </a:ext>
            </a:extLst>
          </p:cNvPr>
          <p:cNvCxnSpPr>
            <a:cxnSpLocks/>
          </p:cNvCxnSpPr>
          <p:nvPr/>
        </p:nvCxnSpPr>
        <p:spPr>
          <a:xfrm>
            <a:off x="7674318" y="2037523"/>
            <a:ext cx="0" cy="4039427"/>
          </a:xfrm>
          <a:prstGeom prst="straightConnector1">
            <a:avLst/>
          </a:prstGeom>
          <a:noFill/>
          <a:ln w="25400" cap="flat" cmpd="sng">
            <a:solidFill>
              <a:srgbClr val="A5A5A5"/>
            </a:solidFill>
            <a:prstDash val="lgDash"/>
            <a:miter lim="400000"/>
            <a:headEnd type="none" w="sm" len="sm"/>
            <a:tailEnd type="none" w="sm" len="sm"/>
          </a:ln>
        </p:spPr>
      </p:cxnSp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Background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4947794" y="2455921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Kernel [Ring 0]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</p:txBody>
      </p:sp>
      <p:sp>
        <p:nvSpPr>
          <p:cNvPr id="1458" name="Google Shape;1458;p99"/>
          <p:cNvSpPr/>
          <p:nvPr/>
        </p:nvSpPr>
        <p:spPr>
          <a:xfrm>
            <a:off x="9200841" y="2506076"/>
            <a:ext cx="2734906" cy="301844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SMM [Ring -2]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</a:endParaRPr>
          </a:p>
        </p:txBody>
      </p:sp>
      <p:sp>
        <p:nvSpPr>
          <p:cNvPr id="1459" name="Google Shape;1459;p99"/>
          <p:cNvSpPr txBox="1"/>
          <p:nvPr/>
        </p:nvSpPr>
        <p:spPr>
          <a:xfrm>
            <a:off x="7835168" y="2152167"/>
            <a:ext cx="111442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SMRAM</a:t>
            </a:r>
            <a:endParaRPr dirty="0"/>
          </a:p>
        </p:txBody>
      </p:sp>
      <p:sp>
        <p:nvSpPr>
          <p:cNvPr id="1460" name="Google Shape;1460;p99"/>
          <p:cNvSpPr txBox="1"/>
          <p:nvPr/>
        </p:nvSpPr>
        <p:spPr>
          <a:xfrm>
            <a:off x="6830534" y="2152167"/>
            <a:ext cx="67571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RAM</a:t>
            </a:r>
            <a:endParaRPr dirty="0"/>
          </a:p>
        </p:txBody>
      </p:sp>
      <p:sp>
        <p:nvSpPr>
          <p:cNvPr id="1466" name="Google Shape;1466;p99"/>
          <p:cNvSpPr/>
          <p:nvPr/>
        </p:nvSpPr>
        <p:spPr>
          <a:xfrm>
            <a:off x="5393404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1261121" y="2459945"/>
            <a:ext cx="2665777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User-space [Ring 3]</a:t>
            </a:r>
            <a:endParaRPr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470" name="Google Shape;1470;p99"/>
          <p:cNvCxnSpPr>
            <a:cxnSpLocks/>
            <a:stCxn id="13" idx="3"/>
            <a:endCxn id="1466" idx="1"/>
          </p:cNvCxnSpPr>
          <p:nvPr/>
        </p:nvCxnSpPr>
        <p:spPr>
          <a:xfrm>
            <a:off x="3626062" y="4294483"/>
            <a:ext cx="1767342" cy="1538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901E939-0AB9-9D0C-4879-1B59E1CFC794}"/>
              </a:ext>
            </a:extLst>
          </p:cNvPr>
          <p:cNvSpPr txBox="1"/>
          <p:nvPr/>
        </p:nvSpPr>
        <p:spPr>
          <a:xfrm>
            <a:off x="1561959" y="4109817"/>
            <a:ext cx="20641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user-land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ptr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(VA)</a:t>
            </a:r>
          </a:p>
        </p:txBody>
      </p:sp>
      <p:sp>
        <p:nvSpPr>
          <p:cNvPr id="2" name="Google Shape;1494;p100">
            <a:extLst>
              <a:ext uri="{FF2B5EF4-FFF2-40B4-BE49-F238E27FC236}">
                <a16:creationId xmlns:a16="http://schemas.microsoft.com/office/drawing/2014/main" id="{E16F2560-4F20-FDBB-E376-9AFD7ECE84D7}"/>
              </a:ext>
            </a:extLst>
          </p:cNvPr>
          <p:cNvSpPr/>
          <p:nvPr/>
        </p:nvSpPr>
        <p:spPr>
          <a:xfrm>
            <a:off x="5393404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3" name="Google Shape;1490;p100">
            <a:extLst>
              <a:ext uri="{FF2B5EF4-FFF2-40B4-BE49-F238E27FC236}">
                <a16:creationId xmlns:a16="http://schemas.microsoft.com/office/drawing/2014/main" id="{853E85E9-F398-CD44-18F7-D48BBC036905}"/>
              </a:ext>
            </a:extLst>
          </p:cNvPr>
          <p:cNvSpPr/>
          <p:nvPr/>
        </p:nvSpPr>
        <p:spPr>
          <a:xfrm>
            <a:off x="5393403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4646"/>
              </a:buClr>
              <a:buSzPts val="1400"/>
              <a:buFont typeface="Helvetica Neue"/>
              <a:buNone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dirty="0"/>
          </a:p>
        </p:txBody>
      </p:sp>
      <p:cxnSp>
        <p:nvCxnSpPr>
          <p:cNvPr id="9" name="Google Shape;1467;p99">
            <a:extLst>
              <a:ext uri="{FF2B5EF4-FFF2-40B4-BE49-F238E27FC236}">
                <a16:creationId xmlns:a16="http://schemas.microsoft.com/office/drawing/2014/main" id="{CA61868A-7FA8-76DE-22EC-0ADE4ADEE38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833689" y="4294483"/>
            <a:ext cx="2802624" cy="30172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Google Shape;1468;p99">
            <a:extLst>
              <a:ext uri="{FF2B5EF4-FFF2-40B4-BE49-F238E27FC236}">
                <a16:creationId xmlns:a16="http://schemas.microsoft.com/office/drawing/2014/main" id="{809B2D7B-FF03-66B1-E4F2-96560CD83EDB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F152C734-B7B4-7834-1384-864138AEFC0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64432" y="3978192"/>
            <a:ext cx="1013640" cy="718565"/>
          </a:xfrm>
          <a:prstGeom prst="bentConnector4">
            <a:avLst>
              <a:gd name="adj1" fmla="val 42944"/>
              <a:gd name="adj2" fmla="val 131813"/>
            </a:avLst>
          </a:prstGeom>
          <a:solidFill>
            <a:srgbClr val="F2F2F2">
              <a:alpha val="76862"/>
            </a:srgbClr>
          </a:solidFill>
          <a:ln w="285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triangle" w="med" len="med"/>
            <a:tailEnd type="none" w="med" len="med"/>
          </a:ln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0392377-E531-AFFD-BF1B-E36004C4FD4F}"/>
              </a:ext>
            </a:extLst>
          </p:cNvPr>
          <p:cNvSpPr txBox="1"/>
          <p:nvPr/>
        </p:nvSpPr>
        <p:spPr>
          <a:xfrm>
            <a:off x="9636313" y="4109817"/>
            <a:ext cx="1863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smm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ptr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 (PA)</a:t>
            </a:r>
          </a:p>
        </p:txBody>
      </p:sp>
    </p:spTree>
    <p:extLst>
      <p:ext uri="{BB962C8B-B14F-4D97-AF65-F5344CB8AC3E}">
        <p14:creationId xmlns:p14="http://schemas.microsoft.com/office/powerpoint/2010/main" val="335231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 animBg="1"/>
      <p:bldP spid="3" grpId="0" animBg="1"/>
      <p:bldP spid="8" grpId="0"/>
      <p:bldP spid="1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</a:t>
            </a:r>
            <a:endParaRPr lang="en-US" b="1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b="1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4" name="Google Shape;1494;p100">
            <a:extLst>
              <a:ext uri="{FF2B5EF4-FFF2-40B4-BE49-F238E27FC236}">
                <a16:creationId xmlns:a16="http://schemas.microsoft.com/office/drawing/2014/main" id="{B581A642-11D8-DEFF-3DC8-F496099F7898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5" name="Google Shape;1490;p100">
            <a:extLst>
              <a:ext uri="{FF2B5EF4-FFF2-40B4-BE49-F238E27FC236}">
                <a16:creationId xmlns:a16="http://schemas.microsoft.com/office/drawing/2014/main" id="{582EDE6A-373B-8E84-EE8C-3EB9224EC751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6" name="Google Shape;1495;p100">
            <a:extLst>
              <a:ext uri="{FF2B5EF4-FFF2-40B4-BE49-F238E27FC236}">
                <a16:creationId xmlns:a16="http://schemas.microsoft.com/office/drawing/2014/main" id="{FDBDE97E-F5CB-5D38-97B4-8B927E8A7F2D}"/>
              </a:ext>
            </a:extLst>
          </p:cNvPr>
          <p:cNvCxnSpPr>
            <a:cxnSpLocks/>
            <a:stCxn id="5" idx="3"/>
            <a:endCxn id="4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4F4AEFD1-FE3E-27B7-5990-1E5CEF5C03AC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496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25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25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dirty="0" err="1">
                <a:solidFill>
                  <a:srgbClr val="DADADA"/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rgbClr val="FF0000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dirty="0" err="1">
                <a:solidFill>
                  <a:srgbClr val="DADADA"/>
                </a:solidFill>
                <a:latin typeface="Consolas"/>
              </a:rPr>
              <a:t>gMailboxVA</a:t>
            </a:r>
            <a:endParaRPr lang="en-US" dirty="0">
              <a:solidFill>
                <a:srgbClr val="DADADA"/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Google Shape;1468;p99">
            <a:extLst>
              <a:ext uri="{FF2B5EF4-FFF2-40B4-BE49-F238E27FC236}">
                <a16:creationId xmlns:a16="http://schemas.microsoft.com/office/drawing/2014/main" id="{56E78081-1CEC-CDE6-F82B-F251BBAB3B83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390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75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67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75"/>
                            </p:stCondLst>
                            <p:childTnLst>
                              <p:par>
                                <p:cTn id="19" presetID="3" presetClass="emph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" dur="1125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6CFE2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1225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86CFE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</a:t>
            </a:r>
            <a:r>
              <a:rPr lang="en-US" dirty="0" err="1">
                <a:solidFill>
                  <a:srgbClr val="DADADA"/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lang="en-US"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rgbClr val="FF0000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55B61C-0DE6-54CB-D869-61599C33B2C4}"/>
              </a:ext>
            </a:extLst>
          </p:cNvPr>
          <p:cNvSpPr txBox="1"/>
          <p:nvPr/>
        </p:nvSpPr>
        <p:spPr>
          <a:xfrm>
            <a:off x="68668" y="4805450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dirty="0" err="1">
                <a:solidFill>
                  <a:srgbClr val="DADADA"/>
                </a:solidFill>
                <a:latin typeface="Consolas"/>
              </a:rPr>
              <a:t>gBufferVA</a:t>
            </a:r>
            <a:endParaRPr lang="en-US" dirty="0">
              <a:solidFill>
                <a:srgbClr val="DADADA"/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80A75306-C927-17A2-1CCE-58D363D815D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1505799" y="4978797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2BA47B2E-1ED6-DE4B-849A-8D866DAD63A1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23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650"/>
                            </p:stCondLst>
                            <p:childTnLst>
                              <p:par>
                                <p:cTn id="8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9" dur="indefinite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875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375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875"/>
                            </p:stCondLst>
                            <p:childTnLst>
                              <p:par>
                                <p:cTn id="22" presetID="3" presetClass="emph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" dur="113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C47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113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7C47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allAtOnce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457" name="Google Shape;1457;p99"/>
          <p:cNvSpPr/>
          <p:nvPr/>
        </p:nvSpPr>
        <p:spPr>
          <a:xfrm>
            <a:off x="1806978" y="2456274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6" name="Google Shape;1466;p99"/>
          <p:cNvSpPr/>
          <p:nvPr/>
        </p:nvSpPr>
        <p:spPr>
          <a:xfrm>
            <a:off x="2251860" y="3293652"/>
            <a:ext cx="1437131" cy="203244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468" name="Google Shape;1468;p99"/>
          <p:cNvSpPr/>
          <p:nvPr/>
        </p:nvSpPr>
        <p:spPr>
          <a:xfrm>
            <a:off x="-413918" y="2451705"/>
            <a:ext cx="266577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4080690" y="2154762"/>
            <a:ext cx="7814716" cy="341627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lang="en-US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dirty="0">
                <a:solidFill>
                  <a:srgbClr val="DADADA"/>
                </a:solidFill>
                <a:latin typeface="Consolas"/>
                <a:sym typeface="Calibri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 // populates mailbox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</a:t>
            </a:r>
            <a:r>
              <a:rPr lang="en-US" sz="1800" dirty="0" err="1">
                <a:solidFill>
                  <a:srgbClr val="F7C475"/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)        =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+ 0x08) = </a:t>
            </a:r>
            <a:r>
              <a:rPr lang="en-US" sz="1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3" name="Google Shape;1494;p100">
            <a:extLst>
              <a:ext uri="{FF2B5EF4-FFF2-40B4-BE49-F238E27FC236}">
                <a16:creationId xmlns:a16="http://schemas.microsoft.com/office/drawing/2014/main" id="{CE920254-3685-7C7E-CF62-A6A9DB216A51}"/>
              </a:ext>
            </a:extLst>
          </p:cNvPr>
          <p:cNvSpPr/>
          <p:nvPr/>
        </p:nvSpPr>
        <p:spPr>
          <a:xfrm>
            <a:off x="2251860" y="4844294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4" name="Google Shape;1490;p100">
            <a:extLst>
              <a:ext uri="{FF2B5EF4-FFF2-40B4-BE49-F238E27FC236}">
                <a16:creationId xmlns:a16="http://schemas.microsoft.com/office/drawing/2014/main" id="{9980ACFD-381E-1D91-B616-8F464D7D48C5}"/>
              </a:ext>
            </a:extLst>
          </p:cNvPr>
          <p:cNvSpPr/>
          <p:nvPr/>
        </p:nvSpPr>
        <p:spPr>
          <a:xfrm>
            <a:off x="2251859" y="3687619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cxnSp>
        <p:nvCxnSpPr>
          <p:cNvPr id="5" name="Google Shape;1495;p100">
            <a:extLst>
              <a:ext uri="{FF2B5EF4-FFF2-40B4-BE49-F238E27FC236}">
                <a16:creationId xmlns:a16="http://schemas.microsoft.com/office/drawing/2014/main" id="{D4BD9E95-C566-DC2F-D7FF-04F470016DA9}"/>
              </a:ext>
            </a:extLst>
          </p:cNvPr>
          <p:cNvCxnSpPr>
            <a:cxnSpLocks/>
            <a:stCxn id="4" idx="3"/>
            <a:endCxn id="3" idx="0"/>
          </p:cNvCxnSpPr>
          <p:nvPr/>
        </p:nvCxnSpPr>
        <p:spPr>
          <a:xfrm flipH="1">
            <a:off x="2970425" y="3830654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8A1B02C-3AAD-B230-50DF-DD61406534CE}"/>
              </a:ext>
            </a:extLst>
          </p:cNvPr>
          <p:cNvSpPr txBox="1"/>
          <p:nvPr/>
        </p:nvSpPr>
        <p:spPr>
          <a:xfrm>
            <a:off x="68668" y="365352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7" name="Google Shape;1470;p99">
            <a:extLst>
              <a:ext uri="{FF2B5EF4-FFF2-40B4-BE49-F238E27FC236}">
                <a16:creationId xmlns:a16="http://schemas.microsoft.com/office/drawing/2014/main" id="{3BBF9631-B56A-9F3F-FE57-A509F513EF2E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1505799" y="3830654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55B61C-0DE6-54CB-D869-61599C33B2C4}"/>
              </a:ext>
            </a:extLst>
          </p:cNvPr>
          <p:cNvSpPr txBox="1"/>
          <p:nvPr/>
        </p:nvSpPr>
        <p:spPr>
          <a:xfrm>
            <a:off x="68668" y="4805450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80A75306-C927-17A2-1CCE-58D363D815D9}"/>
              </a:ext>
            </a:extLst>
          </p:cNvPr>
          <p:cNvCxnSpPr>
            <a:cxnSpLocks/>
            <a:stCxn id="8" idx="3"/>
            <a:endCxn id="3" idx="1"/>
          </p:cNvCxnSpPr>
          <p:nvPr/>
        </p:nvCxnSpPr>
        <p:spPr>
          <a:xfrm flipV="1">
            <a:off x="1505799" y="4978797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4E20D5-A138-0F1B-4C30-1BDB5A42CFC4}"/>
              </a:ext>
            </a:extLst>
          </p:cNvPr>
          <p:cNvSpPr txBox="1"/>
          <p:nvPr/>
        </p:nvSpPr>
        <p:spPr>
          <a:xfrm>
            <a:off x="4080689" y="3048001"/>
            <a:ext cx="7814717" cy="790188"/>
          </a:xfrm>
          <a:prstGeom prst="rect">
            <a:avLst/>
          </a:prstGeom>
          <a:solidFill>
            <a:schemeClr val="bg1">
              <a:lumMod val="95000"/>
              <a:alpha val="84000"/>
            </a:schemeClr>
          </a:solidFill>
        </p:spPr>
        <p:txBody>
          <a:bodyPr wrap="square" rtlCol="0" anchor="ctr" anchorCtr="1">
            <a:noAutofit/>
          </a:bodyPr>
          <a:lstStyle/>
          <a:p>
            <a:pPr algn="ctr"/>
            <a:r>
              <a:rPr lang="en-US" sz="2000" dirty="0"/>
              <a:t>to modify </a:t>
            </a:r>
            <a:r>
              <a:rPr lang="en-US" sz="2000" dirty="0">
                <a:latin typeface="Consolas" panose="020B0609020204030204" pitchFamily="49" charset="0"/>
              </a:rPr>
              <a:t>*(</a:t>
            </a:r>
            <a:r>
              <a:rPr lang="en-US" sz="2000" dirty="0" err="1">
                <a:latin typeface="Consolas" panose="020B0609020204030204" pitchFamily="49" charset="0"/>
              </a:rPr>
              <a:t>gMailboxVA</a:t>
            </a:r>
            <a:r>
              <a:rPr lang="en-US" sz="2000" dirty="0">
                <a:latin typeface="Consolas" panose="020B0609020204030204" pitchFamily="49" charset="0"/>
              </a:rPr>
              <a:t> + 8)</a:t>
            </a:r>
            <a:endParaRPr lang="en-IL" sz="2000" dirty="0">
              <a:latin typeface="Consolas" panose="020B0609020204030204" pitchFamily="49" charset="0"/>
            </a:endParaRPr>
          </a:p>
        </p:txBody>
      </p:sp>
      <p:cxnSp>
        <p:nvCxnSpPr>
          <p:cNvPr id="13" name="Google Shape;1470;p99">
            <a:extLst>
              <a:ext uri="{FF2B5EF4-FFF2-40B4-BE49-F238E27FC236}">
                <a16:creationId xmlns:a16="http://schemas.microsoft.com/office/drawing/2014/main" id="{3B06768D-37C8-E6ED-D814-7441AD5D1A76}"/>
              </a:ext>
            </a:extLst>
          </p:cNvPr>
          <p:cNvCxnSpPr>
            <a:cxnSpLocks/>
          </p:cNvCxnSpPr>
          <p:nvPr/>
        </p:nvCxnSpPr>
        <p:spPr>
          <a:xfrm>
            <a:off x="11582186" y="3048001"/>
            <a:ext cx="0" cy="77055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stealth" w="med" len="med"/>
            <a:tailEnd type="stealth" w="med" len="med"/>
          </a:ln>
        </p:spPr>
      </p:cxnSp>
      <p:pic>
        <p:nvPicPr>
          <p:cNvPr id="14" name="Graphic 13" descr="Race Car outline">
            <a:extLst>
              <a:ext uri="{FF2B5EF4-FFF2-40B4-BE49-F238E27FC236}">
                <a16:creationId xmlns:a16="http://schemas.microsoft.com/office/drawing/2014/main" id="{2816FDCC-3AF8-33E4-6907-9669F37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81600" y="2971800"/>
            <a:ext cx="914400" cy="914400"/>
          </a:xfrm>
          <a:prstGeom prst="rect">
            <a:avLst/>
          </a:prstGeom>
        </p:spPr>
      </p:pic>
      <p:sp>
        <p:nvSpPr>
          <p:cNvPr id="2" name="Google Shape;1468;p99">
            <a:extLst>
              <a:ext uri="{FF2B5EF4-FFF2-40B4-BE49-F238E27FC236}">
                <a16:creationId xmlns:a16="http://schemas.microsoft.com/office/drawing/2014/main" id="{4214A8B6-44DB-C982-E0DE-F6A08D3676AF}"/>
              </a:ext>
            </a:extLst>
          </p:cNvPr>
          <p:cNvSpPr/>
          <p:nvPr/>
        </p:nvSpPr>
        <p:spPr>
          <a:xfrm>
            <a:off x="0" y="6266998"/>
            <a:ext cx="12191997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sz="1700" i="0" u="none" strike="noStrike" cap="none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PA = Physical Address; VA = Virtual Address</a:t>
            </a:r>
            <a:endParaRPr sz="1700" dirty="0">
              <a:solidFill>
                <a:schemeClr val="bg1">
                  <a:lumMod val="6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46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700" b="1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3D1F17-6EB1-42D0-0ACD-A0FA4EAD5535}"/>
              </a:ext>
            </a:extLst>
          </p:cNvPr>
          <p:cNvSpPr txBox="1"/>
          <p:nvPr/>
        </p:nvSpPr>
        <p:spPr>
          <a:xfrm>
            <a:off x="5162039" y="2977383"/>
            <a:ext cx="6648131" cy="1619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Trigger </a:t>
            </a:r>
            <a:r>
              <a:rPr lang="en-US" sz="2300" dirty="0" err="1">
                <a:latin typeface="Segoe UI" panose="020B0502040204020203" pitchFamily="34" charset="0"/>
                <a:cs typeface="Segoe UI" panose="020B0502040204020203" pitchFamily="34" charset="0"/>
              </a:rPr>
              <a:t>buffer_mapping_ioctl</a:t>
            </a: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 twice: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Get access to </a:t>
            </a:r>
            <a:r>
              <a:rPr lang="en-US" sz="2300" dirty="0" err="1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gMailboxVA</a:t>
            </a:r>
            <a:endParaRPr lang="en-US" sz="23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300" dirty="0">
                <a:latin typeface="Segoe UI" panose="020B0502040204020203" pitchFamily="34" charset="0"/>
                <a:cs typeface="Segoe UI" panose="020B0502040204020203" pitchFamily="34" charset="0"/>
              </a:rPr>
              <a:t>Modify mailbox and exploit the race-condition</a:t>
            </a:r>
          </a:p>
        </p:txBody>
      </p:sp>
      <p:sp>
        <p:nvSpPr>
          <p:cNvPr id="2" name="Google Shape;1457;p99">
            <a:extLst>
              <a:ext uri="{FF2B5EF4-FFF2-40B4-BE49-F238E27FC236}">
                <a16:creationId xmlns:a16="http://schemas.microsoft.com/office/drawing/2014/main" id="{BD5E1310-7672-6806-B37D-BDC350BE15B7}"/>
              </a:ext>
            </a:extLst>
          </p:cNvPr>
          <p:cNvSpPr/>
          <p:nvPr/>
        </p:nvSpPr>
        <p:spPr>
          <a:xfrm>
            <a:off x="2723325" y="2140005"/>
            <a:ext cx="2273712" cy="36109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algn="ctr">
              <a:buClr>
                <a:srgbClr val="0070C0"/>
              </a:buClr>
              <a:buSzPts val="1800"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0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Google Shape;1466;p99">
            <a:extLst>
              <a:ext uri="{FF2B5EF4-FFF2-40B4-BE49-F238E27FC236}">
                <a16:creationId xmlns:a16="http://schemas.microsoft.com/office/drawing/2014/main" id="{3839980F-968A-B0B9-25AE-869775CD9137}"/>
              </a:ext>
            </a:extLst>
          </p:cNvPr>
          <p:cNvSpPr/>
          <p:nvPr/>
        </p:nvSpPr>
        <p:spPr>
          <a:xfrm>
            <a:off x="3168207" y="2977382"/>
            <a:ext cx="1437131" cy="3242167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4" name="Google Shape;1468;p99">
            <a:extLst>
              <a:ext uri="{FF2B5EF4-FFF2-40B4-BE49-F238E27FC236}">
                <a16:creationId xmlns:a16="http://schemas.microsoft.com/office/drawing/2014/main" id="{D352E815-6C3F-5568-F2C9-EB38478498F0}"/>
              </a:ext>
            </a:extLst>
          </p:cNvPr>
          <p:cNvSpPr/>
          <p:nvPr/>
        </p:nvSpPr>
        <p:spPr>
          <a:xfrm>
            <a:off x="502430" y="2135436"/>
            <a:ext cx="2467016" cy="3610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07400" tIns="454350" rIns="307400" bIns="4543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Arial"/>
              <a:buNone/>
            </a:pPr>
            <a:r>
              <a:rPr lang="en-US" u="sng" dirty="0">
                <a:solidFill>
                  <a:schemeClr val="accent4">
                    <a:lumMod val="40000"/>
                    <a:lumOff val="6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Ring 3</a:t>
            </a:r>
            <a:endParaRPr u="sng" dirty="0">
              <a:solidFill>
                <a:schemeClr val="accent4">
                  <a:lumMod val="40000"/>
                  <a:lumOff val="6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Google Shape;1494;p100">
            <a:extLst>
              <a:ext uri="{FF2B5EF4-FFF2-40B4-BE49-F238E27FC236}">
                <a16:creationId xmlns:a16="http://schemas.microsoft.com/office/drawing/2014/main" id="{586CFF9B-8DDC-BF5B-B7D8-DC39944A17FE}"/>
              </a:ext>
            </a:extLst>
          </p:cNvPr>
          <p:cNvSpPr/>
          <p:nvPr/>
        </p:nvSpPr>
        <p:spPr>
          <a:xfrm>
            <a:off x="3168207" y="4528025"/>
            <a:ext cx="1437130" cy="26900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buffer</a:t>
            </a:r>
            <a:endParaRPr lang="en-US" dirty="0"/>
          </a:p>
        </p:txBody>
      </p:sp>
      <p:sp>
        <p:nvSpPr>
          <p:cNvPr id="6" name="Google Shape;1490;p100">
            <a:extLst>
              <a:ext uri="{FF2B5EF4-FFF2-40B4-BE49-F238E27FC236}">
                <a16:creationId xmlns:a16="http://schemas.microsoft.com/office/drawing/2014/main" id="{92602107-3930-945F-F073-504F0F1EA848}"/>
              </a:ext>
            </a:extLst>
          </p:cNvPr>
          <p:cNvSpPr/>
          <p:nvPr/>
        </p:nvSpPr>
        <p:spPr>
          <a:xfrm>
            <a:off x="3168206" y="3371350"/>
            <a:ext cx="1437131" cy="286070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mailbox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B5B76C-7CE0-53A3-ED7E-48BF7A3B4CC6}"/>
              </a:ext>
            </a:extLst>
          </p:cNvPr>
          <p:cNvSpPr txBox="1"/>
          <p:nvPr/>
        </p:nvSpPr>
        <p:spPr>
          <a:xfrm>
            <a:off x="985015" y="3337253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</a:rPr>
              <a:t>gMailboxVA</a:t>
            </a:r>
            <a:endParaRPr lang="en-US" sz="1800" dirty="0">
              <a:solidFill>
                <a:schemeClr val="accent3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9" name="Google Shape;1470;p99">
            <a:extLst>
              <a:ext uri="{FF2B5EF4-FFF2-40B4-BE49-F238E27FC236}">
                <a16:creationId xmlns:a16="http://schemas.microsoft.com/office/drawing/2014/main" id="{E27C0F92-33CD-CDAF-012F-0A121C3780E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2422146" y="3514385"/>
            <a:ext cx="746060" cy="7534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4D18AE-752B-56ED-9C37-B3B789C94DB9}"/>
              </a:ext>
            </a:extLst>
          </p:cNvPr>
          <p:cNvSpPr txBox="1"/>
          <p:nvPr/>
        </p:nvSpPr>
        <p:spPr>
          <a:xfrm>
            <a:off x="985015" y="4489181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11" name="Google Shape;1470;p99">
            <a:extLst>
              <a:ext uri="{FF2B5EF4-FFF2-40B4-BE49-F238E27FC236}">
                <a16:creationId xmlns:a16="http://schemas.microsoft.com/office/drawing/2014/main" id="{39EA285B-E0D9-B865-785F-F5C56FED1F02}"/>
              </a:ext>
            </a:extLst>
          </p:cNvPr>
          <p:cNvCxnSpPr>
            <a:cxnSpLocks/>
            <a:stCxn id="10" idx="3"/>
            <a:endCxn id="5" idx="1"/>
          </p:cNvCxnSpPr>
          <p:nvPr/>
        </p:nvCxnSpPr>
        <p:spPr>
          <a:xfrm flipV="1">
            <a:off x="2422146" y="4662528"/>
            <a:ext cx="746061" cy="11319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  <p:cxnSp>
        <p:nvCxnSpPr>
          <p:cNvPr id="7" name="Google Shape;1495;p100">
            <a:extLst>
              <a:ext uri="{FF2B5EF4-FFF2-40B4-BE49-F238E27FC236}">
                <a16:creationId xmlns:a16="http://schemas.microsoft.com/office/drawing/2014/main" id="{3F7386E0-4E84-8587-6765-F0DE31F3EA11}"/>
              </a:ext>
            </a:extLst>
          </p:cNvPr>
          <p:cNvCxnSpPr>
            <a:cxnSpLocks/>
            <a:stCxn id="6" idx="3"/>
            <a:endCxn id="5" idx="0"/>
          </p:cNvCxnSpPr>
          <p:nvPr/>
        </p:nvCxnSpPr>
        <p:spPr>
          <a:xfrm flipH="1">
            <a:off x="3886772" y="3514385"/>
            <a:ext cx="718565" cy="1013640"/>
          </a:xfrm>
          <a:prstGeom prst="bentConnector4">
            <a:avLst>
              <a:gd name="adj1" fmla="val -31813"/>
              <a:gd name="adj2" fmla="val 57055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17" name="Google Shape;1494;p100">
            <a:extLst>
              <a:ext uri="{FF2B5EF4-FFF2-40B4-BE49-F238E27FC236}">
                <a16:creationId xmlns:a16="http://schemas.microsoft.com/office/drawing/2014/main" id="{42322A68-288D-5A9B-11B7-B11342DA7E63}"/>
              </a:ext>
            </a:extLst>
          </p:cNvPr>
          <p:cNvSpPr/>
          <p:nvPr/>
        </p:nvSpPr>
        <p:spPr>
          <a:xfrm>
            <a:off x="3168207" y="5312195"/>
            <a:ext cx="1437130" cy="816786"/>
          </a:xfrm>
          <a:prstGeom prst="rect">
            <a:avLst/>
          </a:prstGeom>
          <a:solidFill>
            <a:srgbClr val="F2F2F2">
              <a:alpha val="76862"/>
            </a:srgbClr>
          </a:solidFill>
          <a:ln w="12700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algn="ctr">
              <a:buClr>
                <a:srgbClr val="464646"/>
              </a:buClr>
              <a:buSzPts val="1400"/>
            </a:pPr>
            <a:r>
              <a:rPr lang="en-US" sz="1400" b="0" i="0" u="none" strike="noStrike" cap="none" dirty="0">
                <a:solidFill>
                  <a:srgbClr val="464646"/>
                </a:solidFill>
                <a:latin typeface="Segoe UI" panose="020B0502040204020203" pitchFamily="34" charset="0"/>
                <a:ea typeface="Helvetica Neue"/>
                <a:cs typeface="Segoe UI" panose="020B0502040204020203" pitchFamily="34" charset="0"/>
                <a:sym typeface="Helvetica Neue"/>
              </a:rPr>
              <a:t>arbitrary physical address</a:t>
            </a:r>
            <a:endParaRPr lang="en-US" dirty="0"/>
          </a:p>
        </p:txBody>
      </p:sp>
      <p:cxnSp>
        <p:nvCxnSpPr>
          <p:cNvPr id="18" name="Google Shape;1495;p100">
            <a:extLst>
              <a:ext uri="{FF2B5EF4-FFF2-40B4-BE49-F238E27FC236}">
                <a16:creationId xmlns:a16="http://schemas.microsoft.com/office/drawing/2014/main" id="{D7EE9B8E-B76D-97DE-AEC9-E52692BEB765}"/>
              </a:ext>
            </a:extLst>
          </p:cNvPr>
          <p:cNvCxnSpPr>
            <a:cxnSpLocks/>
            <a:stCxn id="6" idx="3"/>
            <a:endCxn id="17" idx="3"/>
          </p:cNvCxnSpPr>
          <p:nvPr/>
        </p:nvCxnSpPr>
        <p:spPr>
          <a:xfrm>
            <a:off x="4605337" y="3514385"/>
            <a:ext cx="12700" cy="2206203"/>
          </a:xfrm>
          <a:prstGeom prst="bentConnector3">
            <a:avLst>
              <a:gd name="adj1" fmla="val 1800000"/>
            </a:avLst>
          </a:prstGeom>
          <a:solidFill>
            <a:srgbClr val="F2F2F2">
              <a:alpha val="76862"/>
            </a:srgbClr>
          </a:solidFill>
          <a:ln w="41275" cap="flat" cmpd="sng">
            <a:solidFill>
              <a:schemeClr val="accent5">
                <a:alpha val="33725"/>
              </a:schemeClr>
            </a:solidFill>
            <a:prstDash val="solid"/>
            <a:miter lim="400000"/>
            <a:headEnd type="none" w="sm" len="sm"/>
            <a:tailEnd type="stealth" w="med" len="med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7DD9EB4-C010-AE42-EF56-968FE10EA777}"/>
              </a:ext>
            </a:extLst>
          </p:cNvPr>
          <p:cNvSpPr txBox="1"/>
          <p:nvPr/>
        </p:nvSpPr>
        <p:spPr>
          <a:xfrm>
            <a:off x="996189" y="5544452"/>
            <a:ext cx="1437131" cy="369332"/>
          </a:xfrm>
          <a:prstGeom prst="rect">
            <a:avLst/>
          </a:prstGeom>
          <a:solidFill>
            <a:srgbClr val="3F3F3F"/>
          </a:solidFill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Clr>
                <a:srgbClr val="0070C0"/>
              </a:buClr>
              <a:buSzPts val="1800"/>
              <a:buNone/>
              <a:defRPr>
                <a:solidFill>
                  <a:srgbClr val="0070C0"/>
                </a:solidFill>
              </a:defRPr>
            </a:lvl1pPr>
          </a:lstStyle>
          <a:p>
            <a:pPr algn="r"/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</a:rPr>
              <a:t>gBufferVA</a:t>
            </a:r>
            <a:endParaRPr lang="en-US" sz="1800" dirty="0">
              <a:solidFill>
                <a:schemeClr val="accent6">
                  <a:lumMod val="60000"/>
                  <a:lumOff val="40000"/>
                </a:schemeClr>
              </a:solidFill>
              <a:latin typeface="Consolas"/>
            </a:endParaRPr>
          </a:p>
        </p:txBody>
      </p:sp>
      <p:cxnSp>
        <p:nvCxnSpPr>
          <p:cNvPr id="25" name="Google Shape;1470;p99">
            <a:extLst>
              <a:ext uri="{FF2B5EF4-FFF2-40B4-BE49-F238E27FC236}">
                <a16:creationId xmlns:a16="http://schemas.microsoft.com/office/drawing/2014/main" id="{5FA13FE3-AF51-F271-85B2-076C6568EF84}"/>
              </a:ext>
            </a:extLst>
          </p:cNvPr>
          <p:cNvCxnSpPr>
            <a:cxnSpLocks/>
            <a:stCxn id="24" idx="3"/>
            <a:endCxn id="17" idx="1"/>
          </p:cNvCxnSpPr>
          <p:nvPr/>
        </p:nvCxnSpPr>
        <p:spPr>
          <a:xfrm flipV="1">
            <a:off x="2433320" y="5720588"/>
            <a:ext cx="734887" cy="8530"/>
          </a:xfrm>
          <a:prstGeom prst="straightConnector1">
            <a:avLst/>
          </a:prstGeom>
          <a:solidFill>
            <a:srgbClr val="F2F2F2">
              <a:alpha val="76862"/>
            </a:srgbClr>
          </a:solidFill>
          <a:ln w="41275" cap="flat" cmpd="sng">
            <a:solidFill>
              <a:srgbClr val="0068B5">
                <a:alpha val="33725"/>
              </a:srgbClr>
            </a:solidFill>
            <a:prstDash val="solid"/>
            <a:miter lim="400000"/>
            <a:headEnd type="none" w="sm" len="sm"/>
            <a:tailEnd type="stealth" w="med" len="med"/>
          </a:ln>
        </p:spPr>
      </p:cxnSp>
    </p:spTree>
    <p:extLst>
      <p:ext uri="{BB962C8B-B14F-4D97-AF65-F5344CB8AC3E}">
        <p14:creationId xmlns:p14="http://schemas.microsoft.com/office/powerpoint/2010/main" val="3515614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uiExpand="1" build="p"/>
      <p:bldP spid="10" grpId="0" animBg="1"/>
      <p:bldP spid="17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35BB27-B186-5061-975D-DE6330EDA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912"/>
          <a:stretch/>
        </p:blipFill>
        <p:spPr bwMode="auto">
          <a:xfrm>
            <a:off x="2591365" y="1690688"/>
            <a:ext cx="7009269" cy="4572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B61BBE-ABB4-2DFF-9367-9148F9117704}"/>
              </a:ext>
            </a:extLst>
          </p:cNvPr>
          <p:cNvSpPr txBox="1"/>
          <p:nvPr/>
        </p:nvSpPr>
        <p:spPr>
          <a:xfrm>
            <a:off x="718456" y="6370387"/>
            <a:ext cx="9923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https://imgflip.com/i/7rmjdo</a:t>
            </a:r>
            <a:r>
              <a:rPr lang="he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3565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935BB27-B186-5061-975D-DE6330EDA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84203" y="1798387"/>
            <a:ext cx="7023593" cy="4572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DF679-56E3-EF7A-E5B9-21846BAD362F}"/>
              </a:ext>
            </a:extLst>
          </p:cNvPr>
          <p:cNvSpPr txBox="1"/>
          <p:nvPr/>
        </p:nvSpPr>
        <p:spPr>
          <a:xfrm>
            <a:off x="718457" y="6370387"/>
            <a:ext cx="1073099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https://imgflip.com/i/7rmjdo</a:t>
            </a:r>
            <a:r>
              <a:rPr lang="he-IL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L"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1856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9" name="Google Shape;1523;p103">
            <a:extLst>
              <a:ext uri="{FF2B5EF4-FFF2-40B4-BE49-F238E27FC236}">
                <a16:creationId xmlns:a16="http://schemas.microsoft.com/office/drawing/2014/main" id="{DEAFA0B9-0FA2-72F8-7A68-E78C649895B0}"/>
              </a:ext>
            </a:extLst>
          </p:cNvPr>
          <p:cNvSpPr txBox="1"/>
          <p:nvPr/>
        </p:nvSpPr>
        <p:spPr>
          <a:xfrm>
            <a:off x="2242121" y="1946604"/>
            <a:ext cx="7724775" cy="45242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buffer_mapping_ioctl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trigger_smi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(0xd9);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if ( !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) {</a:t>
            </a:r>
            <a:endParaRPr lang="en-US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 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gMailboxPA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0x18, 0);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  if (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) {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A64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*(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+ 8);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  </a:t>
            </a:r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=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map_pa_to_usr_va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gBufferPA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, 0x11000, 1u);</a:t>
            </a: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  }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}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// [...]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)        = </a:t>
            </a:r>
            <a:r>
              <a:rPr lang="en-US" sz="18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 *(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user_memory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 + 0x08) = </a:t>
            </a:r>
            <a:r>
              <a:rPr lang="en-US" sz="18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;</a:t>
            </a:r>
            <a:endParaRPr sz="1800" dirty="0">
              <a:solidFill>
                <a:srgbClr val="DADADA"/>
              </a:solidFill>
              <a:latin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A0DF"/>
              </a:buClr>
              <a:buSzPts val="20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DADADA"/>
              </a:solidFill>
              <a:latin typeface="Consola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29CB7-B1E1-24FC-4478-A8F4005907BB}"/>
              </a:ext>
            </a:extLst>
          </p:cNvPr>
          <p:cNvSpPr/>
          <p:nvPr/>
        </p:nvSpPr>
        <p:spPr>
          <a:xfrm>
            <a:off x="3164333" y="3068587"/>
            <a:ext cx="1521967" cy="32764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683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0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69" name="Google Shape;1569;p107"/>
          <p:cNvSpPr txBox="1"/>
          <p:nvPr/>
        </p:nvSpPr>
        <p:spPr>
          <a:xfrm>
            <a:off x="838880" y="1772193"/>
            <a:ext cx="4486276" cy="4319131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DCFE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__int64 </a:t>
            </a:r>
            <a:r>
              <a:rPr lang="en-US" sz="1800" dirty="0" err="1">
                <a:solidFill>
                  <a:srgbClr val="DADADA"/>
                </a:solidFill>
                <a:latin typeface="Consolas"/>
                <a:sym typeface="Consolas"/>
              </a:rPr>
              <a:t>cleanup_ioctl</a:t>
            </a: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()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if ( </a:t>
            </a:r>
            <a:r>
              <a:rPr lang="en-US" sz="18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{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57A64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DADADA"/>
                </a:solidFill>
                <a:latin typeface="Consolas"/>
                <a:sym typeface="Consolas"/>
              </a:rPr>
              <a:t>    // [...]</a:t>
            </a:r>
            <a:endParaRPr sz="1800" dirty="0">
              <a:solidFill>
                <a:srgbClr val="DADADA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gMailboxPA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gMailboxVA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gBufferPA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18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/>
                <a:sym typeface="Consolas"/>
              </a:rPr>
              <a:t>gBufferVA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NULL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18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DADADA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B4B4B4"/>
                </a:solidFill>
                <a:latin typeface="Consolas"/>
                <a:sym typeface="Consolas"/>
              </a:rPr>
              <a:t>  // [...]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B4B4B4"/>
              </a:buClr>
              <a:buSzPts val="1800"/>
              <a:buFont typeface="Consolas"/>
              <a:buNone/>
            </a:pPr>
            <a:r>
              <a:rPr lang="en-US" sz="1800" dirty="0">
                <a:solidFill>
                  <a:srgbClr val="B4B4B4"/>
                </a:solidFill>
                <a:latin typeface="Consolas"/>
                <a:sym typeface="Consolas"/>
              </a:rPr>
              <a:t>}</a:t>
            </a:r>
            <a:endParaRPr sz="1800" dirty="0">
              <a:solidFill>
                <a:srgbClr val="B4B4B4"/>
              </a:solidFill>
              <a:latin typeface="Consolas"/>
              <a:sym typeface="Calibri"/>
            </a:endParaRPr>
          </a:p>
        </p:txBody>
      </p:sp>
      <p:sp>
        <p:nvSpPr>
          <p:cNvPr id="1570" name="Google Shape;1570;p107"/>
          <p:cNvSpPr txBox="1"/>
          <p:nvPr/>
        </p:nvSpPr>
        <p:spPr>
          <a:xfrm>
            <a:off x="5998029" y="3429000"/>
            <a:ext cx="402771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-US" sz="2400" b="0" i="0" u="none" strike="noStrike" cap="none" dirty="0" err="1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unmap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of </a:t>
            </a:r>
            <a:r>
              <a:rPr lang="en-US" sz="24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/>
                <a:sym typeface="Arial"/>
              </a:rPr>
              <a:t>gMailboxVA</a:t>
            </a:r>
            <a:r>
              <a:rPr lang="en-US" sz="2400" b="0" i="0" u="none" strike="noStrike" cap="none" dirty="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 in cleanup IOCTL</a:t>
            </a:r>
            <a:endParaRPr sz="2400" b="0" i="0" u="none" strike="noStrike" cap="none" dirty="0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76" name="Google Shape;1576;p108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45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lvl="0" indent="-51435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Arial"/>
              <a:buAutoNum type="arabicPeriod"/>
            </a:pPr>
            <a:r>
              <a:rPr lang="en-US" sz="2400" dirty="0"/>
              <a:t>Trigger </a:t>
            </a:r>
            <a:r>
              <a:rPr lang="en-US" sz="2400" dirty="0" err="1">
                <a:latin typeface="Consolas"/>
                <a:sym typeface="Consolas"/>
              </a:rPr>
              <a:t>buffer_mapping_ioctl</a:t>
            </a:r>
            <a:r>
              <a:rPr lang="en-US" sz="2400" dirty="0"/>
              <a:t> to get </a:t>
            </a:r>
            <a:r>
              <a:rPr lang="en-US" sz="2400" dirty="0" err="1">
                <a:solidFill>
                  <a:srgbClr val="0068B5"/>
                </a:solidFill>
              </a:rPr>
              <a:t>mailboxVA</a:t>
            </a:r>
            <a:endParaRPr sz="2400" dirty="0"/>
          </a:p>
          <a:p>
            <a:pPr marL="514350" lvl="0" indent="-514350">
              <a:lnSpc>
                <a:spcPct val="100000"/>
              </a:lnSpc>
              <a:spcBef>
                <a:spcPts val="1200"/>
              </a:spcBef>
              <a:buClrTx/>
              <a:buSzPct val="100000"/>
              <a:buFont typeface="Arial"/>
              <a:buAutoNum type="arabicPeriod"/>
            </a:pPr>
            <a:r>
              <a:rPr lang="en-US" sz="2400" dirty="0"/>
              <a:t>Trigger </a:t>
            </a:r>
            <a:r>
              <a:rPr lang="en-US" sz="2400" dirty="0" err="1">
                <a:latin typeface="Consolas"/>
                <a:sym typeface="Consolas"/>
              </a:rPr>
              <a:t>cleanup_ioctl</a:t>
            </a:r>
            <a:endParaRPr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" grpId="0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0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3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Windows</a:t>
            </a:r>
          </a:p>
        </p:txBody>
      </p:sp>
      <p:sp>
        <p:nvSpPr>
          <p:cNvPr id="1576" name="Google Shape;1576;p108"/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145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514350" lvl="0" indent="-5143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+mj-lt"/>
              <a:buAutoNum type="arabicPeriod" startAt="3"/>
            </a:pPr>
            <a:r>
              <a:rPr lang="en-US" sz="2400" dirty="0"/>
              <a:t>Exploit the race condition:</a:t>
            </a:r>
            <a:endParaRPr dirty="0"/>
          </a:p>
        </p:txBody>
      </p:sp>
      <p:pic>
        <p:nvPicPr>
          <p:cNvPr id="1577" name="Google Shape;1577;p108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96698" y="2497320"/>
            <a:ext cx="1146433" cy="1146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108" descr="Processor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44109" y="2497320"/>
            <a:ext cx="1146433" cy="1146433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08"/>
          <p:cNvSpPr txBox="1"/>
          <p:nvPr/>
        </p:nvSpPr>
        <p:spPr>
          <a:xfrm>
            <a:off x="711199" y="3373147"/>
            <a:ext cx="5384801" cy="2742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Trigger </a:t>
            </a:r>
            <a:r>
              <a:rPr lang="en-US" sz="2000" dirty="0" err="1">
                <a:latin typeface="Consolas"/>
                <a:sym typeface="Consolas"/>
              </a:rPr>
              <a:t>buffer_mapping_ioctl</a:t>
            </a:r>
            <a:r>
              <a:rPr lang="en-US" sz="2000" dirty="0">
                <a:latin typeface="Consolas"/>
                <a:sym typeface="Consolas"/>
              </a:rPr>
              <a:t> </a:t>
            </a:r>
          </a:p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newly mapped </a:t>
            </a:r>
            <a:r>
              <a:rPr lang="en-US" sz="20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physical address</a:t>
            </a:r>
            <a:endParaRPr lang="en-US" dirty="0">
              <a:solidFill>
                <a:schemeClr val="accent5"/>
              </a:solidFill>
              <a:sym typeface="Arial"/>
            </a:endParaRPr>
          </a:p>
          <a:p>
            <a:pPr lvl="0">
              <a:lnSpc>
                <a:spcPct val="200000"/>
              </a:lnSpc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race condition failed – </a:t>
            </a:r>
            <a:r>
              <a:rPr lang="en-US" sz="200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trigger </a:t>
            </a:r>
            <a:r>
              <a:rPr lang="en-US" dirty="0" err="1">
                <a:latin typeface="Consolas"/>
                <a:sym typeface="Consolas"/>
              </a:rPr>
              <a:t>cleanup_ioctl</a:t>
            </a:r>
            <a:endParaRPr dirty="0"/>
          </a:p>
        </p:txBody>
      </p:sp>
      <p:sp>
        <p:nvSpPr>
          <p:cNvPr id="1580" name="Google Shape;1580;p108"/>
          <p:cNvSpPr txBox="1"/>
          <p:nvPr/>
        </p:nvSpPr>
        <p:spPr>
          <a:xfrm>
            <a:off x="7592583" y="3523178"/>
            <a:ext cx="3642158" cy="2183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38100" rIns="76200" bIns="38100" anchor="ctr" anchorCtr="0">
            <a:normAutofit/>
          </a:bodyPr>
          <a:lstStyle/>
          <a:p>
            <a:pPr lvl="0"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Modify </a:t>
            </a:r>
            <a:r>
              <a:rPr lang="en-US" sz="2000" b="0" i="0" u="none" strike="noStrike" cap="none" dirty="0">
                <a:solidFill>
                  <a:srgbClr val="0068B5"/>
                </a:solidFill>
                <a:latin typeface="Arial"/>
                <a:ea typeface="Arial"/>
                <a:cs typeface="Arial"/>
                <a:sym typeface="Arial"/>
              </a:rPr>
              <a:t>mailbox 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contain the desired </a:t>
            </a:r>
            <a:r>
              <a:rPr lang="en-US" sz="2000" dirty="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physical address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1" name="Google Shape;1581;p108" descr="Circles with arrows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8914" y="5983757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108" descr="Circles with arrows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36325" y="5983757"/>
            <a:ext cx="762000" cy="762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1173;p80">
            <a:extLst>
              <a:ext uri="{FF2B5EF4-FFF2-40B4-BE49-F238E27FC236}">
                <a16:creationId xmlns:a16="http://schemas.microsoft.com/office/drawing/2014/main" id="{55094863-2202-AB1E-448E-D9BC15B9A893}"/>
              </a:ext>
            </a:extLst>
          </p:cNvPr>
          <p:cNvCxnSpPr>
            <a:cxnSpLocks/>
          </p:cNvCxnSpPr>
          <p:nvPr/>
        </p:nvCxnSpPr>
        <p:spPr>
          <a:xfrm>
            <a:off x="6617314" y="3373147"/>
            <a:ext cx="0" cy="2990850"/>
          </a:xfrm>
          <a:prstGeom prst="straightConnector1">
            <a:avLst/>
          </a:prstGeom>
          <a:noFill/>
          <a:ln w="25400" cap="flat" cmpd="sng">
            <a:solidFill>
              <a:schemeClr val="bg1">
                <a:lumMod val="75000"/>
              </a:schemeClr>
            </a:solidFill>
            <a:prstDash val="lgDash"/>
            <a:miter lim="4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287165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9" grpId="0" uiExpand="1" build="p"/>
      <p:bldP spid="1580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xfrm>
            <a:off x="6200775" y="365125"/>
            <a:ext cx="5153025" cy="5748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sz="3666" dirty="0"/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C1297-A3F7-83E6-CE3F-D41522914039}"/>
              </a:ext>
            </a:extLst>
          </p:cNvPr>
          <p:cNvSpPr txBox="1"/>
          <p:nvPr/>
        </p:nvSpPr>
        <p:spPr>
          <a:xfrm>
            <a:off x="6096000" y="6492875"/>
            <a:ext cx="57193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https://www.facebook.com/nixcraft/photos/can-we-talk-about-linux/1740374659309238 </a:t>
            </a:r>
            <a:endParaRPr lang="en-IL" sz="11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052" name="Picture 4" descr="No photo description available.">
            <a:extLst>
              <a:ext uri="{FF2B5EF4-FFF2-40B4-BE49-F238E27FC236}">
                <a16:creationId xmlns:a16="http://schemas.microsoft.com/office/drawing/2014/main" id="{7D09791C-C6FE-FB3F-23DF-2E3F4B876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22" y="0"/>
            <a:ext cx="5282910" cy="685800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18339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dirty="0"/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  <a:endParaRPr sz="3600" kern="0" dirty="0">
              <a:solidFill>
                <a:srgbClr val="A5A5A5"/>
              </a:solidFill>
            </a:endParaRP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7353FE-65F7-FD70-98FE-F9EF9665C100}"/>
              </a:ext>
            </a:extLst>
          </p:cNvPr>
          <p:cNvSpPr/>
          <p:nvPr/>
        </p:nvSpPr>
        <p:spPr>
          <a:xfrm>
            <a:off x="9591040" y="3108960"/>
            <a:ext cx="1463040" cy="32004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9" grpId="0" uiExpand="1" build="p" animBg="1"/>
      <p:bldP spid="3" grpId="0" uiExpand="1" animBg="1"/>
      <p:bldP spid="3" grpId="1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spcBef>
                <a:spcPts val="0"/>
              </a:spcBef>
              <a:buClr>
                <a:srgbClr val="525252"/>
              </a:buClr>
              <a:buSzPts val="3700"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lang="en-US" dirty="0">
                <a:solidFill>
                  <a:prstClr val="black"/>
                </a:solidFill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36592" y="2199604"/>
            <a:ext cx="11680371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file_operations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amifldrv_fops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B4B4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  </a:t>
            </a:r>
            <a:r>
              <a:rPr lang="en-US" sz="2000" b="0" i="0" u="none" strike="noStrike" cap="none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[...]</a:t>
            </a:r>
            <a:endParaRPr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  .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mmap</a:t>
            </a:r>
            <a:r>
              <a:rPr lang="en-US" sz="2000" b="0" i="0" u="none" strike="noStrike" cap="none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000" b="0" i="0" u="none" strike="noStrike" cap="none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amifldrv_mmap</a:t>
            </a:r>
            <a:endParaRPr lang="en-US"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ADADA"/>
              </a:buClr>
              <a:buSzPts val="2000"/>
              <a:buFont typeface="Consolas"/>
              <a:buNone/>
            </a:pPr>
            <a:r>
              <a:rPr lang="en-US" sz="2000" b="0" i="0" u="none" strike="noStrike" cap="none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lang="en-US" sz="2000" b="0" i="0" u="none" strike="noStrike" cap="none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588;p109">
            <a:extLst>
              <a:ext uri="{FF2B5EF4-FFF2-40B4-BE49-F238E27FC236}">
                <a16:creationId xmlns:a16="http://schemas.microsoft.com/office/drawing/2014/main" id="{C10CB228-76C5-7FCB-4310-F76434A7680E}"/>
              </a:ext>
            </a:extLst>
          </p:cNvPr>
          <p:cNvSpPr txBox="1">
            <a:spLocks/>
          </p:cNvSpPr>
          <p:nvPr/>
        </p:nvSpPr>
        <p:spPr>
          <a:xfrm>
            <a:off x="571370" y="1487422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kernel: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5" name="Google Shape;1589;p109">
            <a:extLst>
              <a:ext uri="{FF2B5EF4-FFF2-40B4-BE49-F238E27FC236}">
                <a16:creationId xmlns:a16="http://schemas.microsoft.com/office/drawing/2014/main" id="{BDB05EF3-7160-1988-04E0-B67381C1C797}"/>
              </a:ext>
            </a:extLst>
          </p:cNvPr>
          <p:cNvSpPr txBox="1"/>
          <p:nvPr/>
        </p:nvSpPr>
        <p:spPr>
          <a:xfrm>
            <a:off x="236591" y="4039771"/>
            <a:ext cx="11680371" cy="224672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569CD6"/>
              </a:buClr>
              <a:buSzPts val="2000"/>
            </a:pP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static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amifldrv_mmap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file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 dirty="0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file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vm_area_struct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2000" dirty="0" err="1">
                <a:solidFill>
                  <a:srgbClr val="9A9A9A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status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unsigned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569CD6"/>
                </a:solidFill>
                <a:latin typeface="Consolas"/>
                <a:ea typeface="Consolas"/>
                <a:cs typeface="Consolas"/>
                <a:sym typeface="Consolas"/>
              </a:rPr>
              <a:t>long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size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vm_end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vm_start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[…]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DADADA"/>
              </a:buClr>
              <a:buSzPts val="2000"/>
            </a:pP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  status 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>
                <a:solidFill>
                  <a:srgbClr val="DCDCAA"/>
                </a:solidFill>
                <a:latin typeface="Consolas"/>
                <a:ea typeface="Consolas"/>
                <a:cs typeface="Consolas"/>
                <a:sym typeface="Consolas"/>
              </a:rPr>
              <a:t>remap_pfn_range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2000" dirty="0" err="1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vm_start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vma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-&gt;</a:t>
            </a:r>
            <a:r>
              <a:rPr lang="en-US" sz="2000" dirty="0" err="1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vm_pgoff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size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n-US" sz="2000" dirty="0">
                <a:solidFill>
                  <a:srgbClr val="DADADA"/>
                </a:solidFill>
                <a:latin typeface="Consolas"/>
                <a:ea typeface="Consolas"/>
                <a:cs typeface="Consolas"/>
                <a:sym typeface="Consolas"/>
              </a:rPr>
              <a:t> PAGE_SHARED</a:t>
            </a: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lang="en-US" sz="2000" dirty="0">
                <a:solidFill>
                  <a:srgbClr val="57A64A"/>
                </a:solidFill>
                <a:latin typeface="Consolas"/>
                <a:ea typeface="Consolas"/>
                <a:cs typeface="Consolas"/>
                <a:sym typeface="Consolas"/>
              </a:rPr>
              <a:t>// […]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lvl="0">
              <a:buClr>
                <a:srgbClr val="B4B4B4"/>
              </a:buClr>
              <a:buSzPts val="2000"/>
            </a:pPr>
            <a:r>
              <a:rPr lang="en-US" sz="2000" dirty="0">
                <a:solidFill>
                  <a:srgbClr val="B4B4B4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lang="en-US" sz="2000" dirty="0">
              <a:solidFill>
                <a:srgbClr val="DADAD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D5B4D-C49B-5484-87F1-EF40688B4827}"/>
              </a:ext>
            </a:extLst>
          </p:cNvPr>
          <p:cNvSpPr txBox="1"/>
          <p:nvPr/>
        </p:nvSpPr>
        <p:spPr>
          <a:xfrm>
            <a:off x="1867535" y="5303203"/>
            <a:ext cx="2115964" cy="307777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>
              <a:defRPr lang="en-US"/>
            </a:defPPr>
            <a:lvl1pPr lvl="0">
              <a:buClr>
                <a:srgbClr val="569CD6"/>
              </a:buClr>
              <a:buSzPts val="2000"/>
              <a:defRPr sz="2000">
                <a:solidFill>
                  <a:srgbClr val="569CD6"/>
                </a:solidFill>
                <a:latin typeface="Consolas"/>
                <a:ea typeface="Consolas"/>
                <a:cs typeface="Consolas"/>
              </a:defRPr>
            </a:lvl1pPr>
          </a:lstStyle>
          <a:p>
            <a:r>
              <a:rPr lang="en-US" dirty="0">
                <a:solidFill>
                  <a:srgbClr val="FF0000"/>
                </a:solidFill>
                <a:sym typeface="Consolas"/>
              </a:rPr>
              <a:t>remap_pfn_range</a:t>
            </a:r>
            <a:endParaRPr lang="en-IL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527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pic>
        <p:nvPicPr>
          <p:cNvPr id="1595" name="Google Shape;1595;p110" descr="The bad news is that there won't be any Futurama events for the next 1-3  months. : r/FuturamaWOTgame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825625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596" name="Google Shape;1596;p110"/>
          <p:cNvSpPr txBox="1"/>
          <p:nvPr/>
        </p:nvSpPr>
        <p:spPr>
          <a:xfrm>
            <a:off x="1" y="6311900"/>
            <a:ext cx="12192000" cy="31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https://www.reddit.com/r/FuturamaWOTgame/comments/o72q52/the_bad_news_is_that_there_wont_be_any_futurama/</a:t>
            </a:r>
            <a:endParaRPr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  <p:sp>
        <p:nvSpPr>
          <p:cNvPr id="3" name="Google Shape;1589;p109">
            <a:extLst>
              <a:ext uri="{FF2B5EF4-FFF2-40B4-BE49-F238E27FC236}">
                <a16:creationId xmlns:a16="http://schemas.microsoft.com/office/drawing/2014/main" id="{D9ED3A7C-6A12-E7B8-13E6-1ED52C62E5F1}"/>
              </a:ext>
            </a:extLst>
          </p:cNvPr>
          <p:cNvSpPr txBox="1"/>
          <p:nvPr/>
        </p:nvSpPr>
        <p:spPr>
          <a:xfrm>
            <a:off x="225552" y="4655325"/>
            <a:ext cx="11740896" cy="400069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"Bad Address" (EFAULT)</a:t>
            </a:r>
          </a:p>
        </p:txBody>
      </p:sp>
      <p:sp>
        <p:nvSpPr>
          <p:cNvPr id="4" name="Google Shape;1589;p109">
            <a:extLst>
              <a:ext uri="{FF2B5EF4-FFF2-40B4-BE49-F238E27FC236}">
                <a16:creationId xmlns:a16="http://schemas.microsoft.com/office/drawing/2014/main" id="{CB9EC110-9A93-C299-25E3-B3997230BBDE}"/>
              </a:ext>
            </a:extLst>
          </p:cNvPr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9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2" name="Google Shape;1602;p111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 dirty="0"/>
              <a:t>when using</a:t>
            </a:r>
          </a:p>
          <a:p>
            <a:pPr marL="0" lvl="0" indent="0" algn="ctr">
              <a:spcBef>
                <a:spcPts val="0"/>
              </a:spcBef>
              <a:buSzPts val="2800"/>
              <a:buNone/>
            </a:pPr>
            <a:endParaRPr lang="en-US" sz="4800" dirty="0">
              <a:solidFill>
                <a:schemeClr val="tx1"/>
              </a:solidFill>
              <a:latin typeface="Consolas"/>
              <a:sym typeface="Consolas"/>
            </a:endParaRPr>
          </a:p>
          <a:p>
            <a:pPr marL="0" lvl="0" indent="0" algn="ctr">
              <a:spcBef>
                <a:spcPts val="0"/>
              </a:spcBef>
              <a:buSzPts val="2800"/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0" indent="0">
              <a:spcBef>
                <a:spcPts val="0"/>
              </a:spcBef>
              <a:buSzPts val="2800"/>
              <a:buNone/>
            </a:pPr>
            <a:r>
              <a:rPr lang="en-US" dirty="0"/>
              <a:t>“page-ranges [are] managed without "struct page", just pure PFN” 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Linux kernel docs</a:t>
            </a:r>
            <a:endParaRPr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Google Shape;1588;p109">
            <a:extLst>
              <a:ext uri="{FF2B5EF4-FFF2-40B4-BE49-F238E27FC236}">
                <a16:creationId xmlns:a16="http://schemas.microsoft.com/office/drawing/2014/main" id="{6796E84B-BD17-ED6D-8258-F61E70320B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99EC3-3B2F-39B6-DFDC-570EAE294DBD}"/>
              </a:ext>
            </a:extLst>
          </p:cNvPr>
          <p:cNvSpPr txBox="1"/>
          <p:nvPr/>
        </p:nvSpPr>
        <p:spPr>
          <a:xfrm>
            <a:off x="3200400" y="3318302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remap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Consolas"/>
                <a:ea typeface="+mn-ea"/>
                <a:cs typeface="+mn-cs"/>
                <a:sym typeface="Consolas"/>
              </a:rPr>
              <a:t>_pfn_range</a:t>
            </a:r>
            <a:endParaRPr lang="en-IL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2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664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2755460"/>
            <a:ext cx="11740896" cy="1631175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</a:br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mal_file_path.bin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O_RDWR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O_DIRECT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file_fd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MAL_SIZE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2000" b="0" dirty="0">
                <a:solidFill>
                  <a:srgbClr val="57A64A"/>
                </a:solidFill>
                <a:effectLst/>
                <a:latin typeface="Consolas" panose="020B0609020204030204" pitchFamily="49" charset="0"/>
              </a:rPr>
              <a:t> // Generating DMA transactions here</a:t>
            </a:r>
            <a:r>
              <a:rPr lang="en-US" sz="2000" dirty="0">
                <a:solidFill>
                  <a:srgbClr val="57A64A"/>
                </a:solidFill>
                <a:latin typeface="Consolas" panose="020B0609020204030204" pitchFamily="49" charset="0"/>
              </a:rPr>
              <a:t>.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Nope</a:t>
            </a:r>
          </a:p>
        </p:txBody>
      </p:sp>
      <p:sp>
        <p:nvSpPr>
          <p:cNvPr id="2" name="Google Shape;1588;p109">
            <a:extLst>
              <a:ext uri="{FF2B5EF4-FFF2-40B4-BE49-F238E27FC236}">
                <a16:creationId xmlns:a16="http://schemas.microsoft.com/office/drawing/2014/main" id="{CB3B6EF9-E351-4DA0-C426-1EC34C18FE10}"/>
              </a:ext>
            </a:extLst>
          </p:cNvPr>
          <p:cNvSpPr txBox="1">
            <a:spLocks/>
          </p:cNvSpPr>
          <p:nvPr/>
        </p:nvSpPr>
        <p:spPr>
          <a:xfrm>
            <a:off x="571370" y="1926334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 b="0" i="0" u="none" strike="noStrike" cap="none">
                <a:solidFill>
                  <a:srgbClr val="52525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Font typeface="Helvetica Neue"/>
              <a:buNone/>
              <a:defRPr sz="3300" b="1" i="0" u="none" strike="noStrike" cap="non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algn="ctr">
              <a:buSzPts val="3700"/>
            </a:pPr>
            <a:r>
              <a:rPr lang="en-US" sz="3000" dirty="0">
                <a:solidFill>
                  <a:srgbClr val="7F7F7F"/>
                </a:solidFill>
              </a:rPr>
              <a:t>from user-space:</a:t>
            </a:r>
            <a:endParaRPr lang="en-US" sz="36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43858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88;p109">
            <a:extLst>
              <a:ext uri="{FF2B5EF4-FFF2-40B4-BE49-F238E27FC236}">
                <a16:creationId xmlns:a16="http://schemas.microsoft.com/office/drawing/2014/main" id="{F900BD6A-F895-7B23-848D-352CE4B380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pic>
        <p:nvPicPr>
          <p:cNvPr id="1595" name="Google Shape;1595;p110" descr="The bad news is that there won't be any Futurama events for the next 1-3  months. : r/FuturamaWOTgame"/>
          <p:cNvPicPr preferRelativeResize="0">
            <a:picLocks noGrp="1"/>
          </p:cNvPicPr>
          <p:nvPr>
            <p:ph idx="1"/>
          </p:nvPr>
        </p:nvPicPr>
        <p:blipFill rotWithShape="1">
          <a:blip r:embed="rId4"/>
          <a:stretch/>
        </p:blipFill>
        <p:spPr>
          <a:xfrm>
            <a:off x="3195108" y="1825625"/>
            <a:ext cx="5801784" cy="4351338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</p:spPr>
      </p:pic>
      <p:sp>
        <p:nvSpPr>
          <p:cNvPr id="1596" name="Google Shape;1596;p110"/>
          <p:cNvSpPr txBox="1"/>
          <p:nvPr/>
        </p:nvSpPr>
        <p:spPr>
          <a:xfrm>
            <a:off x="0" y="6257894"/>
            <a:ext cx="12192001" cy="31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  <a:sym typeface="Arial"/>
              </a:rPr>
              <a:t>https://www.reddit.com/r/FuturamaWOTgame/comments/o72q52/the_bad_news_is_that_there_wont_be_any_futurama/</a:t>
            </a:r>
            <a:endParaRPr sz="16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DC457E-5E44-2013-2C67-995AC4B9500C}"/>
              </a:ext>
            </a:extLst>
          </p:cNvPr>
          <p:cNvCxnSpPr>
            <a:cxnSpLocks/>
          </p:cNvCxnSpPr>
          <p:nvPr/>
        </p:nvCxnSpPr>
        <p:spPr>
          <a:xfrm>
            <a:off x="3235748" y="5642172"/>
            <a:ext cx="5713693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63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10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3700"/>
              <a:buFont typeface="Arial"/>
              <a:buNone/>
            </a:pPr>
            <a:r>
              <a:rPr lang="en-US" dirty="0">
                <a:solidFill>
                  <a:prstClr val="black"/>
                </a:solidFill>
              </a:rPr>
              <a:t>Exploitation From Ring 3</a:t>
            </a:r>
            <a:b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</a:br>
            <a:r>
              <a:rPr lang="en-US" sz="3600" kern="0" dirty="0">
                <a:solidFill>
                  <a:srgbClr val="A5A5A5"/>
                </a:solidFill>
              </a:rPr>
              <a:t>Writing to Physical Memory - Linux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4F7E56-C519-597A-4F05-59DF6D686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589" name="Google Shape;1589;p109"/>
          <p:cNvSpPr txBox="1"/>
          <p:nvPr/>
        </p:nvSpPr>
        <p:spPr>
          <a:xfrm>
            <a:off x="225552" y="1926785"/>
            <a:ext cx="11740896" cy="1015622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/dev/</a:t>
            </a:r>
            <a:r>
              <a:rPr lang="en-US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amifldrv</a:t>
            </a:r>
            <a:r>
              <a:rPr lang="en-US" sz="2000" b="0" dirty="0">
                <a:solidFill>
                  <a:srgbClr val="E8C9BB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O_RDRW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  <a:p>
            <a:endParaRPr lang="en-US" sz="2000" b="0" dirty="0">
              <a:solidFill>
                <a:srgbClr val="569CD6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addr_va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mmap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PROT_READ 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PROT_WRITE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driver_fd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2000" b="0" dirty="0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DADADA"/>
                </a:solidFill>
                <a:effectLst/>
                <a:latin typeface="Consolas" panose="020B0609020204030204" pitchFamily="49" charset="0"/>
              </a:rPr>
              <a:t>phys_addr</a:t>
            </a:r>
            <a:r>
              <a:rPr lang="en-US" sz="2000" b="0" dirty="0">
                <a:solidFill>
                  <a:srgbClr val="B4B4B4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2000" b="0" dirty="0">
              <a:solidFill>
                <a:srgbClr val="DADADA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EA3217-E81E-96E8-8EBE-EF90F1B1E3B5}"/>
              </a:ext>
            </a:extLst>
          </p:cNvPr>
          <p:cNvSpPr txBox="1"/>
          <p:nvPr/>
        </p:nvSpPr>
        <p:spPr>
          <a:xfrm>
            <a:off x="8156448" y="2167653"/>
            <a:ext cx="4035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DADADA"/>
                </a:solidFill>
                <a:latin typeface="Consolas" panose="020B0609020204030204" pitchFamily="49" charset="0"/>
              </a:rPr>
              <a:t>phys_addr_of_kernel_module</a:t>
            </a:r>
            <a:endParaRPr lang="en-IL" sz="2000" dirty="0">
              <a:solidFill>
                <a:srgbClr val="DADADA"/>
              </a:solidFill>
              <a:latin typeface="Consolas" panose="020B060902020403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FB9E1-667D-4A9D-15BF-E50CBD5159F4}"/>
              </a:ext>
            </a:extLst>
          </p:cNvPr>
          <p:cNvCxnSpPr>
            <a:cxnSpLocks/>
          </p:cNvCxnSpPr>
          <p:nvPr/>
        </p:nvCxnSpPr>
        <p:spPr>
          <a:xfrm>
            <a:off x="9631299" y="2770494"/>
            <a:ext cx="135166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6F944E2-3713-D899-E570-F18B2E0F53E8}"/>
              </a:ext>
            </a:extLst>
          </p:cNvPr>
          <p:cNvSpPr txBox="1"/>
          <p:nvPr/>
        </p:nvSpPr>
        <p:spPr>
          <a:xfrm>
            <a:off x="4830555" y="6471142"/>
            <a:ext cx="24116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https://imgflip.com/i/7r9wdw </a:t>
            </a:r>
            <a:endParaRPr lang="en-IL" sz="1200" dirty="0">
              <a:solidFill>
                <a:srgbClr val="7F7F7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29429AC6-5C68-FA43-6F9E-E2EDEF23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39" y="2979510"/>
            <a:ext cx="3511510" cy="3511510"/>
          </a:xfrm>
          <a:prstGeom prst="rect">
            <a:avLst/>
          </a:prstGeom>
          <a:effectLst>
            <a:outerShdw blurRad="330200" dist="1143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451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34B8F3D-61F6-45AD-870D-A3A9CA09904A}"/>
              </a:ext>
            </a:extLst>
          </p:cNvPr>
          <p:cNvSpPr/>
          <p:nvPr/>
        </p:nvSpPr>
        <p:spPr>
          <a:xfrm>
            <a:off x="519935" y="134302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45EFF3-BB4A-4A84-BBD8-AAD48ACD312A}"/>
              </a:ext>
            </a:extLst>
          </p:cNvPr>
          <p:cNvSpPr txBox="1"/>
          <p:nvPr/>
        </p:nvSpPr>
        <p:spPr>
          <a:xfrm>
            <a:off x="826843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9E7D416-3FA4-42E3-9155-D4E6321C084F}"/>
              </a:ext>
            </a:extLst>
          </p:cNvPr>
          <p:cNvGrpSpPr/>
          <p:nvPr/>
        </p:nvGrpSpPr>
        <p:grpSpPr>
          <a:xfrm>
            <a:off x="1196676" y="3117405"/>
            <a:ext cx="5119493" cy="640080"/>
            <a:chOff x="1196677" y="3117405"/>
            <a:chExt cx="5117334" cy="640080"/>
          </a:xfrm>
        </p:grpSpPr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1A5E6BFA-CF88-445B-BAC8-42DFE02AA92A}"/>
                </a:ext>
              </a:extLst>
            </p:cNvPr>
            <p:cNvSpPr/>
            <p:nvPr/>
          </p:nvSpPr>
          <p:spPr>
            <a:xfrm>
              <a:off x="1245741" y="3117405"/>
              <a:ext cx="5068270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37CC4F6-B243-4D86-9AE0-C0459EBC008C}"/>
                </a:ext>
              </a:extLst>
            </p:cNvPr>
            <p:cNvSpPr/>
            <p:nvPr/>
          </p:nvSpPr>
          <p:spPr>
            <a:xfrm>
              <a:off x="1196677" y="3281363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895259D-46A2-4548-993C-6CF4B727EA31}"/>
              </a:ext>
            </a:extLst>
          </p:cNvPr>
          <p:cNvSpPr txBox="1"/>
          <p:nvPr/>
        </p:nvSpPr>
        <p:spPr>
          <a:xfrm>
            <a:off x="6565228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8FA71A-52F0-427F-BBAF-7EC3253D8935}"/>
              </a:ext>
            </a:extLst>
          </p:cNvPr>
          <p:cNvSpPr txBox="1"/>
          <p:nvPr/>
        </p:nvSpPr>
        <p:spPr>
          <a:xfrm>
            <a:off x="9701041" y="5632364"/>
            <a:ext cx="1201793" cy="4260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/>
              <a:t>Ring -2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A45D86-60AD-C4B7-1028-228337907F91}"/>
              </a:ext>
            </a:extLst>
          </p:cNvPr>
          <p:cNvGrpSpPr/>
          <p:nvPr/>
        </p:nvGrpSpPr>
        <p:grpSpPr>
          <a:xfrm>
            <a:off x="1196677" y="3117405"/>
            <a:ext cx="5118734" cy="640080"/>
            <a:chOff x="1183701" y="2582589"/>
            <a:chExt cx="4746220" cy="640080"/>
          </a:xfrm>
          <a:solidFill>
            <a:srgbClr val="C00000"/>
          </a:solidFill>
        </p:grpSpPr>
        <p:sp>
          <p:nvSpPr>
            <p:cNvPr id="9" name="Arrow: Right 8">
              <a:extLst>
                <a:ext uri="{FF2B5EF4-FFF2-40B4-BE49-F238E27FC236}">
                  <a16:creationId xmlns:a16="http://schemas.microsoft.com/office/drawing/2014/main" id="{C180ACBB-C862-339D-A291-9C6B8E1C9F5A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24D570B-B79A-7E7E-1F19-EB53559AFBF1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68F42E6-EFBB-471E-A489-05CA5D2680DE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94ADC767-BDE5-459A-BD11-4DC3B0C0B08D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C809F5-5547-4DDE-9AC2-46537AAB019E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841466-4407-40C5-958B-1348F4A1271E}"/>
              </a:ext>
            </a:extLst>
          </p:cNvPr>
          <p:cNvGrpSpPr/>
          <p:nvPr/>
        </p:nvGrpSpPr>
        <p:grpSpPr>
          <a:xfrm>
            <a:off x="10220455" y="3122086"/>
            <a:ext cx="1399370" cy="640080"/>
            <a:chOff x="10220455" y="3122086"/>
            <a:chExt cx="1399370" cy="640080"/>
          </a:xfrm>
        </p:grpSpPr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B9C432E0-AF9F-4312-BE7C-D593373F8C6B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243A267-9323-4719-B964-5318E8814CC0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618A960-ADC7-0EFE-3874-0CA87DDBA41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1609725" y="3698315"/>
            <a:ext cx="4888611" cy="2239189"/>
          </a:xfrm>
        </p:spPr>
        <p:txBody>
          <a:bodyPr>
            <a:normAutofit/>
          </a:bodyPr>
          <a:lstStyle/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Generate DMA transactions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Trigger SMIs</a:t>
            </a:r>
          </a:p>
          <a:p>
            <a:pPr lvl="1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dirty="0"/>
              <a:t>Write to specific physical memory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05A642B-F17C-6D21-78DD-B5005444FF1D}"/>
              </a:ext>
            </a:extLst>
          </p:cNvPr>
          <p:cNvGrpSpPr/>
          <p:nvPr/>
        </p:nvGrpSpPr>
        <p:grpSpPr>
          <a:xfrm>
            <a:off x="1194545" y="3116580"/>
            <a:ext cx="5118734" cy="640080"/>
            <a:chOff x="1183701" y="2582589"/>
            <a:chExt cx="4746220" cy="640080"/>
          </a:xfrm>
          <a:solidFill>
            <a:srgbClr val="8BC145"/>
          </a:solidFill>
        </p:grpSpPr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85FA901E-7F13-1194-FCBC-D5365CCBE19B}"/>
                </a:ext>
              </a:extLst>
            </p:cNvPr>
            <p:cNvSpPr/>
            <p:nvPr/>
          </p:nvSpPr>
          <p:spPr>
            <a:xfrm>
              <a:off x="1229206" y="2582589"/>
              <a:ext cx="470071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04111C0-3B4F-1A5C-AB44-1DD529486AF2}"/>
                </a:ext>
              </a:extLst>
            </p:cNvPr>
            <p:cNvSpPr/>
            <p:nvPr/>
          </p:nvSpPr>
          <p:spPr>
            <a:xfrm>
              <a:off x="1183701" y="2746547"/>
              <a:ext cx="88400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00DEEAB0-6E1F-4164-9EB0-EDE727A66A4C}"/>
              </a:ext>
            </a:extLst>
          </p:cNvPr>
          <p:cNvSpPr/>
          <p:nvPr/>
        </p:nvSpPr>
        <p:spPr>
          <a:xfrm>
            <a:off x="6315411" y="1328813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861E33-1ED1-5651-1892-0A591A671DE6}"/>
              </a:ext>
            </a:extLst>
          </p:cNvPr>
          <p:cNvGrpSpPr/>
          <p:nvPr/>
        </p:nvGrpSpPr>
        <p:grpSpPr>
          <a:xfrm>
            <a:off x="7039809" y="3117405"/>
            <a:ext cx="2416740" cy="640080"/>
            <a:chOff x="7039809" y="3117405"/>
            <a:chExt cx="2416740" cy="640080"/>
          </a:xfrm>
          <a:solidFill>
            <a:schemeClr val="accent2"/>
          </a:solidFill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A735C34A-CB81-973A-E8DB-724BD5205CC3}"/>
                </a:ext>
              </a:extLst>
            </p:cNvPr>
            <p:cNvSpPr/>
            <p:nvPr/>
          </p:nvSpPr>
          <p:spPr>
            <a:xfrm>
              <a:off x="7084984" y="3117405"/>
              <a:ext cx="2371565" cy="640080"/>
            </a:xfrm>
            <a:prstGeom prst="rightArrow">
              <a:avLst>
                <a:gd name="adj1" fmla="val 50000"/>
                <a:gd name="adj2" fmla="val 0"/>
              </a:avLst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CE8F23E-54A6-825C-8A71-1CBB41D3A5E5}"/>
                </a:ext>
              </a:extLst>
            </p:cNvPr>
            <p:cNvSpPr/>
            <p:nvPr/>
          </p:nvSpPr>
          <p:spPr>
            <a:xfrm>
              <a:off x="7039809" y="3278981"/>
              <a:ext cx="95312" cy="314325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EE1110B6-12DD-4A66-B1A3-9B97AF232EB1}"/>
              </a:ext>
            </a:extLst>
          </p:cNvPr>
          <p:cNvSpPr/>
          <p:nvPr/>
        </p:nvSpPr>
        <p:spPr>
          <a:xfrm>
            <a:off x="9494650" y="1353895"/>
            <a:ext cx="1451610" cy="4171950"/>
          </a:xfrm>
          <a:prstGeom prst="ellipse">
            <a:avLst/>
          </a:prstGeom>
          <a:noFill/>
          <a:ln w="76200" cap="flat">
            <a:solidFill>
              <a:schemeClr val="accent4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41BD76D-D369-431E-4403-EBFB636DC9A8}"/>
              </a:ext>
            </a:extLst>
          </p:cNvPr>
          <p:cNvGrpSpPr/>
          <p:nvPr/>
        </p:nvGrpSpPr>
        <p:grpSpPr>
          <a:xfrm>
            <a:off x="10220455" y="3117405"/>
            <a:ext cx="1399370" cy="640080"/>
            <a:chOff x="10220455" y="3122086"/>
            <a:chExt cx="1399370" cy="640080"/>
          </a:xfrm>
          <a:solidFill>
            <a:schemeClr val="accent2"/>
          </a:solidFill>
        </p:grpSpPr>
        <p:sp>
          <p:nvSpPr>
            <p:cNvPr id="24" name="Arrow: Right 23">
              <a:extLst>
                <a:ext uri="{FF2B5EF4-FFF2-40B4-BE49-F238E27FC236}">
                  <a16:creationId xmlns:a16="http://schemas.microsoft.com/office/drawing/2014/main" id="{4EC87DE9-7493-E06C-4658-FDF10D372924}"/>
                </a:ext>
              </a:extLst>
            </p:cNvPr>
            <p:cNvSpPr/>
            <p:nvPr/>
          </p:nvSpPr>
          <p:spPr>
            <a:xfrm>
              <a:off x="10265631" y="3122086"/>
              <a:ext cx="1354194" cy="640080"/>
            </a:xfrm>
            <a:prstGeom prst="rightArrow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D20408-6125-2221-CC65-8D0A3DC6C872}"/>
                </a:ext>
              </a:extLst>
            </p:cNvPr>
            <p:cNvSpPr/>
            <p:nvPr/>
          </p:nvSpPr>
          <p:spPr>
            <a:xfrm>
              <a:off x="10220455" y="3286125"/>
              <a:ext cx="95312" cy="307181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no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1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535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uiExpand="1" build="p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29D0C3-A702-74D9-6CB9-EA3493FA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RingHopper Journey </a:t>
            </a:r>
            <a:endParaRPr lang="en-IL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2F81F1F-4175-CA1D-E283-06B9A58A1417}"/>
              </a:ext>
            </a:extLst>
          </p:cNvPr>
          <p:cNvSpPr/>
          <p:nvPr/>
        </p:nvSpPr>
        <p:spPr>
          <a:xfrm>
            <a:off x="405524" y="2285940"/>
            <a:ext cx="10836375" cy="2655913"/>
          </a:xfrm>
          <a:custGeom>
            <a:avLst/>
            <a:gdLst>
              <a:gd name="connsiteX0" fmla="*/ 0 w 10048973"/>
              <a:gd name="connsiteY0" fmla="*/ 556181 h 2187128"/>
              <a:gd name="connsiteX1" fmla="*/ 1348033 w 10048973"/>
              <a:gd name="connsiteY1" fmla="*/ 2187019 h 2187128"/>
              <a:gd name="connsiteX2" fmla="*/ 3393649 w 10048973"/>
              <a:gd name="connsiteY2" fmla="*/ 490194 h 2187128"/>
              <a:gd name="connsiteX3" fmla="*/ 5986020 w 10048973"/>
              <a:gd name="connsiteY3" fmla="*/ 1857080 h 2187128"/>
              <a:gd name="connsiteX4" fmla="*/ 9737888 w 10048973"/>
              <a:gd name="connsiteY4" fmla="*/ 141402 h 2187128"/>
              <a:gd name="connsiteX5" fmla="*/ 10048973 w 10048973"/>
              <a:gd name="connsiteY5" fmla="*/ 0 h 2187128"/>
              <a:gd name="connsiteX0" fmla="*/ 0 w 10048973"/>
              <a:gd name="connsiteY0" fmla="*/ 556181 h 2188068"/>
              <a:gd name="connsiteX1" fmla="*/ 1348033 w 10048973"/>
              <a:gd name="connsiteY1" fmla="*/ 2187019 h 2188068"/>
              <a:gd name="connsiteX2" fmla="*/ 3419049 w 10048973"/>
              <a:gd name="connsiteY2" fmla="*/ 820394 h 2188068"/>
              <a:gd name="connsiteX3" fmla="*/ 5986020 w 10048973"/>
              <a:gd name="connsiteY3" fmla="*/ 1857080 h 2188068"/>
              <a:gd name="connsiteX4" fmla="*/ 9737888 w 10048973"/>
              <a:gd name="connsiteY4" fmla="*/ 141402 h 2188068"/>
              <a:gd name="connsiteX5" fmla="*/ 10048973 w 10048973"/>
              <a:gd name="connsiteY5" fmla="*/ 0 h 2188068"/>
              <a:gd name="connsiteX0" fmla="*/ 0 w 10048973"/>
              <a:gd name="connsiteY0" fmla="*/ 556181 h 2188833"/>
              <a:gd name="connsiteX1" fmla="*/ 1348033 w 10048973"/>
              <a:gd name="connsiteY1" fmla="*/ 2187019 h 2188833"/>
              <a:gd name="connsiteX2" fmla="*/ 3435982 w 10048973"/>
              <a:gd name="connsiteY2" fmla="*/ 896594 h 2188833"/>
              <a:gd name="connsiteX3" fmla="*/ 5986020 w 10048973"/>
              <a:gd name="connsiteY3" fmla="*/ 1857080 h 2188833"/>
              <a:gd name="connsiteX4" fmla="*/ 9737888 w 10048973"/>
              <a:gd name="connsiteY4" fmla="*/ 141402 h 2188833"/>
              <a:gd name="connsiteX5" fmla="*/ 10048973 w 10048973"/>
              <a:gd name="connsiteY5" fmla="*/ 0 h 2188833"/>
              <a:gd name="connsiteX0" fmla="*/ 0 w 10048973"/>
              <a:gd name="connsiteY0" fmla="*/ 556181 h 2189259"/>
              <a:gd name="connsiteX1" fmla="*/ 1348033 w 10048973"/>
              <a:gd name="connsiteY1" fmla="*/ 2187019 h 2189259"/>
              <a:gd name="connsiteX2" fmla="*/ 3435982 w 10048973"/>
              <a:gd name="connsiteY2" fmla="*/ 896594 h 2189259"/>
              <a:gd name="connsiteX3" fmla="*/ 7442287 w 10048973"/>
              <a:gd name="connsiteY3" fmla="*/ 324613 h 2189259"/>
              <a:gd name="connsiteX4" fmla="*/ 9737888 w 10048973"/>
              <a:gd name="connsiteY4" fmla="*/ 141402 h 2189259"/>
              <a:gd name="connsiteX5" fmla="*/ 10048973 w 10048973"/>
              <a:gd name="connsiteY5" fmla="*/ 0 h 2189259"/>
              <a:gd name="connsiteX0" fmla="*/ 0 w 10048973"/>
              <a:gd name="connsiteY0" fmla="*/ 556181 h 2189324"/>
              <a:gd name="connsiteX1" fmla="*/ 1348033 w 10048973"/>
              <a:gd name="connsiteY1" fmla="*/ 2187019 h 2189324"/>
              <a:gd name="connsiteX2" fmla="*/ 3435982 w 10048973"/>
              <a:gd name="connsiteY2" fmla="*/ 896594 h 2189324"/>
              <a:gd name="connsiteX3" fmla="*/ 9737888 w 10048973"/>
              <a:gd name="connsiteY3" fmla="*/ 141402 h 2189324"/>
              <a:gd name="connsiteX4" fmla="*/ 10048973 w 10048973"/>
              <a:gd name="connsiteY4" fmla="*/ 0 h 2189324"/>
              <a:gd name="connsiteX0" fmla="*/ 0 w 10048973"/>
              <a:gd name="connsiteY0" fmla="*/ 556181 h 2194093"/>
              <a:gd name="connsiteX1" fmla="*/ 1348033 w 10048973"/>
              <a:gd name="connsiteY1" fmla="*/ 2187019 h 2194093"/>
              <a:gd name="connsiteX2" fmla="*/ 3427516 w 10048973"/>
              <a:gd name="connsiteY2" fmla="*/ 1108261 h 2194093"/>
              <a:gd name="connsiteX3" fmla="*/ 9737888 w 10048973"/>
              <a:gd name="connsiteY3" fmla="*/ 141402 h 2194093"/>
              <a:gd name="connsiteX4" fmla="*/ 10048973 w 10048973"/>
              <a:gd name="connsiteY4" fmla="*/ 0 h 2194093"/>
              <a:gd name="connsiteX0" fmla="*/ 0 w 10048973"/>
              <a:gd name="connsiteY0" fmla="*/ 556181 h 2187033"/>
              <a:gd name="connsiteX1" fmla="*/ 1348033 w 10048973"/>
              <a:gd name="connsiteY1" fmla="*/ 2187019 h 2187033"/>
              <a:gd name="connsiteX2" fmla="*/ 5019249 w 10048973"/>
              <a:gd name="connsiteY2" fmla="*/ 532528 h 2187033"/>
              <a:gd name="connsiteX3" fmla="*/ 9737888 w 10048973"/>
              <a:gd name="connsiteY3" fmla="*/ 141402 h 2187033"/>
              <a:gd name="connsiteX4" fmla="*/ 10048973 w 10048973"/>
              <a:gd name="connsiteY4" fmla="*/ 0 h 2187033"/>
              <a:gd name="connsiteX0" fmla="*/ 0 w 10048973"/>
              <a:gd name="connsiteY0" fmla="*/ 556181 h 2187033"/>
              <a:gd name="connsiteX1" fmla="*/ 1348033 w 10048973"/>
              <a:gd name="connsiteY1" fmla="*/ 2187019 h 2187033"/>
              <a:gd name="connsiteX2" fmla="*/ 5019249 w 10048973"/>
              <a:gd name="connsiteY2" fmla="*/ 532528 h 2187033"/>
              <a:gd name="connsiteX3" fmla="*/ 10048973 w 10048973"/>
              <a:gd name="connsiteY3" fmla="*/ 0 h 2187033"/>
              <a:gd name="connsiteX0" fmla="*/ 0 w 10048973"/>
              <a:gd name="connsiteY0" fmla="*/ 556181 h 2102367"/>
              <a:gd name="connsiteX1" fmla="*/ 3523967 w 10048973"/>
              <a:gd name="connsiteY1" fmla="*/ 2102352 h 2102367"/>
              <a:gd name="connsiteX2" fmla="*/ 5019249 w 10048973"/>
              <a:gd name="connsiteY2" fmla="*/ 532528 h 2102367"/>
              <a:gd name="connsiteX3" fmla="*/ 10048973 w 10048973"/>
              <a:gd name="connsiteY3" fmla="*/ 0 h 2102367"/>
              <a:gd name="connsiteX0" fmla="*/ 0 w 10048973"/>
              <a:gd name="connsiteY0" fmla="*/ 556181 h 2103899"/>
              <a:gd name="connsiteX1" fmla="*/ 3523967 w 10048973"/>
              <a:gd name="connsiteY1" fmla="*/ 2102352 h 2103899"/>
              <a:gd name="connsiteX2" fmla="*/ 7229049 w 10048973"/>
              <a:gd name="connsiteY2" fmla="*/ 312394 h 2103899"/>
              <a:gd name="connsiteX3" fmla="*/ 10048973 w 10048973"/>
              <a:gd name="connsiteY3" fmla="*/ 0 h 2103899"/>
              <a:gd name="connsiteX0" fmla="*/ 266951 w 10315924"/>
              <a:gd name="connsiteY0" fmla="*/ 556181 h 2103218"/>
              <a:gd name="connsiteX1" fmla="*/ 259358 w 10315924"/>
              <a:gd name="connsiteY1" fmla="*/ 550394 h 2103218"/>
              <a:gd name="connsiteX2" fmla="*/ 3790918 w 10315924"/>
              <a:gd name="connsiteY2" fmla="*/ 2102352 h 2103218"/>
              <a:gd name="connsiteX3" fmla="*/ 7496000 w 10315924"/>
              <a:gd name="connsiteY3" fmla="*/ 312394 h 2103218"/>
              <a:gd name="connsiteX4" fmla="*/ 10315924 w 10315924"/>
              <a:gd name="connsiteY4" fmla="*/ 0 h 2103218"/>
              <a:gd name="connsiteX0" fmla="*/ 1081399 w 11130372"/>
              <a:gd name="connsiteY0" fmla="*/ 556181 h 2157881"/>
              <a:gd name="connsiteX1" fmla="*/ 134006 w 11130372"/>
              <a:gd name="connsiteY1" fmla="*/ 1600261 h 2157881"/>
              <a:gd name="connsiteX2" fmla="*/ 4605366 w 11130372"/>
              <a:gd name="connsiteY2" fmla="*/ 2102352 h 2157881"/>
              <a:gd name="connsiteX3" fmla="*/ 8310448 w 11130372"/>
              <a:gd name="connsiteY3" fmla="*/ 312394 h 2157881"/>
              <a:gd name="connsiteX4" fmla="*/ 11130372 w 11130372"/>
              <a:gd name="connsiteY4" fmla="*/ 0 h 2157881"/>
              <a:gd name="connsiteX0" fmla="*/ 16711 w 10065684"/>
              <a:gd name="connsiteY0" fmla="*/ 556181 h 2119353"/>
              <a:gd name="connsiteX1" fmla="*/ 457851 w 10065684"/>
              <a:gd name="connsiteY1" fmla="*/ 1176928 h 2119353"/>
              <a:gd name="connsiteX2" fmla="*/ 3540678 w 10065684"/>
              <a:gd name="connsiteY2" fmla="*/ 2102352 h 2119353"/>
              <a:gd name="connsiteX3" fmla="*/ 7245760 w 10065684"/>
              <a:gd name="connsiteY3" fmla="*/ 312394 h 2119353"/>
              <a:gd name="connsiteX4" fmla="*/ 10065684 w 10065684"/>
              <a:gd name="connsiteY4" fmla="*/ 0 h 2119353"/>
              <a:gd name="connsiteX0" fmla="*/ 1 w 11132708"/>
              <a:gd name="connsiteY0" fmla="*/ 2317247 h 2317247"/>
              <a:gd name="connsiteX1" fmla="*/ 1524875 w 11132708"/>
              <a:gd name="connsiteY1" fmla="*/ 1176928 h 2317247"/>
              <a:gd name="connsiteX2" fmla="*/ 4607702 w 11132708"/>
              <a:gd name="connsiteY2" fmla="*/ 2102352 h 2317247"/>
              <a:gd name="connsiteX3" fmla="*/ 8312784 w 11132708"/>
              <a:gd name="connsiteY3" fmla="*/ 312394 h 2317247"/>
              <a:gd name="connsiteX4" fmla="*/ 11132708 w 11132708"/>
              <a:gd name="connsiteY4" fmla="*/ 0 h 2317247"/>
              <a:gd name="connsiteX0" fmla="*/ 2 w 10997242"/>
              <a:gd name="connsiteY0" fmla="*/ 2063247 h 2119353"/>
              <a:gd name="connsiteX1" fmla="*/ 1389409 w 10997242"/>
              <a:gd name="connsiteY1" fmla="*/ 1176928 h 2119353"/>
              <a:gd name="connsiteX2" fmla="*/ 4472236 w 10997242"/>
              <a:gd name="connsiteY2" fmla="*/ 2102352 h 2119353"/>
              <a:gd name="connsiteX3" fmla="*/ 8177318 w 10997242"/>
              <a:gd name="connsiteY3" fmla="*/ 312394 h 2119353"/>
              <a:gd name="connsiteX4" fmla="*/ 10997242 w 10997242"/>
              <a:gd name="connsiteY4" fmla="*/ 0 h 2119353"/>
              <a:gd name="connsiteX0" fmla="*/ 1 w 11048041"/>
              <a:gd name="connsiteY0" fmla="*/ 2334180 h 2334180"/>
              <a:gd name="connsiteX1" fmla="*/ 1440208 w 11048041"/>
              <a:gd name="connsiteY1" fmla="*/ 1176928 h 2334180"/>
              <a:gd name="connsiteX2" fmla="*/ 4523035 w 11048041"/>
              <a:gd name="connsiteY2" fmla="*/ 2102352 h 2334180"/>
              <a:gd name="connsiteX3" fmla="*/ 8228117 w 11048041"/>
              <a:gd name="connsiteY3" fmla="*/ 312394 h 2334180"/>
              <a:gd name="connsiteX4" fmla="*/ 11048041 w 11048041"/>
              <a:gd name="connsiteY4" fmla="*/ 0 h 2334180"/>
              <a:gd name="connsiteX0" fmla="*/ 1 w 11048041"/>
              <a:gd name="connsiteY0" fmla="*/ 2334180 h 2334180"/>
              <a:gd name="connsiteX1" fmla="*/ 1440208 w 11048041"/>
              <a:gd name="connsiteY1" fmla="*/ 1176928 h 2334180"/>
              <a:gd name="connsiteX2" fmla="*/ 4523035 w 11048041"/>
              <a:gd name="connsiteY2" fmla="*/ 2102352 h 2334180"/>
              <a:gd name="connsiteX3" fmla="*/ 6475517 w 11048041"/>
              <a:gd name="connsiteY3" fmla="*/ 413994 h 2334180"/>
              <a:gd name="connsiteX4" fmla="*/ 11048041 w 11048041"/>
              <a:gd name="connsiteY4" fmla="*/ 0 h 2334180"/>
              <a:gd name="connsiteX0" fmla="*/ 1 w 10726308"/>
              <a:gd name="connsiteY0" fmla="*/ 2909913 h 2909913"/>
              <a:gd name="connsiteX1" fmla="*/ 1440208 w 10726308"/>
              <a:gd name="connsiteY1" fmla="*/ 1752661 h 2909913"/>
              <a:gd name="connsiteX2" fmla="*/ 4523035 w 10726308"/>
              <a:gd name="connsiteY2" fmla="*/ 2678085 h 2909913"/>
              <a:gd name="connsiteX3" fmla="*/ 6475517 w 10726308"/>
              <a:gd name="connsiteY3" fmla="*/ 989727 h 2909913"/>
              <a:gd name="connsiteX4" fmla="*/ 10726308 w 10726308"/>
              <a:gd name="connsiteY4" fmla="*/ 0 h 2909913"/>
              <a:gd name="connsiteX0" fmla="*/ 1 w 10726308"/>
              <a:gd name="connsiteY0" fmla="*/ 2909913 h 2909913"/>
              <a:gd name="connsiteX1" fmla="*/ 1440208 w 10726308"/>
              <a:gd name="connsiteY1" fmla="*/ 1752661 h 2909913"/>
              <a:gd name="connsiteX2" fmla="*/ 4523035 w 10726308"/>
              <a:gd name="connsiteY2" fmla="*/ 2678085 h 2909913"/>
              <a:gd name="connsiteX3" fmla="*/ 6475517 w 10726308"/>
              <a:gd name="connsiteY3" fmla="*/ 989727 h 2909913"/>
              <a:gd name="connsiteX4" fmla="*/ 10726308 w 10726308"/>
              <a:gd name="connsiteY4" fmla="*/ 0 h 2909913"/>
              <a:gd name="connsiteX0" fmla="*/ 1 w 10836375"/>
              <a:gd name="connsiteY0" fmla="*/ 2655913 h 2655913"/>
              <a:gd name="connsiteX1" fmla="*/ 1440208 w 10836375"/>
              <a:gd name="connsiteY1" fmla="*/ 1498661 h 2655913"/>
              <a:gd name="connsiteX2" fmla="*/ 4523035 w 10836375"/>
              <a:gd name="connsiteY2" fmla="*/ 2424085 h 2655913"/>
              <a:gd name="connsiteX3" fmla="*/ 6475517 w 10836375"/>
              <a:gd name="connsiteY3" fmla="*/ 735727 h 2655913"/>
              <a:gd name="connsiteX4" fmla="*/ 10836375 w 10836375"/>
              <a:gd name="connsiteY4" fmla="*/ 0 h 265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6375" h="2655913">
                <a:moveTo>
                  <a:pt x="1" y="2655913"/>
                </a:moveTo>
                <a:cubicBezTo>
                  <a:pt x="-1264" y="2654949"/>
                  <a:pt x="852880" y="1240966"/>
                  <a:pt x="1440208" y="1498661"/>
                </a:cubicBezTo>
                <a:cubicBezTo>
                  <a:pt x="2027536" y="1756356"/>
                  <a:pt x="3683817" y="2551241"/>
                  <a:pt x="4523035" y="2424085"/>
                </a:cubicBezTo>
                <a:cubicBezTo>
                  <a:pt x="5362253" y="2296929"/>
                  <a:pt x="5423294" y="1139741"/>
                  <a:pt x="6475517" y="735727"/>
                </a:cubicBezTo>
                <a:cubicBezTo>
                  <a:pt x="7527740" y="331713"/>
                  <a:pt x="10474316" y="1253943"/>
                  <a:pt x="10836375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D3E6D7-047B-20D4-8D66-8E4F40BAE818}"/>
              </a:ext>
            </a:extLst>
          </p:cNvPr>
          <p:cNvSpPr txBox="1"/>
          <p:nvPr/>
        </p:nvSpPr>
        <p:spPr>
          <a:xfrm>
            <a:off x="738435" y="2613251"/>
            <a:ext cx="19334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write primitives into SMRAM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060B88B-2312-F32B-0B14-16F85E181513}"/>
              </a:ext>
            </a:extLst>
          </p:cNvPr>
          <p:cNvSpPr/>
          <p:nvPr/>
        </p:nvSpPr>
        <p:spPr>
          <a:xfrm>
            <a:off x="1348208" y="3412257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84C8E-B4B2-13D0-F7E8-F09CAAC0086E}"/>
              </a:ext>
            </a:extLst>
          </p:cNvPr>
          <p:cNvSpPr txBox="1"/>
          <p:nvPr/>
        </p:nvSpPr>
        <p:spPr>
          <a:xfrm>
            <a:off x="3645569" y="5064607"/>
            <a:ext cx="29668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code execution via the S3 boot script (failed)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1E5466F-6A7C-941C-6463-6612209B8A13}"/>
              </a:ext>
            </a:extLst>
          </p:cNvPr>
          <p:cNvSpPr/>
          <p:nvPr/>
        </p:nvSpPr>
        <p:spPr>
          <a:xfrm>
            <a:off x="4748714" y="4385672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9F33C-27E8-631F-E0DC-2C2BDEADFE7A}"/>
              </a:ext>
            </a:extLst>
          </p:cNvPr>
          <p:cNvSpPr txBox="1"/>
          <p:nvPr/>
        </p:nvSpPr>
        <p:spPr>
          <a:xfrm>
            <a:off x="5301751" y="1809243"/>
            <a:ext cx="35447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code execution using SMBASE relocation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7B2E9C-1D09-2EBD-B69B-34EFA08BA99F}"/>
              </a:ext>
            </a:extLst>
          </p:cNvPr>
          <p:cNvSpPr/>
          <p:nvPr/>
        </p:nvSpPr>
        <p:spPr>
          <a:xfrm>
            <a:off x="6761880" y="2638591"/>
            <a:ext cx="553038" cy="55618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14686E-E1D9-FBCA-AF75-2BD80EF29A34}"/>
              </a:ext>
            </a:extLst>
          </p:cNvPr>
          <p:cNvSpPr txBox="1"/>
          <p:nvPr/>
        </p:nvSpPr>
        <p:spPr>
          <a:xfrm>
            <a:off x="9026036" y="3446788"/>
            <a:ext cx="32027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exploitation from ring 3 using signed drivers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06CE73-86F0-73A9-C1BA-F44821417340}"/>
              </a:ext>
            </a:extLst>
          </p:cNvPr>
          <p:cNvSpPr/>
          <p:nvPr/>
        </p:nvSpPr>
        <p:spPr>
          <a:xfrm>
            <a:off x="10256755" y="2572893"/>
            <a:ext cx="553038" cy="556182"/>
          </a:xfrm>
          <a:prstGeom prst="ellipse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Google Shape;458;p18" descr="Grasshopper outline">
            <a:extLst>
              <a:ext uri="{FF2B5EF4-FFF2-40B4-BE49-F238E27FC236}">
                <a16:creationId xmlns:a16="http://schemas.microsoft.com/office/drawing/2014/main" id="{485692D6-48A4-8C90-C70B-0699ED4C5A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3727" y="3267448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58;p18" descr="Grasshopper outline">
            <a:extLst>
              <a:ext uri="{FF2B5EF4-FFF2-40B4-BE49-F238E27FC236}">
                <a16:creationId xmlns:a16="http://schemas.microsoft.com/office/drawing/2014/main" id="{5385D7B4-8E12-6BE5-A895-F1FFE85795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95033" y="422091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458;p18" descr="Grasshopper outline">
            <a:extLst>
              <a:ext uri="{FF2B5EF4-FFF2-40B4-BE49-F238E27FC236}">
                <a16:creationId xmlns:a16="http://schemas.microsoft.com/office/drawing/2014/main" id="{06A5332D-F1BF-7F41-984B-83795780A9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3794" y="2469984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458;p18" descr="Grasshopper outline">
            <a:extLst>
              <a:ext uri="{FF2B5EF4-FFF2-40B4-BE49-F238E27FC236}">
                <a16:creationId xmlns:a16="http://schemas.microsoft.com/office/drawing/2014/main" id="{A4C710D0-8889-D9DB-7A5B-6B1C3DCF15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4337" y="2419054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661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2" grpId="0"/>
      <p:bldP spid="4" grpId="0" animBg="1"/>
      <p:bldP spid="5" grpId="0"/>
      <p:bldP spid="6" grpId="0" animBg="1"/>
      <p:bldP spid="8" grpId="0"/>
      <p:bldP spid="1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EA1F2-3A3C-498E-863F-35A7947B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xor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eax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,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eax</a:t>
            </a:r>
            <a:r>
              <a:rPr lang="en-US" sz="4400" b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; </a:t>
            </a:r>
            <a:r>
              <a:rPr lang="en-US" sz="4400" b="0" dirty="0" err="1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cpuid</a:t>
            </a:r>
            <a:endParaRPr lang="en-US" sz="4400" b="0" dirty="0">
              <a:solidFill>
                <a:schemeClr val="tx1"/>
              </a:solidFill>
              <a:latin typeface="Segoe UI" panose="020B0502040204020203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4668DC-9D0E-4811-A2C3-D6A9A027FF39}"/>
              </a:ext>
            </a:extLst>
          </p:cNvPr>
          <p:cNvSpPr txBox="1">
            <a:spLocks/>
          </p:cNvSpPr>
          <p:nvPr/>
        </p:nvSpPr>
        <p:spPr>
          <a:xfrm>
            <a:off x="6566172" y="1376266"/>
            <a:ext cx="4744936" cy="4807177"/>
          </a:xfrm>
          <a:prstGeom prst="rect">
            <a:avLst/>
          </a:prstGeom>
        </p:spPr>
        <p:txBody>
          <a:bodyPr vert="horz" lIns="76200" tIns="38100" rIns="76200" bIns="38100" rtlCol="0" anchor="t">
            <a:norm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endParaRPr lang="en-US" sz="2000" dirty="0">
              <a:cs typeface="Segoe UI" panose="020B0502040204020203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F027B8-DB77-4E6F-BCF8-9FC3927120E8}"/>
              </a:ext>
            </a:extLst>
          </p:cNvPr>
          <p:cNvSpPr txBox="1">
            <a:spLocks/>
          </p:cNvSpPr>
          <p:nvPr/>
        </p:nvSpPr>
        <p:spPr>
          <a:xfrm>
            <a:off x="1325806" y="3965873"/>
            <a:ext cx="4516973" cy="949612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Benny Zeltser,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Security Research Team Lead, Intel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CABBA3-EF08-4E13-9272-6F3F50F6C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580" y="2649633"/>
            <a:ext cx="1593142" cy="15575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 descr="A person with a beard&#10;&#10;Description automatically generated with low confidence">
            <a:extLst>
              <a:ext uri="{FF2B5EF4-FFF2-40B4-BE49-F238E27FC236}">
                <a16:creationId xmlns:a16="http://schemas.microsoft.com/office/drawing/2014/main" id="{19D2A794-7C2A-410A-933B-6B6A1E42B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337" y="2650826"/>
            <a:ext cx="1654781" cy="15563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5770C-3E3C-71DF-E0F6-3BA9498937BE}"/>
              </a:ext>
            </a:extLst>
          </p:cNvPr>
          <p:cNvSpPr txBox="1">
            <a:spLocks/>
          </p:cNvSpPr>
          <p:nvPr/>
        </p:nvSpPr>
        <p:spPr>
          <a:xfrm>
            <a:off x="6419850" y="3965873"/>
            <a:ext cx="4879975" cy="949612"/>
          </a:xfrm>
          <a:prstGeom prst="rect">
            <a:avLst/>
          </a:prstGeom>
        </p:spPr>
        <p:txBody>
          <a:bodyPr vert="horz" lIns="76200" tIns="38100" rIns="76200" bIns="38100" rtlCol="0" anchor="b">
            <a:noAutofit/>
          </a:bodyPr>
          <a:lstStyle>
            <a:lvl1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1pPr>
            <a:lvl2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2pPr>
            <a:lvl3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3pPr>
            <a:lvl4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4pPr>
            <a:lvl5pPr marL="0" marR="0" indent="0" algn="ctr" defTabSz="49530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Arial" panose="020B0604020202020204" pitchFamily="34" charset="0"/>
                <a:ea typeface="Helvetica Neue"/>
                <a:cs typeface="Helvetica Neue"/>
                <a:sym typeface="Helvetica Neue"/>
              </a:defRPr>
            </a:lvl5pPr>
            <a:lvl6pPr marL="2286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6pPr>
            <a:lvl7pPr marL="2667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7pPr>
            <a:lvl8pPr marL="3048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8pPr>
            <a:lvl9pPr marL="3429000" marR="0" indent="-381000" algn="l" defTabSz="495300" eaLnBrk="1" latinLnBrk="0" hangingPunct="1">
              <a:lnSpc>
                <a:spcPct val="120000"/>
              </a:lnSpc>
              <a:spcBef>
                <a:spcPts val="3540"/>
              </a:spcBef>
              <a:spcAft>
                <a:spcPts val="0"/>
              </a:spcAft>
              <a:buClrTx/>
              <a:buSzPct val="125000"/>
              <a:buFontTx/>
              <a:buChar char="•"/>
              <a:tabLst/>
              <a:defRPr sz="3120" b="0" i="0" u="none" strike="noStrike" cap="none" spc="0" baseline="0">
                <a:solidFill>
                  <a:srgbClr val="000000"/>
                </a:solidFill>
                <a:uFillTx/>
                <a:latin typeface="Asap Regular"/>
                <a:ea typeface="Asap Regular"/>
                <a:cs typeface="Asap Regular"/>
                <a:sym typeface="Asap Regular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Jonathan Lusky,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cs typeface="Segoe UI" panose="020B0502040204020203" pitchFamily="34" charset="0"/>
              </a:rPr>
              <a:t>Security Research Team Lead, Cellebrite</a:t>
            </a:r>
          </a:p>
        </p:txBody>
      </p:sp>
    </p:spTree>
    <p:extLst>
      <p:ext uri="{BB962C8B-B14F-4D97-AF65-F5344CB8AC3E}">
        <p14:creationId xmlns:p14="http://schemas.microsoft.com/office/powerpoint/2010/main" val="157848444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16"/>
          <p:cNvSpPr txBox="1">
            <a:spLocks noGrp="1"/>
          </p:cNvSpPr>
          <p:nvPr>
            <p:ph type="ctrTitle"/>
          </p:nvPr>
        </p:nvSpPr>
        <p:spPr>
          <a:xfrm>
            <a:off x="-2081495" y="564555"/>
            <a:ext cx="8915399" cy="5129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900"/>
              <a:buFont typeface="Arial"/>
              <a:buNone/>
            </a:pPr>
            <a:r>
              <a:rPr lang="en-US" sz="17900" b="1" dirty="0"/>
              <a:t>Thank you!</a:t>
            </a:r>
            <a:endParaRPr dirty="0"/>
          </a:p>
        </p:txBody>
      </p:sp>
      <p:pic>
        <p:nvPicPr>
          <p:cNvPr id="2" name="Google Shape;254;p2" descr="A picture containing weapon, sky, armour, action film&#10;&#10;Description automatically generated">
            <a:extLst>
              <a:ext uri="{FF2B5EF4-FFF2-40B4-BE49-F238E27FC236}">
                <a16:creationId xmlns:a16="http://schemas.microsoft.com/office/drawing/2014/main" id="{E36E7209-205F-A6F9-1387-AAC690EA8F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23285" r="6055"/>
          <a:stretch/>
        </p:blipFill>
        <p:spPr>
          <a:xfrm>
            <a:off x="7346115" y="0"/>
            <a:ext cx="484588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53;p2">
            <a:extLst>
              <a:ext uri="{FF2B5EF4-FFF2-40B4-BE49-F238E27FC236}">
                <a16:creationId xmlns:a16="http://schemas.microsoft.com/office/drawing/2014/main" id="{AEB6DA09-91BC-AD01-EE46-F363829BE3B6}"/>
              </a:ext>
            </a:extLst>
          </p:cNvPr>
          <p:cNvSpPr txBox="1"/>
          <p:nvPr/>
        </p:nvSpPr>
        <p:spPr>
          <a:xfrm>
            <a:off x="7405749" y="6528341"/>
            <a:ext cx="2808006" cy="25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chemeClr val="bg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Generated by the DALL·E 2.5 AI system</a:t>
            </a:r>
            <a:endParaRPr sz="1000" b="0" i="0" u="none" strike="noStrike" cap="none">
              <a:solidFill>
                <a:schemeClr val="bg1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B9D4B-BCE1-FE87-8C28-0FECF55541F3}"/>
              </a:ext>
            </a:extLst>
          </p:cNvPr>
          <p:cNvSpPr/>
          <p:nvPr/>
        </p:nvSpPr>
        <p:spPr>
          <a:xfrm>
            <a:off x="6193410" y="4807670"/>
            <a:ext cx="640494" cy="5056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24B02CA-8D21-2BFC-3BA1-69F624BD5802}"/>
              </a:ext>
            </a:extLst>
          </p:cNvPr>
          <p:cNvGrpSpPr/>
          <p:nvPr/>
        </p:nvGrpSpPr>
        <p:grpSpPr>
          <a:xfrm>
            <a:off x="6187891" y="4858209"/>
            <a:ext cx="553038" cy="556182"/>
            <a:chOff x="6187891" y="4858209"/>
            <a:chExt cx="553038" cy="5561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6A33F6A-FF60-8B0E-324E-004A5C5D5A78}"/>
                </a:ext>
              </a:extLst>
            </p:cNvPr>
            <p:cNvSpPr/>
            <p:nvPr/>
          </p:nvSpPr>
          <p:spPr>
            <a:xfrm>
              <a:off x="6187891" y="4858209"/>
              <a:ext cx="553038" cy="556182"/>
            </a:xfrm>
            <a:prstGeom prst="ellipse">
              <a:avLst/>
            </a:prstGeom>
            <a:solidFill>
              <a:srgbClr val="DBE8E1"/>
            </a:solidFill>
            <a:ln w="22225">
              <a:solidFill>
                <a:srgbClr val="205250"/>
              </a:solidFill>
            </a:ln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Google Shape;458;p18" descr="Grasshopper outline">
              <a:extLst>
                <a:ext uri="{FF2B5EF4-FFF2-40B4-BE49-F238E27FC236}">
                  <a16:creationId xmlns:a16="http://schemas.microsoft.com/office/drawing/2014/main" id="{7DFF2AC0-DC25-093E-5C27-1F15FC9CEB70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211467" y="4906334"/>
              <a:ext cx="467385" cy="467385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008710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D99616218D054EA63C510D5C3ED3A7" ma:contentTypeVersion="16" ma:contentTypeDescription="Create a new document." ma:contentTypeScope="" ma:versionID="083ec3bbed855c6cb7d9717016ed4957">
  <xsd:schema xmlns:xsd="http://www.w3.org/2001/XMLSchema" xmlns:xs="http://www.w3.org/2001/XMLSchema" xmlns:p="http://schemas.microsoft.com/office/2006/metadata/properties" xmlns:ns3="23347348-f209-4824-a23a-1433d5a4d5f5" xmlns:ns4="5d48a4fd-b80d-4fe1-b239-a49a0c8fe0fd" targetNamespace="http://schemas.microsoft.com/office/2006/metadata/properties" ma:root="true" ma:fieldsID="6c930f2831c143247d43e7189ebce7fc" ns3:_="" ns4:_="">
    <xsd:import namespace="23347348-f209-4824-a23a-1433d5a4d5f5"/>
    <xsd:import namespace="5d48a4fd-b80d-4fe1-b239-a49a0c8fe0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LengthInSecond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47348-f209-4824-a23a-1433d5a4d5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48a4fd-b80d-4fe1-b239-a49a0c8fe0f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47348-f209-4824-a23a-1433d5a4d5f5" xsi:nil="true"/>
  </documentManagement>
</p:properties>
</file>

<file path=customXml/itemProps1.xml><?xml version="1.0" encoding="utf-8"?>
<ds:datastoreItem xmlns:ds="http://schemas.openxmlformats.org/officeDocument/2006/customXml" ds:itemID="{838C4377-5364-45CE-9E66-9D9C562435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347348-f209-4824-a23a-1433d5a4d5f5"/>
    <ds:schemaRef ds:uri="5d48a4fd-b80d-4fe1-b239-a49a0c8fe0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938932F-5FBE-4264-A4ED-442A01D96C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D16347-7476-415A-84F9-304711471118}">
  <ds:schemaRefs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23347348-f209-4824-a23a-1433d5a4d5f5"/>
    <ds:schemaRef ds:uri="http://schemas.openxmlformats.org/package/2006/metadata/core-properties"/>
    <ds:schemaRef ds:uri="5d48a4fd-b80d-4fe1-b239-a49a0c8fe0fd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4193</Words>
  <Application>Microsoft Office PowerPoint</Application>
  <PresentationFormat>Widescreen</PresentationFormat>
  <Paragraphs>851</Paragraphs>
  <Slides>101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9" baseType="lpstr">
      <vt:lpstr>Arial</vt:lpstr>
      <vt:lpstr>Arial Black</vt:lpstr>
      <vt:lpstr>Arial Narrow</vt:lpstr>
      <vt:lpstr>Asap SemiBold</vt:lpstr>
      <vt:lpstr>Calibri</vt:lpstr>
      <vt:lpstr>Calibri (Body)</vt:lpstr>
      <vt:lpstr>Calibri Light</vt:lpstr>
      <vt:lpstr>Consolas</vt:lpstr>
      <vt:lpstr>Courier New</vt:lpstr>
      <vt:lpstr>Helvetica Neue</vt:lpstr>
      <vt:lpstr>Helvetica Neue Medium</vt:lpstr>
      <vt:lpstr>Impact</vt:lpstr>
      <vt:lpstr>Intel Clear Light</vt:lpstr>
      <vt:lpstr>Noto Sans Symbols</vt:lpstr>
      <vt:lpstr>Quattrocento Sans</vt:lpstr>
      <vt:lpstr>Segoe UI</vt:lpstr>
      <vt:lpstr>Wingdings</vt:lpstr>
      <vt:lpstr>Office Theme</vt:lpstr>
      <vt:lpstr>The RingHopper Journey  or  How We Almost  0-day’d the World</vt:lpstr>
      <vt:lpstr>How We Almost 0-day’d the World</vt:lpstr>
      <vt:lpstr>How We Almost  0-day’d the World</vt:lpstr>
      <vt:lpstr>How We Almost 0-day’d the World</vt:lpstr>
      <vt:lpstr>How We Almost 0-day’d the World</vt:lpstr>
      <vt:lpstr>How We Almost 0-day’d the World</vt:lpstr>
      <vt:lpstr>How We Almost 0-day’d the World</vt:lpstr>
      <vt:lpstr>How We Almost 0-day’d the World</vt:lpstr>
      <vt:lpstr>Privilege Rings</vt:lpstr>
      <vt:lpstr>Privilege Rings</vt:lpstr>
      <vt:lpstr>System Management Mode</vt:lpstr>
      <vt:lpstr>System Management Mode</vt:lpstr>
      <vt:lpstr>Invoking SMM From Ring 0</vt:lpstr>
      <vt:lpstr>System Management RAM</vt:lpstr>
      <vt:lpstr>Privilege Escalation</vt:lpstr>
      <vt:lpstr>Our Target</vt:lpstr>
      <vt:lpstr>Time of Check Time of Use Vulnerability</vt:lpstr>
      <vt:lpstr>TOCTOU Vulnerability Toy Example</vt:lpstr>
      <vt:lpstr>TOCTOU Exploitation</vt:lpstr>
      <vt:lpstr>PowerPoint Presentation</vt:lpstr>
      <vt:lpstr>DMA via PCILeech</vt:lpstr>
      <vt:lpstr>Physical to Remote</vt:lpstr>
      <vt:lpstr>TOCTOU SMM Exploitation</vt:lpstr>
      <vt:lpstr>PowerPoint Presentation</vt:lpstr>
      <vt:lpstr>Recap</vt:lpstr>
      <vt:lpstr>Code Execution Initial Capabilities</vt:lpstr>
      <vt:lpstr>Code Execution Classic Approach</vt:lpstr>
      <vt:lpstr>Code Execution Challenges</vt:lpstr>
      <vt:lpstr>Code Execution – Attempt #0</vt:lpstr>
      <vt:lpstr>Code Execution – Attempt #0 Digging Up the Past</vt:lpstr>
      <vt:lpstr>Code Execution – Attempt #0 S3 Sleep State</vt:lpstr>
      <vt:lpstr>Code Execution – Attempt #0 S3 Boot Script</vt:lpstr>
      <vt:lpstr>Code Execution – Attempt #0 S3 Boot Script</vt:lpstr>
      <vt:lpstr>Code Execution – Attempt #0 S3 Boot Script</vt:lpstr>
      <vt:lpstr>Code Execution – Attempt #0 S3 Boot Script – LockBox</vt:lpstr>
      <vt:lpstr>Code Execution – Attempt #0 S3 Boot Script – SmmLockBoxUpdate</vt:lpstr>
      <vt:lpstr>Code Execution – Attempt #0 S3 Boot Script – The Plan</vt:lpstr>
      <vt:lpstr>Code Execution – Attempt #0 S3 Boot Script</vt:lpstr>
      <vt:lpstr>Code Execution – Attempt #0 S3 Boot Script</vt:lpstr>
      <vt:lpstr>Code Execution – Attempt #1</vt:lpstr>
      <vt:lpstr>Code Execution SMBASE</vt:lpstr>
      <vt:lpstr>Code Execution SMBASE</vt:lpstr>
      <vt:lpstr>Code Execution SMBASE Relocation</vt:lpstr>
      <vt:lpstr>Code Execution SMBASE Relocation Attack</vt:lpstr>
      <vt:lpstr>Code Execution SMM “SMEP”</vt:lpstr>
      <vt:lpstr>Code Execution S3 Sleep State</vt:lpstr>
      <vt:lpstr>Code Execution S3 Sleep State</vt:lpstr>
      <vt:lpstr>Code Execution S3 Sleep State</vt:lpstr>
      <vt:lpstr>Code Execution S3 Sleep State</vt:lpstr>
      <vt:lpstr>Code Execution SMM “SMEP” + S3</vt:lpstr>
      <vt:lpstr>Code Execution  Full Recipe</vt:lpstr>
      <vt:lpstr>Code Execution Defeating RO Pages</vt:lpstr>
      <vt:lpstr>Code Execution Mitigations</vt:lpstr>
      <vt:lpstr>Code Execution Mitigations</vt:lpstr>
      <vt:lpstr>Code Execution Mitigations</vt:lpstr>
      <vt:lpstr>Code Execution Digging up the Past</vt:lpstr>
      <vt:lpstr>Code Execution Cache Poisoning</vt:lpstr>
      <vt:lpstr>Code Execution Cache Poisoning</vt:lpstr>
      <vt:lpstr>Code Execution Cache Poisoning</vt:lpstr>
      <vt:lpstr>Code Execution Cache Poisoning</vt:lpstr>
      <vt:lpstr>Code Execution SMRR</vt:lpstr>
      <vt:lpstr>Code Execution SMRR + S3</vt:lpstr>
      <vt:lpstr>Code Execution  Full Recipe</vt:lpstr>
      <vt:lpstr>Demo</vt:lpstr>
      <vt:lpstr>The FW Ecosystem </vt:lpstr>
      <vt:lpstr>The FW Ecosystem </vt:lpstr>
      <vt:lpstr>The FW Ecosystem </vt:lpstr>
      <vt:lpstr>PowerPoint Presentation</vt:lpstr>
      <vt:lpstr>Exploitation From Ring 3 Generating DMA Transactions</vt:lpstr>
      <vt:lpstr>Exploitation From Ring 3 Generating DMA Transactions</vt:lpstr>
      <vt:lpstr>Exploitation From Ring 3 Generating DMA Transactions</vt:lpstr>
      <vt:lpstr>PowerPoint Presentation</vt:lpstr>
      <vt:lpstr>Exploitation From Ring 3</vt:lpstr>
      <vt:lpstr>Exploitation From Ring 3 Triggering SMI</vt:lpstr>
      <vt:lpstr>PowerPoint Presentation</vt:lpstr>
      <vt:lpstr>Exploitation From Ring 3 Writing to Physical Memory - Background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Windows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Exploitation From Ring 3 Writing to Physical Memory - Linux</vt:lpstr>
      <vt:lpstr>PowerPoint Presentation</vt:lpstr>
      <vt:lpstr>The RingHopper Journey </vt:lpstr>
      <vt:lpstr>xor eax, eax; cpuid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2023-07-15T06:44:08Z</dcterms:created>
  <dcterms:modified xsi:type="dcterms:W3CDTF">2023-08-10T22:58:58Z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0x0101005AD99616218D054EA63C510D5C3ED3A7</vt:lpwstr>
  </property>
</Properties>
</file>