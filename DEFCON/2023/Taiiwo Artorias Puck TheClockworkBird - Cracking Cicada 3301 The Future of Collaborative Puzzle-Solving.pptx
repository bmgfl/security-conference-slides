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p:regular r:id="rId29"/>
      <p:bold r:id="rId30"/>
      <p:italic r:id="rId31"/>
      <p:boldItalic r:id="rId32"/>
    </p:embeddedFont>
    <p:embeddedFont>
      <p:font typeface="Roboto Medium"/>
      <p:regular r:id="rId33"/>
      <p:bold r:id="rId34"/>
      <p:italic r:id="rId35"/>
      <p:boldItalic r:id="rId36"/>
    </p:embeddedFont>
    <p:embeddedFont>
      <p:font typeface="Tahoma"/>
      <p:regular r:id="rId37"/>
      <p:bold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Taiiwo Llor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4.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RobotoMedium-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RobotoMedium-italic.fntdata"/><Relationship Id="rId12" Type="http://schemas.openxmlformats.org/officeDocument/2006/relationships/slide" Target="slides/slide6.xml"/><Relationship Id="rId34" Type="http://schemas.openxmlformats.org/officeDocument/2006/relationships/font" Target="fonts/RobotoMedium-bold.fntdata"/><Relationship Id="rId15" Type="http://schemas.openxmlformats.org/officeDocument/2006/relationships/slide" Target="slides/slide9.xml"/><Relationship Id="rId37" Type="http://schemas.openxmlformats.org/officeDocument/2006/relationships/font" Target="fonts/Tahoma-regular.fntdata"/><Relationship Id="rId14" Type="http://schemas.openxmlformats.org/officeDocument/2006/relationships/slide" Target="slides/slide8.xml"/><Relationship Id="rId36" Type="http://schemas.openxmlformats.org/officeDocument/2006/relationships/font" Target="fonts/RobotoMedium-boldItalic.fntdata"/><Relationship Id="rId17" Type="http://schemas.openxmlformats.org/officeDocument/2006/relationships/slide" Target="slides/slide11.xml"/><Relationship Id="rId39" Type="http://schemas.openxmlformats.org/officeDocument/2006/relationships/font" Target="fonts/RobotoMono-regular.fntdata"/><Relationship Id="rId16" Type="http://schemas.openxmlformats.org/officeDocument/2006/relationships/slide" Target="slides/slide10.xml"/><Relationship Id="rId38" Type="http://schemas.openxmlformats.org/officeDocument/2006/relationships/font" Target="fonts/Tahoma-bold.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08-07T11:24:42.925">
    <p:pos x="6000" y="0"/>
    <p:text>Add images from each puzzle?
Final.jpg
Gematria
Rune page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3-08-06T11:35:39.074">
    <p:pos x="6000" y="0"/>
    <p:text>I want to put the discord server card here.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and welcome</a:t>
            </a:r>
            <a:endParaRPr/>
          </a:p>
          <a:p>
            <a:pPr indent="0" lvl="0" marL="0" rtl="0" algn="l">
              <a:spcBef>
                <a:spcPts val="0"/>
              </a:spcBef>
              <a:spcAft>
                <a:spcPts val="0"/>
              </a:spcAft>
              <a:buNone/>
            </a:pPr>
            <a:r>
              <a:rPr lang="en"/>
              <a:t>Say title</a:t>
            </a:r>
            <a:endParaRPr/>
          </a:p>
          <a:p>
            <a:pPr indent="0" lvl="0" marL="0" rtl="0" algn="l">
              <a:spcBef>
                <a:spcPts val="0"/>
              </a:spcBef>
              <a:spcAft>
                <a:spcPts val="0"/>
              </a:spcAft>
              <a:buNone/>
            </a:pPr>
            <a:r>
              <a:rPr lang="en"/>
              <a:t>Introductions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59653633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59653633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Puck speaker notes: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3301‘s entrance - 2012 puzzle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3301- international group: liberty, privacy, security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2014’s unsolved Liber Primus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Not affiliated with 3301</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are members of CicadaSolvers, the mainly-discord community of active solvers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Intros:</a:t>
            </a:r>
            <a:endParaRPr>
              <a:solidFill>
                <a:schemeClr val="dk1"/>
              </a:solidFill>
            </a:endParaRPr>
          </a:p>
          <a:p>
            <a:pPr indent="0" lvl="0" marL="0" rtl="0" algn="l">
              <a:spcBef>
                <a:spcPts val="0"/>
              </a:spcBef>
              <a:spcAft>
                <a:spcPts val="0"/>
              </a:spcAft>
              <a:buNone/>
            </a:pPr>
            <a:r>
              <a:rPr lang="en">
                <a:solidFill>
                  <a:schemeClr val="dk1"/>
                </a:solidFill>
              </a:rPr>
              <a:t>Taiiwo - I’m Taiiwo. I cover the more technical roles within community such as administration, tool building, and also the overall community direction. I’ve been actively involved since 2013; I have grown a lot as a direct result of exposure to these puzzles, and I want to try to expand their influence to anyone who is willing to learn. And if we happen solve the Liber Primus somewhere along the way, that’s just a plus.</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83660eca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83660eca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Puck speaker notes:</a:t>
            </a:r>
            <a:endParaRPr/>
          </a:p>
          <a:p>
            <a:pPr indent="-298450" lvl="0" marL="457200" rtl="0" algn="l">
              <a:spcBef>
                <a:spcPts val="0"/>
              </a:spcBef>
              <a:spcAft>
                <a:spcPts val="0"/>
              </a:spcAft>
              <a:buSzPts val="1100"/>
              <a:buChar char="●"/>
            </a:pPr>
            <a:r>
              <a:rPr lang="en"/>
              <a:t>many people hear misconceptions about cicada 3301</a:t>
            </a:r>
            <a:endParaRPr/>
          </a:p>
          <a:p>
            <a:pPr indent="-298450" lvl="0" marL="457200" rtl="0" algn="l">
              <a:spcBef>
                <a:spcPts val="0"/>
              </a:spcBef>
              <a:spcAft>
                <a:spcPts val="0"/>
              </a:spcAft>
              <a:buSzPts val="1100"/>
              <a:buChar char="-"/>
            </a:pPr>
            <a:r>
              <a:rPr lang="en"/>
              <a:t>fake puzzles + media promotion </a:t>
            </a:r>
            <a:r>
              <a:rPr lang="en"/>
              <a:t>(gamejacking, scams)</a:t>
            </a:r>
            <a:endParaRPr/>
          </a:p>
          <a:p>
            <a:pPr indent="-298450" lvl="0" marL="457200" rtl="0" algn="l">
              <a:spcBef>
                <a:spcPts val="0"/>
              </a:spcBef>
              <a:spcAft>
                <a:spcPts val="0"/>
              </a:spcAft>
              <a:buSzPts val="1100"/>
              <a:buChar char="-"/>
            </a:pPr>
            <a:r>
              <a:rPr lang="en"/>
              <a:t>news. yellow journalism. “solved it late” …movie</a:t>
            </a:r>
            <a:endParaRPr>
              <a:solidFill>
                <a:schemeClr val="dk1"/>
              </a:solidFill>
            </a:endParaRPr>
          </a:p>
          <a:p>
            <a:pPr indent="-298450" lvl="0" marL="457200" rtl="0" algn="l">
              <a:spcBef>
                <a:spcPts val="0"/>
              </a:spcBef>
              <a:spcAft>
                <a:spcPts val="0"/>
              </a:spcAft>
              <a:buSzPts val="1100"/>
              <a:buChar char="-"/>
            </a:pPr>
            <a:r>
              <a:rPr lang="en"/>
              <a:t>here’s the real story…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583660ecaa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583660ecaa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Taiiwo, Nothing supernatural, but quality consistent.</a:t>
            </a:r>
            <a:endParaRPr>
              <a:solidFill>
                <a:schemeClr val="dk1"/>
              </a:solidFill>
            </a:endParaRPr>
          </a:p>
          <a:p>
            <a:pPr indent="0" lvl="0" marL="0" rtl="0" algn="l">
              <a:spcBef>
                <a:spcPts val="0"/>
              </a:spcBef>
              <a:spcAft>
                <a:spcPts val="0"/>
              </a:spcAft>
              <a:buNone/>
            </a:pPr>
            <a:r>
              <a:rPr lang="en">
                <a:solidFill>
                  <a:schemeClr val="dk1"/>
                </a:solidFill>
              </a:rPr>
              <a:t>More than basement neckbeard, but less than NWO. Enough money for inf, enough time for puzzle with no fin inc</a:t>
            </a:r>
            <a:endParaRPr>
              <a:solidFill>
                <a:schemeClr val="dk1"/>
              </a:solidFill>
            </a:endParaRPr>
          </a:p>
          <a:p>
            <a:pPr indent="0" lvl="0" marL="0" rtl="0" algn="l">
              <a:spcBef>
                <a:spcPts val="0"/>
              </a:spcBef>
              <a:spcAft>
                <a:spcPts val="0"/>
              </a:spcAft>
              <a:buNone/>
            </a:pPr>
            <a:r>
              <a:rPr lang="en">
                <a:solidFill>
                  <a:schemeClr val="dk1"/>
                </a:solidFill>
              </a:rPr>
              <a:t>Well int, skilled crypto priv prac, denounce crim act</a:t>
            </a:r>
            <a:endParaRPr>
              <a:solidFill>
                <a:schemeClr val="dk1"/>
              </a:solidFill>
            </a:endParaRPr>
          </a:p>
          <a:p>
            <a:pPr indent="0" lvl="0" marL="0" rtl="0" algn="l">
              <a:spcBef>
                <a:spcPts val="0"/>
              </a:spcBef>
              <a:spcAft>
                <a:spcPts val="0"/>
              </a:spcAft>
              <a:buNone/>
            </a:pPr>
            <a:r>
              <a:rPr lang="en">
                <a:solidFill>
                  <a:schemeClr val="dk1"/>
                </a:solidFill>
              </a:rPr>
              <a:t>Esoterica plays theming, never used in solution not otherwise obtainable by analysis &gt; Clock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Speaker Notes (~1m15):</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3301 is nothing supernatural, but the quality of the puzzles is consistently legendary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more than a basement dwelling neckbeard, but less than a new world order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Someone with enough money to rent infrastructure and disseminate posters globally</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Enough free time to spend months putting together a treasure trail with no clear financial motivation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intentioned and clearly skilled in cryptography and privacy practice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They have gone out of their way to denounce criminal activity of any kind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Whilst esoterica plays a strong role in theming, has never been used in a solution that could not otherwise have been obtained by factual analysis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
                <a:solidFill>
                  <a:schemeClr val="dk1"/>
                </a:solidFill>
              </a:rPr>
              <a:t>Taiiwo - Intention:</a:t>
            </a:r>
            <a:endParaRPr i="1">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Fully explain 3301.</a:t>
            </a:r>
            <a:endParaRPr i="1">
              <a:solidFill>
                <a:schemeClr val="dk1"/>
              </a:solidFill>
            </a:endParaRPr>
          </a:p>
          <a:p>
            <a:pPr indent="0" lvl="0" marL="0" rtl="0" algn="l">
              <a:spcBef>
                <a:spcPts val="0"/>
              </a:spcBef>
              <a:spcAft>
                <a:spcPts val="0"/>
              </a:spcAft>
              <a:buClr>
                <a:schemeClr val="dk1"/>
              </a:buClr>
              <a:buSzPts val="1100"/>
              <a:buFont typeface="Arial"/>
              <a:buNone/>
            </a:pPr>
            <a:r>
              <a:t/>
            </a:r>
            <a:endParaRPr i="1">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Points to elaborate on:</a:t>
            </a:r>
            <a:endParaRPr i="1">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3301 is a group focused on promoting digital freedoms and security.</a:t>
            </a:r>
            <a:endParaRPr i="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Intention:</a:t>
            </a:r>
            <a:endParaRPr>
              <a:solidFill>
                <a:schemeClr val="dk1"/>
              </a:solidFill>
            </a:endParaRPr>
          </a:p>
          <a:p>
            <a:pPr indent="0" lvl="0" marL="0" rtl="0" algn="l">
              <a:spcBef>
                <a:spcPts val="0"/>
              </a:spcBef>
              <a:spcAft>
                <a:spcPts val="0"/>
              </a:spcAft>
              <a:buNone/>
            </a:pPr>
            <a:r>
              <a:rPr lang="en">
                <a:solidFill>
                  <a:schemeClr val="dk1"/>
                </a:solidFill>
              </a:rPr>
              <a:t>This slide is for the audience members that have not heard of 3301, and to lay a foundation for those with vague or wild notions of their identity.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598792fe8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598792fe8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
                <a:solidFill>
                  <a:schemeClr val="dk1"/>
                </a:solidFill>
              </a:rPr>
              <a:t>Clockwork speaker notes</a:t>
            </a:r>
            <a:endParaRPr i="1">
              <a:solidFill>
                <a:schemeClr val="dk1"/>
              </a:solidFill>
            </a:endParaRPr>
          </a:p>
          <a:p>
            <a:pPr indent="-298450" lvl="0" marL="457200" rtl="0" algn="l">
              <a:lnSpc>
                <a:spcPct val="115000"/>
              </a:lnSpc>
              <a:spcBef>
                <a:spcPts val="100"/>
              </a:spcBef>
              <a:spcAft>
                <a:spcPts val="0"/>
              </a:spcAft>
              <a:buClr>
                <a:schemeClr val="dk1"/>
              </a:buClr>
              <a:buSzPts val="1100"/>
              <a:buChar char="●"/>
            </a:pPr>
            <a:r>
              <a:rPr lang="en">
                <a:solidFill>
                  <a:schemeClr val="dk1"/>
                </a:solidFill>
              </a:rPr>
              <a:t>they told us themselves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2leaked pgp verified message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3301 explains who they are, what they believe in, and what they do</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57afc73bc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57afc73bc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Clockwork</a:t>
            </a:r>
            <a:br>
              <a:rPr lang="en">
                <a:solidFill>
                  <a:schemeClr val="dk1"/>
                </a:solidFill>
              </a:rPr>
            </a:br>
            <a:r>
              <a:rPr lang="en">
                <a:solidFill>
                  <a:schemeClr val="dk1"/>
                </a:solidFill>
              </a:rPr>
              <a:t>-“Think Tank” like international group </a:t>
            </a:r>
            <a:br>
              <a:rPr lang="en">
                <a:solidFill>
                  <a:schemeClr val="dk1"/>
                </a:solidFill>
              </a:rPr>
            </a:br>
            <a:r>
              <a:rPr lang="en">
                <a:solidFill>
                  <a:schemeClr val="dk1"/>
                </a:solidFill>
              </a:rPr>
              <a:t>-rnding techniques that forward their beliefs of: </a:t>
            </a:r>
            <a:br>
              <a:rPr lang="en">
                <a:solidFill>
                  <a:schemeClr val="dk1"/>
                </a:solidFill>
              </a:rPr>
            </a:br>
            <a:r>
              <a:rPr lang="en">
                <a:solidFill>
                  <a:schemeClr val="dk1"/>
                </a:solidFill>
              </a:rPr>
              <a:t>	- liberty privacy and freedom.</a:t>
            </a:r>
            <a:endParaRPr>
              <a:solidFill>
                <a:schemeClr val="dk1"/>
              </a:solidFill>
            </a:endParaRPr>
          </a:p>
          <a:p>
            <a:pPr indent="0" lvl="0" marL="0" rtl="0" algn="l">
              <a:lnSpc>
                <a:spcPct val="115000"/>
              </a:lnSpc>
              <a:spcBef>
                <a:spcPts val="100"/>
              </a:spcBef>
              <a:spcAft>
                <a:spcPts val="100"/>
              </a:spcAft>
              <a:buNone/>
            </a:pPr>
            <a:br>
              <a:rPr lang="en">
                <a:solidFill>
                  <a:schemeClr val="dk1"/>
                </a:solidFill>
              </a:rPr>
            </a:b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57afc73bc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57afc73bc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Clockwork:</a:t>
            </a:r>
            <a:br>
              <a:rPr i="1" lang="en"/>
            </a:br>
            <a:r>
              <a:rPr i="1" lang="en"/>
              <a:t>Stated beliefs and goals appear inspired, and aligned with :</a:t>
            </a:r>
            <a:br>
              <a:rPr i="1" lang="en"/>
            </a:br>
            <a:r>
              <a:rPr i="1" lang="en"/>
              <a:t>	- cypherpunk philosophies (L.P.F)</a:t>
            </a:r>
            <a:br>
              <a:rPr i="1" lang="en"/>
            </a:br>
            <a:r>
              <a:rPr i="1" lang="en"/>
              <a:t>	- goals to further an open society secured by privacy tool use and awareness.</a:t>
            </a:r>
            <a:endParaRPr i="1"/>
          </a:p>
          <a:p>
            <a:pPr indent="0" lvl="0" marL="0" rtl="0" algn="l">
              <a:spcBef>
                <a:spcPts val="0"/>
              </a:spcBef>
              <a:spcAft>
                <a:spcPts val="0"/>
              </a:spcAft>
              <a:buNone/>
            </a:pPr>
            <a:r>
              <a:t/>
            </a:r>
            <a:endParaRPr i="1"/>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583660ecaa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583660ecaa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Art</a:t>
            </a:r>
            <a:endParaRPr/>
          </a:p>
          <a:p>
            <a:pPr indent="0" lvl="0" marL="0" rtl="0" algn="l">
              <a:spcBef>
                <a:spcPts val="0"/>
              </a:spcBef>
              <a:spcAft>
                <a:spcPts val="0"/>
              </a:spcAft>
              <a:buNone/>
            </a:pPr>
            <a:r>
              <a:rPr lang="en"/>
              <a:t>-General overview of the puzzles</a:t>
            </a:r>
            <a:endParaRPr/>
          </a:p>
          <a:p>
            <a:pPr indent="0" lvl="0" marL="0" rtl="0" algn="l">
              <a:spcBef>
                <a:spcPts val="0"/>
              </a:spcBef>
              <a:spcAft>
                <a:spcPts val="0"/>
              </a:spcAft>
              <a:buNone/>
            </a:pPr>
            <a:r>
              <a:rPr lang="en"/>
              <a:t>-Express their scale, complexity, &amp; difficulty</a:t>
            </a:r>
            <a:endParaRPr/>
          </a:p>
          <a:p>
            <a:pPr indent="0" lvl="0" marL="0" rtl="0" algn="l">
              <a:spcBef>
                <a:spcPts val="0"/>
              </a:spcBef>
              <a:spcAft>
                <a:spcPts val="0"/>
              </a:spcAft>
              <a:buNone/>
            </a:pPr>
            <a:r>
              <a:rPr lang="en"/>
              <a:t>-Keep the story moving</a:t>
            </a:r>
            <a:endParaRPr/>
          </a:p>
          <a:p>
            <a:pPr indent="0" lvl="0" marL="0" rtl="0" algn="l">
              <a:spcBef>
                <a:spcPts val="0"/>
              </a:spcBef>
              <a:spcAft>
                <a:spcPts val="0"/>
              </a:spcAft>
              <a:buNone/>
            </a:pPr>
            <a:r>
              <a:rPr lang="en"/>
              <a:t>-CPV for more detail</a:t>
            </a:r>
            <a:endParaRPr/>
          </a:p>
          <a:p>
            <a:pPr indent="0" lvl="0" marL="0" rtl="0" algn="l">
              <a:spcBef>
                <a:spcPts val="0"/>
              </a:spcBef>
              <a:spcAft>
                <a:spcPts val="0"/>
              </a:spcAft>
              <a:buNone/>
            </a:pPr>
            <a:r>
              <a:rPr lang="en"/>
              <a:t>-Highlight reel</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83660f8ed_0_2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583660f8ed_0_2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t>Taiiwo - So after 3 years puzzles, 2014 remains unsolved. Scale of release was massive comparatively, immediately apparent step harder than before</a:t>
            </a:r>
            <a:endParaRPr i="1"/>
          </a:p>
          <a:p>
            <a:pPr indent="0" lvl="0" marL="0" rtl="0" algn="l">
              <a:spcBef>
                <a:spcPts val="0"/>
              </a:spcBef>
              <a:spcAft>
                <a:spcPts val="0"/>
              </a:spcAft>
              <a:buClr>
                <a:schemeClr val="dk1"/>
              </a:buClr>
              <a:buSzPts val="1100"/>
              <a:buFont typeface="Arial"/>
              <a:buNone/>
            </a:pPr>
            <a:r>
              <a:rPr i="1" lang="en"/>
              <a:t>Puzzle approached from different angles, runes, files, marginalia (orthadox, mobius)</a:t>
            </a:r>
            <a:endParaRPr i="1"/>
          </a:p>
          <a:p>
            <a:pPr indent="0" lvl="0" marL="0" rtl="0" algn="l">
              <a:spcBef>
                <a:spcPts val="0"/>
              </a:spcBef>
              <a:spcAft>
                <a:spcPts val="0"/>
              </a:spcAft>
              <a:buClr>
                <a:schemeClr val="dk1"/>
              </a:buClr>
              <a:buSzPts val="1100"/>
              <a:buFont typeface="Arial"/>
              <a:buNone/>
            </a:pPr>
            <a:r>
              <a:rPr i="1" lang="en"/>
              <a:t>The last 2 pages were solved immediately, one not encrypted no instruciton, page 56 much more direct</a:t>
            </a:r>
            <a:endParaRPr i="1"/>
          </a:p>
          <a:p>
            <a:pPr indent="0" lvl="0" marL="0" rtl="0" algn="l">
              <a:spcBef>
                <a:spcPts val="0"/>
              </a:spcBef>
              <a:spcAft>
                <a:spcPts val="0"/>
              </a:spcAft>
              <a:buClr>
                <a:schemeClr val="dk1"/>
              </a:buClr>
              <a:buSzPts val="1100"/>
              <a:buFont typeface="Arial"/>
              <a:buNone/>
            </a:pPr>
            <a:r>
              <a:rPr i="1" lang="en"/>
              <a:t>Explain the current puzzle step, Liber Primus.</a:t>
            </a:r>
            <a:endParaRPr i="1"/>
          </a:p>
          <a:p>
            <a:pPr indent="0" lvl="0" marL="0" rtl="0" algn="l">
              <a:spcBef>
                <a:spcPts val="0"/>
              </a:spcBef>
              <a:spcAft>
                <a:spcPts val="0"/>
              </a:spcAft>
              <a:buClr>
                <a:schemeClr val="dk1"/>
              </a:buClr>
              <a:buSzPts val="1100"/>
              <a:buFont typeface="Arial"/>
              <a:buNone/>
            </a:pPr>
            <a:r>
              <a:t/>
            </a:r>
            <a:endParaRPr i="1"/>
          </a:p>
          <a:p>
            <a:pPr indent="0" lvl="0" marL="0" rtl="0" algn="l">
              <a:spcBef>
                <a:spcPts val="0"/>
              </a:spcBef>
              <a:spcAft>
                <a:spcPts val="0"/>
              </a:spcAft>
              <a:buClr>
                <a:schemeClr val="dk1"/>
              </a:buClr>
              <a:buSzPts val="1100"/>
              <a:buFont typeface="Arial"/>
              <a:buNone/>
            </a:pPr>
            <a:r>
              <a:rPr i="1" lang="en"/>
              <a:t>Points to elaborate on (1m 25s)</a:t>
            </a:r>
            <a:endParaRPr i="1"/>
          </a:p>
          <a:p>
            <a:pPr indent="0" lvl="0" marL="0" rtl="0" algn="l">
              <a:spcBef>
                <a:spcPts val="0"/>
              </a:spcBef>
              <a:spcAft>
                <a:spcPts val="0"/>
              </a:spcAft>
              <a:buClr>
                <a:schemeClr val="dk1"/>
              </a:buClr>
              <a:buSzPts val="1100"/>
              <a:buFont typeface="Arial"/>
              <a:buNone/>
            </a:pPr>
            <a:r>
              <a:rPr i="1" lang="en"/>
              <a:t>This book is HARD</a:t>
            </a:r>
            <a:endParaRPr/>
          </a:p>
          <a:p>
            <a:pPr indent="-298450" lvl="0" marL="457200" rtl="0" algn="l">
              <a:spcBef>
                <a:spcPts val="0"/>
              </a:spcBef>
              <a:spcAft>
                <a:spcPts val="0"/>
              </a:spcAft>
              <a:buSzPts val="1100"/>
              <a:buChar char="-"/>
            </a:pPr>
            <a:r>
              <a:rPr lang="en"/>
              <a:t>After 3 years of carefully crafted puzzles, the 2014 step of the puzzle remains unsolved</a:t>
            </a:r>
            <a:endParaRPr/>
          </a:p>
          <a:p>
            <a:pPr indent="-298450" lvl="0" marL="457200" rtl="0" algn="l">
              <a:spcBef>
                <a:spcPts val="0"/>
              </a:spcBef>
              <a:spcAft>
                <a:spcPts val="0"/>
              </a:spcAft>
              <a:buSzPts val="1100"/>
              <a:buChar char="-"/>
            </a:pPr>
            <a:r>
              <a:rPr lang="en"/>
              <a:t>The scale of the release was overwhelming for many</a:t>
            </a:r>
            <a:endParaRPr/>
          </a:p>
          <a:p>
            <a:pPr indent="-298450" lvl="0" marL="457200" rtl="0" algn="l">
              <a:spcBef>
                <a:spcPts val="0"/>
              </a:spcBef>
              <a:spcAft>
                <a:spcPts val="0"/>
              </a:spcAft>
              <a:buSzPts val="1100"/>
              <a:buChar char="-"/>
            </a:pPr>
            <a:r>
              <a:rPr lang="en"/>
              <a:t>Noticeable lack of </a:t>
            </a:r>
            <a:r>
              <a:rPr lang="en"/>
              <a:t>tangible</a:t>
            </a:r>
            <a:r>
              <a:rPr lang="en"/>
              <a:t> leads</a:t>
            </a:r>
            <a:endParaRPr/>
          </a:p>
          <a:p>
            <a:pPr indent="-298450" lvl="0" marL="457200" rtl="0" algn="l">
              <a:spcBef>
                <a:spcPts val="0"/>
              </a:spcBef>
              <a:spcAft>
                <a:spcPts val="0"/>
              </a:spcAft>
              <a:buSzPts val="1100"/>
              <a:buChar char="-"/>
            </a:pPr>
            <a:r>
              <a:rPr lang="en"/>
              <a:t>Step immediately appeared harder than before</a:t>
            </a:r>
            <a:endParaRPr/>
          </a:p>
          <a:p>
            <a:pPr indent="-298450" lvl="0" marL="457200" rtl="0" algn="l">
              <a:spcBef>
                <a:spcPts val="0"/>
              </a:spcBef>
              <a:spcAft>
                <a:spcPts val="0"/>
              </a:spcAft>
              <a:buSzPts val="1100"/>
              <a:buChar char="-"/>
            </a:pPr>
            <a:r>
              <a:rPr lang="en"/>
              <a:t>Different approaches used</a:t>
            </a:r>
            <a:endParaRPr/>
          </a:p>
          <a:p>
            <a:pPr indent="-298450" lvl="1" marL="914400" rtl="0" algn="l">
              <a:spcBef>
                <a:spcPts val="0"/>
              </a:spcBef>
              <a:spcAft>
                <a:spcPts val="0"/>
              </a:spcAft>
              <a:buSzPts val="1100"/>
              <a:buChar char="-"/>
            </a:pPr>
            <a:r>
              <a:rPr lang="en">
                <a:solidFill>
                  <a:schemeClr val="dk1"/>
                </a:solidFill>
              </a:rPr>
              <a:t>Runes</a:t>
            </a:r>
            <a:endParaRPr/>
          </a:p>
          <a:p>
            <a:pPr indent="-298450" lvl="1" marL="914400" rtl="0" algn="l">
              <a:spcBef>
                <a:spcPts val="0"/>
              </a:spcBef>
              <a:spcAft>
                <a:spcPts val="0"/>
              </a:spcAft>
              <a:buSzPts val="1100"/>
              <a:buChar char="-"/>
            </a:pPr>
            <a:r>
              <a:rPr lang="en"/>
              <a:t>Files</a:t>
            </a:r>
            <a:endParaRPr/>
          </a:p>
          <a:p>
            <a:pPr indent="-298450" lvl="1" marL="914400" rtl="0" algn="l">
              <a:spcBef>
                <a:spcPts val="0"/>
              </a:spcBef>
              <a:spcAft>
                <a:spcPts val="0"/>
              </a:spcAft>
              <a:buSzPts val="1100"/>
              <a:buChar char="-"/>
            </a:pPr>
            <a:r>
              <a:rPr lang="en"/>
              <a:t>Marginalia</a:t>
            </a:r>
            <a:endParaRPr/>
          </a:p>
          <a:p>
            <a:pPr indent="-298450" lvl="0" marL="457200" rtl="0" algn="l">
              <a:spcBef>
                <a:spcPts val="0"/>
              </a:spcBef>
              <a:spcAft>
                <a:spcPts val="0"/>
              </a:spcAft>
              <a:buSzPts val="1100"/>
              <a:buChar char="-"/>
            </a:pPr>
            <a:r>
              <a:rPr lang="en"/>
              <a:t>Final two pages were decrypted (56, 57)</a:t>
            </a:r>
            <a:endParaRPr/>
          </a:p>
          <a:p>
            <a:pPr indent="-298450" lvl="1" marL="914400" rtl="0" algn="l">
              <a:spcBef>
                <a:spcPts val="0"/>
              </a:spcBef>
              <a:spcAft>
                <a:spcPts val="0"/>
              </a:spcAft>
              <a:buSzPts val="1100"/>
              <a:buChar char="-"/>
            </a:pPr>
            <a:r>
              <a:rPr lang="en"/>
              <a:t>One was not encrypted, but contained no clear instruction (57)</a:t>
            </a:r>
            <a:endParaRPr/>
          </a:p>
          <a:p>
            <a:pPr indent="-298450" lvl="1" marL="914400" rtl="0" algn="l">
              <a:spcBef>
                <a:spcPts val="0"/>
              </a:spcBef>
              <a:spcAft>
                <a:spcPts val="0"/>
              </a:spcAft>
              <a:buSzPts val="1100"/>
              <a:buChar char="-"/>
            </a:pPr>
            <a:r>
              <a:rPr lang="en"/>
              <a:t>Transition to DWH slide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598792fe8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598792fe8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Taiiwo - Decrypted totient (stream prime) F int, page instructs to search deep web for page that hashes to 512 bit hash</a:t>
            </a:r>
            <a:endParaRPr/>
          </a:p>
          <a:p>
            <a:pPr indent="0" lvl="0" marL="0" rtl="0" algn="l">
              <a:spcBef>
                <a:spcPts val="0"/>
              </a:spcBef>
              <a:spcAft>
                <a:spcPts val="0"/>
              </a:spcAft>
              <a:buNone/>
            </a:pPr>
            <a:r>
              <a:rPr lang="en"/>
              <a:t>Hash no necessarily SHA512, many 512bit hashes are considered such as Blake and MD6</a:t>
            </a:r>
            <a:endParaRPr/>
          </a:p>
          <a:p>
            <a:pPr indent="0" lvl="0" marL="0" rtl="0" algn="l">
              <a:spcBef>
                <a:spcPts val="0"/>
              </a:spcBef>
              <a:spcAft>
                <a:spcPts val="0"/>
              </a:spcAft>
              <a:buNone/>
            </a:pPr>
            <a:r>
              <a:rPr lang="en"/>
              <a:t>In 2017 vuln was found allowing us to disclose unlisted hidden services as they are broadcast to the network</a:t>
            </a:r>
            <a:endParaRPr/>
          </a:p>
          <a:p>
            <a:pPr indent="0" lvl="0" marL="0" rtl="0" algn="l">
              <a:spcBef>
                <a:spcPts val="0"/>
              </a:spcBef>
              <a:spcAft>
                <a:spcPts val="0"/>
              </a:spcAft>
              <a:buNone/>
            </a:pPr>
            <a:r>
              <a:rPr lang="en"/>
              <a:t>This piqued the interest of NEU’s honion, but despite </a:t>
            </a:r>
            <a:r>
              <a:rPr lang="en">
                <a:solidFill>
                  <a:schemeClr val="dk1"/>
                </a:solidFill>
              </a:rPr>
              <a:t>hashing around 90% of the unindexed hidden services no page was found</a:t>
            </a:r>
            <a:endParaRPr>
              <a:solidFill>
                <a:schemeClr val="dk1"/>
              </a:solidFill>
            </a:endParaRPr>
          </a:p>
          <a:p>
            <a:pPr indent="0" lvl="0" marL="0" rtl="0" algn="l">
              <a:spcBef>
                <a:spcPts val="0"/>
              </a:spcBef>
              <a:spcAft>
                <a:spcPts val="0"/>
              </a:spcAft>
              <a:buNone/>
            </a:pPr>
            <a:r>
              <a:rPr lang="en">
                <a:solidFill>
                  <a:schemeClr val="dk1"/>
                </a:solidFill>
              </a:rPr>
              <a:t>Broader stroked approaches, browser extension 3301 Hash Alarm, hash pages, multi algo &gt; Art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Introduce the DWH, talk about significance and touch on theories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Speaker Notes:</a:t>
            </a:r>
            <a:endParaRPr/>
          </a:p>
          <a:p>
            <a:pPr indent="-298450" lvl="0" marL="457200" rtl="0" algn="l">
              <a:spcBef>
                <a:spcPts val="0"/>
              </a:spcBef>
              <a:spcAft>
                <a:spcPts val="0"/>
              </a:spcAft>
              <a:buSzPts val="1100"/>
              <a:buChar char="-"/>
            </a:pPr>
            <a:r>
              <a:rPr lang="en"/>
              <a:t>Decrypted with a totient shift, a stream cipher of prime numbers</a:t>
            </a:r>
            <a:endParaRPr/>
          </a:p>
          <a:p>
            <a:pPr indent="-298450" lvl="0" marL="457200" rtl="0" algn="l">
              <a:spcBef>
                <a:spcPts val="0"/>
              </a:spcBef>
              <a:spcAft>
                <a:spcPts val="0"/>
              </a:spcAft>
              <a:buSzPts val="1100"/>
              <a:buChar char="-"/>
            </a:pPr>
            <a:r>
              <a:rPr lang="en"/>
              <a:t>F runes were skipped (interrupt)</a:t>
            </a:r>
            <a:endParaRPr/>
          </a:p>
          <a:p>
            <a:pPr indent="-298450" lvl="0" marL="457200" rtl="0" algn="l">
              <a:spcBef>
                <a:spcPts val="0"/>
              </a:spcBef>
              <a:spcAft>
                <a:spcPts val="0"/>
              </a:spcAft>
              <a:buSzPts val="1100"/>
              <a:buChar char="-"/>
            </a:pPr>
            <a:r>
              <a:rPr lang="en"/>
              <a:t>The page is the only clear instruction we have from the Liber Primus</a:t>
            </a:r>
            <a:endParaRPr/>
          </a:p>
          <a:p>
            <a:pPr indent="-298450" lvl="0" marL="457200" rtl="0" algn="l">
              <a:spcBef>
                <a:spcPts val="0"/>
              </a:spcBef>
              <a:spcAft>
                <a:spcPts val="0"/>
              </a:spcAft>
              <a:buSzPts val="1100"/>
              <a:buChar char="-"/>
            </a:pPr>
            <a:r>
              <a:rPr lang="en"/>
              <a:t>Instructs us to search for a page on the “deep web” that hashes to a 512 bit hash</a:t>
            </a:r>
            <a:endParaRPr/>
          </a:p>
          <a:p>
            <a:pPr indent="-298450" lvl="0" marL="457200" rtl="0" algn="l">
              <a:spcBef>
                <a:spcPts val="0"/>
              </a:spcBef>
              <a:spcAft>
                <a:spcPts val="0"/>
              </a:spcAft>
              <a:buSzPts val="1100"/>
              <a:buChar char="-"/>
            </a:pPr>
            <a:r>
              <a:rPr lang="en"/>
              <a:t>Not necessarily SHA512 but could be:</a:t>
            </a:r>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BLAKE-512 - BLAKE2b - Elliptic Curve Only Hash* - FSB - Grøstl - JH - LSH(2015) - MD6</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SHA3-512 - Spectral Hash - Streebog - SWIFFT - Whirlpool</a:t>
            </a:r>
            <a:endParaRPr sz="1200">
              <a:solidFill>
                <a:schemeClr val="dk1"/>
              </a:solidFill>
            </a:endParaRPr>
          </a:p>
          <a:p>
            <a:pPr indent="-304800" lvl="0" marL="457200" marR="152400" rtl="0" algn="l">
              <a:lnSpc>
                <a:spcPct val="115000"/>
              </a:lnSpc>
              <a:spcBef>
                <a:spcPts val="0"/>
              </a:spcBef>
              <a:spcAft>
                <a:spcPts val="0"/>
              </a:spcAft>
              <a:buClr>
                <a:schemeClr val="dk1"/>
              </a:buClr>
              <a:buSzPts val="1200"/>
              <a:buChar char="-"/>
            </a:pPr>
            <a:r>
              <a:rPr lang="en" sz="1200">
                <a:solidFill>
                  <a:schemeClr val="dk1"/>
                </a:solidFill>
              </a:rPr>
              <a:t>TOR Search</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2016 an exploit was found to search unindexed hidden services</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The attempt was detected by a research project at Northeastern University</a:t>
            </a:r>
            <a:endParaRPr sz="1200">
              <a:solidFill>
                <a:schemeClr val="dk1"/>
              </a:solidFill>
            </a:endParaRPr>
          </a:p>
          <a:p>
            <a:pPr indent="-304800" lvl="2" marL="1371600" marR="152400" rtl="0" algn="l">
              <a:lnSpc>
                <a:spcPct val="115000"/>
              </a:lnSpc>
              <a:spcBef>
                <a:spcPts val="0"/>
              </a:spcBef>
              <a:spcAft>
                <a:spcPts val="0"/>
              </a:spcAft>
              <a:buClr>
                <a:schemeClr val="dk1"/>
              </a:buClr>
              <a:buSzPts val="1200"/>
              <a:buChar char="-"/>
            </a:pPr>
            <a:r>
              <a:rPr lang="en" sz="1200">
                <a:solidFill>
                  <a:schemeClr val="dk1"/>
                </a:solidFill>
              </a:rPr>
              <a:t>Had a honeypot of un-indexed hidden services (honions)</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The exploit exposed public keys for hidden services</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They were subsequently scraped and hashed</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We were able to hash approximately 90% of the deep web while this vulnerability was exposed</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Nothing was found</a:t>
            </a:r>
            <a:endParaRPr sz="1200">
              <a:solidFill>
                <a:schemeClr val="dk1"/>
              </a:solidFill>
            </a:endParaRPr>
          </a:p>
          <a:p>
            <a:pPr indent="-304800" lvl="0" marL="457200" marR="152400" rtl="0" algn="l">
              <a:lnSpc>
                <a:spcPct val="115000"/>
              </a:lnSpc>
              <a:spcBef>
                <a:spcPts val="0"/>
              </a:spcBef>
              <a:spcAft>
                <a:spcPts val="0"/>
              </a:spcAft>
              <a:buClr>
                <a:schemeClr val="dk1"/>
              </a:buClr>
              <a:buSzPts val="1200"/>
              <a:buChar char="-"/>
            </a:pPr>
            <a:r>
              <a:rPr lang="en" sz="1200">
                <a:solidFill>
                  <a:schemeClr val="dk1"/>
                </a:solidFill>
              </a:rPr>
              <a:t>Browser extension hashes pages automatically</a:t>
            </a:r>
            <a:endParaRPr sz="1200">
              <a:solidFill>
                <a:schemeClr val="dk1"/>
              </a:solidFill>
            </a:endParaRPr>
          </a:p>
          <a:p>
            <a:pPr indent="-304800" lvl="1" marL="914400" marR="152400" rtl="0" algn="l">
              <a:lnSpc>
                <a:spcPct val="115000"/>
              </a:lnSpc>
              <a:spcBef>
                <a:spcPts val="0"/>
              </a:spcBef>
              <a:spcAft>
                <a:spcPts val="0"/>
              </a:spcAft>
              <a:buClr>
                <a:schemeClr val="dk1"/>
              </a:buClr>
              <a:buSzPts val="1200"/>
              <a:buChar char="-"/>
            </a:pPr>
            <a:r>
              <a:rPr lang="en" sz="1200">
                <a:solidFill>
                  <a:schemeClr val="dk1"/>
                </a:solidFill>
              </a:rPr>
              <a:t>3301 Hash Alarm</a:t>
            </a: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583660f8ed_0_2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583660f8ed_0_2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Art</a:t>
            </a:r>
            <a:br>
              <a:rPr lang="en">
                <a:solidFill>
                  <a:schemeClr val="dk1"/>
                </a:solidFill>
              </a:rPr>
            </a:br>
            <a:r>
              <a:rPr lang="en">
                <a:solidFill>
                  <a:schemeClr val="dk1"/>
                </a:solidFill>
              </a:rPr>
              <a:t>- S</a:t>
            </a:r>
            <a:r>
              <a:rPr lang="en">
                <a:solidFill>
                  <a:schemeClr val="dk1"/>
                </a:solidFill>
              </a:rPr>
              <a:t>egue to solvers part of talk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-Pursuing the impossible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57afc73bc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57afc73bc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Taiiwo - Tell the story how solvers came to be, started 4chan, garnered the attention of ARG IRC freenode and solvers IRC created soonafter main hub operations slv efforts</a:t>
            </a:r>
            <a:endParaRPr/>
          </a:p>
          <a:p>
            <a:pPr indent="0" lvl="0" marL="0" rtl="0" algn="l">
              <a:spcBef>
                <a:spcPts val="0"/>
              </a:spcBef>
              <a:spcAft>
                <a:spcPts val="0"/>
              </a:spcAft>
              <a:buNone/>
            </a:pPr>
            <a:r>
              <a:rPr lang="en"/>
              <a:t>LP comp diff reduced numbers, 400 active users at peak down to 5-10, in 2019 OPs considered discord, tradeoff privacy for reach and conv featureset</a:t>
            </a:r>
            <a:endParaRPr/>
          </a:p>
          <a:p>
            <a:pPr indent="0" lvl="0" marL="0" rtl="0" algn="l">
              <a:spcBef>
                <a:spcPts val="0"/>
              </a:spcBef>
              <a:spcAft>
                <a:spcPts val="0"/>
              </a:spcAft>
              <a:buNone/>
            </a:pPr>
            <a:r>
              <a:rPr lang="en"/>
              <a:t>Harness experience mitigate pitfalls managing community in past, discord operates with over 7000 active users thanks to unique operating structure &gt;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Intention:</a:t>
            </a:r>
            <a:br>
              <a:rPr lang="en"/>
            </a:br>
            <a:r>
              <a:rPr lang="en"/>
              <a:t>We’re going to briefly tell the story of how solvers came to be, and transition into the “trials and tribulations” of running a community of this scale for the task of collaborative puzzle-solving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Speaker notes:</a:t>
            </a:r>
            <a:endParaRPr/>
          </a:p>
          <a:p>
            <a:pPr indent="-298450" lvl="0" marL="457200" rtl="0" algn="l">
              <a:spcBef>
                <a:spcPts val="0"/>
              </a:spcBef>
              <a:spcAft>
                <a:spcPts val="0"/>
              </a:spcAft>
              <a:buSzPts val="1100"/>
              <a:buChar char="-"/>
            </a:pPr>
            <a:r>
              <a:rPr lang="en"/>
              <a:t>Tell the story of how cicadasolvers came to be</a:t>
            </a:r>
            <a:endParaRPr/>
          </a:p>
          <a:p>
            <a:pPr indent="-298450" lvl="0" marL="457200" rtl="0" algn="l">
              <a:spcBef>
                <a:spcPts val="0"/>
              </a:spcBef>
              <a:spcAft>
                <a:spcPts val="0"/>
              </a:spcAft>
              <a:buSzPts val="1100"/>
              <a:buChar char="-"/>
            </a:pPr>
            <a:r>
              <a:rPr lang="en"/>
              <a:t>Started on 4chan</a:t>
            </a:r>
            <a:endParaRPr/>
          </a:p>
          <a:p>
            <a:pPr indent="-298450" lvl="0" marL="457200" rtl="0" algn="l">
              <a:spcBef>
                <a:spcPts val="0"/>
              </a:spcBef>
              <a:spcAft>
                <a:spcPts val="0"/>
              </a:spcAft>
              <a:buSzPts val="1100"/>
              <a:buChar char="-"/>
            </a:pPr>
            <a:r>
              <a:rPr lang="en"/>
              <a:t>The puzzle garnered the attention of the ARG community </a:t>
            </a:r>
            <a:r>
              <a:rPr lang="en"/>
              <a:t>in</a:t>
            </a:r>
            <a:r>
              <a:rPr lang="en"/>
              <a:t> freenode IRC</a:t>
            </a:r>
            <a:endParaRPr/>
          </a:p>
          <a:p>
            <a:pPr indent="-298450" lvl="0" marL="457200" rtl="0" algn="l">
              <a:spcBef>
                <a:spcPts val="0"/>
              </a:spcBef>
              <a:spcAft>
                <a:spcPts val="0"/>
              </a:spcAft>
              <a:buSzPts val="1100"/>
              <a:buChar char="-"/>
            </a:pPr>
            <a:r>
              <a:rPr lang="en"/>
              <a:t>The cicadasolvers IRC channel was created and quickly became the main hub of operations for solving efforts</a:t>
            </a:r>
            <a:endParaRPr/>
          </a:p>
          <a:p>
            <a:pPr indent="-298450" lvl="0" marL="457200" rtl="0" algn="l">
              <a:spcBef>
                <a:spcPts val="0"/>
              </a:spcBef>
              <a:spcAft>
                <a:spcPts val="0"/>
              </a:spcAft>
              <a:buSzPts val="1100"/>
              <a:buChar char="-"/>
            </a:pPr>
            <a:r>
              <a:rPr lang="en"/>
              <a:t>Following the release of the Liber Primus, the community faced a huge reduction in numbers</a:t>
            </a:r>
            <a:endParaRPr/>
          </a:p>
          <a:p>
            <a:pPr indent="-298450" lvl="0" marL="457200" rtl="0" algn="l">
              <a:spcBef>
                <a:spcPts val="0"/>
              </a:spcBef>
              <a:spcAft>
                <a:spcPts val="0"/>
              </a:spcAft>
              <a:buSzPts val="1100"/>
              <a:buChar char="-"/>
            </a:pPr>
            <a:r>
              <a:rPr lang="en"/>
              <a:t>Going from around ~400 active users at its peak, the IRC slowly lost members over time, with only 5-10 users rarely speaking</a:t>
            </a:r>
            <a:endParaRPr/>
          </a:p>
          <a:p>
            <a:pPr indent="-298450" lvl="0" marL="457200" rtl="0" algn="l">
              <a:spcBef>
                <a:spcPts val="0"/>
              </a:spcBef>
              <a:spcAft>
                <a:spcPts val="0"/>
              </a:spcAft>
              <a:buSzPts val="1100"/>
              <a:buChar char="-"/>
            </a:pPr>
            <a:r>
              <a:rPr lang="en"/>
              <a:t>In 2019, the remaining operators of the Cicada Solvers channel got together to create a discord server, a highly controversial platform in the ARG community, especially one as privacy </a:t>
            </a:r>
            <a:r>
              <a:rPr lang="en"/>
              <a:t>focused as cicadasolvers</a:t>
            </a:r>
            <a:endParaRPr/>
          </a:p>
          <a:p>
            <a:pPr indent="-298450" lvl="1" marL="914400" rtl="0" algn="l">
              <a:spcBef>
                <a:spcPts val="0"/>
              </a:spcBef>
              <a:spcAft>
                <a:spcPts val="0"/>
              </a:spcAft>
              <a:buSzPts val="1100"/>
              <a:buChar char="-"/>
            </a:pPr>
            <a:r>
              <a:rPr lang="en"/>
              <a:t>Naturally people were skeptical about Discord’s data farming</a:t>
            </a:r>
            <a:endParaRPr/>
          </a:p>
          <a:p>
            <a:pPr indent="-298450" lvl="1" marL="914400" rtl="0" algn="l">
              <a:spcBef>
                <a:spcPts val="0"/>
              </a:spcBef>
              <a:spcAft>
                <a:spcPts val="0"/>
              </a:spcAft>
              <a:buSzPts val="1100"/>
              <a:buChar char="-"/>
            </a:pPr>
            <a:r>
              <a:rPr lang="en"/>
              <a:t>The platform was proprietary</a:t>
            </a:r>
            <a:endParaRPr/>
          </a:p>
          <a:p>
            <a:pPr indent="-298450" lvl="1" marL="914400" rtl="0" algn="l">
              <a:spcBef>
                <a:spcPts val="0"/>
              </a:spcBef>
              <a:spcAft>
                <a:spcPts val="0"/>
              </a:spcAft>
              <a:buSzPts val="1100"/>
              <a:buChar char="-"/>
            </a:pPr>
            <a:r>
              <a:rPr lang="en"/>
              <a:t>The user numbers were much higher</a:t>
            </a:r>
            <a:endParaRPr/>
          </a:p>
          <a:p>
            <a:pPr indent="-298450" lvl="1" marL="914400" rtl="0" algn="l">
              <a:spcBef>
                <a:spcPts val="0"/>
              </a:spcBef>
              <a:spcAft>
                <a:spcPts val="0"/>
              </a:spcAft>
              <a:buSzPts val="1100"/>
              <a:buChar char="-"/>
            </a:pPr>
            <a:r>
              <a:rPr lang="en"/>
              <a:t>Features were more convenient</a:t>
            </a:r>
            <a:endParaRPr/>
          </a:p>
          <a:p>
            <a:pPr indent="-298450" lvl="1" marL="914400" rtl="0" algn="l">
              <a:spcBef>
                <a:spcPts val="0"/>
              </a:spcBef>
              <a:spcAft>
                <a:spcPts val="0"/>
              </a:spcAft>
              <a:buSzPts val="1100"/>
              <a:buChar char="-"/>
            </a:pPr>
            <a:r>
              <a:rPr lang="en"/>
              <a:t>Solvers already relying on </a:t>
            </a:r>
            <a:r>
              <a:rPr lang="en"/>
              <a:t>proprietary tools</a:t>
            </a:r>
            <a:endParaRPr/>
          </a:p>
          <a:p>
            <a:pPr indent="-298450" lvl="0" marL="457200" rtl="0" algn="l">
              <a:spcBef>
                <a:spcPts val="0"/>
              </a:spcBef>
              <a:spcAft>
                <a:spcPts val="0"/>
              </a:spcAft>
              <a:buSzPts val="1100"/>
              <a:buChar char="-"/>
            </a:pPr>
            <a:r>
              <a:rPr lang="en"/>
              <a:t>Exchanging platform liberty for a greater reach, with a new set of values the discord community thrives at over 7,000 members</a:t>
            </a:r>
            <a:endParaRPr/>
          </a:p>
          <a:p>
            <a:pPr indent="-298450" lvl="0" marL="457200" rtl="0" algn="l">
              <a:spcBef>
                <a:spcPts val="0"/>
              </a:spcBef>
              <a:spcAft>
                <a:spcPts val="0"/>
              </a:spcAft>
              <a:buSzPts val="1100"/>
              <a:buChar char="-"/>
            </a:pPr>
            <a:r>
              <a:rPr lang="en"/>
              <a:t>Newer platform and diverse </a:t>
            </a:r>
            <a:r>
              <a:rPr lang="en"/>
              <a:t>user base allowed for a more professional, solving focused approach to community management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583660ecaa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583660ecaa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Clockwork</a:t>
            </a:r>
            <a:br>
              <a:rPr lang="en"/>
            </a:br>
            <a:r>
              <a:rPr lang="en"/>
              <a:t>-Open sourced community</a:t>
            </a:r>
            <a:br>
              <a:rPr lang="en"/>
            </a:br>
            <a:r>
              <a:rPr lang="en"/>
              <a:t>- built upon pgp verified content that </a:t>
            </a:r>
            <a:br>
              <a:rPr lang="en"/>
            </a:br>
            <a:r>
              <a:rPr lang="en"/>
              <a:t>- </a:t>
            </a:r>
            <a:r>
              <a:rPr lang="en"/>
              <a:t>cultivation of</a:t>
            </a:r>
            <a:r>
              <a:rPr lang="en"/>
              <a:t> an inclusive/educational/and interactive environment with:</a:t>
            </a:r>
            <a:br>
              <a:rPr lang="en"/>
            </a:br>
            <a:r>
              <a:rPr lang="en"/>
              <a:t>	- daily/weekly solving vc and organization of community resources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583660f8ed_0_2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583660f8ed_0_2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Art</a:t>
            </a:r>
            <a:br>
              <a:rPr lang="en"/>
            </a:br>
            <a:r>
              <a:rPr lang="en"/>
              <a:t>-Solving barriers explained </a:t>
            </a:r>
            <a:endParaRPr/>
          </a:p>
          <a:p>
            <a:pPr indent="0" lvl="0" marL="0" rtl="0" algn="l">
              <a:spcBef>
                <a:spcPts val="0"/>
              </a:spcBef>
              <a:spcAft>
                <a:spcPts val="0"/>
              </a:spcAft>
              <a:buNone/>
            </a:pPr>
            <a:r>
              <a:rPr lang="en"/>
              <a:t>-How to address them</a:t>
            </a:r>
            <a:endParaRPr/>
          </a:p>
          <a:p>
            <a:pPr indent="0" lvl="0" marL="0" rtl="0" algn="l">
              <a:spcBef>
                <a:spcPts val="0"/>
              </a:spcBef>
              <a:spcAft>
                <a:spcPts val="0"/>
              </a:spcAft>
              <a:buNone/>
            </a:pPr>
            <a:r>
              <a:rPr lang="en"/>
              <a:t>-Overcoming obstacles together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8d4d171a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8d4d171a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Art</a:t>
            </a:r>
            <a:endParaRPr/>
          </a:p>
          <a:p>
            <a:pPr indent="0" lvl="0" marL="0" rtl="0" algn="l">
              <a:spcBef>
                <a:spcPts val="0"/>
              </a:spcBef>
              <a:spcAft>
                <a:spcPts val="0"/>
              </a:spcAft>
              <a:buNone/>
            </a:pPr>
            <a:r>
              <a:rPr lang="en"/>
              <a:t>-Explain the issue of documenting solving attempts/analyses</a:t>
            </a:r>
            <a:endParaRPr/>
          </a:p>
          <a:p>
            <a:pPr indent="0" lvl="0" marL="0" rtl="0" algn="l">
              <a:spcBef>
                <a:spcPts val="0"/>
              </a:spcBef>
              <a:spcAft>
                <a:spcPts val="0"/>
              </a:spcAft>
              <a:buNone/>
            </a:pPr>
            <a:r>
              <a:rPr lang="en"/>
              <a:t>-Organizational Complexity</a:t>
            </a:r>
            <a:endParaRPr/>
          </a:p>
          <a:p>
            <a:pPr indent="0" lvl="0" marL="0" rtl="0" algn="l">
              <a:spcBef>
                <a:spcPts val="0"/>
              </a:spcBef>
              <a:spcAft>
                <a:spcPts val="0"/>
              </a:spcAft>
              <a:buNone/>
            </a:pPr>
            <a:r>
              <a:rPr lang="en"/>
              <a:t>-Project management</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583660f8ed_0_2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583660f8ed_0_2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Art</a:t>
            </a:r>
            <a:endParaRPr/>
          </a:p>
          <a:p>
            <a:pPr indent="0" lvl="0" marL="0" rtl="0" algn="l">
              <a:spcBef>
                <a:spcPts val="0"/>
              </a:spcBef>
              <a:spcAft>
                <a:spcPts val="0"/>
              </a:spcAft>
              <a:buNone/>
            </a:pPr>
            <a:r>
              <a:rPr lang="en"/>
              <a:t>Join: (server collabs, CCast, defcon talk) </a:t>
            </a:r>
            <a:endParaRPr/>
          </a:p>
          <a:p>
            <a:pPr indent="0" lvl="0" marL="0" rtl="0" algn="l">
              <a:spcBef>
                <a:spcPts val="0"/>
              </a:spcBef>
              <a:spcAft>
                <a:spcPts val="0"/>
              </a:spcAft>
              <a:buNone/>
            </a:pPr>
            <a:r>
              <a:rPr lang="en"/>
              <a:t>Work: we make tools to make it easier</a:t>
            </a:r>
            <a:endParaRPr/>
          </a:p>
          <a:p>
            <a:pPr indent="0" lvl="0" marL="0" rtl="0" algn="l">
              <a:spcBef>
                <a:spcPts val="0"/>
              </a:spcBef>
              <a:spcAft>
                <a:spcPts val="0"/>
              </a:spcAft>
              <a:buNone/>
            </a:pPr>
            <a:r>
              <a:rPr lang="en"/>
              <a:t>Leave: Extend this by using friendliness and tools</a:t>
            </a:r>
            <a:endParaRPr/>
          </a:p>
          <a:p>
            <a:pPr indent="0" lvl="0" marL="0" rtl="0" algn="l">
              <a:spcBef>
                <a:spcPts val="0"/>
              </a:spcBef>
              <a:spcAft>
                <a:spcPts val="0"/>
              </a:spcAft>
              <a:buNone/>
            </a:pPr>
            <a:r>
              <a:rPr lang="en"/>
              <a:t>Short and long term cycles</a:t>
            </a:r>
            <a:endParaRPr/>
          </a:p>
          <a:p>
            <a:pPr indent="0" lvl="0" marL="0" rtl="0" algn="l">
              <a:spcBef>
                <a:spcPts val="0"/>
              </a:spcBef>
              <a:spcAft>
                <a:spcPts val="0"/>
              </a:spcAft>
              <a:buNone/>
            </a:pPr>
            <a:r>
              <a:rPr lang="en"/>
              <a:t>Revolving Door: People always come and go,</a:t>
            </a:r>
            <a:endParaRPr/>
          </a:p>
          <a:p>
            <a:pPr indent="0" lvl="0" marL="0" rtl="0" algn="l">
              <a:spcBef>
                <a:spcPts val="0"/>
              </a:spcBef>
              <a:spcAft>
                <a:spcPts val="0"/>
              </a:spcAft>
              <a:buNone/>
            </a:pPr>
            <a:r>
              <a:rPr lang="en"/>
              <a:t>Self-perpetuating</a:t>
            </a:r>
            <a:endParaRPr/>
          </a:p>
          <a:p>
            <a:pPr indent="0" lvl="0" marL="0" rtl="0" algn="l">
              <a:spcBef>
                <a:spcPts val="0"/>
              </a:spcBef>
              <a:spcAft>
                <a:spcPts val="0"/>
              </a:spcAft>
              <a:buNone/>
            </a:pPr>
            <a:r>
              <a:rPr lang="en"/>
              <a:t>Ship of theseus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8d4d171a2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8d4d171a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Puck note:</a:t>
            </a:r>
            <a:endParaRPr/>
          </a:p>
          <a:p>
            <a:pPr indent="-298450" lvl="0" marL="457200" rtl="0" algn="l">
              <a:spcBef>
                <a:spcPts val="0"/>
              </a:spcBef>
              <a:spcAft>
                <a:spcPts val="0"/>
              </a:spcAft>
              <a:buSzPts val="1100"/>
              <a:buChar char="-"/>
            </a:pPr>
            <a:r>
              <a:rPr lang="en"/>
              <a:t>our community has a lot going for it</a:t>
            </a:r>
            <a:endParaRPr/>
          </a:p>
          <a:p>
            <a:pPr indent="-298450" lvl="0" marL="457200" rtl="0" algn="l">
              <a:spcBef>
                <a:spcPts val="0"/>
              </a:spcBef>
              <a:spcAft>
                <a:spcPts val="0"/>
              </a:spcAft>
              <a:buSzPts val="1100"/>
              <a:buChar char="-"/>
            </a:pPr>
            <a:r>
              <a:rPr lang="en"/>
              <a:t>thousands people. more people = more retention</a:t>
            </a:r>
            <a:endParaRPr/>
          </a:p>
          <a:p>
            <a:pPr indent="-298450" lvl="0" marL="457200" rtl="0" algn="l">
              <a:spcBef>
                <a:spcPts val="0"/>
              </a:spcBef>
              <a:spcAft>
                <a:spcPts val="0"/>
              </a:spcAft>
              <a:buSzPts val="1100"/>
              <a:buChar char="-"/>
            </a:pPr>
            <a:r>
              <a:rPr lang="en"/>
              <a:t>voice sessions</a:t>
            </a:r>
            <a:endParaRPr/>
          </a:p>
          <a:p>
            <a:pPr indent="-298450" lvl="0" marL="457200" rtl="0" algn="l">
              <a:spcBef>
                <a:spcPts val="0"/>
              </a:spcBef>
              <a:spcAft>
                <a:spcPts val="0"/>
              </a:spcAft>
              <a:buSzPts val="1100"/>
              <a:buChar char="-"/>
            </a:pPr>
            <a:r>
              <a:rPr lang="en"/>
              <a:t>open source tool development</a:t>
            </a:r>
            <a:endParaRPr/>
          </a:p>
          <a:p>
            <a:pPr indent="-298450" lvl="1" marL="914400" rtl="0" algn="l">
              <a:spcBef>
                <a:spcPts val="0"/>
              </a:spcBef>
              <a:spcAft>
                <a:spcPts val="0"/>
              </a:spcAft>
              <a:buSzPts val="1100"/>
              <a:buChar char="-"/>
            </a:pPr>
            <a:r>
              <a:rPr lang="en"/>
              <a:t>some for cryptography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58da07b21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58da07b21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Puck note:</a:t>
            </a:r>
            <a:endParaRPr/>
          </a:p>
          <a:p>
            <a:pPr indent="-298450" lvl="0" marL="457200" rtl="0" algn="l">
              <a:spcBef>
                <a:spcPts val="0"/>
              </a:spcBef>
              <a:spcAft>
                <a:spcPts val="0"/>
              </a:spcAft>
              <a:buSzPts val="1100"/>
              <a:buChar char="-"/>
            </a:pPr>
            <a:r>
              <a:rPr lang="en"/>
              <a:t>more people = more attempts</a:t>
            </a:r>
            <a:endParaRPr/>
          </a:p>
          <a:p>
            <a:pPr indent="-298450" lvl="0" marL="457200" rtl="0" algn="l">
              <a:spcBef>
                <a:spcPts val="0"/>
              </a:spcBef>
              <a:spcAft>
                <a:spcPts val="0"/>
              </a:spcAft>
              <a:buSzPts val="1100"/>
              <a:buChar char="-"/>
            </a:pPr>
            <a:r>
              <a:rPr lang="en"/>
              <a:t>more people = more retention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mentors</a:t>
            </a:r>
            <a:endParaRPr/>
          </a:p>
          <a:p>
            <a:pPr indent="-298450" lvl="1" marL="914400" rtl="0" algn="l">
              <a:spcBef>
                <a:spcPts val="0"/>
              </a:spcBef>
              <a:spcAft>
                <a:spcPts val="0"/>
              </a:spcAft>
              <a:buClr>
                <a:schemeClr val="dk1"/>
              </a:buClr>
              <a:buSzPts val="1100"/>
              <a:buChar char="-"/>
            </a:pPr>
            <a:r>
              <a:rPr lang="en">
                <a:solidFill>
                  <a:schemeClr val="dk1"/>
                </a:solidFill>
              </a:rPr>
              <a:t>“hype” encouragement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58da07b21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58da07b21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
            </a:r>
            <a:r>
              <a:rPr lang="en"/>
              <a:t>uck note: -voice sessions</a:t>
            </a:r>
            <a:endParaRPr/>
          </a:p>
          <a:p>
            <a:pPr indent="-298450" lvl="0" marL="457200" rtl="0" algn="l">
              <a:spcBef>
                <a:spcPts val="0"/>
              </a:spcBef>
              <a:spcAft>
                <a:spcPts val="0"/>
              </a:spcAft>
              <a:buSzPts val="1100"/>
              <a:buChar char="-"/>
            </a:pPr>
            <a:r>
              <a:rPr lang="en"/>
              <a:t>specific for… serious solving, sharing ideas, art + literature</a:t>
            </a:r>
            <a:endParaRPr/>
          </a:p>
          <a:p>
            <a:pPr indent="-298450" lvl="0" marL="457200" rtl="0" algn="l">
              <a:spcBef>
                <a:spcPts val="0"/>
              </a:spcBef>
              <a:spcAft>
                <a:spcPts val="0"/>
              </a:spcAft>
              <a:buSzPts val="1100"/>
              <a:buChar char="-"/>
            </a:pPr>
            <a:r>
              <a:rPr lang="en"/>
              <a:t>been improving constantly, come college we’ll have 3 active hosts</a:t>
            </a:r>
            <a:endParaRPr/>
          </a:p>
          <a:p>
            <a:pPr indent="-298450" lvl="0" marL="457200" rtl="0" algn="l">
              <a:spcBef>
                <a:spcPts val="0"/>
              </a:spcBef>
              <a:spcAft>
                <a:spcPts val="0"/>
              </a:spcAft>
              <a:buSzPts val="1100"/>
              <a:buChar char="-"/>
            </a:pPr>
            <a:r>
              <a:rPr lang="en"/>
              <a:t>accessible: anyone can host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58da07b21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58da07b21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area try cultivate organisation community tools and resources. Tool creation common focal point burnt solvers. Goal coodinate efforts comprehensive solving suite</a:t>
            </a:r>
            <a:endParaRPr/>
          </a:p>
          <a:p>
            <a:pPr indent="0" lvl="0" marL="0" rtl="0" algn="l">
              <a:spcBef>
                <a:spcPts val="0"/>
              </a:spcBef>
              <a:spcAft>
                <a:spcPts val="0"/>
              </a:spcAft>
              <a:buNone/>
            </a:pPr>
            <a:r>
              <a:rPr lang="en"/>
              <a:t>Much like the recent breakthrough 54 year old z340 zodiac, production customised tools can unlock progress many years of extensive search</a:t>
            </a:r>
            <a:endParaRPr/>
          </a:p>
          <a:p>
            <a:pPr indent="0" lvl="0" marL="0" rtl="0" algn="l">
              <a:spcBef>
                <a:spcPts val="0"/>
              </a:spcBef>
              <a:spcAft>
                <a:spcPts val="0"/>
              </a:spcAft>
              <a:buNone/>
            </a:pPr>
            <a:r>
              <a:rPr lang="en"/>
              <a:t>Challenge is tools lack rune support. Community began dev tools allow both deep analysis and simply prototyping of ideas to those require no input browser extension </a:t>
            </a:r>
            <a:endParaRPr/>
          </a:p>
          <a:p>
            <a:pPr indent="0" lvl="0" marL="0" rtl="0" algn="l">
              <a:spcBef>
                <a:spcPts val="0"/>
              </a:spcBef>
              <a:spcAft>
                <a:spcPts val="0"/>
              </a:spcAft>
              <a:buNone/>
            </a:pPr>
            <a:r>
              <a:rPr lang="en"/>
              <a:t>Suite to </a:t>
            </a:r>
            <a:r>
              <a:rPr lang="en"/>
              <a:t>advance solvers goal for generalized resource unification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Taiiwo - Intention: bring up how we promote solving infrastructure through tool development</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Common tendency for burnt out solvers is to create tools</a:t>
            </a:r>
            <a:endParaRPr/>
          </a:p>
          <a:p>
            <a:pPr indent="-298450" lvl="0" marL="457200" rtl="0" algn="l">
              <a:spcBef>
                <a:spcPts val="0"/>
              </a:spcBef>
              <a:spcAft>
                <a:spcPts val="0"/>
              </a:spcAft>
              <a:buSzPts val="1100"/>
              <a:buChar char="-"/>
            </a:pPr>
            <a:r>
              <a:rPr lang="en"/>
              <a:t>Enabled a new goal: the organisation of a </a:t>
            </a:r>
            <a:r>
              <a:rPr lang="en"/>
              <a:t>complete solving suite</a:t>
            </a:r>
            <a:endParaRPr/>
          </a:p>
          <a:p>
            <a:pPr indent="-298450" lvl="0" marL="457200" rtl="0" algn="l">
              <a:spcBef>
                <a:spcPts val="0"/>
              </a:spcBef>
              <a:spcAft>
                <a:spcPts val="0"/>
              </a:spcAft>
              <a:buSzPts val="1100"/>
              <a:buChar char="-"/>
            </a:pPr>
            <a:r>
              <a:rPr lang="en"/>
              <a:t>Zodiac killer Z340 cipher tool ZKDecrypto  </a:t>
            </a:r>
            <a:endParaRPr/>
          </a:p>
          <a:p>
            <a:pPr indent="-298450" lvl="0" marL="457200" rtl="0" algn="l">
              <a:spcBef>
                <a:spcPts val="0"/>
              </a:spcBef>
              <a:spcAft>
                <a:spcPts val="0"/>
              </a:spcAft>
              <a:buSzPts val="1100"/>
              <a:buChar char="-"/>
            </a:pPr>
            <a:r>
              <a:rPr lang="en"/>
              <a:t>Many existing cryptography tools don't natively support the runic alphabet</a:t>
            </a:r>
            <a:endParaRPr/>
          </a:p>
          <a:p>
            <a:pPr indent="-298450" lvl="0" marL="457200" rtl="0" algn="l">
              <a:spcBef>
                <a:spcPts val="0"/>
              </a:spcBef>
              <a:spcAft>
                <a:spcPts val="0"/>
              </a:spcAft>
              <a:buSzPts val="1100"/>
              <a:buChar char="-"/>
            </a:pPr>
            <a:r>
              <a:rPr lang="en"/>
              <a:t>Some tools allow deeply configurable manipulation</a:t>
            </a:r>
            <a:endParaRPr/>
          </a:p>
          <a:p>
            <a:pPr indent="-298450" lvl="0" marL="457200" rtl="0" algn="l">
              <a:spcBef>
                <a:spcPts val="0"/>
              </a:spcBef>
              <a:spcAft>
                <a:spcPts val="0"/>
              </a:spcAft>
              <a:buSzPts val="1100"/>
              <a:buChar char="-"/>
            </a:pPr>
            <a:r>
              <a:rPr lang="en"/>
              <a:t>Some focus on simple, quick prototypes of ideas</a:t>
            </a:r>
            <a:endParaRPr/>
          </a:p>
          <a:p>
            <a:pPr indent="-298450" lvl="0" marL="457200" rtl="0" algn="l">
              <a:spcBef>
                <a:spcPts val="0"/>
              </a:spcBef>
              <a:spcAft>
                <a:spcPts val="0"/>
              </a:spcAft>
              <a:buSzPts val="1100"/>
              <a:buChar char="-"/>
            </a:pPr>
            <a:r>
              <a:rPr lang="en"/>
              <a:t>Some require no input at all, such as the browser extension mentioned earlier</a:t>
            </a:r>
            <a:endParaRPr/>
          </a:p>
          <a:p>
            <a:pPr indent="-298450" lvl="0" marL="457200" rtl="0" algn="l">
              <a:spcBef>
                <a:spcPts val="0"/>
              </a:spcBef>
              <a:spcAft>
                <a:spcPts val="0"/>
              </a:spcAft>
              <a:buSzPts val="1100"/>
              <a:buChar char="-"/>
            </a:pPr>
            <a:r>
              <a:rPr lang="en"/>
              <a:t>The overall goal is to make each solving attempt benefit from the previous - a rich library of tools and resources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5925c27a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5925c27a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rt/Clockwork</a:t>
            </a:r>
            <a:endParaRPr/>
          </a:p>
          <a:p>
            <a:pPr indent="0" lvl="0" marL="0" rtl="0" algn="l">
              <a:spcBef>
                <a:spcPts val="0"/>
              </a:spcBef>
              <a:spcAft>
                <a:spcPts val="0"/>
              </a:spcAft>
              <a:buNone/>
            </a:pPr>
            <a:r>
              <a:rPr lang="en"/>
              <a:t>-L</a:t>
            </a:r>
            <a:r>
              <a:rPr lang="en"/>
              <a:t>ink DEFCON theme with CicadaSolvers’ mission</a:t>
            </a:r>
            <a:endParaRPr/>
          </a:p>
          <a:p>
            <a:pPr indent="0" lvl="0" marL="0" rtl="0" algn="l">
              <a:spcBef>
                <a:spcPts val="0"/>
              </a:spcBef>
              <a:spcAft>
                <a:spcPts val="0"/>
              </a:spcAft>
              <a:buNone/>
            </a:pPr>
            <a:r>
              <a:rPr lang="en"/>
              <a:t>-“The Future Will Prevail” philosophy is what keeps us going</a:t>
            </a:r>
            <a:endParaRPr/>
          </a:p>
          <a:p>
            <a:pPr indent="0" lvl="0" marL="0" rtl="0" algn="l">
              <a:spcBef>
                <a:spcPts val="0"/>
              </a:spcBef>
              <a:spcAft>
                <a:spcPts val="0"/>
              </a:spcAft>
              <a:buNone/>
            </a:pPr>
            <a:r>
              <a:rPr lang="en"/>
              <a:t>-People have grown through CicadaSolvers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5c8ed9d3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5c8ed9d3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Intention:</a:t>
            </a:r>
            <a:endParaRPr i="1"/>
          </a:p>
          <a:p>
            <a:pPr indent="0" lvl="0" marL="0" rtl="0" algn="l">
              <a:spcBef>
                <a:spcPts val="0"/>
              </a:spcBef>
              <a:spcAft>
                <a:spcPts val="0"/>
              </a:spcAft>
              <a:buNone/>
            </a:pPr>
            <a:r>
              <a:rPr i="1" lang="en"/>
              <a:t>leave a recap slide for people to think of questions on</a:t>
            </a:r>
            <a:endParaRPr i="1"/>
          </a:p>
          <a:p>
            <a:pPr indent="0" lvl="0" marL="0" rtl="0" algn="l">
              <a:spcBef>
                <a:spcPts val="0"/>
              </a:spcBef>
              <a:spcAft>
                <a:spcPts val="0"/>
              </a:spcAft>
              <a:buNone/>
            </a:pPr>
            <a:r>
              <a:t/>
            </a:r>
            <a:endParaRPr i="1"/>
          </a:p>
          <a:p>
            <a:pPr indent="0" lvl="0" marL="0" rtl="0" algn="l">
              <a:spcBef>
                <a:spcPts val="0"/>
              </a:spcBef>
              <a:spcAft>
                <a:spcPts val="0"/>
              </a:spcAft>
              <a:buNone/>
            </a:pPr>
            <a:r>
              <a:rPr lang="en"/>
              <a:t>END OF SLIDE. SAY THANKS AND ASK FOR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11.png"/><Relationship Id="rId5" Type="http://schemas.openxmlformats.org/officeDocument/2006/relationships/image" Target="../media/image1.jp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2.xml"/><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4769050" y="239500"/>
            <a:ext cx="4147200" cy="3773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200">
                <a:solidFill>
                  <a:srgbClr val="FF0000"/>
                </a:solidFill>
                <a:latin typeface="Tahoma"/>
                <a:ea typeface="Tahoma"/>
                <a:cs typeface="Tahoma"/>
                <a:sym typeface="Tahoma"/>
              </a:rPr>
              <a:t>Cracking Cicada 3301</a:t>
            </a:r>
            <a:endParaRPr sz="5200">
              <a:solidFill>
                <a:srgbClr val="FF0000"/>
              </a:solidFill>
              <a:latin typeface="Tahoma"/>
              <a:ea typeface="Tahoma"/>
              <a:cs typeface="Tahoma"/>
              <a:sym typeface="Tahoma"/>
            </a:endParaRPr>
          </a:p>
          <a:p>
            <a:pPr indent="0" lvl="0" marL="0" rtl="0" algn="ctr">
              <a:spcBef>
                <a:spcPts val="0"/>
              </a:spcBef>
              <a:spcAft>
                <a:spcPts val="0"/>
              </a:spcAft>
              <a:buNone/>
            </a:pPr>
            <a:r>
              <a:t/>
            </a:r>
            <a:endParaRPr sz="1850">
              <a:solidFill>
                <a:srgbClr val="FF0000"/>
              </a:solidFill>
              <a:latin typeface="Tahoma"/>
              <a:ea typeface="Tahoma"/>
              <a:cs typeface="Tahoma"/>
              <a:sym typeface="Tahoma"/>
            </a:endParaRPr>
          </a:p>
          <a:p>
            <a:pPr indent="0" lvl="0" marL="0" rtl="0" algn="ctr">
              <a:spcBef>
                <a:spcPts val="0"/>
              </a:spcBef>
              <a:spcAft>
                <a:spcPts val="0"/>
              </a:spcAft>
              <a:buNone/>
            </a:pPr>
            <a:r>
              <a:rPr lang="en" sz="3511">
                <a:latin typeface="Tahoma"/>
                <a:ea typeface="Tahoma"/>
                <a:cs typeface="Tahoma"/>
                <a:sym typeface="Tahoma"/>
              </a:rPr>
              <a:t>The Future of Collaborative Puzzle-Solving</a:t>
            </a:r>
            <a:endParaRPr sz="2511">
              <a:latin typeface="Tahoma"/>
              <a:ea typeface="Tahoma"/>
              <a:cs typeface="Tahoma"/>
              <a:sym typeface="Tahoma"/>
            </a:endParaRPr>
          </a:p>
        </p:txBody>
      </p:sp>
      <p:sp>
        <p:nvSpPr>
          <p:cNvPr id="55" name="Google Shape;55;p13"/>
          <p:cNvSpPr txBox="1"/>
          <p:nvPr>
            <p:ph idx="1" type="subTitle"/>
          </p:nvPr>
        </p:nvSpPr>
        <p:spPr>
          <a:xfrm>
            <a:off x="4820050" y="4162850"/>
            <a:ext cx="4045200" cy="14430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n"/>
              <a:t>A CicadaSolvers Production</a:t>
            </a:r>
            <a:endParaRPr/>
          </a:p>
          <a:p>
            <a:pPr indent="0" lvl="0" marL="0" rtl="0" algn="ctr">
              <a:lnSpc>
                <a:spcPct val="150000"/>
              </a:lnSpc>
              <a:spcBef>
                <a:spcPts val="0"/>
              </a:spcBef>
              <a:spcAft>
                <a:spcPts val="0"/>
              </a:spcAft>
              <a:buNone/>
            </a:pPr>
            <a:r>
              <a:rPr lang="en" sz="1600"/>
              <a:t>By </a:t>
            </a:r>
            <a:r>
              <a:rPr lang="en" sz="1600"/>
              <a:t>Taiiwo</a:t>
            </a:r>
            <a:r>
              <a:rPr lang="en" sz="1600"/>
              <a:t>, </a:t>
            </a:r>
            <a:r>
              <a:rPr lang="en" sz="1600"/>
              <a:t>Artorias, </a:t>
            </a:r>
            <a:r>
              <a:rPr lang="en" sz="1600"/>
              <a:t>Puck, and Clockwork</a:t>
            </a:r>
            <a:endParaRPr sz="1600"/>
          </a:p>
        </p:txBody>
      </p:sp>
      <p:cxnSp>
        <p:nvCxnSpPr>
          <p:cNvPr id="56" name="Google Shape;56;p13"/>
          <p:cNvCxnSpPr/>
          <p:nvPr/>
        </p:nvCxnSpPr>
        <p:spPr>
          <a:xfrm>
            <a:off x="5790700" y="2125300"/>
            <a:ext cx="2103900" cy="15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What is Cicada 3301 and Who are we?</a:t>
            </a:r>
            <a:endParaRPr>
              <a:latin typeface="Tahoma"/>
              <a:ea typeface="Tahoma"/>
              <a:cs typeface="Tahoma"/>
              <a:sym typeface="Tahoma"/>
            </a:endParaRPr>
          </a:p>
        </p:txBody>
      </p:sp>
      <p:sp>
        <p:nvSpPr>
          <p:cNvPr id="62" name="Google Shape;62;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Cicada 3301</a:t>
            </a:r>
            <a:endParaRPr b="1" sz="1600"/>
          </a:p>
          <a:p>
            <a:pPr indent="-317500" lvl="0" marL="457200" rtl="0" algn="l">
              <a:spcBef>
                <a:spcPts val="1200"/>
              </a:spcBef>
              <a:spcAft>
                <a:spcPts val="0"/>
              </a:spcAft>
              <a:buSzPts val="1400"/>
              <a:buChar char="●"/>
            </a:pPr>
            <a:r>
              <a:rPr lang="en"/>
              <a:t>Mysterious international organization that released a series of increasingly </a:t>
            </a:r>
            <a:r>
              <a:rPr lang="en"/>
              <a:t>difficult</a:t>
            </a:r>
            <a:r>
              <a:rPr lang="en"/>
              <a:t> </a:t>
            </a:r>
            <a:r>
              <a:rPr lang="en"/>
              <a:t>cryptographic</a:t>
            </a:r>
            <a:r>
              <a:rPr lang="en"/>
              <a:t> puzzles. </a:t>
            </a:r>
            <a:br>
              <a:rPr lang="en"/>
            </a:br>
            <a:endParaRPr/>
          </a:p>
          <a:p>
            <a:pPr indent="-317500" lvl="0" marL="457200" rtl="0" algn="l">
              <a:spcBef>
                <a:spcPts val="0"/>
              </a:spcBef>
              <a:spcAft>
                <a:spcPts val="0"/>
              </a:spcAft>
              <a:buSzPts val="1400"/>
              <a:buChar char="●"/>
            </a:pPr>
            <a:r>
              <a:rPr lang="en"/>
              <a:t>The current step of the 2014 puzzle, a digital book of runes called Liber Primus, has gone unsolved.</a:t>
            </a:r>
            <a:endParaRPr/>
          </a:p>
          <a:p>
            <a:pPr indent="0" lvl="0" marL="0" rtl="0" algn="l">
              <a:spcBef>
                <a:spcPts val="1200"/>
              </a:spcBef>
              <a:spcAft>
                <a:spcPts val="1200"/>
              </a:spcAft>
              <a:buNone/>
            </a:pPr>
            <a:br>
              <a:rPr lang="en"/>
            </a:br>
            <a:endParaRPr/>
          </a:p>
        </p:txBody>
      </p:sp>
      <p:sp>
        <p:nvSpPr>
          <p:cNvPr id="63" name="Google Shape;63;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CicadaSolvers</a:t>
            </a:r>
            <a:endParaRPr b="1" sz="1600"/>
          </a:p>
          <a:p>
            <a:pPr indent="0" lvl="0" marL="0" rtl="0" algn="l">
              <a:spcBef>
                <a:spcPts val="1200"/>
              </a:spcBef>
              <a:spcAft>
                <a:spcPts val="0"/>
              </a:spcAft>
              <a:buNone/>
            </a:pPr>
            <a:r>
              <a:rPr lang="en"/>
              <a:t>The main c</a:t>
            </a:r>
            <a:r>
              <a:rPr lang="en"/>
              <a:t>ommunity of people interested in the Cicada 3301 puzzles.</a:t>
            </a:r>
            <a:endParaRPr/>
          </a:p>
          <a:p>
            <a:pPr indent="0" lvl="0" marL="0" rtl="0" algn="l">
              <a:spcBef>
                <a:spcPts val="1200"/>
              </a:spcBef>
              <a:spcAft>
                <a:spcPts val="0"/>
              </a:spcAft>
              <a:buNone/>
            </a:pPr>
            <a:r>
              <a:rPr b="1" lang="en" sz="1600"/>
              <a:t>Speakers</a:t>
            </a:r>
            <a:endParaRPr/>
          </a:p>
          <a:p>
            <a:pPr indent="-317500" lvl="0" marL="457200" rtl="0" algn="l">
              <a:spcBef>
                <a:spcPts val="1200"/>
              </a:spcBef>
              <a:spcAft>
                <a:spcPts val="0"/>
              </a:spcAft>
              <a:buSzPts val="1400"/>
              <a:buChar char="●"/>
            </a:pPr>
            <a:r>
              <a:rPr lang="en"/>
              <a:t>Puck - Community Organizer</a:t>
            </a:r>
            <a:endParaRPr/>
          </a:p>
          <a:p>
            <a:pPr indent="-317500" lvl="0" marL="457200" rtl="0" algn="l">
              <a:spcBef>
                <a:spcPts val="0"/>
              </a:spcBef>
              <a:spcAft>
                <a:spcPts val="0"/>
              </a:spcAft>
              <a:buSzPts val="1400"/>
              <a:buChar char="●"/>
            </a:pPr>
            <a:r>
              <a:rPr lang="en"/>
              <a:t>Taiiwo - Technologist</a:t>
            </a:r>
            <a:endParaRPr/>
          </a:p>
          <a:p>
            <a:pPr indent="-317500" lvl="0" marL="457200" rtl="0" algn="l">
              <a:spcBef>
                <a:spcPts val="0"/>
              </a:spcBef>
              <a:spcAft>
                <a:spcPts val="0"/>
              </a:spcAft>
              <a:buSzPts val="1400"/>
              <a:buChar char="●"/>
            </a:pPr>
            <a:r>
              <a:rPr lang="en"/>
              <a:t>Artorias - Archivist</a:t>
            </a:r>
            <a:endParaRPr/>
          </a:p>
          <a:p>
            <a:pPr indent="-317500" lvl="0" marL="457200" rtl="0" algn="l">
              <a:spcBef>
                <a:spcPts val="0"/>
              </a:spcBef>
              <a:spcAft>
                <a:spcPts val="0"/>
              </a:spcAft>
              <a:buSzPts val="1400"/>
              <a:buChar char="●"/>
            </a:pPr>
            <a:r>
              <a:rPr lang="en"/>
              <a:t>Clockwork - Server Engagement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Misrepresentation in Popular Media</a:t>
            </a:r>
            <a:endParaRPr>
              <a:latin typeface="Tahoma"/>
              <a:ea typeface="Tahoma"/>
              <a:cs typeface="Tahoma"/>
              <a:sym typeface="Tahoma"/>
            </a:endParaRPr>
          </a:p>
        </p:txBody>
      </p:sp>
      <p:sp>
        <p:nvSpPr>
          <p:cNvPr id="69" name="Google Shape;69;p15"/>
          <p:cNvSpPr txBox="1"/>
          <p:nvPr>
            <p:ph idx="1" type="body"/>
          </p:nvPr>
        </p:nvSpPr>
        <p:spPr>
          <a:xfrm>
            <a:off x="311700" y="1152475"/>
            <a:ext cx="5874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Inaccurate portrayals of Cicada 3301 in popular media</a:t>
            </a:r>
            <a:endParaRPr sz="1800"/>
          </a:p>
          <a:p>
            <a:pPr indent="-342900" lvl="0" marL="457200" rtl="0" algn="l">
              <a:spcBef>
                <a:spcPts val="1200"/>
              </a:spcBef>
              <a:spcAft>
                <a:spcPts val="0"/>
              </a:spcAft>
              <a:buSzPts val="1800"/>
              <a:buChar char="●"/>
            </a:pPr>
            <a:r>
              <a:rPr lang="en" sz="1800"/>
              <a:t>Youtube videos</a:t>
            </a:r>
            <a:endParaRPr sz="1800"/>
          </a:p>
          <a:p>
            <a:pPr indent="-342900" lvl="0" marL="457200" rtl="0" algn="l">
              <a:spcBef>
                <a:spcPts val="0"/>
              </a:spcBef>
              <a:spcAft>
                <a:spcPts val="0"/>
              </a:spcAft>
              <a:buSzPts val="1800"/>
              <a:buChar char="●"/>
            </a:pPr>
            <a:r>
              <a:rPr lang="en" sz="1800"/>
              <a:t>Social Media</a:t>
            </a:r>
            <a:endParaRPr sz="1800"/>
          </a:p>
          <a:p>
            <a:pPr indent="-342900" lvl="0" marL="457200" rtl="0" algn="l">
              <a:spcBef>
                <a:spcPts val="0"/>
              </a:spcBef>
              <a:spcAft>
                <a:spcPts val="0"/>
              </a:spcAft>
              <a:buSzPts val="1800"/>
              <a:buChar char="●"/>
            </a:pPr>
            <a:r>
              <a:rPr lang="en" sz="1800"/>
              <a:t>Fake Puzzles</a:t>
            </a:r>
            <a:endParaRPr sz="1800"/>
          </a:p>
          <a:p>
            <a:pPr indent="-342900" lvl="0" marL="457200" rtl="0" algn="l">
              <a:spcBef>
                <a:spcPts val="0"/>
              </a:spcBef>
              <a:spcAft>
                <a:spcPts val="0"/>
              </a:spcAft>
              <a:buSzPts val="1800"/>
              <a:buChar char="●"/>
            </a:pPr>
            <a:r>
              <a:rPr lang="en" sz="1800"/>
              <a:t>News articles</a:t>
            </a:r>
            <a:endParaRPr sz="1800"/>
          </a:p>
          <a:p>
            <a:pPr indent="-342900" lvl="0" marL="457200" rtl="0" algn="l">
              <a:spcBef>
                <a:spcPts val="0"/>
              </a:spcBef>
              <a:spcAft>
                <a:spcPts val="0"/>
              </a:spcAft>
              <a:buSzPts val="1800"/>
              <a:buChar char="●"/>
            </a:pPr>
            <a:r>
              <a:rPr lang="en" sz="1800"/>
              <a:t>Movie</a:t>
            </a:r>
            <a:endParaRPr sz="1800"/>
          </a:p>
        </p:txBody>
      </p:sp>
      <p:pic>
        <p:nvPicPr>
          <p:cNvPr id="70" name="Google Shape;70;p15"/>
          <p:cNvPicPr preferRelativeResize="0"/>
          <p:nvPr/>
        </p:nvPicPr>
        <p:blipFill>
          <a:blip r:embed="rId3">
            <a:alphaModFix/>
          </a:blip>
          <a:stretch>
            <a:fillRect/>
          </a:stretch>
        </p:blipFill>
        <p:spPr>
          <a:xfrm>
            <a:off x="5878275" y="2967124"/>
            <a:ext cx="3265724" cy="2176374"/>
          </a:xfrm>
          <a:prstGeom prst="rect">
            <a:avLst/>
          </a:prstGeom>
          <a:noFill/>
          <a:ln>
            <a:noFill/>
          </a:ln>
        </p:spPr>
      </p:pic>
      <p:pic>
        <p:nvPicPr>
          <p:cNvPr id="71" name="Google Shape;71;p15"/>
          <p:cNvPicPr preferRelativeResize="0"/>
          <p:nvPr/>
        </p:nvPicPr>
        <p:blipFill>
          <a:blip r:embed="rId4">
            <a:alphaModFix/>
          </a:blip>
          <a:stretch>
            <a:fillRect/>
          </a:stretch>
        </p:blipFill>
        <p:spPr>
          <a:xfrm>
            <a:off x="7210150" y="0"/>
            <a:ext cx="1933850" cy="2865600"/>
          </a:xfrm>
          <a:prstGeom prst="rect">
            <a:avLst/>
          </a:prstGeom>
          <a:noFill/>
          <a:ln>
            <a:noFill/>
          </a:ln>
        </p:spPr>
      </p:pic>
      <p:pic>
        <p:nvPicPr>
          <p:cNvPr id="72" name="Google Shape;72;p15"/>
          <p:cNvPicPr preferRelativeResize="0"/>
          <p:nvPr/>
        </p:nvPicPr>
        <p:blipFill>
          <a:blip r:embed="rId5">
            <a:alphaModFix/>
          </a:blip>
          <a:stretch>
            <a:fillRect/>
          </a:stretch>
        </p:blipFill>
        <p:spPr>
          <a:xfrm>
            <a:off x="2604400" y="3375075"/>
            <a:ext cx="3151651" cy="1768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Reality: Who is Cicada 3301?</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p:txBody>
      </p:sp>
      <p:sp>
        <p:nvSpPr>
          <p:cNvPr id="78" name="Google Shape;78;p16"/>
          <p:cNvSpPr txBox="1"/>
          <p:nvPr>
            <p:ph idx="1" type="body"/>
          </p:nvPr>
        </p:nvSpPr>
        <p:spPr>
          <a:xfrm>
            <a:off x="311700" y="1152475"/>
            <a:ext cx="4939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we have observed:</a:t>
            </a:r>
            <a:endParaRPr/>
          </a:p>
          <a:p>
            <a:pPr indent="-317500" lvl="0" marL="457200" rtl="0" algn="l">
              <a:spcBef>
                <a:spcPts val="1200"/>
              </a:spcBef>
              <a:spcAft>
                <a:spcPts val="0"/>
              </a:spcAft>
              <a:buSzPts val="1400"/>
              <a:buChar char="●"/>
            </a:pPr>
            <a:r>
              <a:rPr lang="en"/>
              <a:t>Refer to themselves as 3301 with a plural self-reference</a:t>
            </a:r>
            <a:endParaRPr/>
          </a:p>
          <a:p>
            <a:pPr indent="-317500" lvl="0" marL="457200" rtl="0" algn="l">
              <a:spcBef>
                <a:spcPts val="0"/>
              </a:spcBef>
              <a:spcAft>
                <a:spcPts val="0"/>
              </a:spcAft>
              <a:buSzPts val="1400"/>
              <a:buChar char="●"/>
            </a:pPr>
            <a:r>
              <a:rPr lang="en"/>
              <a:t>They claim to be recruiting intelligent individuals</a:t>
            </a:r>
            <a:endParaRPr/>
          </a:p>
          <a:p>
            <a:pPr indent="-317500" lvl="0" marL="457200" rtl="0" algn="l">
              <a:spcBef>
                <a:spcPts val="0"/>
              </a:spcBef>
              <a:spcAft>
                <a:spcPts val="0"/>
              </a:spcAft>
              <a:buSzPts val="1400"/>
              <a:buChar char="●"/>
            </a:pPr>
            <a:r>
              <a:rPr lang="en"/>
              <a:t>Have the resources to construct complex puzzles with global reach</a:t>
            </a:r>
            <a:endParaRPr/>
          </a:p>
          <a:p>
            <a:pPr indent="-317500" lvl="0" marL="457200" rtl="0" algn="l">
              <a:spcBef>
                <a:spcPts val="0"/>
              </a:spcBef>
              <a:spcAft>
                <a:spcPts val="0"/>
              </a:spcAft>
              <a:buSzPts val="1400"/>
              <a:buChar char="●"/>
            </a:pPr>
            <a:r>
              <a:rPr lang="en"/>
              <a:t>Advocates of privacy and skilled with anonymity</a:t>
            </a:r>
            <a:endParaRPr/>
          </a:p>
          <a:p>
            <a:pPr indent="-317500" lvl="0" marL="457200" rtl="0" algn="l">
              <a:spcBef>
                <a:spcPts val="0"/>
              </a:spcBef>
              <a:spcAft>
                <a:spcPts val="0"/>
              </a:spcAft>
              <a:buSzPts val="1400"/>
              <a:buChar char="●"/>
            </a:pPr>
            <a:r>
              <a:rPr lang="en"/>
              <a:t>Verify all messages with PGP 7A35090F</a:t>
            </a:r>
            <a:endParaRPr/>
          </a:p>
          <a:p>
            <a:pPr indent="-317500" lvl="0" marL="457200" rtl="0" algn="l">
              <a:spcBef>
                <a:spcPts val="0"/>
              </a:spcBef>
              <a:spcAft>
                <a:spcPts val="0"/>
              </a:spcAft>
              <a:buSzPts val="1400"/>
              <a:buChar char="●"/>
            </a:pPr>
            <a:r>
              <a:rPr lang="en"/>
              <a:t>References to esoterica are a thematic choice</a:t>
            </a:r>
            <a:endParaRPr/>
          </a:p>
        </p:txBody>
      </p:sp>
      <p:sp>
        <p:nvSpPr>
          <p:cNvPr id="79" name="Google Shape;79;p16"/>
          <p:cNvSpPr txBox="1"/>
          <p:nvPr>
            <p:ph idx="2" type="body"/>
          </p:nvPr>
        </p:nvSpPr>
        <p:spPr>
          <a:xfrm>
            <a:off x="5781350" y="1152475"/>
            <a:ext cx="3051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Common baseless claims:</a:t>
            </a:r>
            <a:endParaRPr/>
          </a:p>
          <a:p>
            <a:pPr indent="-317500" lvl="0" marL="457200" rtl="0" algn="l">
              <a:spcBef>
                <a:spcPts val="1200"/>
              </a:spcBef>
              <a:spcAft>
                <a:spcPts val="0"/>
              </a:spcAft>
              <a:buSzPts val="1400"/>
              <a:buChar char="●"/>
            </a:pPr>
            <a:r>
              <a:rPr lang="en"/>
              <a:t>Criminal organisation</a:t>
            </a:r>
            <a:endParaRPr/>
          </a:p>
          <a:p>
            <a:pPr indent="-317500" lvl="0" marL="457200" rtl="0" algn="l">
              <a:spcBef>
                <a:spcPts val="0"/>
              </a:spcBef>
              <a:spcAft>
                <a:spcPts val="0"/>
              </a:spcAft>
              <a:buSzPts val="1400"/>
              <a:buChar char="●"/>
            </a:pPr>
            <a:r>
              <a:rPr lang="en"/>
              <a:t>Government agency</a:t>
            </a:r>
            <a:endParaRPr/>
          </a:p>
          <a:p>
            <a:pPr indent="-317500" lvl="0" marL="457200" rtl="0" algn="l">
              <a:spcBef>
                <a:spcPts val="0"/>
              </a:spcBef>
              <a:spcAft>
                <a:spcPts val="0"/>
              </a:spcAft>
              <a:buSzPts val="1400"/>
              <a:buChar char="●"/>
            </a:pPr>
            <a:r>
              <a:rPr lang="en"/>
              <a:t>Advertising campaign</a:t>
            </a:r>
            <a:endParaRPr/>
          </a:p>
          <a:p>
            <a:pPr indent="-317500" lvl="0" marL="457200" rtl="0" algn="l">
              <a:spcBef>
                <a:spcPts val="0"/>
              </a:spcBef>
              <a:spcAft>
                <a:spcPts val="0"/>
              </a:spcAft>
              <a:buSzPts val="1400"/>
              <a:buChar char="●"/>
            </a:pPr>
            <a:r>
              <a:rPr lang="en"/>
              <a:t>Cult / Religious origin</a:t>
            </a:r>
            <a:endParaRPr/>
          </a:p>
          <a:p>
            <a:pPr indent="-317500" lvl="0" marL="457200" rtl="0" algn="l">
              <a:spcBef>
                <a:spcPts val="0"/>
              </a:spcBef>
              <a:spcAft>
                <a:spcPts val="0"/>
              </a:spcAft>
              <a:buSzPts val="1400"/>
              <a:buChar char="●"/>
            </a:pPr>
            <a:r>
              <a:rPr lang="en"/>
              <a:t>Liber Primus is solved</a:t>
            </a:r>
            <a:endParaRPr/>
          </a:p>
          <a:p>
            <a:pPr indent="-317500" lvl="0" marL="457200" rtl="0" algn="l">
              <a:spcBef>
                <a:spcPts val="0"/>
              </a:spcBef>
              <a:spcAft>
                <a:spcPts val="0"/>
              </a:spcAft>
              <a:buSzPts val="1400"/>
              <a:buChar char="●"/>
            </a:pPr>
            <a:r>
              <a:rPr lang="en"/>
              <a:t>Puzzle releases since 2014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idx="2" type="body"/>
          </p:nvPr>
        </p:nvSpPr>
        <p:spPr>
          <a:xfrm>
            <a:off x="293150" y="170900"/>
            <a:ext cx="7377300" cy="47943900"/>
          </a:xfrm>
          <a:prstGeom prst="rect">
            <a:avLst/>
          </a:prstGeom>
          <a:effectLst>
            <a:outerShdw blurRad="285750" rotWithShape="0" algn="bl" dir="5400000" dist="19050">
              <a:srgbClr val="000000">
                <a:alpha val="58999"/>
              </a:srgbClr>
            </a:outerShdw>
          </a:effectLst>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en" sz="800">
                <a:solidFill>
                  <a:srgbClr val="434343"/>
                </a:solidFill>
                <a:latin typeface="Droid Sans"/>
                <a:ea typeface="Droid Sans"/>
                <a:cs typeface="Droid Sans"/>
                <a:sym typeface="Droid Sans"/>
              </a:rPr>
              <a:t>-----BEGIN PGP SIGNED MESSAGE-----</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Hash: SHA1</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DO NOT SHARE THIS INFORMATION!</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t/>
            </a:r>
            <a:endParaRPr sz="1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Congratulations.  Your testing has finally come to an end.  We hope you have enjoyed</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the "vacation" over the last few weeks.  You will be very busy now should you choose</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to join us.</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t/>
            </a:r>
            <a:endParaRPr sz="1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There are two final steps, although there won't be any hidden codes, or secret messages,</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or physical treasure hunts.  This first of these is only honesty.  We have always been</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honest with you, and we shall continue to be honest with you.  And we expect you to be</a:t>
            </a:r>
            <a:endParaRPr sz="800">
              <a:solidFill>
                <a:srgbClr val="434343"/>
              </a:solidFill>
              <a:latin typeface="Droid Sans"/>
              <a:ea typeface="Droid Sans"/>
              <a:cs typeface="Droid Sans"/>
              <a:sym typeface="Droid Sans"/>
            </a:endParaRPr>
          </a:p>
          <a:p>
            <a:pPr indent="0" lvl="0" marL="457200" rtl="0" algn="l">
              <a:lnSpc>
                <a:spcPct val="100000"/>
              </a:lnSpc>
              <a:spcBef>
                <a:spcPts val="100"/>
              </a:spcBef>
              <a:spcAft>
                <a:spcPts val="0"/>
              </a:spcAft>
              <a:buNone/>
            </a:pPr>
            <a:r>
              <a:rPr lang="en" sz="800">
                <a:solidFill>
                  <a:srgbClr val="434343"/>
                </a:solidFill>
                <a:latin typeface="Droid Sans"/>
                <a:ea typeface="Droid Sans"/>
                <a:cs typeface="Droid Sans"/>
                <a:sym typeface="Droid Sans"/>
              </a:rPr>
              <a:t>honest with us in return.</a:t>
            </a:r>
            <a:endParaRPr sz="800">
              <a:solidFill>
                <a:srgbClr val="434343"/>
              </a:solidFill>
              <a:latin typeface="Droid Sans"/>
              <a:ea typeface="Droid Sans"/>
              <a:cs typeface="Droid Sans"/>
              <a:sym typeface="Droid Sans"/>
            </a:endParaRPr>
          </a:p>
          <a:p>
            <a:pPr indent="0" lvl="0" marL="0" rtl="0" algn="l">
              <a:lnSpc>
                <a:spcPct val="100000"/>
              </a:lnSpc>
              <a:spcBef>
                <a:spcPts val="100"/>
              </a:spcBef>
              <a:spcAft>
                <a:spcPts val="0"/>
              </a:spcAft>
              <a:buNone/>
            </a:pPr>
            <a:r>
              <a:t/>
            </a:r>
            <a:endParaRPr sz="100">
              <a:solidFill>
                <a:srgbClr val="434343"/>
              </a:solidFill>
              <a:latin typeface="Roboto Mono"/>
              <a:ea typeface="Roboto Mono"/>
              <a:cs typeface="Roboto Mono"/>
              <a:sym typeface="Roboto Mono"/>
            </a:endParaRPr>
          </a:p>
          <a:p>
            <a:pPr indent="0" lvl="0" marL="0" rtl="0" algn="l">
              <a:lnSpc>
                <a:spcPct val="100000"/>
              </a:lnSpc>
              <a:spcBef>
                <a:spcPts val="100"/>
              </a:spcBef>
              <a:spcAft>
                <a:spcPts val="0"/>
              </a:spcAft>
              <a:buNone/>
            </a:pPr>
            <a:r>
              <a:rPr lang="en" sz="1200">
                <a:solidFill>
                  <a:srgbClr val="434343"/>
                </a:solidFill>
                <a:latin typeface="Droid Sans"/>
                <a:ea typeface="Droid Sans"/>
                <a:cs typeface="Droid Sans"/>
                <a:sym typeface="Droid Sans"/>
              </a:rPr>
              <a:t>You have all wondered who we are, and </a:t>
            </a:r>
            <a:r>
              <a:rPr b="1" lang="en" sz="1200">
                <a:solidFill>
                  <a:srgbClr val="434343"/>
                </a:solidFill>
                <a:latin typeface="Droid Sans"/>
                <a:ea typeface="Droid Sans"/>
                <a:cs typeface="Droid Sans"/>
                <a:sym typeface="Droid Sans"/>
              </a:rPr>
              <a:t>so we shall now tell you</a:t>
            </a:r>
            <a:r>
              <a:rPr lang="en" sz="1200">
                <a:solidFill>
                  <a:srgbClr val="434343"/>
                </a:solidFill>
                <a:latin typeface="Droid Sans"/>
                <a:ea typeface="Droid Sans"/>
                <a:cs typeface="Droid Sans"/>
                <a:sym typeface="Droid Sans"/>
              </a:rPr>
              <a:t> : </a:t>
            </a:r>
            <a:r>
              <a:rPr b="1" lang="en" sz="1200">
                <a:solidFill>
                  <a:srgbClr val="434343"/>
                </a:solidFill>
                <a:latin typeface="Droid Sans"/>
                <a:ea typeface="Droid Sans"/>
                <a:cs typeface="Droid Sans"/>
                <a:sym typeface="Droid Sans"/>
              </a:rPr>
              <a:t>We are an international</a:t>
            </a:r>
            <a:endParaRPr b="1"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b="1" lang="en" sz="1200">
                <a:solidFill>
                  <a:srgbClr val="434343"/>
                </a:solidFill>
                <a:latin typeface="Droid Sans"/>
                <a:ea typeface="Droid Sans"/>
                <a:cs typeface="Droid Sans"/>
                <a:sym typeface="Droid Sans"/>
              </a:rPr>
              <a:t>group</a:t>
            </a:r>
            <a:r>
              <a:rPr lang="en" sz="1200">
                <a:solidFill>
                  <a:srgbClr val="434343"/>
                </a:solidFill>
                <a:latin typeface="Droid Sans"/>
                <a:ea typeface="Droid Sans"/>
                <a:cs typeface="Droid Sans"/>
                <a:sym typeface="Droid Sans"/>
              </a:rPr>
              <a:t>.  We have no name.  We have no symbol.  We have no membership rosters.  </a:t>
            </a:r>
            <a:r>
              <a:rPr b="1" lang="en" sz="1200">
                <a:solidFill>
                  <a:srgbClr val="434343"/>
                </a:solidFill>
                <a:latin typeface="Droid Sans"/>
                <a:ea typeface="Droid Sans"/>
                <a:cs typeface="Droid Sans"/>
                <a:sym typeface="Droid Sans"/>
              </a:rPr>
              <a:t>We do not</a:t>
            </a:r>
            <a:endParaRPr b="1"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b="1" lang="en" sz="1200">
                <a:solidFill>
                  <a:srgbClr val="434343"/>
                </a:solidFill>
                <a:latin typeface="Droid Sans"/>
                <a:ea typeface="Droid Sans"/>
                <a:cs typeface="Droid Sans"/>
                <a:sym typeface="Droid Sans"/>
              </a:rPr>
              <a:t>have a public website, and we do not advertise ourselves.</a:t>
            </a:r>
            <a:r>
              <a:rPr lang="en" sz="1200">
                <a:solidFill>
                  <a:srgbClr val="434343"/>
                </a:solidFill>
                <a:latin typeface="Droid Sans"/>
                <a:ea typeface="Droid Sans"/>
                <a:cs typeface="Droid Sans"/>
                <a:sym typeface="Droid Sans"/>
              </a:rPr>
              <a:t>  We are a group of individuals</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who have proven ourselves.  Much like you have by completing this recruitment contest.</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And we are drawn together by common beliefs.  A careful reading of the texts used in</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the contest would have revealed some of these beliefs : that tyranny and oppression</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of any kind must end; that censorship is wrong; and that privacy is an inalienable right.</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t/>
            </a:r>
            <a:endParaRPr sz="5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b="1" lang="en" sz="1200">
                <a:solidFill>
                  <a:srgbClr val="434343"/>
                </a:solidFill>
                <a:latin typeface="Droid Sans"/>
                <a:ea typeface="Droid Sans"/>
                <a:cs typeface="Droid Sans"/>
                <a:sym typeface="Droid Sans"/>
              </a:rPr>
              <a:t>We are not a "hacker" group</a:t>
            </a:r>
            <a:r>
              <a:rPr lang="en" sz="1200">
                <a:solidFill>
                  <a:srgbClr val="434343"/>
                </a:solidFill>
                <a:latin typeface="Droid Sans"/>
                <a:ea typeface="Droid Sans"/>
                <a:cs typeface="Droid Sans"/>
                <a:sym typeface="Droid Sans"/>
              </a:rPr>
              <a:t>.  Nor are we a "warez" group.  </a:t>
            </a:r>
            <a:r>
              <a:rPr b="1" lang="en" sz="1200">
                <a:solidFill>
                  <a:srgbClr val="434343"/>
                </a:solidFill>
                <a:latin typeface="Droid Sans"/>
                <a:ea typeface="Droid Sans"/>
                <a:cs typeface="Droid Sans"/>
                <a:sym typeface="Droid Sans"/>
              </a:rPr>
              <a:t>We do not engage in illegal</a:t>
            </a:r>
            <a:endParaRPr b="1"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b="1" lang="en" sz="1200">
                <a:solidFill>
                  <a:srgbClr val="434343"/>
                </a:solidFill>
                <a:latin typeface="Droid Sans"/>
                <a:ea typeface="Droid Sans"/>
                <a:cs typeface="Droid Sans"/>
                <a:sym typeface="Droid Sans"/>
              </a:rPr>
              <a:t>activity</a:t>
            </a:r>
            <a:r>
              <a:rPr lang="en" sz="1200">
                <a:solidFill>
                  <a:srgbClr val="434343"/>
                </a:solidFill>
                <a:latin typeface="Droid Sans"/>
                <a:ea typeface="Droid Sans"/>
                <a:cs typeface="Droid Sans"/>
                <a:sym typeface="Droid Sans"/>
              </a:rPr>
              <a:t>, nor do our members.  If you are engaged in illegal activity, we ask that you</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cease any and all illegal activities or decline membership at this time.  We will not</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ask questions if you decline; however, if you lie to us we will find out.</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t/>
            </a:r>
            <a:endParaRPr sz="5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You are undoubtedly wondering what it is that we do.  </a:t>
            </a:r>
            <a:r>
              <a:rPr b="1" lang="en" sz="1200">
                <a:solidFill>
                  <a:srgbClr val="434343"/>
                </a:solidFill>
                <a:latin typeface="Droid Sans"/>
                <a:ea typeface="Droid Sans"/>
                <a:cs typeface="Droid Sans"/>
                <a:sym typeface="Droid Sans"/>
              </a:rPr>
              <a:t>We are much like a "Think Tank"</a:t>
            </a:r>
            <a:r>
              <a:rPr lang="en" sz="1200">
                <a:solidFill>
                  <a:srgbClr val="434343"/>
                </a:solidFill>
                <a:latin typeface="Droid Sans"/>
                <a:ea typeface="Droid Sans"/>
                <a:cs typeface="Droid Sans"/>
                <a:sym typeface="Droid Sans"/>
              </a:rPr>
              <a:t> in</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that our primary focus is on researching and developing techniques to aid the ideas we</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advocate : </a:t>
            </a:r>
            <a:r>
              <a:rPr b="1" lang="en" sz="1200">
                <a:solidFill>
                  <a:srgbClr val="434343"/>
                </a:solidFill>
                <a:latin typeface="Droid Sans"/>
                <a:ea typeface="Droid Sans"/>
                <a:cs typeface="Droid Sans"/>
                <a:sym typeface="Droid Sans"/>
              </a:rPr>
              <a:t>liberty, privacy, security</a:t>
            </a:r>
            <a:r>
              <a:rPr lang="en" sz="1200">
                <a:solidFill>
                  <a:srgbClr val="434343"/>
                </a:solidFill>
                <a:latin typeface="Droid Sans"/>
                <a:ea typeface="Droid Sans"/>
                <a:cs typeface="Droid Sans"/>
                <a:sym typeface="Droid Sans"/>
              </a:rPr>
              <a:t>.  You have undoubtedly heard of a few of our past</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projects.  And if you choose to accept membership, we are happy to have you on board to</a:t>
            </a:r>
            <a:endParaRPr sz="1200">
              <a:solidFill>
                <a:srgbClr val="434343"/>
              </a:solidFill>
              <a:latin typeface="Droid Sans"/>
              <a:ea typeface="Droid Sans"/>
              <a:cs typeface="Droid Sans"/>
              <a:sym typeface="Droid Sans"/>
            </a:endParaRPr>
          </a:p>
          <a:p>
            <a:pPr indent="0" lvl="0" marL="0" rtl="0" algn="l">
              <a:lnSpc>
                <a:spcPct val="100000"/>
              </a:lnSpc>
              <a:spcBef>
                <a:spcPts val="0"/>
              </a:spcBef>
              <a:spcAft>
                <a:spcPts val="0"/>
              </a:spcAft>
              <a:buNone/>
            </a:pPr>
            <a:r>
              <a:rPr lang="en" sz="1200">
                <a:solidFill>
                  <a:srgbClr val="434343"/>
                </a:solidFill>
                <a:latin typeface="Droid Sans"/>
                <a:ea typeface="Droid Sans"/>
                <a:cs typeface="Droid Sans"/>
                <a:sym typeface="Droid Sans"/>
              </a:rPr>
              <a:t>help with future projects.</a:t>
            </a:r>
            <a:endParaRPr sz="1200">
              <a:solidFill>
                <a:srgbClr val="434343"/>
              </a:solidFill>
              <a:latin typeface="Droid Sans"/>
              <a:ea typeface="Droid Sans"/>
              <a:cs typeface="Droid Sans"/>
              <a:sym typeface="Droid Sans"/>
            </a:endParaRPr>
          </a:p>
        </p:txBody>
      </p:sp>
      <p:sp>
        <p:nvSpPr>
          <p:cNvPr id="85" name="Google Shape;85;p17"/>
          <p:cNvSpPr/>
          <p:nvPr/>
        </p:nvSpPr>
        <p:spPr>
          <a:xfrm>
            <a:off x="1629150" y="1429300"/>
            <a:ext cx="3588300" cy="2497200"/>
          </a:xfrm>
          <a:prstGeom prst="rect">
            <a:avLst/>
          </a:prstGeom>
          <a:solidFill>
            <a:srgbClr val="FFFFFF">
              <a:alpha val="713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txBox="1"/>
          <p:nvPr>
            <p:ph type="title"/>
          </p:nvPr>
        </p:nvSpPr>
        <p:spPr>
          <a:xfrm>
            <a:off x="2247150" y="1932400"/>
            <a:ext cx="2352300" cy="1491000"/>
          </a:xfrm>
          <a:prstGeom prst="rect">
            <a:avLst/>
          </a:prstGeom>
          <a:solidFill>
            <a:srgbClr val="FFFFFF">
              <a:alpha val="47730"/>
            </a:srgbClr>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2F2F2F"/>
                </a:solidFill>
                <a:latin typeface="Tahoma"/>
                <a:ea typeface="Tahoma"/>
                <a:cs typeface="Tahoma"/>
                <a:sym typeface="Tahoma"/>
              </a:rPr>
              <a:t>The Leaked Email</a:t>
            </a:r>
            <a:endParaRPr>
              <a:solidFill>
                <a:srgbClr val="2F2F2F"/>
              </a:solidFill>
              <a:latin typeface="Tahoma"/>
              <a:ea typeface="Tahoma"/>
              <a:cs typeface="Tahoma"/>
              <a:sym typeface="Tahoma"/>
            </a:endParaRPr>
          </a:p>
        </p:txBody>
      </p:sp>
      <p:sp>
        <p:nvSpPr>
          <p:cNvPr id="87" name="Google Shape;87;p17"/>
          <p:cNvSpPr txBox="1"/>
          <p:nvPr>
            <p:ph idx="1" type="body"/>
          </p:nvPr>
        </p:nvSpPr>
        <p:spPr>
          <a:xfrm>
            <a:off x="7075175" y="2968475"/>
            <a:ext cx="2068800" cy="2301000"/>
          </a:xfrm>
          <a:prstGeom prst="rect">
            <a:avLst/>
          </a:prstGeom>
        </p:spPr>
        <p:txBody>
          <a:bodyPr anchorCtr="0" anchor="t" bIns="91425" lIns="91425" spcFirstLastPara="1" rIns="91425" wrap="square" tIns="91425">
            <a:normAutofit fontScale="25000"/>
          </a:bodyPr>
          <a:lstStyle/>
          <a:p>
            <a:pPr indent="0" lvl="0" marL="0" rtl="0" algn="l">
              <a:lnSpc>
                <a:spcPct val="100000"/>
              </a:lnSpc>
              <a:spcBef>
                <a:spcPts val="0"/>
              </a:spcBef>
              <a:spcAft>
                <a:spcPts val="0"/>
              </a:spcAft>
              <a:buNone/>
            </a:pPr>
            <a:r>
              <a:rPr lang="en" sz="5410">
                <a:latin typeface="Roboto Mono"/>
                <a:ea typeface="Roboto Mono"/>
                <a:cs typeface="Roboto Mono"/>
                <a:sym typeface="Roboto Mono"/>
              </a:rPr>
              <a:t>We look forward to hearing from you.</a:t>
            </a:r>
            <a:endParaRPr sz="5410">
              <a:latin typeface="Roboto Mono"/>
              <a:ea typeface="Roboto Mono"/>
              <a:cs typeface="Roboto Mono"/>
              <a:sym typeface="Roboto Mono"/>
            </a:endParaRPr>
          </a:p>
          <a:p>
            <a:pPr indent="0" lvl="0" marL="0" rtl="0" algn="l">
              <a:lnSpc>
                <a:spcPct val="100000"/>
              </a:lnSpc>
              <a:spcBef>
                <a:spcPts val="100"/>
              </a:spcBef>
              <a:spcAft>
                <a:spcPts val="0"/>
              </a:spcAft>
              <a:buNone/>
            </a:pPr>
            <a:r>
              <a:t/>
            </a:r>
            <a:endParaRPr sz="5410">
              <a:latin typeface="Roboto Mono"/>
              <a:ea typeface="Roboto Mono"/>
              <a:cs typeface="Roboto Mono"/>
              <a:sym typeface="Roboto Mono"/>
            </a:endParaRPr>
          </a:p>
          <a:p>
            <a:pPr indent="0" lvl="0" marL="0" rtl="0" algn="l">
              <a:lnSpc>
                <a:spcPct val="100000"/>
              </a:lnSpc>
              <a:spcBef>
                <a:spcPts val="100"/>
              </a:spcBef>
              <a:spcAft>
                <a:spcPts val="0"/>
              </a:spcAft>
              <a:buNone/>
            </a:pPr>
            <a:r>
              <a:rPr lang="en" sz="5410">
                <a:latin typeface="Roboto Mono"/>
                <a:ea typeface="Roboto Mono"/>
                <a:cs typeface="Roboto Mono"/>
                <a:sym typeface="Roboto Mono"/>
              </a:rPr>
              <a:t>3301</a:t>
            </a:r>
            <a:endParaRPr sz="5410">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-----BEGIN PGP SIGNATURE-----</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Version: GnuPG v1.4.11 (GNU/Linux)</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iQIcBAEBAgAGBQJRMuCKAAoJEBgfAeV6NQkPjCoQALzk/jfmJQbuGxu4jI++cR77</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hJiE9yOhTgNeDcKPNYv5xBbJJEKrvd35dZ2YhKG672Z7Zf2Y+1LkoNRtkqyFFHRX</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mKASfYYFMg7kyL5+kNxe5EZvgECAC2lADhmI0cFxsWgnWEXO/KE++raJDJ3jBzW5</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hwscmD0g/KpieZTONwLRmdOj6VRjKrBzVeQilxdaqXD9Np4/t3+SwoAjLvQeVmzK</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9etICCa1OcycnQhr+LgBLOTgAw7qMfLMIISxahAxKpCOxQSeN/rph9PAgm/oumy4</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5NOaomDlHTVwTx2jzeFnd+vvFU9xYatun3RyBwOpmwTukEjDG3ze/IsSEQ/OV/bP</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j8d19uPMX69Tg/TogJSDRv4R2o5ASq0pXoI/OcJ/mBTEsP0ks2A0t+jw6uuT0HAi</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k2EsQBBVZFAPxMPVUwLs8iZurqLCkSeXnGYOElspm8RVAY+9r1GSNjo3QkoTJSPy</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Yx9CHzVzD6z3RRHHAgkf2tQsadRS5qxijaBEV64J/JLl8qKzf4tqXVoL4rV4FkrN</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VAABvpAjbZTWtu7VJJkvJhPseL8HJjcvdCadMElKZ6paaIj45mfYeIov0mbbCDQH</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m7ZzOdWqmEOIXfMsCoAGlqd7wY0DAsLhxmH3ks/wkURf+/qboFuZO9y5mEoaj6xO</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vJB0iPO0eCsuOQCbn6rr</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=e3lt</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rPr lang="en">
                <a:latin typeface="Roboto Mono"/>
                <a:ea typeface="Roboto Mono"/>
                <a:cs typeface="Roboto Mono"/>
                <a:sym typeface="Roboto Mono"/>
              </a:rPr>
              <a:t>-----END PGP SIGNATURE-----</a:t>
            </a:r>
            <a:endParaRPr>
              <a:latin typeface="Roboto Mono"/>
              <a:ea typeface="Roboto Mono"/>
              <a:cs typeface="Roboto Mono"/>
              <a:sym typeface="Roboto Mono"/>
            </a:endParaRPr>
          </a:p>
          <a:p>
            <a:pPr indent="0" lvl="0" marL="0" rtl="0" algn="l">
              <a:lnSpc>
                <a:spcPct val="100000"/>
              </a:lnSpc>
              <a:spcBef>
                <a:spcPts val="100"/>
              </a:spcBef>
              <a:spcAft>
                <a:spcPts val="0"/>
              </a:spcAft>
              <a:buNone/>
            </a:pPr>
            <a:r>
              <a:t/>
            </a:r>
            <a:endParaRPr>
              <a:latin typeface="Roboto Mono"/>
              <a:ea typeface="Roboto Mono"/>
              <a:cs typeface="Roboto Mono"/>
              <a:sym typeface="Roboto Mono"/>
            </a:endParaRPr>
          </a:p>
          <a:p>
            <a:pPr indent="0" lvl="0" marL="0" rtl="0" algn="l">
              <a:spcBef>
                <a:spcPts val="100"/>
              </a:spcBef>
              <a:spcAft>
                <a:spcPts val="1200"/>
              </a:spcAft>
              <a:buNone/>
            </a:pPr>
            <a:r>
              <a:t/>
            </a:r>
            <a:endParaRPr/>
          </a:p>
        </p:txBody>
      </p:sp>
      <p:cxnSp>
        <p:nvCxnSpPr>
          <p:cNvPr id="88" name="Google Shape;88;p17"/>
          <p:cNvCxnSpPr/>
          <p:nvPr/>
        </p:nvCxnSpPr>
        <p:spPr>
          <a:xfrm>
            <a:off x="7030900" y="399575"/>
            <a:ext cx="4500" cy="4470600"/>
          </a:xfrm>
          <a:prstGeom prst="straightConnector1">
            <a:avLst/>
          </a:prstGeom>
          <a:noFill/>
          <a:ln cap="flat" cmpd="sng" w="9525">
            <a:solidFill>
              <a:schemeClr val="dk1"/>
            </a:solidFill>
            <a:prstDash val="solid"/>
            <a:round/>
            <a:headEnd len="med" w="med" type="none"/>
            <a:tailEnd len="med" w="med" type="none"/>
          </a:ln>
        </p:spPr>
      </p:cxnSp>
      <p:pic>
        <p:nvPicPr>
          <p:cNvPr id="89" name="Google Shape;89;p17"/>
          <p:cNvPicPr preferRelativeResize="0"/>
          <p:nvPr/>
        </p:nvPicPr>
        <p:blipFill>
          <a:blip r:embed="rId3">
            <a:alphaModFix/>
          </a:blip>
          <a:stretch>
            <a:fillRect/>
          </a:stretch>
        </p:blipFill>
        <p:spPr>
          <a:xfrm rot="5400000">
            <a:off x="7075176" y="170900"/>
            <a:ext cx="1992799" cy="1992799"/>
          </a:xfrm>
          <a:prstGeom prst="rect">
            <a:avLst/>
          </a:prstGeom>
          <a:noFill/>
          <a:ln>
            <a:noFill/>
          </a:ln>
        </p:spPr>
      </p:pic>
      <p:sp>
        <p:nvSpPr>
          <p:cNvPr id="90" name="Google Shape;90;p17"/>
          <p:cNvSpPr txBox="1"/>
          <p:nvPr/>
        </p:nvSpPr>
        <p:spPr>
          <a:xfrm>
            <a:off x="75525" y="1268775"/>
            <a:ext cx="939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solidFill>
                  <a:schemeClr val="dk1"/>
                </a:solidFill>
                <a:latin typeface="Times New Roman"/>
                <a:ea typeface="Times New Roman"/>
                <a:cs typeface="Times New Roman"/>
                <a:sym typeface="Times New Roman"/>
              </a:rPr>
              <a:t>“</a:t>
            </a:r>
            <a:endParaRPr sz="6000">
              <a:solidFill>
                <a:schemeClr val="dk1"/>
              </a:solidFill>
              <a:latin typeface="Times New Roman"/>
              <a:ea typeface="Times New Roman"/>
              <a:cs typeface="Times New Roman"/>
              <a:sym typeface="Times New Roman"/>
            </a:endParaRPr>
          </a:p>
        </p:txBody>
      </p:sp>
      <p:sp>
        <p:nvSpPr>
          <p:cNvPr id="91" name="Google Shape;91;p17"/>
          <p:cNvSpPr txBox="1"/>
          <p:nvPr/>
        </p:nvSpPr>
        <p:spPr>
          <a:xfrm rot="10800000">
            <a:off x="6019500" y="4220025"/>
            <a:ext cx="939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solidFill>
                  <a:schemeClr val="dk1"/>
                </a:solidFill>
                <a:latin typeface="Times New Roman"/>
                <a:ea typeface="Times New Roman"/>
                <a:cs typeface="Times New Roman"/>
                <a:sym typeface="Times New Roman"/>
              </a:rPr>
              <a:t>“</a:t>
            </a:r>
            <a:endParaRPr sz="6000">
              <a:solidFill>
                <a:schemeClr val="dk1"/>
              </a:solidFill>
              <a:latin typeface="Times New Roman"/>
              <a:ea typeface="Times New Roman"/>
              <a:cs typeface="Times New Roman"/>
              <a:sym typeface="Times New Roman"/>
            </a:endParaRPr>
          </a:p>
        </p:txBody>
      </p:sp>
      <p:sp>
        <p:nvSpPr>
          <p:cNvPr id="92" name="Google Shape;92;p17"/>
          <p:cNvSpPr txBox="1"/>
          <p:nvPr/>
        </p:nvSpPr>
        <p:spPr>
          <a:xfrm>
            <a:off x="7166325" y="2163700"/>
            <a:ext cx="1810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Read it here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Key Points From The Leaked Email</a:t>
            </a:r>
            <a:endParaRPr>
              <a:latin typeface="Tahoma"/>
              <a:ea typeface="Tahoma"/>
              <a:cs typeface="Tahoma"/>
              <a:sym typeface="Tahoma"/>
            </a:endParaRPr>
          </a:p>
        </p:txBody>
      </p:sp>
      <p:sp>
        <p:nvSpPr>
          <p:cNvPr id="98" name="Google Shape;98;p18"/>
          <p:cNvSpPr txBox="1"/>
          <p:nvPr>
            <p:ph idx="1" type="body"/>
          </p:nvPr>
        </p:nvSpPr>
        <p:spPr>
          <a:xfrm>
            <a:off x="311700" y="1727100"/>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b="1"/>
          </a:p>
          <a:p>
            <a:pPr indent="-342900" lvl="0" marL="457200" rtl="0" algn="l">
              <a:lnSpc>
                <a:spcPct val="150000"/>
              </a:lnSpc>
              <a:spcBef>
                <a:spcPts val="0"/>
              </a:spcBef>
              <a:spcAft>
                <a:spcPts val="0"/>
              </a:spcAft>
              <a:buSzPts val="1800"/>
              <a:buChar char="●"/>
            </a:pPr>
            <a:r>
              <a:rPr lang="en"/>
              <a:t>“We are an </a:t>
            </a:r>
            <a:r>
              <a:rPr b="1" lang="en">
                <a:solidFill>
                  <a:srgbClr val="CCCCCC"/>
                </a:solidFill>
              </a:rPr>
              <a:t>international</a:t>
            </a:r>
            <a:r>
              <a:rPr lang="en"/>
              <a:t> group.”</a:t>
            </a:r>
            <a:endParaRPr/>
          </a:p>
          <a:p>
            <a:pPr indent="-342900" lvl="0" marL="457200" rtl="0" algn="l">
              <a:lnSpc>
                <a:spcPct val="150000"/>
              </a:lnSpc>
              <a:spcBef>
                <a:spcPts val="0"/>
              </a:spcBef>
              <a:spcAft>
                <a:spcPts val="0"/>
              </a:spcAft>
              <a:buSzPts val="1800"/>
              <a:buChar char="●"/>
            </a:pPr>
            <a:r>
              <a:rPr lang="en"/>
              <a:t>“We are drawn together by common beliefs … </a:t>
            </a:r>
            <a:r>
              <a:rPr b="1" lang="en">
                <a:solidFill>
                  <a:srgbClr val="CCCCCC"/>
                </a:solidFill>
              </a:rPr>
              <a:t>censorship</a:t>
            </a:r>
            <a:r>
              <a:rPr lang="en"/>
              <a:t> is wrong and ... </a:t>
            </a:r>
            <a:r>
              <a:rPr b="1" lang="en">
                <a:solidFill>
                  <a:srgbClr val="CCCCCC"/>
                </a:solidFill>
              </a:rPr>
              <a:t>privacy</a:t>
            </a:r>
            <a:r>
              <a:rPr lang="en"/>
              <a:t> is an inalienable right.”</a:t>
            </a:r>
            <a:endParaRPr/>
          </a:p>
          <a:p>
            <a:pPr indent="-342900" lvl="0" marL="457200" rtl="0" algn="l">
              <a:lnSpc>
                <a:spcPct val="150000"/>
              </a:lnSpc>
              <a:spcBef>
                <a:spcPts val="0"/>
              </a:spcBef>
              <a:spcAft>
                <a:spcPts val="0"/>
              </a:spcAft>
              <a:buSzPts val="1800"/>
              <a:buChar char="●"/>
            </a:pPr>
            <a:r>
              <a:rPr lang="en"/>
              <a:t>“We are much like a </a:t>
            </a:r>
            <a:r>
              <a:rPr b="1" lang="en">
                <a:solidFill>
                  <a:srgbClr val="CCCCCC"/>
                </a:solidFill>
              </a:rPr>
              <a:t>think tank</a:t>
            </a:r>
            <a:r>
              <a:rPr lang="en"/>
              <a:t>”</a:t>
            </a:r>
            <a:endParaRPr/>
          </a:p>
          <a:p>
            <a:pPr indent="-342900" lvl="0" marL="457200" marR="0" rtl="0" algn="l">
              <a:lnSpc>
                <a:spcPct val="150000"/>
              </a:lnSpc>
              <a:spcBef>
                <a:spcPts val="0"/>
              </a:spcBef>
              <a:spcAft>
                <a:spcPts val="0"/>
              </a:spcAft>
              <a:buSzPts val="1800"/>
              <a:buChar char="●"/>
            </a:pPr>
            <a:r>
              <a:rPr lang="en"/>
              <a:t>“The ideas we advocate: </a:t>
            </a:r>
            <a:r>
              <a:rPr b="1" lang="en">
                <a:solidFill>
                  <a:srgbClr val="CCCCCC"/>
                </a:solidFill>
              </a:rPr>
              <a:t>Liberty</a:t>
            </a:r>
            <a:r>
              <a:rPr lang="en"/>
              <a:t>, </a:t>
            </a:r>
            <a:r>
              <a:rPr b="1" lang="en">
                <a:solidFill>
                  <a:srgbClr val="CCCCCC"/>
                </a:solidFill>
              </a:rPr>
              <a:t>Privacy</a:t>
            </a:r>
            <a:r>
              <a:rPr lang="en"/>
              <a:t>, </a:t>
            </a:r>
            <a:r>
              <a:rPr b="1" lang="en">
                <a:solidFill>
                  <a:srgbClr val="CCCCCC"/>
                </a:solidFill>
              </a:rPr>
              <a:t>Security</a:t>
            </a:r>
            <a:r>
              <a:rPr lang="en"/>
              <a:t>”</a:t>
            </a:r>
            <a:endParaRPr/>
          </a:p>
          <a:p>
            <a:pPr indent="0" lvl="0" marL="0" rtl="0" algn="l">
              <a:lnSpc>
                <a:spcPct val="150000"/>
              </a:lnSpc>
              <a:spcBef>
                <a:spcPts val="0"/>
              </a:spcBef>
              <a:spcAft>
                <a:spcPts val="0"/>
              </a:spcAft>
              <a:buNone/>
            </a:pPr>
            <a:r>
              <a:t/>
            </a:r>
            <a:endParaRPr sz="1400"/>
          </a:p>
          <a:p>
            <a:pPr indent="0" lvl="0" marL="0" rtl="0" algn="l">
              <a:lnSpc>
                <a:spcPct val="150000"/>
              </a:lnSpc>
              <a:spcBef>
                <a:spcPts val="0"/>
              </a:spcBef>
              <a:spcAft>
                <a:spcPts val="1200"/>
              </a:spcAft>
              <a:buNone/>
            </a:pPr>
            <a:r>
              <a:t/>
            </a:r>
            <a:endParaRPr/>
          </a:p>
        </p:txBody>
      </p:sp>
      <p:pic>
        <p:nvPicPr>
          <p:cNvPr id="99" name="Google Shape;99;p18"/>
          <p:cNvPicPr preferRelativeResize="0"/>
          <p:nvPr/>
        </p:nvPicPr>
        <p:blipFill>
          <a:blip r:embed="rId3">
            <a:alphaModFix/>
          </a:blip>
          <a:stretch>
            <a:fillRect/>
          </a:stretch>
        </p:blipFill>
        <p:spPr>
          <a:xfrm rot="5400000">
            <a:off x="7075176" y="170900"/>
            <a:ext cx="1992799" cy="1992799"/>
          </a:xfrm>
          <a:prstGeom prst="rect">
            <a:avLst/>
          </a:prstGeom>
          <a:noFill/>
          <a:ln>
            <a:noFill/>
          </a:ln>
        </p:spPr>
      </p:pic>
      <p:sp>
        <p:nvSpPr>
          <p:cNvPr id="100" name="Google Shape;100;p18"/>
          <p:cNvSpPr txBox="1"/>
          <p:nvPr/>
        </p:nvSpPr>
        <p:spPr>
          <a:xfrm>
            <a:off x="7481475" y="2163700"/>
            <a:ext cx="118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Read it here</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Similarities with Cypherpunk Philosophies </a:t>
            </a:r>
            <a:endParaRPr>
              <a:latin typeface="Tahoma"/>
              <a:ea typeface="Tahoma"/>
              <a:cs typeface="Tahoma"/>
              <a:sym typeface="Tahoma"/>
            </a:endParaRPr>
          </a:p>
        </p:txBody>
      </p:sp>
      <p:sp>
        <p:nvSpPr>
          <p:cNvPr id="106" name="Google Shape;10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u="sng"/>
              <a:t>Cypherpunk Mindset</a:t>
            </a:r>
            <a:r>
              <a:rPr lang="en" sz="1700"/>
              <a:t> - “Privacy is necessary for an open society in the electronic age…freedom of speech, even more than privacy, is fundamental to an open society…Privacy in an open society also requires cryptography…Cypherpunks deplore regulations on cryptography, for encryption is fundamentally a private act…” - </a:t>
            </a:r>
            <a:r>
              <a:rPr b="1" lang="en" sz="1700"/>
              <a:t>Eric Hughes Cypherpunk Manifesto</a:t>
            </a:r>
            <a:endParaRPr b="1" sz="1700"/>
          </a:p>
          <a:p>
            <a:pPr indent="0" lvl="0" marL="457200" rtl="0" algn="l">
              <a:spcBef>
                <a:spcPts val="0"/>
              </a:spcBef>
              <a:spcAft>
                <a:spcPts val="0"/>
              </a:spcAft>
              <a:buNone/>
            </a:pPr>
            <a:r>
              <a:t/>
            </a:r>
            <a:endParaRPr sz="1700"/>
          </a:p>
          <a:p>
            <a:pPr indent="0" lvl="0" marL="0" rtl="0" algn="l">
              <a:spcBef>
                <a:spcPts val="0"/>
              </a:spcBef>
              <a:spcAft>
                <a:spcPts val="0"/>
              </a:spcAft>
              <a:buNone/>
            </a:pPr>
            <a:r>
              <a:rPr lang="en" sz="1700"/>
              <a:t>“For privacy to be widespread it must be part of a social contract. People must come and together deploy these systems for the common good. Privacy only extends so far as the cooperation of one's fellows in society.”</a:t>
            </a:r>
            <a:endParaRPr sz="1700"/>
          </a:p>
          <a:p>
            <a:pPr indent="-336550" lvl="1" marL="914400" rtl="0" algn="l">
              <a:spcBef>
                <a:spcPts val="0"/>
              </a:spcBef>
              <a:spcAft>
                <a:spcPts val="0"/>
              </a:spcAft>
              <a:buSzPts val="1700"/>
              <a:buChar char="○"/>
            </a:pPr>
            <a:r>
              <a:rPr lang="en" sz="1700"/>
              <a:t>3301’s puzzles actively extend the range of people deploying privacy ensuring systems</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Puzzle Timeline  </a:t>
            </a:r>
            <a:endParaRPr>
              <a:latin typeface="Tahoma"/>
              <a:ea typeface="Tahoma"/>
              <a:cs typeface="Tahoma"/>
              <a:sym typeface="Tahoma"/>
            </a:endParaRPr>
          </a:p>
        </p:txBody>
      </p:sp>
      <p:grpSp>
        <p:nvGrpSpPr>
          <p:cNvPr id="112" name="Google Shape;112;p20"/>
          <p:cNvGrpSpPr/>
          <p:nvPr/>
        </p:nvGrpSpPr>
        <p:grpSpPr>
          <a:xfrm>
            <a:off x="5434750" y="1017725"/>
            <a:ext cx="3100175" cy="2369775"/>
            <a:chOff x="4526688" y="1605159"/>
            <a:chExt cx="2480140" cy="1895820"/>
          </a:xfrm>
        </p:grpSpPr>
        <p:sp>
          <p:nvSpPr>
            <p:cNvPr id="113" name="Google Shape;113;p20"/>
            <p:cNvSpPr/>
            <p:nvPr/>
          </p:nvSpPr>
          <p:spPr>
            <a:xfrm>
              <a:off x="4849302" y="3079475"/>
              <a:ext cx="1958400" cy="133500"/>
            </a:xfrm>
            <a:prstGeom prst="rect">
              <a:avLst/>
            </a:prstGeom>
            <a:solidFill>
              <a:srgbClr val="50505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20"/>
            <p:cNvGrpSpPr/>
            <p:nvPr/>
          </p:nvGrpSpPr>
          <p:grpSpPr>
            <a:xfrm>
              <a:off x="4526688" y="1605159"/>
              <a:ext cx="2480140" cy="1895820"/>
              <a:chOff x="4526688" y="1605159"/>
              <a:chExt cx="2480140" cy="1895820"/>
            </a:xfrm>
          </p:grpSpPr>
          <p:grpSp>
            <p:nvGrpSpPr>
              <p:cNvPr id="115" name="Google Shape;115;p20"/>
              <p:cNvGrpSpPr/>
              <p:nvPr/>
            </p:nvGrpSpPr>
            <p:grpSpPr>
              <a:xfrm>
                <a:off x="4808316" y="2800065"/>
                <a:ext cx="92400" cy="411825"/>
                <a:chOff x="845575" y="2563700"/>
                <a:chExt cx="92400" cy="411825"/>
              </a:xfrm>
            </p:grpSpPr>
            <p:cxnSp>
              <p:nvCxnSpPr>
                <p:cNvPr id="116" name="Google Shape;116;p20"/>
                <p:cNvCxnSpPr/>
                <p:nvPr/>
              </p:nvCxnSpPr>
              <p:spPr>
                <a:xfrm>
                  <a:off x="891775" y="2616125"/>
                  <a:ext cx="0" cy="359400"/>
                </a:xfrm>
                <a:prstGeom prst="straightConnector1">
                  <a:avLst/>
                </a:prstGeom>
                <a:noFill/>
                <a:ln cap="flat" cmpd="sng" w="9525">
                  <a:solidFill>
                    <a:schemeClr val="dk1"/>
                  </a:solidFill>
                  <a:prstDash val="solid"/>
                  <a:round/>
                  <a:headEnd len="sm" w="sm" type="none"/>
                  <a:tailEnd len="sm" w="sm" type="none"/>
                </a:ln>
              </p:spPr>
            </p:cxnSp>
            <p:sp>
              <p:nvSpPr>
                <p:cNvPr id="117" name="Google Shape;117;p20"/>
                <p:cNvSpPr/>
                <p:nvPr/>
              </p:nvSpPr>
              <p:spPr>
                <a:xfrm>
                  <a:off x="845575" y="2563700"/>
                  <a:ext cx="92400" cy="924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 name="Google Shape;118;p20"/>
              <p:cNvSpPr txBox="1"/>
              <p:nvPr/>
            </p:nvSpPr>
            <p:spPr>
              <a:xfrm>
                <a:off x="4526688" y="3212979"/>
                <a:ext cx="692700" cy="288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Roboto"/>
                    <a:ea typeface="Roboto"/>
                    <a:cs typeface="Roboto"/>
                    <a:sym typeface="Roboto"/>
                  </a:rPr>
                  <a:t>2014</a:t>
                </a:r>
                <a:endParaRPr b="1" sz="1200">
                  <a:solidFill>
                    <a:schemeClr val="dk1"/>
                  </a:solidFill>
                  <a:latin typeface="Roboto"/>
                  <a:ea typeface="Roboto"/>
                  <a:cs typeface="Roboto"/>
                  <a:sym typeface="Roboto"/>
                </a:endParaRPr>
              </a:p>
            </p:txBody>
          </p:sp>
          <p:sp>
            <p:nvSpPr>
              <p:cNvPr id="119" name="Google Shape;119;p20"/>
              <p:cNvSpPr txBox="1"/>
              <p:nvPr/>
            </p:nvSpPr>
            <p:spPr>
              <a:xfrm>
                <a:off x="4753228" y="1605159"/>
                <a:ext cx="2253600" cy="118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The Publication of The Liber Primus</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17 pages of solved runes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Cracking RSA keys (again)</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Interconnectedness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58 page ‘LP2’</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deep web hash</a:t>
                </a:r>
                <a:endParaRPr sz="1200">
                  <a:solidFill>
                    <a:schemeClr val="dk1"/>
                  </a:solidFill>
                  <a:latin typeface="Roboto"/>
                  <a:ea typeface="Roboto"/>
                  <a:cs typeface="Roboto"/>
                  <a:sym typeface="Roboto"/>
                </a:endParaRPr>
              </a:p>
            </p:txBody>
          </p:sp>
        </p:grpSp>
      </p:grpSp>
      <p:grpSp>
        <p:nvGrpSpPr>
          <p:cNvPr id="120" name="Google Shape;120;p20"/>
          <p:cNvGrpSpPr/>
          <p:nvPr/>
        </p:nvGrpSpPr>
        <p:grpSpPr>
          <a:xfrm>
            <a:off x="396375" y="1017725"/>
            <a:ext cx="3225925" cy="2369775"/>
            <a:chOff x="495988" y="1605159"/>
            <a:chExt cx="2580740" cy="1895820"/>
          </a:xfrm>
        </p:grpSpPr>
        <p:sp>
          <p:nvSpPr>
            <p:cNvPr id="121" name="Google Shape;121;p20"/>
            <p:cNvSpPr/>
            <p:nvPr/>
          </p:nvSpPr>
          <p:spPr>
            <a:xfrm>
              <a:off x="932600" y="3079475"/>
              <a:ext cx="1958400" cy="133500"/>
            </a:xfrm>
            <a:prstGeom prst="rect">
              <a:avLst/>
            </a:prstGeom>
            <a:solidFill>
              <a:srgbClr val="50505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 name="Google Shape;122;p20"/>
            <p:cNvGrpSpPr/>
            <p:nvPr/>
          </p:nvGrpSpPr>
          <p:grpSpPr>
            <a:xfrm>
              <a:off x="495988" y="1605159"/>
              <a:ext cx="2580740" cy="1895820"/>
              <a:chOff x="495988" y="1605159"/>
              <a:chExt cx="2580740" cy="1895820"/>
            </a:xfrm>
          </p:grpSpPr>
          <p:sp>
            <p:nvSpPr>
              <p:cNvPr id="123" name="Google Shape;123;p20"/>
              <p:cNvSpPr txBox="1"/>
              <p:nvPr/>
            </p:nvSpPr>
            <p:spPr>
              <a:xfrm>
                <a:off x="495988" y="3212979"/>
                <a:ext cx="871200" cy="288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Roboto"/>
                    <a:ea typeface="Roboto"/>
                    <a:cs typeface="Roboto"/>
                    <a:sym typeface="Roboto"/>
                  </a:rPr>
                  <a:t>2012</a:t>
                </a:r>
                <a:endParaRPr b="1" sz="1200">
                  <a:solidFill>
                    <a:schemeClr val="dk1"/>
                  </a:solidFill>
                  <a:latin typeface="Roboto"/>
                  <a:ea typeface="Roboto"/>
                  <a:cs typeface="Roboto"/>
                  <a:sym typeface="Roboto"/>
                </a:endParaRPr>
              </a:p>
            </p:txBody>
          </p:sp>
          <p:grpSp>
            <p:nvGrpSpPr>
              <p:cNvPr id="124" name="Google Shape;124;p20"/>
              <p:cNvGrpSpPr/>
              <p:nvPr/>
            </p:nvGrpSpPr>
            <p:grpSpPr>
              <a:xfrm>
                <a:off x="881025" y="2800065"/>
                <a:ext cx="92400" cy="411825"/>
                <a:chOff x="845575" y="2563700"/>
                <a:chExt cx="92400" cy="411825"/>
              </a:xfrm>
            </p:grpSpPr>
            <p:cxnSp>
              <p:nvCxnSpPr>
                <p:cNvPr id="125" name="Google Shape;125;p20"/>
                <p:cNvCxnSpPr/>
                <p:nvPr/>
              </p:nvCxnSpPr>
              <p:spPr>
                <a:xfrm>
                  <a:off x="891775" y="2616125"/>
                  <a:ext cx="0" cy="359400"/>
                </a:xfrm>
                <a:prstGeom prst="straightConnector1">
                  <a:avLst/>
                </a:prstGeom>
                <a:noFill/>
                <a:ln cap="flat" cmpd="sng" w="9525">
                  <a:solidFill>
                    <a:schemeClr val="dk1"/>
                  </a:solidFill>
                  <a:prstDash val="solid"/>
                  <a:round/>
                  <a:headEnd len="sm" w="sm" type="none"/>
                  <a:tailEnd len="sm" w="sm" type="none"/>
                </a:ln>
              </p:spPr>
            </p:cxnSp>
            <p:sp>
              <p:nvSpPr>
                <p:cNvPr id="126" name="Google Shape;126;p20"/>
                <p:cNvSpPr/>
                <p:nvPr/>
              </p:nvSpPr>
              <p:spPr>
                <a:xfrm>
                  <a:off x="845575" y="2563700"/>
                  <a:ext cx="92400" cy="924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20"/>
              <p:cNvSpPr txBox="1"/>
              <p:nvPr/>
            </p:nvSpPr>
            <p:spPr>
              <a:xfrm>
                <a:off x="823128" y="1605159"/>
                <a:ext cx="2253600" cy="1188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The Grand Entrance</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8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PGP Signed messages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Hidden services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Phone numbers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Cracking RSA keys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Global Posters</a:t>
                </a:r>
                <a:endParaRPr sz="1200">
                  <a:solidFill>
                    <a:schemeClr val="dk1"/>
                  </a:solidFill>
                  <a:latin typeface="Roboto"/>
                  <a:ea typeface="Roboto"/>
                  <a:cs typeface="Roboto"/>
                  <a:sym typeface="Roboto"/>
                </a:endParaRPr>
              </a:p>
            </p:txBody>
          </p:sp>
        </p:grpSp>
      </p:grpSp>
      <p:grpSp>
        <p:nvGrpSpPr>
          <p:cNvPr id="128" name="Google Shape;128;p20"/>
          <p:cNvGrpSpPr/>
          <p:nvPr/>
        </p:nvGrpSpPr>
        <p:grpSpPr>
          <a:xfrm>
            <a:off x="2933375" y="2503800"/>
            <a:ext cx="3126700" cy="2522300"/>
            <a:chOff x="2525588" y="2794019"/>
            <a:chExt cx="2501360" cy="2017840"/>
          </a:xfrm>
        </p:grpSpPr>
        <p:sp>
          <p:nvSpPr>
            <p:cNvPr id="129" name="Google Shape;129;p20"/>
            <p:cNvSpPr/>
            <p:nvPr/>
          </p:nvSpPr>
          <p:spPr>
            <a:xfrm>
              <a:off x="2890952" y="3079475"/>
              <a:ext cx="1958400" cy="133500"/>
            </a:xfrm>
            <a:prstGeom prst="rect">
              <a:avLst/>
            </a:prstGeom>
            <a:solidFill>
              <a:srgbClr val="2F2F2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20"/>
            <p:cNvGrpSpPr/>
            <p:nvPr/>
          </p:nvGrpSpPr>
          <p:grpSpPr>
            <a:xfrm>
              <a:off x="2525588" y="2794019"/>
              <a:ext cx="2501360" cy="2017840"/>
              <a:chOff x="2525588" y="2794019"/>
              <a:chExt cx="2501360" cy="2017840"/>
            </a:xfrm>
          </p:grpSpPr>
          <p:sp>
            <p:nvSpPr>
              <p:cNvPr id="131" name="Google Shape;131;p20"/>
              <p:cNvSpPr txBox="1"/>
              <p:nvPr/>
            </p:nvSpPr>
            <p:spPr>
              <a:xfrm>
                <a:off x="2525588" y="2794019"/>
                <a:ext cx="745800" cy="28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Roboto"/>
                    <a:ea typeface="Roboto"/>
                    <a:cs typeface="Roboto"/>
                    <a:sym typeface="Roboto"/>
                  </a:rPr>
                  <a:t>2013</a:t>
                </a:r>
                <a:endParaRPr b="1" sz="1200">
                  <a:solidFill>
                    <a:schemeClr val="dk1"/>
                  </a:solidFill>
                  <a:latin typeface="Roboto"/>
                  <a:ea typeface="Roboto"/>
                  <a:cs typeface="Roboto"/>
                  <a:sym typeface="Roboto"/>
                </a:endParaRPr>
              </a:p>
            </p:txBody>
          </p:sp>
          <p:grpSp>
            <p:nvGrpSpPr>
              <p:cNvPr id="132" name="Google Shape;132;p20"/>
              <p:cNvGrpSpPr/>
              <p:nvPr/>
            </p:nvGrpSpPr>
            <p:grpSpPr>
              <a:xfrm rot="10800000">
                <a:off x="2849073" y="3079467"/>
                <a:ext cx="92400" cy="411825"/>
                <a:chOff x="2070100" y="2563700"/>
                <a:chExt cx="92400" cy="411825"/>
              </a:xfrm>
            </p:grpSpPr>
            <p:cxnSp>
              <p:nvCxnSpPr>
                <p:cNvPr id="133" name="Google Shape;133;p20"/>
                <p:cNvCxnSpPr/>
                <p:nvPr/>
              </p:nvCxnSpPr>
              <p:spPr>
                <a:xfrm>
                  <a:off x="2116300" y="2616125"/>
                  <a:ext cx="0" cy="359400"/>
                </a:xfrm>
                <a:prstGeom prst="straightConnector1">
                  <a:avLst/>
                </a:prstGeom>
                <a:noFill/>
                <a:ln cap="flat" cmpd="sng" w="9525">
                  <a:solidFill>
                    <a:schemeClr val="dk1"/>
                  </a:solidFill>
                  <a:prstDash val="solid"/>
                  <a:round/>
                  <a:headEnd len="sm" w="sm" type="none"/>
                  <a:tailEnd len="sm" w="sm" type="none"/>
                </a:ln>
              </p:spPr>
            </p:cxnSp>
            <p:sp>
              <p:nvSpPr>
                <p:cNvPr id="134" name="Google Shape;134;p20"/>
                <p:cNvSpPr/>
                <p:nvPr/>
              </p:nvSpPr>
              <p:spPr>
                <a:xfrm>
                  <a:off x="2070100" y="2563700"/>
                  <a:ext cx="92400" cy="924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 name="Google Shape;135;p20"/>
              <p:cNvSpPr txBox="1"/>
              <p:nvPr/>
            </p:nvSpPr>
            <p:spPr>
              <a:xfrm>
                <a:off x="2773348" y="3500859"/>
                <a:ext cx="2253600" cy="131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Round Two</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Instar Emergence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Gematria Primus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CicadaOS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Web </a:t>
                </a:r>
                <a:r>
                  <a:rPr lang="en" sz="1200">
                    <a:solidFill>
                      <a:schemeClr val="dk1"/>
                    </a:solidFill>
                    <a:latin typeface="Roboto"/>
                    <a:ea typeface="Roboto"/>
                    <a:cs typeface="Roboto"/>
                    <a:sym typeface="Roboto"/>
                  </a:rPr>
                  <a:t>console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Global posters (again)</a:t>
                </a:r>
                <a:endParaRPr sz="1200">
                  <a:solidFill>
                    <a:schemeClr val="dk1"/>
                  </a:solidFill>
                  <a:latin typeface="Roboto"/>
                  <a:ea typeface="Roboto"/>
                  <a:cs typeface="Roboto"/>
                  <a:sym typeface="Roboto"/>
                </a:endParaRPr>
              </a:p>
            </p:txBody>
          </p:sp>
        </p:grpSp>
      </p:grpSp>
      <p:grpSp>
        <p:nvGrpSpPr>
          <p:cNvPr id="136" name="Google Shape;136;p20"/>
          <p:cNvGrpSpPr/>
          <p:nvPr/>
        </p:nvGrpSpPr>
        <p:grpSpPr>
          <a:xfrm rot="10800000">
            <a:off x="8223834" y="2868285"/>
            <a:ext cx="115500" cy="514781"/>
            <a:chOff x="2070100" y="2563700"/>
            <a:chExt cx="92400" cy="411825"/>
          </a:xfrm>
        </p:grpSpPr>
        <p:cxnSp>
          <p:nvCxnSpPr>
            <p:cNvPr id="137" name="Google Shape;137;p20"/>
            <p:cNvCxnSpPr/>
            <p:nvPr/>
          </p:nvCxnSpPr>
          <p:spPr>
            <a:xfrm>
              <a:off x="2116300" y="2616125"/>
              <a:ext cx="0" cy="359400"/>
            </a:xfrm>
            <a:prstGeom prst="straightConnector1">
              <a:avLst/>
            </a:prstGeom>
            <a:noFill/>
            <a:ln cap="flat" cmpd="sng" w="9525">
              <a:solidFill>
                <a:schemeClr val="dk1"/>
              </a:solidFill>
              <a:prstDash val="solid"/>
              <a:round/>
              <a:headEnd len="sm" w="sm" type="none"/>
              <a:tailEnd len="sm" w="sm" type="none"/>
            </a:ln>
          </p:spPr>
        </p:cxnSp>
        <p:sp>
          <p:nvSpPr>
            <p:cNvPr id="138" name="Google Shape;138;p20"/>
            <p:cNvSpPr/>
            <p:nvPr/>
          </p:nvSpPr>
          <p:spPr>
            <a:xfrm>
              <a:off x="2070100" y="2563700"/>
              <a:ext cx="92400" cy="924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20"/>
          <p:cNvSpPr txBox="1"/>
          <p:nvPr/>
        </p:nvSpPr>
        <p:spPr>
          <a:xfrm>
            <a:off x="7815525" y="2503800"/>
            <a:ext cx="932100" cy="357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Roboto"/>
                <a:ea typeface="Roboto"/>
                <a:cs typeface="Roboto"/>
                <a:sym typeface="Roboto"/>
              </a:rPr>
              <a:t>Now</a:t>
            </a:r>
            <a:endParaRPr b="1" sz="1200">
              <a:solidFill>
                <a:schemeClr val="dk1"/>
              </a:solidFill>
              <a:latin typeface="Roboto"/>
              <a:ea typeface="Roboto"/>
              <a:cs typeface="Roboto"/>
              <a:sym typeface="Roboto"/>
            </a:endParaRPr>
          </a:p>
        </p:txBody>
      </p:sp>
      <p:pic>
        <p:nvPicPr>
          <p:cNvPr id="140" name="Google Shape;140;p20"/>
          <p:cNvPicPr preferRelativeResize="0"/>
          <p:nvPr/>
        </p:nvPicPr>
        <p:blipFill>
          <a:blip r:embed="rId4">
            <a:alphaModFix/>
          </a:blip>
          <a:stretch>
            <a:fillRect/>
          </a:stretch>
        </p:blipFill>
        <p:spPr>
          <a:xfrm>
            <a:off x="7757538" y="3571401"/>
            <a:ext cx="1048075" cy="1572101"/>
          </a:xfrm>
          <a:prstGeom prst="rect">
            <a:avLst/>
          </a:prstGeom>
          <a:noFill/>
          <a:ln>
            <a:noFill/>
          </a:ln>
        </p:spPr>
      </p:pic>
      <p:pic>
        <p:nvPicPr>
          <p:cNvPr descr="Final" id="141" name="Google Shape;141;p20"/>
          <p:cNvPicPr preferRelativeResize="0"/>
          <p:nvPr/>
        </p:nvPicPr>
        <p:blipFill>
          <a:blip r:embed="rId5">
            <a:alphaModFix/>
          </a:blip>
          <a:stretch>
            <a:fillRect/>
          </a:stretch>
        </p:blipFill>
        <p:spPr>
          <a:xfrm>
            <a:off x="311700" y="3620650"/>
            <a:ext cx="1489750" cy="1473600"/>
          </a:xfrm>
          <a:prstGeom prst="rect">
            <a:avLst/>
          </a:prstGeom>
          <a:noFill/>
          <a:ln>
            <a:noFill/>
          </a:ln>
        </p:spPr>
      </p:pic>
      <p:grpSp>
        <p:nvGrpSpPr>
          <p:cNvPr id="142" name="Google Shape;142;p20"/>
          <p:cNvGrpSpPr/>
          <p:nvPr/>
        </p:nvGrpSpPr>
        <p:grpSpPr>
          <a:xfrm>
            <a:off x="3709893" y="130701"/>
            <a:ext cx="1918300" cy="1685493"/>
            <a:chOff x="3748050" y="107807"/>
            <a:chExt cx="1918300" cy="1685493"/>
          </a:xfrm>
        </p:grpSpPr>
        <p:pic>
          <p:nvPicPr>
            <p:cNvPr id="143" name="Google Shape;143;p20"/>
            <p:cNvPicPr preferRelativeResize="0"/>
            <p:nvPr/>
          </p:nvPicPr>
          <p:blipFill rotWithShape="1">
            <a:blip r:embed="rId6">
              <a:alphaModFix/>
            </a:blip>
            <a:srcRect b="15953" l="51578" r="0" t="65460"/>
            <a:stretch/>
          </p:blipFill>
          <p:spPr>
            <a:xfrm>
              <a:off x="3748050" y="756550"/>
              <a:ext cx="1918300" cy="1036750"/>
            </a:xfrm>
            <a:prstGeom prst="rect">
              <a:avLst/>
            </a:prstGeom>
            <a:noFill/>
            <a:ln>
              <a:noFill/>
            </a:ln>
          </p:spPr>
        </p:pic>
        <p:pic>
          <p:nvPicPr>
            <p:cNvPr id="144" name="Google Shape;144;p20"/>
            <p:cNvPicPr preferRelativeResize="0"/>
            <p:nvPr/>
          </p:nvPicPr>
          <p:blipFill rotWithShape="1">
            <a:blip r:embed="rId6">
              <a:alphaModFix/>
            </a:blip>
            <a:srcRect b="85005" l="0" r="0" t="0"/>
            <a:stretch/>
          </p:blipFill>
          <p:spPr>
            <a:xfrm>
              <a:off x="3748050" y="107807"/>
              <a:ext cx="1918300" cy="404994"/>
            </a:xfrm>
            <a:prstGeom prst="rect">
              <a:avLst/>
            </a:prstGeom>
            <a:noFill/>
            <a:ln>
              <a:noFill/>
            </a:ln>
          </p:spPr>
        </p:pic>
        <p:pic>
          <p:nvPicPr>
            <p:cNvPr id="145" name="Google Shape;145;p20"/>
            <p:cNvPicPr preferRelativeResize="0"/>
            <p:nvPr/>
          </p:nvPicPr>
          <p:blipFill rotWithShape="1">
            <a:blip r:embed="rId6">
              <a:alphaModFix/>
            </a:blip>
            <a:srcRect b="81200" l="48642" r="1085" t="14199"/>
            <a:stretch/>
          </p:blipFill>
          <p:spPr>
            <a:xfrm>
              <a:off x="3748050" y="512800"/>
              <a:ext cx="1918300" cy="247095"/>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Unsolved Step: Liber Primus </a:t>
            </a:r>
            <a:endParaRPr>
              <a:latin typeface="Tahoma"/>
              <a:ea typeface="Tahoma"/>
              <a:cs typeface="Tahoma"/>
              <a:sym typeface="Tahoma"/>
            </a:endParaRPr>
          </a:p>
        </p:txBody>
      </p:sp>
      <p:sp>
        <p:nvSpPr>
          <p:cNvPr id="151" name="Google Shape;151;p21"/>
          <p:cNvSpPr txBox="1"/>
          <p:nvPr>
            <p:ph idx="1" type="body"/>
          </p:nvPr>
        </p:nvSpPr>
        <p:spPr>
          <a:xfrm>
            <a:off x="311700" y="1152475"/>
            <a:ext cx="8694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May 2014, the latest </a:t>
            </a:r>
            <a:r>
              <a:rPr lang="en"/>
              <a:t>step</a:t>
            </a:r>
            <a:r>
              <a:rPr lang="en"/>
              <a:t> was released: A 58-page digital book of elder futhark runes.</a:t>
            </a:r>
            <a:endParaRPr/>
          </a:p>
          <a:p>
            <a:pPr indent="0" lvl="0" marL="0" rtl="0" algn="l">
              <a:spcBef>
                <a:spcPts val="1200"/>
              </a:spcBef>
              <a:spcAft>
                <a:spcPts val="1200"/>
              </a:spcAft>
              <a:buNone/>
            </a:pPr>
            <a:r>
              <a:rPr b="1" lang="en"/>
              <a:t>Two pages</a:t>
            </a:r>
            <a:r>
              <a:rPr lang="en"/>
              <a:t> were solved immediately; the rest have resisted thousands of attempts.</a:t>
            </a:r>
            <a:endParaRPr/>
          </a:p>
        </p:txBody>
      </p:sp>
      <p:pic>
        <p:nvPicPr>
          <p:cNvPr id="152" name="Google Shape;152;p21"/>
          <p:cNvPicPr preferRelativeResize="0"/>
          <p:nvPr/>
        </p:nvPicPr>
        <p:blipFill>
          <a:blip r:embed="rId3">
            <a:alphaModFix/>
          </a:blip>
          <a:stretch>
            <a:fillRect/>
          </a:stretch>
        </p:blipFill>
        <p:spPr>
          <a:xfrm>
            <a:off x="4970025" y="2504725"/>
            <a:ext cx="1953425" cy="2930126"/>
          </a:xfrm>
          <a:prstGeom prst="rect">
            <a:avLst/>
          </a:prstGeom>
          <a:noFill/>
          <a:ln>
            <a:noFill/>
          </a:ln>
        </p:spPr>
      </p:pic>
      <p:pic>
        <p:nvPicPr>
          <p:cNvPr id="153" name="Google Shape;153;p21"/>
          <p:cNvPicPr preferRelativeResize="0"/>
          <p:nvPr/>
        </p:nvPicPr>
        <p:blipFill>
          <a:blip r:embed="rId4">
            <a:alphaModFix/>
          </a:blip>
          <a:stretch>
            <a:fillRect/>
          </a:stretch>
        </p:blipFill>
        <p:spPr>
          <a:xfrm>
            <a:off x="7114375" y="2504713"/>
            <a:ext cx="1953425" cy="2930149"/>
          </a:xfrm>
          <a:prstGeom prst="rect">
            <a:avLst/>
          </a:prstGeom>
          <a:noFill/>
          <a:ln>
            <a:noFill/>
          </a:ln>
        </p:spPr>
      </p:pic>
      <p:sp>
        <p:nvSpPr>
          <p:cNvPr id="154" name="Google Shape;154;p21"/>
          <p:cNvSpPr txBox="1"/>
          <p:nvPr/>
        </p:nvSpPr>
        <p:spPr>
          <a:xfrm>
            <a:off x="311700" y="2374675"/>
            <a:ext cx="4611300" cy="2445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Char char="●"/>
            </a:pPr>
            <a:r>
              <a:rPr lang="en" sz="1800">
                <a:solidFill>
                  <a:schemeClr val="lt2"/>
                </a:solidFill>
              </a:rPr>
              <a:t>Pages are uniformly sized JPG files</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Some pages are greyscale</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Runes are encrypted</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Normal </a:t>
            </a:r>
            <a:r>
              <a:rPr lang="en" sz="1800">
                <a:solidFill>
                  <a:schemeClr val="lt2"/>
                </a:solidFill>
              </a:rPr>
              <a:t>statistical </a:t>
            </a:r>
            <a:r>
              <a:rPr lang="en" sz="1800">
                <a:solidFill>
                  <a:schemeClr val="lt2"/>
                </a:solidFill>
              </a:rPr>
              <a:t>distribution</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Repeating bi-grams have a high frequency</a:t>
            </a:r>
            <a:endParaRPr sz="1800">
              <a:solidFill>
                <a:schemeClr val="lt2"/>
              </a:solidFill>
            </a:endParaRPr>
          </a:p>
          <a:p>
            <a:pPr indent="0" lvl="0" marL="0" rtl="0" algn="l">
              <a:spcBef>
                <a:spcPts val="12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3740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latin typeface="Tahoma"/>
                <a:ea typeface="Tahoma"/>
                <a:cs typeface="Tahoma"/>
                <a:sym typeface="Tahoma"/>
              </a:rPr>
              <a:t>Page 56 - </a:t>
            </a:r>
            <a:r>
              <a:rPr lang="en" sz="2920">
                <a:latin typeface="Tahoma"/>
                <a:ea typeface="Tahoma"/>
                <a:cs typeface="Tahoma"/>
                <a:sym typeface="Tahoma"/>
              </a:rPr>
              <a:t>The Deep Web Hash</a:t>
            </a:r>
            <a:endParaRPr sz="2920">
              <a:latin typeface="Tahoma"/>
              <a:ea typeface="Tahoma"/>
              <a:cs typeface="Tahoma"/>
              <a:sym typeface="Tahoma"/>
            </a:endParaRPr>
          </a:p>
        </p:txBody>
      </p:sp>
      <p:sp>
        <p:nvSpPr>
          <p:cNvPr id="160" name="Google Shape;160;p22"/>
          <p:cNvSpPr txBox="1"/>
          <p:nvPr>
            <p:ph idx="1" type="body"/>
          </p:nvPr>
        </p:nvSpPr>
        <p:spPr>
          <a:xfrm>
            <a:off x="3740700" y="1152475"/>
            <a:ext cx="5403300" cy="1128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2800">
                <a:solidFill>
                  <a:srgbClr val="CC0000"/>
                </a:solidFill>
              </a:rPr>
              <a:t>A</a:t>
            </a:r>
            <a:r>
              <a:rPr lang="en">
                <a:solidFill>
                  <a:srgbClr val="CC0000"/>
                </a:solidFill>
              </a:rPr>
              <a:t>N END - </a:t>
            </a:r>
            <a:r>
              <a:rPr lang="en"/>
              <a:t>WITHIN THE </a:t>
            </a:r>
            <a:r>
              <a:rPr b="1" lang="en"/>
              <a:t>DEEP WEB</a:t>
            </a:r>
            <a:r>
              <a:rPr lang="en"/>
              <a:t>, THERE EXISTS A PAGE THAT HASHES TO</a:t>
            </a:r>
            <a:r>
              <a:rPr lang="en">
                <a:solidFill>
                  <a:srgbClr val="CC0000"/>
                </a:solidFill>
              </a:rPr>
              <a:t>:</a:t>
            </a:r>
            <a:endParaRPr>
              <a:solidFill>
                <a:srgbClr val="CC0000"/>
              </a:solidFill>
            </a:endParaRPr>
          </a:p>
          <a:p>
            <a:pPr indent="0" lvl="0" marL="0" rtl="0" algn="l">
              <a:spcBef>
                <a:spcPts val="1200"/>
              </a:spcBef>
              <a:spcAft>
                <a:spcPts val="1200"/>
              </a:spcAft>
              <a:buNone/>
            </a:pPr>
            <a:r>
              <a:t/>
            </a:r>
            <a:endParaRPr/>
          </a:p>
        </p:txBody>
      </p:sp>
      <p:pic>
        <p:nvPicPr>
          <p:cNvPr id="161" name="Google Shape;161;p22"/>
          <p:cNvPicPr preferRelativeResize="0"/>
          <p:nvPr/>
        </p:nvPicPr>
        <p:blipFill>
          <a:blip r:embed="rId3">
            <a:alphaModFix/>
          </a:blip>
          <a:stretch>
            <a:fillRect/>
          </a:stretch>
        </p:blipFill>
        <p:spPr>
          <a:xfrm>
            <a:off x="0" y="0"/>
            <a:ext cx="3429000" cy="5143500"/>
          </a:xfrm>
          <a:prstGeom prst="rect">
            <a:avLst/>
          </a:prstGeom>
          <a:noFill/>
          <a:ln>
            <a:noFill/>
          </a:ln>
        </p:spPr>
      </p:pic>
      <p:sp>
        <p:nvSpPr>
          <p:cNvPr id="162" name="Google Shape;162;p22"/>
          <p:cNvSpPr txBox="1"/>
          <p:nvPr/>
        </p:nvSpPr>
        <p:spPr>
          <a:xfrm>
            <a:off x="3740700" y="4031400"/>
            <a:ext cx="5429700" cy="9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800">
                <a:solidFill>
                  <a:schemeClr val="lt2"/>
                </a:solidFill>
              </a:rPr>
              <a:t>IT IS THE DUTY OF EVERY PILGRIM TO SEEK OUT </a:t>
            </a:r>
            <a:r>
              <a:rPr b="1" lang="en" sz="1800">
                <a:solidFill>
                  <a:schemeClr val="lt2"/>
                </a:solidFill>
              </a:rPr>
              <a:t>THIS PAGE</a:t>
            </a:r>
            <a:r>
              <a:rPr lang="en" sz="1800">
                <a:solidFill>
                  <a:srgbClr val="CC0000"/>
                </a:solidFill>
              </a:rPr>
              <a:t>. </a:t>
            </a:r>
            <a:endParaRPr/>
          </a:p>
        </p:txBody>
      </p:sp>
      <p:sp>
        <p:nvSpPr>
          <p:cNvPr id="163" name="Google Shape;163;p22"/>
          <p:cNvSpPr txBox="1"/>
          <p:nvPr/>
        </p:nvSpPr>
        <p:spPr>
          <a:xfrm>
            <a:off x="3919625" y="2232400"/>
            <a:ext cx="4775400" cy="158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accent2"/>
              </a:buClr>
              <a:buSzPts val="1800"/>
              <a:buChar char="●"/>
            </a:pPr>
            <a:r>
              <a:rPr lang="en" sz="1800">
                <a:solidFill>
                  <a:schemeClr val="accent2"/>
                </a:solidFill>
              </a:rPr>
              <a:t>512 bit hash</a:t>
            </a:r>
            <a:endParaRPr sz="1800">
              <a:solidFill>
                <a:schemeClr val="accent2"/>
              </a:solidFill>
            </a:endParaRPr>
          </a:p>
          <a:p>
            <a:pPr indent="-342900" lvl="0" marL="457200" rtl="0" algn="l">
              <a:lnSpc>
                <a:spcPct val="115000"/>
              </a:lnSpc>
              <a:spcBef>
                <a:spcPts val="0"/>
              </a:spcBef>
              <a:spcAft>
                <a:spcPts val="0"/>
              </a:spcAft>
              <a:buClr>
                <a:schemeClr val="accent2"/>
              </a:buClr>
              <a:buSzPts val="1800"/>
              <a:buChar char="●"/>
            </a:pPr>
            <a:r>
              <a:rPr lang="en" sz="1800">
                <a:solidFill>
                  <a:schemeClr val="accent2"/>
                </a:solidFill>
              </a:rPr>
              <a:t>128 character hex</a:t>
            </a:r>
            <a:endParaRPr sz="1800">
              <a:solidFill>
                <a:schemeClr val="accent2"/>
              </a:solidFill>
            </a:endParaRPr>
          </a:p>
          <a:p>
            <a:pPr indent="-342900" lvl="0" marL="457200" rtl="0" algn="l">
              <a:lnSpc>
                <a:spcPct val="115000"/>
              </a:lnSpc>
              <a:spcBef>
                <a:spcPts val="0"/>
              </a:spcBef>
              <a:spcAft>
                <a:spcPts val="0"/>
              </a:spcAft>
              <a:buClr>
                <a:schemeClr val="accent2"/>
              </a:buClr>
              <a:buSzPts val="1800"/>
              <a:buChar char="●"/>
            </a:pPr>
            <a:r>
              <a:rPr lang="en" sz="1800">
                <a:solidFill>
                  <a:schemeClr val="accent2"/>
                </a:solidFill>
              </a:rPr>
              <a:t>Relatively low value</a:t>
            </a:r>
            <a:endParaRPr sz="1800">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CicadaSolvers Community</a:t>
            </a:r>
            <a:endParaRPr>
              <a:latin typeface="Tahoma"/>
              <a:ea typeface="Tahoma"/>
              <a:cs typeface="Tahoma"/>
              <a:sym typeface="Tahoma"/>
            </a:endParaRPr>
          </a:p>
        </p:txBody>
      </p:sp>
      <p:pic>
        <p:nvPicPr>
          <p:cNvPr id="169" name="Google Shape;169;p23"/>
          <p:cNvPicPr preferRelativeResize="0"/>
          <p:nvPr/>
        </p:nvPicPr>
        <p:blipFill>
          <a:blip r:embed="rId4">
            <a:alphaModFix/>
          </a:blip>
          <a:stretch>
            <a:fillRect/>
          </a:stretch>
        </p:blipFill>
        <p:spPr>
          <a:xfrm>
            <a:off x="6954725" y="2954225"/>
            <a:ext cx="2189275" cy="2189275"/>
          </a:xfrm>
          <a:prstGeom prst="rect">
            <a:avLst/>
          </a:prstGeom>
          <a:noFill/>
          <a:ln>
            <a:noFill/>
          </a:ln>
        </p:spPr>
      </p:pic>
      <p:sp>
        <p:nvSpPr>
          <p:cNvPr id="170" name="Google Shape;170;p23"/>
          <p:cNvSpPr/>
          <p:nvPr/>
        </p:nvSpPr>
        <p:spPr>
          <a:xfrm>
            <a:off x="5894613" y="1914663"/>
            <a:ext cx="4309500" cy="4268400"/>
          </a:xfrm>
          <a:prstGeom prst="donut">
            <a:avLst>
              <a:gd fmla="val 25000"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path lies empty, but we are undeterred. Tens of thousands of people are still working to decrypt the runes and solve the internet’s hardest mystery.</a:t>
            </a:r>
            <a:endParaRPr/>
          </a:p>
          <a:p>
            <a:pPr indent="0" lvl="0" marL="0" rtl="0" algn="l">
              <a:spcBef>
                <a:spcPts val="1200"/>
              </a:spcBef>
              <a:spcAft>
                <a:spcPts val="1200"/>
              </a:spcAft>
              <a:buNone/>
            </a:pPr>
            <a:r>
              <a:rPr lang="en"/>
              <a:t>The Discord community alone has well over 7,000 members, numerous ongoing solving attempts, and regular community events.</a:t>
            </a:r>
            <a:endParaRPr/>
          </a:p>
        </p:txBody>
      </p:sp>
      <p:pic>
        <p:nvPicPr>
          <p:cNvPr id="172" name="Google Shape;172;p23"/>
          <p:cNvPicPr preferRelativeResize="0"/>
          <p:nvPr/>
        </p:nvPicPr>
        <p:blipFill>
          <a:blip r:embed="rId5">
            <a:alphaModFix/>
          </a:blip>
          <a:stretch>
            <a:fillRect/>
          </a:stretch>
        </p:blipFill>
        <p:spPr>
          <a:xfrm>
            <a:off x="0" y="3533374"/>
            <a:ext cx="3647075" cy="948250"/>
          </a:xfrm>
          <a:prstGeom prst="rect">
            <a:avLst/>
          </a:prstGeom>
          <a:noFill/>
          <a:ln>
            <a:noFill/>
          </a:ln>
        </p:spPr>
      </p:pic>
      <p:grpSp>
        <p:nvGrpSpPr>
          <p:cNvPr id="173" name="Google Shape;173;p23"/>
          <p:cNvGrpSpPr/>
          <p:nvPr/>
        </p:nvGrpSpPr>
        <p:grpSpPr>
          <a:xfrm>
            <a:off x="3244330" y="2954213"/>
            <a:ext cx="2655343" cy="1832009"/>
            <a:chOff x="2847975" y="1569194"/>
            <a:chExt cx="3448050" cy="2378923"/>
          </a:xfrm>
        </p:grpSpPr>
        <p:pic>
          <p:nvPicPr>
            <p:cNvPr id="174" name="Google Shape;174;p23"/>
            <p:cNvPicPr preferRelativeResize="0"/>
            <p:nvPr/>
          </p:nvPicPr>
          <p:blipFill rotWithShape="1">
            <a:blip r:embed="rId6">
              <a:alphaModFix/>
            </a:blip>
            <a:srcRect b="0" l="0" r="0" t="63893"/>
            <a:stretch/>
          </p:blipFill>
          <p:spPr>
            <a:xfrm>
              <a:off x="2847975" y="2954217"/>
              <a:ext cx="3448050" cy="993900"/>
            </a:xfrm>
            <a:prstGeom prst="rect">
              <a:avLst/>
            </a:prstGeom>
            <a:noFill/>
            <a:ln>
              <a:noFill/>
            </a:ln>
          </p:spPr>
        </p:pic>
        <p:pic>
          <p:nvPicPr>
            <p:cNvPr id="175" name="Google Shape;175;p23"/>
            <p:cNvPicPr preferRelativeResize="0"/>
            <p:nvPr/>
          </p:nvPicPr>
          <p:blipFill rotWithShape="1">
            <a:blip r:embed="rId6">
              <a:alphaModFix/>
            </a:blip>
            <a:srcRect b="48681" l="0" r="0" t="0"/>
            <a:stretch/>
          </p:blipFill>
          <p:spPr>
            <a:xfrm>
              <a:off x="2847975" y="1569194"/>
              <a:ext cx="3448050" cy="141270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Community Evolution</a:t>
            </a:r>
            <a:endParaRPr>
              <a:latin typeface="Tahoma"/>
              <a:ea typeface="Tahoma"/>
              <a:cs typeface="Tahoma"/>
              <a:sym typeface="Tahoma"/>
            </a:endParaRPr>
          </a:p>
        </p:txBody>
      </p:sp>
      <p:sp>
        <p:nvSpPr>
          <p:cNvPr id="181" name="Google Shape;18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pSp>
        <p:nvGrpSpPr>
          <p:cNvPr id="182" name="Google Shape;182;p24"/>
          <p:cNvGrpSpPr/>
          <p:nvPr/>
        </p:nvGrpSpPr>
        <p:grpSpPr>
          <a:xfrm>
            <a:off x="5632317" y="1189775"/>
            <a:ext cx="3305700" cy="3483050"/>
            <a:chOff x="5632317" y="1189775"/>
            <a:chExt cx="3305700" cy="3483050"/>
          </a:xfrm>
        </p:grpSpPr>
        <p:sp>
          <p:nvSpPr>
            <p:cNvPr id="183" name="Google Shape;183;p24"/>
            <p:cNvSpPr/>
            <p:nvPr/>
          </p:nvSpPr>
          <p:spPr>
            <a:xfrm>
              <a:off x="5632317" y="1189775"/>
              <a:ext cx="3305700" cy="669000"/>
            </a:xfrm>
            <a:prstGeom prst="chevron">
              <a:avLst>
                <a:gd fmla="val 50000" name="adj"/>
              </a:avLst>
            </a:prstGeom>
            <a:solidFill>
              <a:srgbClr val="5050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Discord</a:t>
              </a:r>
              <a:endParaRPr>
                <a:solidFill>
                  <a:srgbClr val="FFFFFF"/>
                </a:solidFill>
                <a:latin typeface="Roboto"/>
                <a:ea typeface="Roboto"/>
                <a:cs typeface="Roboto"/>
                <a:sym typeface="Roboto"/>
              </a:endParaRPr>
            </a:p>
          </p:txBody>
        </p:sp>
        <p:sp>
          <p:nvSpPr>
            <p:cNvPr id="184" name="Google Shape;184;p24"/>
            <p:cNvSpPr txBox="1"/>
            <p:nvPr/>
          </p:nvSpPr>
          <p:spPr>
            <a:xfrm>
              <a:off x="6167063"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Proprietary platform run by data miners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Huge user-base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Large set of moderation and organisational features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Strict terms of service</a:t>
              </a:r>
              <a:endParaRPr sz="1200">
                <a:solidFill>
                  <a:schemeClr val="dk1"/>
                </a:solidFill>
                <a:latin typeface="Roboto"/>
                <a:ea typeface="Roboto"/>
                <a:cs typeface="Roboto"/>
                <a:sym typeface="Roboto"/>
              </a:endParaRPr>
            </a:p>
          </p:txBody>
        </p:sp>
      </p:grpSp>
      <p:grpSp>
        <p:nvGrpSpPr>
          <p:cNvPr id="185" name="Google Shape;185;p24"/>
          <p:cNvGrpSpPr/>
          <p:nvPr/>
        </p:nvGrpSpPr>
        <p:grpSpPr>
          <a:xfrm>
            <a:off x="0" y="1189989"/>
            <a:ext cx="3546900" cy="3482836"/>
            <a:chOff x="0" y="1189989"/>
            <a:chExt cx="3546900" cy="3482836"/>
          </a:xfrm>
        </p:grpSpPr>
        <p:sp>
          <p:nvSpPr>
            <p:cNvPr id="186" name="Google Shape;186;p24"/>
            <p:cNvSpPr/>
            <p:nvPr/>
          </p:nvSpPr>
          <p:spPr>
            <a:xfrm>
              <a:off x="0" y="1189989"/>
              <a:ext cx="3546900" cy="669000"/>
            </a:xfrm>
            <a:prstGeom prst="homePlate">
              <a:avLst>
                <a:gd fmla="val 50000" name="adj"/>
              </a:avLst>
            </a:prstGeom>
            <a:solidFill>
              <a:srgbClr val="2F2F2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4Chan</a:t>
              </a:r>
              <a:endParaRPr>
                <a:solidFill>
                  <a:srgbClr val="FFFFFF"/>
                </a:solidFill>
                <a:latin typeface="Roboto"/>
                <a:ea typeface="Roboto"/>
                <a:cs typeface="Roboto"/>
                <a:sym typeface="Roboto"/>
              </a:endParaRPr>
            </a:p>
          </p:txBody>
        </p:sp>
        <p:sp>
          <p:nvSpPr>
            <p:cNvPr id="187" name="Google Shape;187;p24"/>
            <p:cNvSpPr txBox="1"/>
            <p:nvPr/>
          </p:nvSpPr>
          <p:spPr>
            <a:xfrm>
              <a:off x="655361"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origin of the puzzle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Unpredictable community (toxic)</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Liberated by the lack of moderation and accountability</a:t>
              </a:r>
              <a:endParaRPr sz="1200">
                <a:solidFill>
                  <a:schemeClr val="dk1"/>
                </a:solidFill>
                <a:latin typeface="Roboto"/>
                <a:ea typeface="Roboto"/>
                <a:cs typeface="Roboto"/>
                <a:sym typeface="Roboto"/>
              </a:endParaRPr>
            </a:p>
          </p:txBody>
        </p:sp>
      </p:grpSp>
      <p:grpSp>
        <p:nvGrpSpPr>
          <p:cNvPr id="188" name="Google Shape;188;p24"/>
          <p:cNvGrpSpPr/>
          <p:nvPr/>
        </p:nvGrpSpPr>
        <p:grpSpPr>
          <a:xfrm>
            <a:off x="2944204" y="1189775"/>
            <a:ext cx="3305700" cy="3483050"/>
            <a:chOff x="2944204" y="1189775"/>
            <a:chExt cx="3305700" cy="3483050"/>
          </a:xfrm>
        </p:grpSpPr>
        <p:sp>
          <p:nvSpPr>
            <p:cNvPr id="189" name="Google Shape;189;p24"/>
            <p:cNvSpPr/>
            <p:nvPr/>
          </p:nvSpPr>
          <p:spPr>
            <a:xfrm>
              <a:off x="2944204" y="1189775"/>
              <a:ext cx="3305700" cy="669000"/>
            </a:xfrm>
            <a:prstGeom prst="chevron">
              <a:avLst>
                <a:gd fmla="val 50000" name="adj"/>
              </a:avLst>
            </a:prstGeom>
            <a:solidFill>
              <a:srgbClr val="4141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IRC</a:t>
              </a:r>
              <a:endParaRPr>
                <a:solidFill>
                  <a:srgbClr val="FFFFFF"/>
                </a:solidFill>
                <a:latin typeface="Roboto"/>
                <a:ea typeface="Roboto"/>
                <a:cs typeface="Roboto"/>
                <a:sym typeface="Roboto"/>
              </a:endParaRPr>
            </a:p>
          </p:txBody>
        </p:sp>
        <p:sp>
          <p:nvSpPr>
            <p:cNvPr id="190" name="Google Shape;190;p24"/>
            <p:cNvSpPr txBox="1"/>
            <p:nvPr/>
          </p:nvSpPr>
          <p:spPr>
            <a:xfrm>
              <a:off x="3478949"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Pre-existing community of ARG enthusiasts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Low accessibility means lower user count but higher average ability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Accessible privacy and open sourced clients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Low capability to moderate and organise content</a:t>
              </a:r>
              <a:endParaRPr sz="1200">
                <a:solidFill>
                  <a:schemeClr val="dk1"/>
                </a:solidFill>
                <a:latin typeface="Roboto"/>
                <a:ea typeface="Roboto"/>
                <a:cs typeface="Roboto"/>
                <a:sym typeface="Robot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pSp>
        <p:nvGrpSpPr>
          <p:cNvPr id="195" name="Google Shape;195;p25"/>
          <p:cNvGrpSpPr/>
          <p:nvPr/>
        </p:nvGrpSpPr>
        <p:grpSpPr>
          <a:xfrm>
            <a:off x="330506" y="1109925"/>
            <a:ext cx="8482988" cy="617704"/>
            <a:chOff x="444182" y="438789"/>
            <a:chExt cx="7567404" cy="731700"/>
          </a:xfrm>
        </p:grpSpPr>
        <p:sp>
          <p:nvSpPr>
            <p:cNvPr id="196" name="Google Shape;196;p25"/>
            <p:cNvSpPr txBox="1"/>
            <p:nvPr/>
          </p:nvSpPr>
          <p:spPr>
            <a:xfrm>
              <a:off x="444182" y="488975"/>
              <a:ext cx="2271000" cy="629700"/>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r">
                <a:lnSpc>
                  <a:spcPct val="90000"/>
                </a:lnSpc>
                <a:spcBef>
                  <a:spcPts val="0"/>
                </a:spcBef>
                <a:spcAft>
                  <a:spcPts val="0"/>
                </a:spcAft>
                <a:buNone/>
              </a:pPr>
              <a:r>
                <a:rPr lang="en" sz="2317">
                  <a:solidFill>
                    <a:srgbClr val="802017"/>
                  </a:solidFill>
                  <a:latin typeface="Roboto Medium"/>
                  <a:ea typeface="Roboto Medium"/>
                  <a:cs typeface="Roboto Medium"/>
                  <a:sym typeface="Roboto Medium"/>
                </a:rPr>
                <a:t>Crowdsourced Information</a:t>
              </a:r>
              <a:endParaRPr sz="2317">
                <a:solidFill>
                  <a:srgbClr val="802017"/>
                </a:solidFill>
                <a:latin typeface="Roboto Medium"/>
                <a:ea typeface="Roboto Medium"/>
                <a:cs typeface="Roboto Medium"/>
                <a:sym typeface="Roboto Medium"/>
              </a:endParaRPr>
            </a:p>
          </p:txBody>
        </p:sp>
        <p:sp>
          <p:nvSpPr>
            <p:cNvPr id="197" name="Google Shape;197;p25"/>
            <p:cNvSpPr/>
            <p:nvPr/>
          </p:nvSpPr>
          <p:spPr>
            <a:xfrm>
              <a:off x="2789785" y="438789"/>
              <a:ext cx="5221800" cy="731700"/>
            </a:xfrm>
            <a:prstGeom prst="rect">
              <a:avLst/>
            </a:prstGeom>
            <a:solidFill>
              <a:srgbClr val="802017"/>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25"/>
            <p:cNvSpPr txBox="1"/>
            <p:nvPr/>
          </p:nvSpPr>
          <p:spPr>
            <a:xfrm>
              <a:off x="2914389" y="523065"/>
              <a:ext cx="4765800" cy="5754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Dedication to the sharing of progress and tools. </a:t>
              </a:r>
              <a:endParaRPr sz="1200">
                <a:solidFill>
                  <a:srgbClr val="FFFFFF"/>
                </a:solidFill>
                <a:latin typeface="Roboto"/>
                <a:ea typeface="Roboto"/>
                <a:cs typeface="Roboto"/>
                <a:sym typeface="Roboto"/>
              </a:endParaRPr>
            </a:p>
          </p:txBody>
        </p:sp>
      </p:grpSp>
      <p:grpSp>
        <p:nvGrpSpPr>
          <p:cNvPr id="199" name="Google Shape;199;p25"/>
          <p:cNvGrpSpPr/>
          <p:nvPr/>
        </p:nvGrpSpPr>
        <p:grpSpPr>
          <a:xfrm>
            <a:off x="88000" y="1856506"/>
            <a:ext cx="8320259" cy="617704"/>
            <a:chOff x="227849" y="1323150"/>
            <a:chExt cx="7422238" cy="731700"/>
          </a:xfrm>
        </p:grpSpPr>
        <p:sp>
          <p:nvSpPr>
            <p:cNvPr id="200" name="Google Shape;200;p25"/>
            <p:cNvSpPr txBox="1"/>
            <p:nvPr/>
          </p:nvSpPr>
          <p:spPr>
            <a:xfrm>
              <a:off x="227849" y="1437008"/>
              <a:ext cx="2439300" cy="500700"/>
            </a:xfrm>
            <a:prstGeom prst="rect">
              <a:avLst/>
            </a:prstGeom>
            <a:noFill/>
            <a:ln>
              <a:noFill/>
            </a:ln>
          </p:spPr>
          <p:txBody>
            <a:bodyPr anchorCtr="0" anchor="ctr" bIns="45700" lIns="91425" spcFirstLastPara="1" rIns="91425" wrap="square" tIns="45700">
              <a:normAutofit fontScale="70000"/>
            </a:bodyPr>
            <a:lstStyle/>
            <a:p>
              <a:pPr indent="0" lvl="0" marL="0" rtl="0" algn="r">
                <a:lnSpc>
                  <a:spcPct val="100000"/>
                </a:lnSpc>
                <a:spcBef>
                  <a:spcPts val="0"/>
                </a:spcBef>
                <a:spcAft>
                  <a:spcPts val="0"/>
                </a:spcAft>
                <a:buSzPct val="41189"/>
                <a:buNone/>
              </a:pPr>
              <a:r>
                <a:rPr lang="en" sz="2270">
                  <a:solidFill>
                    <a:srgbClr val="A72A1E"/>
                  </a:solidFill>
                  <a:latin typeface="Roboto Medium"/>
                  <a:ea typeface="Roboto Medium"/>
                  <a:cs typeface="Roboto Medium"/>
                  <a:sym typeface="Roboto Medium"/>
                </a:rPr>
                <a:t>Stable Definition of Validity</a:t>
              </a:r>
              <a:endParaRPr sz="2270">
                <a:solidFill>
                  <a:srgbClr val="A72A1E"/>
                </a:solidFill>
                <a:latin typeface="Roboto Medium"/>
                <a:ea typeface="Roboto Medium"/>
                <a:cs typeface="Roboto Medium"/>
                <a:sym typeface="Roboto Medium"/>
              </a:endParaRPr>
            </a:p>
          </p:txBody>
        </p:sp>
        <p:sp>
          <p:nvSpPr>
            <p:cNvPr id="201" name="Google Shape;201;p25"/>
            <p:cNvSpPr/>
            <p:nvPr/>
          </p:nvSpPr>
          <p:spPr>
            <a:xfrm>
              <a:off x="2789787" y="1323150"/>
              <a:ext cx="4860300" cy="731700"/>
            </a:xfrm>
            <a:prstGeom prst="rect">
              <a:avLst/>
            </a:prstGeom>
            <a:solidFill>
              <a:srgbClr val="A72A1E"/>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5"/>
            <p:cNvSpPr txBox="1"/>
            <p:nvPr/>
          </p:nvSpPr>
          <p:spPr>
            <a:xfrm>
              <a:off x="2914380" y="1373336"/>
              <a:ext cx="4373100" cy="6297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No PGP =  No Cicada.</a:t>
              </a:r>
              <a:endParaRPr sz="1200">
                <a:solidFill>
                  <a:srgbClr val="FFFFFF"/>
                </a:solidFill>
                <a:latin typeface="Roboto"/>
                <a:ea typeface="Roboto"/>
                <a:cs typeface="Roboto"/>
                <a:sym typeface="Roboto"/>
              </a:endParaRPr>
            </a:p>
          </p:txBody>
        </p:sp>
      </p:grpSp>
      <p:grpSp>
        <p:nvGrpSpPr>
          <p:cNvPr id="203" name="Google Shape;203;p25"/>
          <p:cNvGrpSpPr/>
          <p:nvPr/>
        </p:nvGrpSpPr>
        <p:grpSpPr>
          <a:xfrm>
            <a:off x="519700" y="2600334"/>
            <a:ext cx="7481975" cy="617704"/>
            <a:chOff x="612955" y="2204250"/>
            <a:chExt cx="6674432" cy="731700"/>
          </a:xfrm>
        </p:grpSpPr>
        <p:sp>
          <p:nvSpPr>
            <p:cNvPr id="204" name="Google Shape;204;p25"/>
            <p:cNvSpPr txBox="1"/>
            <p:nvPr/>
          </p:nvSpPr>
          <p:spPr>
            <a:xfrm>
              <a:off x="612955" y="2254450"/>
              <a:ext cx="2102100" cy="629700"/>
            </a:xfrm>
            <a:prstGeom prst="rect">
              <a:avLst/>
            </a:prstGeom>
            <a:noFill/>
            <a:ln>
              <a:noFill/>
            </a:ln>
          </p:spPr>
          <p:txBody>
            <a:bodyPr anchorCtr="0" anchor="ctr" bIns="45700" lIns="91425" spcFirstLastPara="1" rIns="91425" wrap="square" tIns="45700">
              <a:normAutofit fontScale="32500"/>
            </a:bodyPr>
            <a:lstStyle/>
            <a:p>
              <a:pPr indent="0" lvl="0" marL="0" rtl="0" algn="r">
                <a:lnSpc>
                  <a:spcPct val="90000"/>
                </a:lnSpc>
                <a:spcBef>
                  <a:spcPts val="0"/>
                </a:spcBef>
                <a:spcAft>
                  <a:spcPts val="0"/>
                </a:spcAft>
                <a:buNone/>
              </a:pPr>
              <a:r>
                <a:rPr lang="en" sz="4200">
                  <a:solidFill>
                    <a:srgbClr val="B02C20"/>
                  </a:solidFill>
                  <a:latin typeface="Roboto Medium"/>
                  <a:ea typeface="Roboto Medium"/>
                  <a:cs typeface="Roboto Medium"/>
                  <a:sym typeface="Roboto Medium"/>
                </a:rPr>
                <a:t>Democratic Moderation</a:t>
              </a:r>
              <a:endParaRPr sz="4200">
                <a:solidFill>
                  <a:srgbClr val="B02C20"/>
                </a:solidFill>
                <a:latin typeface="Roboto Medium"/>
                <a:ea typeface="Roboto Medium"/>
                <a:cs typeface="Roboto Medium"/>
                <a:sym typeface="Roboto Medium"/>
              </a:endParaRPr>
            </a:p>
            <a:p>
              <a:pPr indent="0" lvl="0" marL="0" rtl="0" algn="r">
                <a:lnSpc>
                  <a:spcPct val="90000"/>
                </a:lnSpc>
                <a:spcBef>
                  <a:spcPts val="0"/>
                </a:spcBef>
                <a:spcAft>
                  <a:spcPts val="0"/>
                </a:spcAft>
                <a:buNone/>
              </a:pPr>
              <a:r>
                <a:t/>
              </a:r>
              <a:endParaRPr sz="4200">
                <a:solidFill>
                  <a:srgbClr val="B02C20"/>
                </a:solidFill>
                <a:latin typeface="Roboto Medium"/>
                <a:ea typeface="Roboto Medium"/>
                <a:cs typeface="Roboto Medium"/>
                <a:sym typeface="Roboto Medium"/>
              </a:endParaRPr>
            </a:p>
          </p:txBody>
        </p:sp>
        <p:sp>
          <p:nvSpPr>
            <p:cNvPr id="205" name="Google Shape;205;p25"/>
            <p:cNvSpPr/>
            <p:nvPr/>
          </p:nvSpPr>
          <p:spPr>
            <a:xfrm>
              <a:off x="2789787" y="2204250"/>
              <a:ext cx="4497600" cy="731700"/>
            </a:xfrm>
            <a:prstGeom prst="rect">
              <a:avLst/>
            </a:prstGeom>
            <a:solidFill>
              <a:srgbClr val="B02C20"/>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5"/>
            <p:cNvSpPr txBox="1"/>
            <p:nvPr/>
          </p:nvSpPr>
          <p:spPr>
            <a:xfrm>
              <a:off x="2914380" y="2254464"/>
              <a:ext cx="3849900" cy="6297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Clear rules, separation of personal interactions, and sanctions.</a:t>
              </a:r>
              <a:endParaRPr sz="1200">
                <a:solidFill>
                  <a:srgbClr val="FFFFFF"/>
                </a:solidFill>
                <a:latin typeface="Roboto"/>
                <a:ea typeface="Roboto"/>
                <a:cs typeface="Roboto"/>
                <a:sym typeface="Roboto"/>
              </a:endParaRPr>
            </a:p>
          </p:txBody>
        </p:sp>
      </p:grpSp>
      <p:grpSp>
        <p:nvGrpSpPr>
          <p:cNvPr id="207" name="Google Shape;207;p25"/>
          <p:cNvGrpSpPr/>
          <p:nvPr/>
        </p:nvGrpSpPr>
        <p:grpSpPr>
          <a:xfrm>
            <a:off x="311706" y="3346927"/>
            <a:ext cx="7284731" cy="617704"/>
            <a:chOff x="311706" y="3346927"/>
            <a:chExt cx="7284731" cy="617704"/>
          </a:xfrm>
        </p:grpSpPr>
        <p:sp>
          <p:nvSpPr>
            <p:cNvPr id="208" name="Google Shape;208;p25"/>
            <p:cNvSpPr txBox="1"/>
            <p:nvPr/>
          </p:nvSpPr>
          <p:spPr>
            <a:xfrm>
              <a:off x="311706" y="3389300"/>
              <a:ext cx="2564400" cy="531600"/>
            </a:xfrm>
            <a:prstGeom prst="rect">
              <a:avLst/>
            </a:prstGeom>
            <a:noFill/>
            <a:ln>
              <a:noFill/>
            </a:ln>
          </p:spPr>
          <p:txBody>
            <a:bodyPr anchorCtr="0" anchor="ctr" bIns="45700" lIns="91425" spcFirstLastPara="1" rIns="91425" wrap="square" tIns="45700">
              <a:normAutofit fontScale="32500"/>
            </a:bodyPr>
            <a:lstStyle/>
            <a:p>
              <a:pPr indent="0" lvl="0" marL="0" rtl="0" algn="r">
                <a:lnSpc>
                  <a:spcPct val="90000"/>
                </a:lnSpc>
                <a:spcBef>
                  <a:spcPts val="0"/>
                </a:spcBef>
                <a:spcAft>
                  <a:spcPts val="0"/>
                </a:spcAft>
                <a:buNone/>
              </a:pPr>
              <a:r>
                <a:rPr lang="en" sz="4200">
                  <a:solidFill>
                    <a:srgbClr val="BE2F22"/>
                  </a:solidFill>
                  <a:latin typeface="Roboto Medium"/>
                  <a:ea typeface="Roboto Medium"/>
                  <a:cs typeface="Roboto Medium"/>
                  <a:sym typeface="Roboto Medium"/>
                </a:rPr>
                <a:t>Inclusive Solving Atmosphere</a:t>
              </a:r>
              <a:endParaRPr sz="4200">
                <a:solidFill>
                  <a:srgbClr val="BE2F22"/>
                </a:solidFill>
                <a:latin typeface="Roboto Medium"/>
                <a:ea typeface="Roboto Medium"/>
                <a:cs typeface="Roboto Medium"/>
                <a:sym typeface="Roboto Medium"/>
              </a:endParaRPr>
            </a:p>
            <a:p>
              <a:pPr indent="0" lvl="0" marL="0" rtl="0" algn="r">
                <a:lnSpc>
                  <a:spcPct val="90000"/>
                </a:lnSpc>
                <a:spcBef>
                  <a:spcPts val="0"/>
                </a:spcBef>
                <a:spcAft>
                  <a:spcPts val="0"/>
                </a:spcAft>
                <a:buNone/>
              </a:pPr>
              <a:r>
                <a:t/>
              </a:r>
              <a:endParaRPr sz="4200">
                <a:solidFill>
                  <a:srgbClr val="BE2F22"/>
                </a:solidFill>
                <a:latin typeface="Roboto Medium"/>
                <a:ea typeface="Roboto Medium"/>
                <a:cs typeface="Roboto Medium"/>
                <a:sym typeface="Roboto Medium"/>
              </a:endParaRPr>
            </a:p>
          </p:txBody>
        </p:sp>
        <p:sp>
          <p:nvSpPr>
            <p:cNvPr id="209" name="Google Shape;209;p25"/>
            <p:cNvSpPr/>
            <p:nvPr/>
          </p:nvSpPr>
          <p:spPr>
            <a:xfrm>
              <a:off x="2959908" y="3346927"/>
              <a:ext cx="4636529" cy="617704"/>
            </a:xfrm>
            <a:prstGeom prst="rect">
              <a:avLst/>
            </a:prstGeom>
            <a:solidFill>
              <a:srgbClr val="BE2F2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5"/>
            <p:cNvSpPr txBox="1"/>
            <p:nvPr/>
          </p:nvSpPr>
          <p:spPr>
            <a:xfrm>
              <a:off x="3099575" y="3389299"/>
              <a:ext cx="4315800" cy="531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Guide and teach rather than criticize and ridicule.</a:t>
              </a:r>
              <a:endParaRPr sz="1200">
                <a:solidFill>
                  <a:srgbClr val="FFFFFF"/>
                </a:solidFill>
                <a:latin typeface="Roboto"/>
                <a:ea typeface="Roboto"/>
                <a:cs typeface="Roboto"/>
                <a:sym typeface="Roboto"/>
              </a:endParaRPr>
            </a:p>
          </p:txBody>
        </p:sp>
      </p:grpSp>
      <p:grpSp>
        <p:nvGrpSpPr>
          <p:cNvPr id="211" name="Google Shape;211;p25"/>
          <p:cNvGrpSpPr/>
          <p:nvPr/>
        </p:nvGrpSpPr>
        <p:grpSpPr>
          <a:xfrm>
            <a:off x="311731" y="4093521"/>
            <a:ext cx="6881150" cy="617704"/>
            <a:chOff x="311731" y="4093521"/>
            <a:chExt cx="6881150" cy="617704"/>
          </a:xfrm>
        </p:grpSpPr>
        <p:sp>
          <p:nvSpPr>
            <p:cNvPr id="212" name="Google Shape;212;p25"/>
            <p:cNvSpPr txBox="1"/>
            <p:nvPr/>
          </p:nvSpPr>
          <p:spPr>
            <a:xfrm>
              <a:off x="311731" y="4135900"/>
              <a:ext cx="2564400" cy="531600"/>
            </a:xfrm>
            <a:prstGeom prst="rect">
              <a:avLst/>
            </a:prstGeom>
            <a:noFill/>
            <a:ln>
              <a:noFill/>
            </a:ln>
          </p:spPr>
          <p:txBody>
            <a:bodyPr anchorCtr="0" anchor="ctr" bIns="45700" lIns="91425" spcFirstLastPara="1" rIns="91425" wrap="square" tIns="45700">
              <a:normAutofit fontScale="32500"/>
            </a:bodyPr>
            <a:lstStyle/>
            <a:p>
              <a:pPr indent="0" lvl="0" marL="0" rtl="0" algn="r">
                <a:lnSpc>
                  <a:spcPct val="90000"/>
                </a:lnSpc>
                <a:spcBef>
                  <a:spcPts val="0"/>
                </a:spcBef>
                <a:spcAft>
                  <a:spcPts val="0"/>
                </a:spcAft>
                <a:buNone/>
              </a:pPr>
              <a:r>
                <a:rPr lang="en" sz="4200">
                  <a:solidFill>
                    <a:srgbClr val="D83829"/>
                  </a:solidFill>
                  <a:latin typeface="Roboto Medium"/>
                  <a:ea typeface="Roboto Medium"/>
                  <a:cs typeface="Roboto Medium"/>
                  <a:sym typeface="Roboto Medium"/>
                </a:rPr>
                <a:t>Structured Community Effort</a:t>
              </a:r>
              <a:endParaRPr sz="4200">
                <a:solidFill>
                  <a:srgbClr val="D83829"/>
                </a:solidFill>
                <a:latin typeface="Roboto Medium"/>
                <a:ea typeface="Roboto Medium"/>
                <a:cs typeface="Roboto Medium"/>
                <a:sym typeface="Roboto Medium"/>
              </a:endParaRPr>
            </a:p>
            <a:p>
              <a:pPr indent="0" lvl="0" marL="0" rtl="0" algn="r">
                <a:lnSpc>
                  <a:spcPct val="90000"/>
                </a:lnSpc>
                <a:spcBef>
                  <a:spcPts val="0"/>
                </a:spcBef>
                <a:spcAft>
                  <a:spcPts val="0"/>
                </a:spcAft>
                <a:buNone/>
              </a:pPr>
              <a:r>
                <a:t/>
              </a:r>
              <a:endParaRPr sz="4200">
                <a:solidFill>
                  <a:srgbClr val="D83829"/>
                </a:solidFill>
                <a:latin typeface="Roboto Medium"/>
                <a:ea typeface="Roboto Medium"/>
                <a:cs typeface="Roboto Medium"/>
                <a:sym typeface="Roboto Medium"/>
              </a:endParaRPr>
            </a:p>
          </p:txBody>
        </p:sp>
        <p:sp>
          <p:nvSpPr>
            <p:cNvPr id="213" name="Google Shape;213;p25"/>
            <p:cNvSpPr/>
            <p:nvPr/>
          </p:nvSpPr>
          <p:spPr>
            <a:xfrm>
              <a:off x="2959908" y="4093521"/>
              <a:ext cx="4232972" cy="617704"/>
            </a:xfrm>
            <a:prstGeom prst="rect">
              <a:avLst/>
            </a:prstGeom>
            <a:solidFill>
              <a:srgbClr val="D83829"/>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5"/>
            <p:cNvSpPr txBox="1"/>
            <p:nvPr/>
          </p:nvSpPr>
          <p:spPr>
            <a:xfrm>
              <a:off x="3086800" y="4135900"/>
              <a:ext cx="3921000" cy="5316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Solving sessions, documentation processes, collaborative efforts, and community resources.</a:t>
              </a:r>
              <a:endParaRPr sz="1200">
                <a:solidFill>
                  <a:srgbClr val="FFFFFF"/>
                </a:solidFill>
                <a:latin typeface="Roboto"/>
                <a:ea typeface="Roboto"/>
                <a:cs typeface="Roboto"/>
                <a:sym typeface="Roboto"/>
              </a:endParaRPr>
            </a:p>
          </p:txBody>
        </p:sp>
      </p:grpSp>
      <p:sp>
        <p:nvSpPr>
          <p:cNvPr id="215" name="Google Shape;215;p25"/>
          <p:cNvSpPr txBox="1"/>
          <p:nvPr>
            <p:ph type="title"/>
          </p:nvPr>
        </p:nvSpPr>
        <p:spPr>
          <a:xfrm>
            <a:off x="311700" y="438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CicadaSolvers - What makes us different</a:t>
            </a:r>
            <a:endParaRPr>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Our Main Challenges</a:t>
            </a:r>
            <a:endParaRPr>
              <a:latin typeface="Tahoma"/>
              <a:ea typeface="Tahoma"/>
              <a:cs typeface="Tahoma"/>
              <a:sym typeface="Tahoma"/>
            </a:endParaRPr>
          </a:p>
        </p:txBody>
      </p:sp>
      <p:grpSp>
        <p:nvGrpSpPr>
          <p:cNvPr id="221" name="Google Shape;221;p26"/>
          <p:cNvGrpSpPr/>
          <p:nvPr/>
        </p:nvGrpSpPr>
        <p:grpSpPr>
          <a:xfrm>
            <a:off x="658813" y="1198375"/>
            <a:ext cx="2486829" cy="3711155"/>
            <a:chOff x="1118224" y="283725"/>
            <a:chExt cx="2090826" cy="4076400"/>
          </a:xfrm>
        </p:grpSpPr>
        <p:sp>
          <p:nvSpPr>
            <p:cNvPr id="222" name="Google Shape;222;p26"/>
            <p:cNvSpPr/>
            <p:nvPr/>
          </p:nvSpPr>
          <p:spPr>
            <a:xfrm>
              <a:off x="1178650" y="283725"/>
              <a:ext cx="2030400" cy="4076400"/>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
            <p:cNvSpPr/>
            <p:nvPr/>
          </p:nvSpPr>
          <p:spPr>
            <a:xfrm>
              <a:off x="1118224" y="341749"/>
              <a:ext cx="2048100" cy="2490600"/>
            </a:xfrm>
            <a:prstGeom prst="rect">
              <a:avLst/>
            </a:prstGeom>
            <a:solidFill>
              <a:srgbClr val="FFFFFF"/>
            </a:solidFill>
            <a:ln cap="flat" cmpd="sng" w="19050">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6"/>
            <p:cNvSpPr/>
            <p:nvPr/>
          </p:nvSpPr>
          <p:spPr>
            <a:xfrm>
              <a:off x="1208090" y="512242"/>
              <a:ext cx="1815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14141"/>
                  </a:solidFill>
                  <a:latin typeface="Roboto Medium"/>
                  <a:ea typeface="Roboto Medium"/>
                  <a:cs typeface="Roboto Medium"/>
                  <a:sym typeface="Roboto Medium"/>
                </a:rPr>
                <a:t>Documentation</a:t>
              </a:r>
              <a:endParaRPr sz="1600">
                <a:solidFill>
                  <a:srgbClr val="414141"/>
                </a:solidFill>
                <a:latin typeface="Roboto Medium"/>
                <a:ea typeface="Roboto Medium"/>
                <a:cs typeface="Roboto Medium"/>
                <a:sym typeface="Roboto Medium"/>
              </a:endParaRPr>
            </a:p>
          </p:txBody>
        </p:sp>
        <p:sp>
          <p:nvSpPr>
            <p:cNvPr id="225" name="Google Shape;225;p26"/>
            <p:cNvSpPr/>
            <p:nvPr/>
          </p:nvSpPr>
          <p:spPr>
            <a:xfrm>
              <a:off x="1233923" y="1120346"/>
              <a:ext cx="1815000" cy="155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414141"/>
                  </a:solidFill>
                  <a:latin typeface="Roboto"/>
                  <a:ea typeface="Roboto"/>
                  <a:cs typeface="Roboto"/>
                  <a:sym typeface="Roboto"/>
                </a:rPr>
                <a:t>There are thousands of solving attempts every year, but very few are shared publicly. Furthermore, cryptanalyses of the current step are hard to reach.</a:t>
              </a:r>
              <a:endParaRPr sz="1200">
                <a:solidFill>
                  <a:srgbClr val="414141"/>
                </a:solidFill>
                <a:latin typeface="Roboto"/>
                <a:ea typeface="Roboto"/>
                <a:cs typeface="Roboto"/>
                <a:sym typeface="Roboto"/>
              </a:endParaRPr>
            </a:p>
          </p:txBody>
        </p:sp>
        <p:sp>
          <p:nvSpPr>
            <p:cNvPr id="226" name="Google Shape;226;p26"/>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6"/>
            <p:cNvSpPr/>
            <p:nvPr/>
          </p:nvSpPr>
          <p:spPr>
            <a:xfrm>
              <a:off x="1118308" y="3172455"/>
              <a:ext cx="2030400" cy="108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Centralize analyses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Make documentation easier</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Promote documentation</a:t>
              </a:r>
              <a:endParaRPr sz="1200">
                <a:solidFill>
                  <a:schemeClr val="dk1"/>
                </a:solidFill>
                <a:latin typeface="Roboto"/>
                <a:ea typeface="Roboto"/>
                <a:cs typeface="Roboto"/>
                <a:sym typeface="Roboto"/>
              </a:endParaRPr>
            </a:p>
          </p:txBody>
        </p:sp>
      </p:grpSp>
      <p:grpSp>
        <p:nvGrpSpPr>
          <p:cNvPr id="228" name="Google Shape;228;p26"/>
          <p:cNvGrpSpPr/>
          <p:nvPr/>
        </p:nvGrpSpPr>
        <p:grpSpPr>
          <a:xfrm>
            <a:off x="5757250" y="1198375"/>
            <a:ext cx="2486829" cy="3711155"/>
            <a:chOff x="1118224" y="283725"/>
            <a:chExt cx="2090826" cy="4076400"/>
          </a:xfrm>
        </p:grpSpPr>
        <p:sp>
          <p:nvSpPr>
            <p:cNvPr id="229" name="Google Shape;229;p26"/>
            <p:cNvSpPr/>
            <p:nvPr/>
          </p:nvSpPr>
          <p:spPr>
            <a:xfrm>
              <a:off x="1178650" y="283725"/>
              <a:ext cx="2030400" cy="4076400"/>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6"/>
            <p:cNvSpPr/>
            <p:nvPr/>
          </p:nvSpPr>
          <p:spPr>
            <a:xfrm>
              <a:off x="1118224" y="341749"/>
              <a:ext cx="2048100" cy="2490600"/>
            </a:xfrm>
            <a:prstGeom prst="rect">
              <a:avLst/>
            </a:prstGeom>
            <a:solidFill>
              <a:srgbClr val="FFFFFF"/>
            </a:solidFill>
            <a:ln cap="flat" cmpd="sng" w="19050">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6"/>
            <p:cNvSpPr/>
            <p:nvPr/>
          </p:nvSpPr>
          <p:spPr>
            <a:xfrm>
              <a:off x="1225914" y="512242"/>
              <a:ext cx="1815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14141"/>
                  </a:solidFill>
                  <a:latin typeface="Roboto Medium"/>
                  <a:ea typeface="Roboto Medium"/>
                  <a:cs typeface="Roboto Medium"/>
                  <a:sym typeface="Roboto Medium"/>
                </a:rPr>
                <a:t>Revolving Door</a:t>
              </a:r>
              <a:endParaRPr sz="1600">
                <a:solidFill>
                  <a:srgbClr val="414141"/>
                </a:solidFill>
                <a:latin typeface="Roboto Medium"/>
                <a:ea typeface="Roboto Medium"/>
                <a:cs typeface="Roboto Medium"/>
                <a:sym typeface="Roboto Medium"/>
              </a:endParaRPr>
            </a:p>
          </p:txBody>
        </p:sp>
        <p:sp>
          <p:nvSpPr>
            <p:cNvPr id="232" name="Google Shape;232;p26"/>
            <p:cNvSpPr/>
            <p:nvPr/>
          </p:nvSpPr>
          <p:spPr>
            <a:xfrm>
              <a:off x="1233933" y="1120345"/>
              <a:ext cx="1815000" cy="155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Solvers come and go all the time, so the  active solving community is constantly adapting to new members  and filling </a:t>
              </a:r>
              <a:r>
                <a:rPr lang="en" sz="1200">
                  <a:solidFill>
                    <a:schemeClr val="lt1"/>
                  </a:solidFill>
                  <a:latin typeface="Roboto"/>
                  <a:ea typeface="Roboto"/>
                  <a:cs typeface="Roboto"/>
                  <a:sym typeface="Roboto"/>
                </a:rPr>
                <a:t>the</a:t>
              </a:r>
              <a:r>
                <a:rPr lang="en" sz="1200">
                  <a:solidFill>
                    <a:schemeClr val="lt1"/>
                  </a:solidFill>
                  <a:latin typeface="Roboto"/>
                  <a:ea typeface="Roboto"/>
                  <a:cs typeface="Roboto"/>
                  <a:sym typeface="Roboto"/>
                </a:rPr>
                <a:t> shoes of old solvers.</a:t>
              </a:r>
              <a:endParaRPr sz="12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lt1"/>
                </a:solidFill>
                <a:latin typeface="Roboto"/>
                <a:ea typeface="Roboto"/>
                <a:cs typeface="Roboto"/>
                <a:sym typeface="Roboto"/>
              </a:endParaRPr>
            </a:p>
          </p:txBody>
        </p:sp>
        <p:sp>
          <p:nvSpPr>
            <p:cNvPr id="233" name="Google Shape;233;p26"/>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
            <p:cNvSpPr/>
            <p:nvPr/>
          </p:nvSpPr>
          <p:spPr>
            <a:xfrm>
              <a:off x="1118308" y="3172455"/>
              <a:ext cx="2030400" cy="108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Increase solver numbers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Maintain members</a:t>
              </a:r>
              <a:endParaRPr sz="1200">
                <a:solidFill>
                  <a:schemeClr val="dk1"/>
                </a:solidFill>
                <a:latin typeface="Roboto"/>
                <a:ea typeface="Roboto"/>
                <a:cs typeface="Roboto"/>
                <a:sym typeface="Roboto"/>
              </a:endParaRPr>
            </a:p>
          </p:txBody>
        </p:sp>
      </p:grpSp>
      <p:grpSp>
        <p:nvGrpSpPr>
          <p:cNvPr id="235" name="Google Shape;235;p26"/>
          <p:cNvGrpSpPr/>
          <p:nvPr/>
        </p:nvGrpSpPr>
        <p:grpSpPr>
          <a:xfrm>
            <a:off x="3208038" y="1198375"/>
            <a:ext cx="2486829" cy="3711155"/>
            <a:chOff x="1118224" y="283725"/>
            <a:chExt cx="2090826" cy="4076400"/>
          </a:xfrm>
        </p:grpSpPr>
        <p:sp>
          <p:nvSpPr>
            <p:cNvPr id="236" name="Google Shape;236;p26"/>
            <p:cNvSpPr/>
            <p:nvPr/>
          </p:nvSpPr>
          <p:spPr>
            <a:xfrm>
              <a:off x="1178650" y="283725"/>
              <a:ext cx="2030400" cy="4076400"/>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6"/>
            <p:cNvSpPr/>
            <p:nvPr/>
          </p:nvSpPr>
          <p:spPr>
            <a:xfrm>
              <a:off x="1118224" y="341749"/>
              <a:ext cx="2048100" cy="2490600"/>
            </a:xfrm>
            <a:prstGeom prst="rect">
              <a:avLst/>
            </a:prstGeom>
            <a:solidFill>
              <a:srgbClr val="FFFFFF"/>
            </a:solidFill>
            <a:ln cap="flat" cmpd="sng" w="19050">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6"/>
            <p:cNvSpPr/>
            <p:nvPr/>
          </p:nvSpPr>
          <p:spPr>
            <a:xfrm>
              <a:off x="1225914" y="512242"/>
              <a:ext cx="1815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14141"/>
                  </a:solidFill>
                  <a:latin typeface="Roboto Medium"/>
                  <a:ea typeface="Roboto Medium"/>
                  <a:cs typeface="Roboto Medium"/>
                  <a:sym typeface="Roboto Medium"/>
                </a:rPr>
                <a:t>Fake Puzzles</a:t>
              </a:r>
              <a:endParaRPr sz="1600">
                <a:solidFill>
                  <a:srgbClr val="414141"/>
                </a:solidFill>
                <a:latin typeface="Roboto Medium"/>
                <a:ea typeface="Roboto Medium"/>
                <a:cs typeface="Roboto Medium"/>
                <a:sym typeface="Roboto Medium"/>
              </a:endParaRPr>
            </a:p>
          </p:txBody>
        </p:sp>
        <p:sp>
          <p:nvSpPr>
            <p:cNvPr id="239" name="Google Shape;239;p26"/>
            <p:cNvSpPr/>
            <p:nvPr/>
          </p:nvSpPr>
          <p:spPr>
            <a:xfrm>
              <a:off x="1233933" y="1120345"/>
              <a:ext cx="1815000" cy="155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Fake puzzles are pervasive in the community. People commonly create puzzles that utilizes 3301’s fame to target </a:t>
              </a:r>
              <a:r>
                <a:rPr lang="en" sz="1200">
                  <a:solidFill>
                    <a:schemeClr val="lt1"/>
                  </a:solidFill>
                  <a:latin typeface="Roboto"/>
                  <a:ea typeface="Roboto"/>
                  <a:cs typeface="Roboto"/>
                  <a:sym typeface="Roboto"/>
                </a:rPr>
                <a:t>inexperienced solvers.</a:t>
              </a:r>
              <a:endParaRPr sz="1200">
                <a:solidFill>
                  <a:schemeClr val="lt1"/>
                </a:solidFill>
                <a:latin typeface="Roboto"/>
                <a:ea typeface="Roboto"/>
                <a:cs typeface="Roboto"/>
                <a:sym typeface="Roboto"/>
              </a:endParaRPr>
            </a:p>
          </p:txBody>
        </p:sp>
        <p:sp>
          <p:nvSpPr>
            <p:cNvPr id="240" name="Google Shape;240;p26"/>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6"/>
            <p:cNvSpPr/>
            <p:nvPr/>
          </p:nvSpPr>
          <p:spPr>
            <a:xfrm>
              <a:off x="1118308" y="3172455"/>
              <a:ext cx="2030400" cy="108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Flag fake puzzles without popularization</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Enlist lost solvers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Avoid fake puzzles</a:t>
              </a:r>
              <a:endParaRPr sz="1200">
                <a:solidFill>
                  <a:schemeClr val="dk1"/>
                </a:solidFill>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Documentation Challenge</a:t>
            </a:r>
            <a:endParaRPr>
              <a:latin typeface="Tahoma"/>
              <a:ea typeface="Tahoma"/>
              <a:cs typeface="Tahoma"/>
              <a:sym typeface="Tahoma"/>
            </a:endParaRPr>
          </a:p>
        </p:txBody>
      </p:sp>
      <p:sp>
        <p:nvSpPr>
          <p:cNvPr id="247" name="Google Shape;2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Where do we find analyses of Liber Primus?</a:t>
            </a:r>
            <a:endParaRPr/>
          </a:p>
          <a:p>
            <a:pPr indent="-317500" lvl="1" marL="914400" rtl="0" algn="l">
              <a:spcBef>
                <a:spcPts val="0"/>
              </a:spcBef>
              <a:spcAft>
                <a:spcPts val="0"/>
              </a:spcAft>
              <a:buSzPts val="1400"/>
              <a:buAutoNum type="alphaLcPeriod"/>
            </a:pPr>
            <a:r>
              <a:rPr lang="en"/>
              <a:t>Resources in Discord server</a:t>
            </a:r>
            <a:endParaRPr/>
          </a:p>
          <a:p>
            <a:pPr indent="-317500" lvl="1" marL="914400" rtl="0" algn="l">
              <a:spcBef>
                <a:spcPts val="0"/>
              </a:spcBef>
              <a:spcAft>
                <a:spcPts val="0"/>
              </a:spcAft>
              <a:buSzPts val="1400"/>
              <a:buAutoNum type="alphaLcPeriod"/>
            </a:pPr>
            <a:r>
              <a:rPr lang="en"/>
              <a:t>Uncovering Cicada Wikia</a:t>
            </a:r>
            <a:endParaRPr/>
          </a:p>
          <a:p>
            <a:pPr indent="-317500" lvl="1" marL="914400" rtl="0" algn="l">
              <a:spcBef>
                <a:spcPts val="0"/>
              </a:spcBef>
              <a:spcAft>
                <a:spcPts val="0"/>
              </a:spcAft>
              <a:buSzPts val="1400"/>
              <a:buAutoNum type="alphaLcPeriod"/>
            </a:pPr>
            <a:r>
              <a:rPr lang="en"/>
              <a:t>Individual solvers’ efforts to centralize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How do we find past solving attempts?</a:t>
            </a:r>
            <a:endParaRPr/>
          </a:p>
          <a:p>
            <a:pPr indent="-317500" lvl="1" marL="914400" rtl="0" algn="l">
              <a:spcBef>
                <a:spcPts val="0"/>
              </a:spcBef>
              <a:spcAft>
                <a:spcPts val="0"/>
              </a:spcAft>
              <a:buSzPts val="1400"/>
              <a:buAutoNum type="alphaLcPeriod"/>
            </a:pPr>
            <a:r>
              <a:rPr lang="en"/>
              <a:t>Discord search feature</a:t>
            </a:r>
            <a:endParaRPr/>
          </a:p>
          <a:p>
            <a:pPr indent="-317500" lvl="2" marL="1371600" rtl="0" algn="l">
              <a:spcBef>
                <a:spcPts val="0"/>
              </a:spcBef>
              <a:spcAft>
                <a:spcPts val="0"/>
              </a:spcAft>
              <a:buSzPts val="1400"/>
              <a:buAutoNum type="romanLcPeriod"/>
            </a:pPr>
            <a:r>
              <a:rPr lang="en"/>
              <a:t>Specific channels for specific topics</a:t>
            </a:r>
            <a:endParaRPr/>
          </a:p>
          <a:p>
            <a:pPr indent="-317500" lvl="1" marL="914400" rtl="0" algn="l">
              <a:spcBef>
                <a:spcPts val="0"/>
              </a:spcBef>
              <a:spcAft>
                <a:spcPts val="0"/>
              </a:spcAft>
              <a:buSzPts val="1400"/>
              <a:buAutoNum type="alphaLcPeriod"/>
            </a:pPr>
            <a:r>
              <a:rPr lang="en"/>
              <a:t>Potentially building systems to handle attempts</a:t>
            </a:r>
            <a:endParaRPr/>
          </a:p>
          <a:p>
            <a:pPr indent="-317500" lvl="2" marL="1371600" rtl="0" algn="l">
              <a:spcBef>
                <a:spcPts val="0"/>
              </a:spcBef>
              <a:spcAft>
                <a:spcPts val="0"/>
              </a:spcAft>
              <a:buSzPts val="1400"/>
              <a:buAutoNum type="romanLcPeriod"/>
            </a:pPr>
            <a:r>
              <a:rPr lang="en"/>
              <a:t>WeKan / Trello</a:t>
            </a:r>
            <a:endParaRPr/>
          </a:p>
          <a:p>
            <a:pPr indent="-317500" lvl="2" marL="1371600" rtl="0" algn="l">
              <a:spcBef>
                <a:spcPts val="0"/>
              </a:spcBef>
              <a:spcAft>
                <a:spcPts val="0"/>
              </a:spcAft>
              <a:buSzPts val="1400"/>
              <a:buAutoNum type="romanLcPeriod"/>
            </a:pPr>
            <a:r>
              <a:rPr lang="en"/>
              <a:t>Forums</a:t>
            </a:r>
            <a:endParaRPr/>
          </a:p>
          <a:p>
            <a:pPr indent="-317500" lvl="2" marL="1371600" rtl="0" algn="l">
              <a:spcBef>
                <a:spcPts val="0"/>
              </a:spcBef>
              <a:spcAft>
                <a:spcPts val="0"/>
              </a:spcAft>
              <a:buSzPts val="1400"/>
              <a:buAutoNum type="romanLcPeriod"/>
            </a:pPr>
            <a:r>
              <a:rPr lang="en"/>
              <a:t>“Solving cicada” github</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Revolving Door</a:t>
            </a:r>
            <a:endParaRPr>
              <a:latin typeface="Tahoma"/>
              <a:ea typeface="Tahoma"/>
              <a:cs typeface="Tahoma"/>
              <a:sym typeface="Tahoma"/>
            </a:endParaRPr>
          </a:p>
        </p:txBody>
      </p:sp>
      <p:sp>
        <p:nvSpPr>
          <p:cNvPr id="253" name="Google Shape;253;p28"/>
          <p:cNvSpPr/>
          <p:nvPr/>
        </p:nvSpPr>
        <p:spPr>
          <a:xfrm>
            <a:off x="3300425" y="1318442"/>
            <a:ext cx="2540100" cy="25401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 name="Google Shape;254;p28"/>
          <p:cNvGrpSpPr/>
          <p:nvPr/>
        </p:nvGrpSpPr>
        <p:grpSpPr>
          <a:xfrm>
            <a:off x="1531361" y="1467824"/>
            <a:ext cx="2084033" cy="669600"/>
            <a:chOff x="1528436" y="1315124"/>
            <a:chExt cx="2084033" cy="669600"/>
          </a:xfrm>
        </p:grpSpPr>
        <p:cxnSp>
          <p:nvCxnSpPr>
            <p:cNvPr id="255" name="Google Shape;255;p28"/>
            <p:cNvCxnSpPr/>
            <p:nvPr/>
          </p:nvCxnSpPr>
          <p:spPr>
            <a:xfrm>
              <a:off x="3178969" y="1638300"/>
              <a:ext cx="433500" cy="252300"/>
            </a:xfrm>
            <a:prstGeom prst="straightConnector1">
              <a:avLst/>
            </a:prstGeom>
            <a:noFill/>
            <a:ln cap="flat" cmpd="sng" w="19050">
              <a:solidFill>
                <a:srgbClr val="F48FB0"/>
              </a:solidFill>
              <a:prstDash val="solid"/>
              <a:round/>
              <a:headEnd len="med" w="med" type="oval"/>
              <a:tailEnd len="sm" w="sm" type="none"/>
            </a:ln>
          </p:spPr>
        </p:cxnSp>
        <p:sp>
          <p:nvSpPr>
            <p:cNvPr id="256" name="Google Shape;256;p28"/>
            <p:cNvSpPr txBox="1"/>
            <p:nvPr/>
          </p:nvSpPr>
          <p:spPr>
            <a:xfrm>
              <a:off x="1528436" y="1315124"/>
              <a:ext cx="1495200" cy="66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aseline="30000" lang="en">
                  <a:solidFill>
                    <a:schemeClr val="dk1"/>
                  </a:solidFill>
                  <a:latin typeface="Roboto"/>
                  <a:ea typeface="Roboto"/>
                  <a:cs typeface="Roboto"/>
                  <a:sym typeface="Roboto"/>
                </a:rPr>
                <a:t>3</a:t>
              </a:r>
              <a:r>
                <a:rPr lang="en" sz="2800">
                  <a:solidFill>
                    <a:schemeClr val="dk1"/>
                  </a:solidFill>
                  <a:latin typeface="Roboto"/>
                  <a:ea typeface="Roboto"/>
                  <a:cs typeface="Roboto"/>
                  <a:sym typeface="Roboto"/>
                </a:rPr>
                <a:t> </a:t>
              </a:r>
              <a:r>
                <a:rPr lang="en" sz="2800">
                  <a:solidFill>
                    <a:schemeClr val="dk1"/>
                  </a:solidFill>
                  <a:latin typeface="Roboto"/>
                  <a:ea typeface="Roboto"/>
                  <a:cs typeface="Roboto"/>
                  <a:sym typeface="Roboto"/>
                </a:rPr>
                <a:t>Leave</a:t>
              </a:r>
              <a:endParaRPr sz="2800">
                <a:solidFill>
                  <a:schemeClr val="dk1"/>
                </a:solidFill>
                <a:latin typeface="Roboto"/>
                <a:ea typeface="Roboto"/>
                <a:cs typeface="Roboto"/>
                <a:sym typeface="Roboto"/>
              </a:endParaRPr>
            </a:p>
            <a:p>
              <a:pPr indent="0" lvl="0" marL="0" rtl="0" algn="r">
                <a:lnSpc>
                  <a:spcPct val="115000"/>
                </a:lnSpc>
                <a:spcBef>
                  <a:spcPts val="0"/>
                </a:spcBef>
                <a:spcAft>
                  <a:spcPts val="0"/>
                </a:spcAft>
                <a:buNone/>
              </a:pPr>
              <a:r>
                <a:t/>
              </a:r>
              <a:endParaRPr sz="600">
                <a:solidFill>
                  <a:schemeClr val="dk1"/>
                </a:solidFill>
                <a:latin typeface="Roboto"/>
                <a:ea typeface="Roboto"/>
                <a:cs typeface="Roboto"/>
                <a:sym typeface="Roboto"/>
              </a:endParaRPr>
            </a:p>
            <a:p>
              <a:pPr indent="0" lvl="0" marL="0" rtl="0" algn="r">
                <a:lnSpc>
                  <a:spcPct val="115000"/>
                </a:lnSpc>
                <a:spcBef>
                  <a:spcPts val="0"/>
                </a:spcBef>
                <a:spcAft>
                  <a:spcPts val="0"/>
                </a:spcAft>
                <a:buNone/>
              </a:pPr>
              <a:r>
                <a:rPr lang="en">
                  <a:solidFill>
                    <a:schemeClr val="dk1"/>
                  </a:solidFill>
                  <a:latin typeface="Roboto"/>
                  <a:ea typeface="Roboto"/>
                  <a:cs typeface="Roboto"/>
                  <a:sym typeface="Roboto"/>
                </a:rPr>
                <a:t>The motivation weakens from failure fatigue</a:t>
              </a:r>
              <a:endParaRPr>
                <a:solidFill>
                  <a:schemeClr val="dk1"/>
                </a:solidFill>
                <a:latin typeface="Roboto"/>
                <a:ea typeface="Roboto"/>
                <a:cs typeface="Roboto"/>
                <a:sym typeface="Roboto"/>
              </a:endParaRPr>
            </a:p>
          </p:txBody>
        </p:sp>
      </p:grpSp>
      <p:grpSp>
        <p:nvGrpSpPr>
          <p:cNvPr id="257" name="Google Shape;257;p28"/>
          <p:cNvGrpSpPr/>
          <p:nvPr/>
        </p:nvGrpSpPr>
        <p:grpSpPr>
          <a:xfrm>
            <a:off x="5520244" y="1472184"/>
            <a:ext cx="2213792" cy="1412400"/>
            <a:chOff x="5517319" y="1319484"/>
            <a:chExt cx="2213792" cy="1412400"/>
          </a:xfrm>
        </p:grpSpPr>
        <p:cxnSp>
          <p:nvCxnSpPr>
            <p:cNvPr id="258" name="Google Shape;258;p28"/>
            <p:cNvCxnSpPr/>
            <p:nvPr/>
          </p:nvCxnSpPr>
          <p:spPr>
            <a:xfrm flipH="1">
              <a:off x="5517319" y="1638300"/>
              <a:ext cx="433500" cy="252300"/>
            </a:xfrm>
            <a:prstGeom prst="straightConnector1">
              <a:avLst/>
            </a:prstGeom>
            <a:noFill/>
            <a:ln cap="flat" cmpd="sng" w="19050">
              <a:solidFill>
                <a:srgbClr val="840D35"/>
              </a:solidFill>
              <a:prstDash val="solid"/>
              <a:round/>
              <a:headEnd len="med" w="med" type="oval"/>
              <a:tailEnd len="sm" w="sm" type="none"/>
            </a:ln>
          </p:spPr>
        </p:cxnSp>
        <p:sp>
          <p:nvSpPr>
            <p:cNvPr id="259" name="Google Shape;259;p28"/>
            <p:cNvSpPr txBox="1"/>
            <p:nvPr/>
          </p:nvSpPr>
          <p:spPr>
            <a:xfrm>
              <a:off x="6114411" y="1319484"/>
              <a:ext cx="1616700" cy="14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aseline="30000" lang="en">
                  <a:solidFill>
                    <a:schemeClr val="dk1"/>
                  </a:solidFill>
                  <a:latin typeface="Roboto"/>
                  <a:ea typeface="Roboto"/>
                  <a:cs typeface="Roboto"/>
                  <a:sym typeface="Roboto"/>
                </a:rPr>
                <a:t>1  </a:t>
              </a:r>
              <a:r>
                <a:rPr lang="en" sz="2800">
                  <a:solidFill>
                    <a:schemeClr val="dk1"/>
                  </a:solidFill>
                  <a:latin typeface="Roboto"/>
                  <a:ea typeface="Roboto"/>
                  <a:cs typeface="Roboto"/>
                  <a:sym typeface="Roboto"/>
                </a:rPr>
                <a:t>Join</a:t>
              </a:r>
              <a:endParaRPr sz="2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6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1"/>
                  </a:solidFill>
                  <a:latin typeface="Roboto"/>
                  <a:ea typeface="Roboto"/>
                  <a:cs typeface="Roboto"/>
                  <a:sym typeface="Roboto"/>
                </a:rPr>
                <a:t>Find the puzzle’s community with motivation to try solving</a:t>
              </a:r>
              <a:endParaRPr>
                <a:solidFill>
                  <a:schemeClr val="dk1"/>
                </a:solidFill>
                <a:latin typeface="Roboto"/>
                <a:ea typeface="Roboto"/>
                <a:cs typeface="Roboto"/>
                <a:sym typeface="Roboto"/>
              </a:endParaRPr>
            </a:p>
          </p:txBody>
        </p:sp>
      </p:grpSp>
      <p:grpSp>
        <p:nvGrpSpPr>
          <p:cNvPr id="260" name="Google Shape;260;p28"/>
          <p:cNvGrpSpPr/>
          <p:nvPr/>
        </p:nvGrpSpPr>
        <p:grpSpPr>
          <a:xfrm>
            <a:off x="1231125" y="3687840"/>
            <a:ext cx="6656400" cy="931935"/>
            <a:chOff x="1228200" y="3535140"/>
            <a:chExt cx="6656400" cy="931935"/>
          </a:xfrm>
        </p:grpSpPr>
        <p:cxnSp>
          <p:nvCxnSpPr>
            <p:cNvPr id="261" name="Google Shape;261;p28"/>
            <p:cNvCxnSpPr/>
            <p:nvPr/>
          </p:nvCxnSpPr>
          <p:spPr>
            <a:xfrm rot="10800000">
              <a:off x="4556399" y="3535140"/>
              <a:ext cx="0" cy="460500"/>
            </a:xfrm>
            <a:prstGeom prst="straightConnector1">
              <a:avLst/>
            </a:prstGeom>
            <a:noFill/>
            <a:ln cap="flat" cmpd="sng" w="19050">
              <a:solidFill>
                <a:srgbClr val="E1165A"/>
              </a:solidFill>
              <a:prstDash val="solid"/>
              <a:round/>
              <a:headEnd len="med" w="med" type="oval"/>
              <a:tailEnd len="sm" w="sm" type="none"/>
            </a:ln>
          </p:spPr>
        </p:cxnSp>
        <p:sp>
          <p:nvSpPr>
            <p:cNvPr id="262" name="Google Shape;262;p28"/>
            <p:cNvSpPr txBox="1"/>
            <p:nvPr/>
          </p:nvSpPr>
          <p:spPr>
            <a:xfrm>
              <a:off x="1228200" y="4006575"/>
              <a:ext cx="6656400" cy="460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aseline="30000" lang="en">
                  <a:solidFill>
                    <a:schemeClr val="dk1"/>
                  </a:solidFill>
                  <a:latin typeface="Roboto"/>
                  <a:ea typeface="Roboto"/>
                  <a:cs typeface="Roboto"/>
                  <a:sym typeface="Roboto"/>
                </a:rPr>
                <a:t>2</a:t>
              </a:r>
              <a:r>
                <a:rPr lang="en" sz="2800">
                  <a:solidFill>
                    <a:schemeClr val="dk1"/>
                  </a:solidFill>
                  <a:latin typeface="Roboto"/>
                  <a:ea typeface="Roboto"/>
                  <a:cs typeface="Roboto"/>
                  <a:sym typeface="Roboto"/>
                </a:rPr>
                <a:t> Work</a:t>
              </a:r>
              <a:endParaRPr sz="6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en">
                  <a:solidFill>
                    <a:schemeClr val="dk1"/>
                  </a:solidFill>
                  <a:latin typeface="Roboto"/>
                  <a:ea typeface="Roboto"/>
                  <a:cs typeface="Roboto"/>
                  <a:sym typeface="Roboto"/>
                </a:rPr>
                <a:t>Attempt everything you are motivated to try</a:t>
              </a:r>
              <a:endParaRPr>
                <a:solidFill>
                  <a:schemeClr val="dk1"/>
                </a:solidFill>
                <a:latin typeface="Roboto"/>
                <a:ea typeface="Roboto"/>
                <a:cs typeface="Roboto"/>
                <a:sym typeface="Roboto"/>
              </a:endParaRPr>
            </a:p>
          </p:txBody>
        </p:sp>
      </p:grpSp>
      <p:sp>
        <p:nvSpPr>
          <p:cNvPr id="263" name="Google Shape;263;p28"/>
          <p:cNvSpPr txBox="1"/>
          <p:nvPr/>
        </p:nvSpPr>
        <p:spPr>
          <a:xfrm>
            <a:off x="3848709" y="2209160"/>
            <a:ext cx="1443600" cy="804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700">
                <a:solidFill>
                  <a:schemeClr val="dk1"/>
                </a:solidFill>
                <a:latin typeface="Roboto"/>
                <a:ea typeface="Roboto"/>
                <a:cs typeface="Roboto"/>
                <a:sym typeface="Roboto"/>
              </a:rPr>
              <a:t>The Life-Cycle of a Solver</a:t>
            </a:r>
            <a:endParaRPr sz="1700">
              <a:solidFill>
                <a:schemeClr val="dk1"/>
              </a:solidFill>
            </a:endParaRPr>
          </a:p>
        </p:txBody>
      </p:sp>
      <p:sp>
        <p:nvSpPr>
          <p:cNvPr id="264" name="Google Shape;264;p28"/>
          <p:cNvSpPr/>
          <p:nvPr/>
        </p:nvSpPr>
        <p:spPr>
          <a:xfrm rot="1800047">
            <a:off x="3222768" y="1239134"/>
            <a:ext cx="2690936" cy="2690936"/>
          </a:xfrm>
          <a:prstGeom prst="blockArc">
            <a:avLst>
              <a:gd fmla="val 14414370" name="adj1"/>
              <a:gd fmla="val 694" name="adj2"/>
              <a:gd fmla="val 9562" name="adj3"/>
            </a:avLst>
          </a:prstGeom>
          <a:solidFill>
            <a:srgbClr val="840D35"/>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
          <p:cNvSpPr/>
          <p:nvPr/>
        </p:nvSpPr>
        <p:spPr>
          <a:xfrm flipH="1" rot="-1800047">
            <a:off x="3224881" y="1239134"/>
            <a:ext cx="2690936" cy="2690936"/>
          </a:xfrm>
          <a:prstGeom prst="blockArc">
            <a:avLst>
              <a:gd fmla="val 14348563" name="adj1"/>
              <a:gd fmla="val 21472873" name="adj2"/>
              <a:gd fmla="val 9381" name="adj3"/>
            </a:avLst>
          </a:prstGeom>
          <a:solidFill>
            <a:srgbClr val="F48FB0"/>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p:nvPr/>
        </p:nvSpPr>
        <p:spPr>
          <a:xfrm rot="-8100000">
            <a:off x="4385640" y="1180093"/>
            <a:ext cx="363170" cy="363170"/>
          </a:xfrm>
          <a:prstGeom prst="rtTriangle">
            <a:avLst/>
          </a:prstGeom>
          <a:solidFill>
            <a:srgbClr val="F48F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8"/>
          <p:cNvSpPr/>
          <p:nvPr/>
        </p:nvSpPr>
        <p:spPr>
          <a:xfrm flipH="1" rot="-9000757">
            <a:off x="3223878" y="1237508"/>
            <a:ext cx="2690226" cy="2690226"/>
          </a:xfrm>
          <a:prstGeom prst="blockArc">
            <a:avLst>
              <a:gd fmla="val 14316164" name="adj1"/>
              <a:gd fmla="val 21502663" name="adj2"/>
              <a:gd fmla="val 9415" name="adj3"/>
            </a:avLst>
          </a:prstGeom>
          <a:solidFill>
            <a:srgbClr val="E1165A"/>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
          <p:cNvSpPr/>
          <p:nvPr/>
        </p:nvSpPr>
        <p:spPr>
          <a:xfrm rot="-1027861">
            <a:off x="5488799" y="3002532"/>
            <a:ext cx="312672" cy="312672"/>
          </a:xfrm>
          <a:prstGeom prst="rtTriangle">
            <a:avLst/>
          </a:prstGeom>
          <a:solidFill>
            <a:srgbClr val="840D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8"/>
          <p:cNvSpPr/>
          <p:nvPr/>
        </p:nvSpPr>
        <p:spPr>
          <a:xfrm rot="6359841">
            <a:off x="3318726" y="3000462"/>
            <a:ext cx="363580" cy="363580"/>
          </a:xfrm>
          <a:prstGeom prst="rtTriangle">
            <a:avLst/>
          </a:prstGeom>
          <a:solidFill>
            <a:srgbClr val="E11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Our Main Advantages</a:t>
            </a:r>
            <a:endParaRPr>
              <a:latin typeface="Tahoma"/>
              <a:ea typeface="Tahoma"/>
              <a:cs typeface="Tahoma"/>
              <a:sym typeface="Tahoma"/>
            </a:endParaRPr>
          </a:p>
        </p:txBody>
      </p:sp>
      <p:grpSp>
        <p:nvGrpSpPr>
          <p:cNvPr id="275" name="Google Shape;275;p29"/>
          <p:cNvGrpSpPr/>
          <p:nvPr/>
        </p:nvGrpSpPr>
        <p:grpSpPr>
          <a:xfrm>
            <a:off x="658813" y="1198375"/>
            <a:ext cx="2486829" cy="3711155"/>
            <a:chOff x="1118224" y="283725"/>
            <a:chExt cx="2090826" cy="4076400"/>
          </a:xfrm>
        </p:grpSpPr>
        <p:sp>
          <p:nvSpPr>
            <p:cNvPr id="276" name="Google Shape;276;p29"/>
            <p:cNvSpPr/>
            <p:nvPr/>
          </p:nvSpPr>
          <p:spPr>
            <a:xfrm>
              <a:off x="1178650" y="283725"/>
              <a:ext cx="2030400" cy="4076400"/>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9"/>
            <p:cNvSpPr/>
            <p:nvPr/>
          </p:nvSpPr>
          <p:spPr>
            <a:xfrm>
              <a:off x="1118224" y="341749"/>
              <a:ext cx="2048100" cy="2490600"/>
            </a:xfrm>
            <a:prstGeom prst="rect">
              <a:avLst/>
            </a:prstGeom>
            <a:solidFill>
              <a:srgbClr val="FFFFFF"/>
            </a:solidFill>
            <a:ln cap="flat" cmpd="sng" w="19050">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9"/>
            <p:cNvSpPr/>
            <p:nvPr/>
          </p:nvSpPr>
          <p:spPr>
            <a:xfrm>
              <a:off x="1208090" y="512242"/>
              <a:ext cx="1815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14141"/>
                  </a:solidFill>
                  <a:latin typeface="Roboto Medium"/>
                  <a:ea typeface="Roboto Medium"/>
                  <a:cs typeface="Roboto Medium"/>
                  <a:sym typeface="Roboto Medium"/>
                </a:rPr>
                <a:t>Large Community</a:t>
              </a:r>
              <a:endParaRPr sz="1600">
                <a:solidFill>
                  <a:srgbClr val="414141"/>
                </a:solidFill>
                <a:latin typeface="Roboto Medium"/>
                <a:ea typeface="Roboto Medium"/>
                <a:cs typeface="Roboto Medium"/>
                <a:sym typeface="Roboto Medium"/>
              </a:endParaRPr>
            </a:p>
          </p:txBody>
        </p:sp>
        <p:sp>
          <p:nvSpPr>
            <p:cNvPr id="279" name="Google Shape;279;p29"/>
            <p:cNvSpPr/>
            <p:nvPr/>
          </p:nvSpPr>
          <p:spPr>
            <a:xfrm>
              <a:off x="1233923" y="1120346"/>
              <a:ext cx="1815000" cy="155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414141"/>
                  </a:solidFill>
                  <a:latin typeface="Roboto"/>
                  <a:ea typeface="Roboto"/>
                  <a:cs typeface="Roboto"/>
                  <a:sym typeface="Roboto"/>
                </a:rPr>
                <a:t>With thousands of members in our main Discord server, we always have multiple ongoing solving attempts.</a:t>
              </a:r>
              <a:endParaRPr sz="1200">
                <a:solidFill>
                  <a:srgbClr val="414141"/>
                </a:solidFill>
                <a:latin typeface="Roboto"/>
                <a:ea typeface="Roboto"/>
                <a:cs typeface="Roboto"/>
                <a:sym typeface="Roboto"/>
              </a:endParaRPr>
            </a:p>
          </p:txBody>
        </p:sp>
        <p:sp>
          <p:nvSpPr>
            <p:cNvPr id="280" name="Google Shape;280;p29"/>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a:off x="1118308" y="3172455"/>
              <a:ext cx="2030400" cy="108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How does community size correlate with  member retention?</a:t>
              </a:r>
              <a:endParaRPr sz="1200">
                <a:solidFill>
                  <a:schemeClr val="dk1"/>
                </a:solidFill>
                <a:latin typeface="Roboto"/>
                <a:ea typeface="Roboto"/>
                <a:cs typeface="Roboto"/>
                <a:sym typeface="Roboto"/>
              </a:endParaRPr>
            </a:p>
          </p:txBody>
        </p:sp>
      </p:grpSp>
      <p:grpSp>
        <p:nvGrpSpPr>
          <p:cNvPr id="282" name="Google Shape;282;p29"/>
          <p:cNvGrpSpPr/>
          <p:nvPr/>
        </p:nvGrpSpPr>
        <p:grpSpPr>
          <a:xfrm>
            <a:off x="3328575" y="1198375"/>
            <a:ext cx="2486829" cy="3711155"/>
            <a:chOff x="1118224" y="283725"/>
            <a:chExt cx="2090826" cy="4076400"/>
          </a:xfrm>
        </p:grpSpPr>
        <p:sp>
          <p:nvSpPr>
            <p:cNvPr id="283" name="Google Shape;283;p29"/>
            <p:cNvSpPr/>
            <p:nvPr/>
          </p:nvSpPr>
          <p:spPr>
            <a:xfrm>
              <a:off x="1178650" y="283725"/>
              <a:ext cx="2030400" cy="4076400"/>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9"/>
            <p:cNvSpPr/>
            <p:nvPr/>
          </p:nvSpPr>
          <p:spPr>
            <a:xfrm>
              <a:off x="1118224" y="341749"/>
              <a:ext cx="2048100" cy="2490600"/>
            </a:xfrm>
            <a:prstGeom prst="rect">
              <a:avLst/>
            </a:prstGeom>
            <a:solidFill>
              <a:srgbClr val="FFFFFF"/>
            </a:solidFill>
            <a:ln cap="flat" cmpd="sng" w="19050">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9"/>
            <p:cNvSpPr/>
            <p:nvPr/>
          </p:nvSpPr>
          <p:spPr>
            <a:xfrm>
              <a:off x="1208090" y="512242"/>
              <a:ext cx="1815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14141"/>
                  </a:solidFill>
                  <a:latin typeface="Roboto Medium"/>
                  <a:ea typeface="Roboto Medium"/>
                  <a:cs typeface="Roboto Medium"/>
                  <a:sym typeface="Roboto Medium"/>
                </a:rPr>
                <a:t>Organization of Manpower</a:t>
              </a:r>
              <a:endParaRPr sz="1600">
                <a:solidFill>
                  <a:srgbClr val="414141"/>
                </a:solidFill>
                <a:latin typeface="Roboto Medium"/>
                <a:ea typeface="Roboto Medium"/>
                <a:cs typeface="Roboto Medium"/>
                <a:sym typeface="Roboto Medium"/>
              </a:endParaRPr>
            </a:p>
          </p:txBody>
        </p:sp>
        <p:sp>
          <p:nvSpPr>
            <p:cNvPr id="286" name="Google Shape;286;p29"/>
            <p:cNvSpPr/>
            <p:nvPr/>
          </p:nvSpPr>
          <p:spPr>
            <a:xfrm>
              <a:off x="1233923" y="1120346"/>
              <a:ext cx="1815000" cy="155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414141"/>
                  </a:solidFill>
                  <a:latin typeface="Roboto"/>
                  <a:ea typeface="Roboto"/>
                  <a:cs typeface="Roboto"/>
                  <a:sym typeface="Roboto"/>
                </a:rPr>
                <a:t>With such a large community, we have developed strategies to optimize collaborative solving.</a:t>
              </a:r>
              <a:endParaRPr sz="1200">
                <a:solidFill>
                  <a:srgbClr val="414141"/>
                </a:solidFill>
                <a:latin typeface="Roboto"/>
                <a:ea typeface="Roboto"/>
                <a:cs typeface="Roboto"/>
                <a:sym typeface="Roboto"/>
              </a:endParaRPr>
            </a:p>
          </p:txBody>
        </p:sp>
        <p:sp>
          <p:nvSpPr>
            <p:cNvPr id="287" name="Google Shape;287;p29"/>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9"/>
            <p:cNvSpPr/>
            <p:nvPr/>
          </p:nvSpPr>
          <p:spPr>
            <a:xfrm>
              <a:off x="1118308" y="3172455"/>
              <a:ext cx="2030400" cy="108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How do our community events work?</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How do we share workload?</a:t>
              </a:r>
              <a:endParaRPr sz="1200">
                <a:solidFill>
                  <a:schemeClr val="dk1"/>
                </a:solidFill>
                <a:latin typeface="Roboto"/>
                <a:ea typeface="Roboto"/>
                <a:cs typeface="Roboto"/>
                <a:sym typeface="Roboto"/>
              </a:endParaRPr>
            </a:p>
          </p:txBody>
        </p:sp>
      </p:grpSp>
      <p:grpSp>
        <p:nvGrpSpPr>
          <p:cNvPr id="289" name="Google Shape;289;p29"/>
          <p:cNvGrpSpPr/>
          <p:nvPr/>
        </p:nvGrpSpPr>
        <p:grpSpPr>
          <a:xfrm>
            <a:off x="5998313" y="1198375"/>
            <a:ext cx="2486829" cy="3711155"/>
            <a:chOff x="1118224" y="283725"/>
            <a:chExt cx="2090826" cy="4076400"/>
          </a:xfrm>
        </p:grpSpPr>
        <p:sp>
          <p:nvSpPr>
            <p:cNvPr id="290" name="Google Shape;290;p29"/>
            <p:cNvSpPr/>
            <p:nvPr/>
          </p:nvSpPr>
          <p:spPr>
            <a:xfrm>
              <a:off x="1178650" y="283725"/>
              <a:ext cx="2030400" cy="4076400"/>
            </a:xfrm>
            <a:prstGeom prst="rect">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9"/>
            <p:cNvSpPr/>
            <p:nvPr/>
          </p:nvSpPr>
          <p:spPr>
            <a:xfrm>
              <a:off x="1118224" y="341749"/>
              <a:ext cx="2048100" cy="2490600"/>
            </a:xfrm>
            <a:prstGeom prst="rect">
              <a:avLst/>
            </a:prstGeom>
            <a:solidFill>
              <a:srgbClr val="FFFFFF"/>
            </a:solidFill>
            <a:ln cap="flat" cmpd="sng" w="19050">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9"/>
            <p:cNvSpPr/>
            <p:nvPr/>
          </p:nvSpPr>
          <p:spPr>
            <a:xfrm>
              <a:off x="1208090" y="512242"/>
              <a:ext cx="18150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414141"/>
                  </a:solidFill>
                  <a:latin typeface="Roboto Medium"/>
                  <a:ea typeface="Roboto Medium"/>
                  <a:cs typeface="Roboto Medium"/>
                  <a:sym typeface="Roboto Medium"/>
                </a:rPr>
                <a:t>Active Tool Development</a:t>
              </a:r>
              <a:endParaRPr sz="1600">
                <a:solidFill>
                  <a:srgbClr val="414141"/>
                </a:solidFill>
                <a:latin typeface="Roboto Medium"/>
                <a:ea typeface="Roboto Medium"/>
                <a:cs typeface="Roboto Medium"/>
                <a:sym typeface="Roboto Medium"/>
              </a:endParaRPr>
            </a:p>
          </p:txBody>
        </p:sp>
        <p:sp>
          <p:nvSpPr>
            <p:cNvPr id="293" name="Google Shape;293;p29"/>
            <p:cNvSpPr/>
            <p:nvPr/>
          </p:nvSpPr>
          <p:spPr>
            <a:xfrm>
              <a:off x="1233923" y="1120335"/>
              <a:ext cx="1815000" cy="155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414141"/>
                  </a:solidFill>
                  <a:latin typeface="Roboto"/>
                  <a:ea typeface="Roboto"/>
                  <a:cs typeface="Roboto"/>
                  <a:sym typeface="Roboto"/>
                </a:rPr>
                <a:t>Solvers have streamlined the solving process through the creation of tools.</a:t>
              </a:r>
              <a:endParaRPr sz="1200">
                <a:solidFill>
                  <a:srgbClr val="414141"/>
                </a:solidFill>
                <a:latin typeface="Roboto"/>
                <a:ea typeface="Roboto"/>
                <a:cs typeface="Roboto"/>
                <a:sym typeface="Roboto"/>
              </a:endParaRPr>
            </a:p>
          </p:txBody>
        </p:sp>
        <p:sp>
          <p:nvSpPr>
            <p:cNvPr id="294" name="Google Shape;294;p29"/>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9"/>
            <p:cNvSpPr/>
            <p:nvPr/>
          </p:nvSpPr>
          <p:spPr>
            <a:xfrm>
              <a:off x="1118308" y="3172455"/>
              <a:ext cx="2030400" cy="1085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What tools do we have?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How do we make tools easier to build?</a:t>
              </a:r>
              <a:endParaRPr sz="1200">
                <a:solidFill>
                  <a:schemeClr val="dk1"/>
                </a:solidFill>
                <a:latin typeface="Roboto"/>
                <a:ea typeface="Roboto"/>
                <a:cs typeface="Roboto"/>
                <a:sym typeface="Robo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Benefits of Our Community’s Size</a:t>
            </a:r>
            <a:endParaRPr>
              <a:latin typeface="Tahoma"/>
              <a:ea typeface="Tahoma"/>
              <a:cs typeface="Tahoma"/>
              <a:sym typeface="Tahoma"/>
            </a:endParaRPr>
          </a:p>
        </p:txBody>
      </p:sp>
      <p:sp>
        <p:nvSpPr>
          <p:cNvPr id="301" name="Google Shape;30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Constant flow of new attempts and people eager to learn </a:t>
            </a:r>
            <a:br>
              <a:rPr lang="en"/>
            </a:br>
            <a:endParaRPr/>
          </a:p>
          <a:p>
            <a:pPr indent="-342900" lvl="0" marL="457200" rtl="0" algn="l">
              <a:spcBef>
                <a:spcPts val="0"/>
              </a:spcBef>
              <a:spcAft>
                <a:spcPts val="0"/>
              </a:spcAft>
              <a:buSzPts val="1800"/>
              <a:buChar char="●"/>
            </a:pPr>
            <a:r>
              <a:rPr lang="en"/>
              <a:t>The more solvers there are, the easier it is for new solvers to stick around</a:t>
            </a:r>
            <a:endParaRPr sz="1400"/>
          </a:p>
          <a:p>
            <a:pPr indent="-317500" lvl="1" marL="914400" rtl="0" algn="l">
              <a:spcBef>
                <a:spcPts val="0"/>
              </a:spcBef>
              <a:spcAft>
                <a:spcPts val="0"/>
              </a:spcAft>
              <a:buSzPts val="1400"/>
              <a:buChar char="○"/>
            </a:pPr>
            <a:r>
              <a:rPr lang="en" sz="1400"/>
              <a:t>Older solvers can help out newer solvers</a:t>
            </a:r>
            <a:endParaRPr/>
          </a:p>
          <a:p>
            <a:pPr indent="-317500" lvl="1" marL="914400" rtl="0" algn="l">
              <a:spcBef>
                <a:spcPts val="0"/>
              </a:spcBef>
              <a:spcAft>
                <a:spcPts val="0"/>
              </a:spcAft>
              <a:buSzPts val="1400"/>
              <a:buChar char="○"/>
            </a:pPr>
            <a:r>
              <a:rPr lang="en"/>
              <a:t>More motivation to solve when there are other people</a:t>
            </a:r>
            <a:endParaRPr/>
          </a:p>
          <a:p>
            <a:pPr indent="-317500" lvl="1" marL="914400" rtl="0" algn="l">
              <a:spcBef>
                <a:spcPts val="0"/>
              </a:spcBef>
              <a:spcAft>
                <a:spcPts val="0"/>
              </a:spcAft>
              <a:buSzPts val="1400"/>
              <a:buChar char="○"/>
            </a:pPr>
            <a:r>
              <a:rPr lang="en"/>
              <a:t>More solvers → more solving ideas → you are more likely to find an idea you like </a:t>
            </a:r>
            <a:r>
              <a:rPr lang="en"/>
              <a:t>→ more solving motivation</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Organization of Manpower</a:t>
            </a:r>
            <a:endParaRPr>
              <a:latin typeface="Tahoma"/>
              <a:ea typeface="Tahoma"/>
              <a:cs typeface="Tahoma"/>
              <a:sym typeface="Tahoma"/>
            </a:endParaRPr>
          </a:p>
        </p:txBody>
      </p:sp>
      <p:sp>
        <p:nvSpPr>
          <p:cNvPr id="307" name="Google Shape;30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Voice Sessions</a:t>
            </a:r>
            <a:endParaRPr/>
          </a:p>
          <a:p>
            <a:pPr indent="-342900" lvl="0" marL="457200" rtl="0" algn="l">
              <a:spcBef>
                <a:spcPts val="1200"/>
              </a:spcBef>
              <a:spcAft>
                <a:spcPts val="0"/>
              </a:spcAft>
              <a:buSzPts val="1800"/>
              <a:buChar char="●"/>
            </a:pPr>
            <a:r>
              <a:rPr lang="en"/>
              <a:t>Weekly and monthly events since January 2020 where community members gather in a voice channel</a:t>
            </a:r>
            <a:endParaRPr/>
          </a:p>
          <a:p>
            <a:pPr indent="-342900" lvl="0" marL="457200" rtl="0" algn="l">
              <a:spcBef>
                <a:spcPts val="0"/>
              </a:spcBef>
              <a:spcAft>
                <a:spcPts val="0"/>
              </a:spcAft>
              <a:buSzPts val="1800"/>
              <a:buChar char="●"/>
            </a:pPr>
            <a:r>
              <a:rPr lang="en"/>
              <a:t>Best place to share ideas and solve together</a:t>
            </a:r>
            <a:endParaRPr/>
          </a:p>
          <a:p>
            <a:pPr indent="0" lvl="0" marL="0" rtl="0" algn="l">
              <a:spcBef>
                <a:spcPts val="1200"/>
              </a:spcBef>
              <a:spcAft>
                <a:spcPts val="0"/>
              </a:spcAft>
              <a:buNone/>
            </a:pPr>
            <a:r>
              <a:rPr lang="en"/>
              <a:t>Teaming up on solving</a:t>
            </a:r>
            <a:endParaRPr/>
          </a:p>
          <a:p>
            <a:pPr indent="-342900" lvl="0" marL="457200" rtl="0" algn="l">
              <a:spcBef>
                <a:spcPts val="1200"/>
              </a:spcBef>
              <a:spcAft>
                <a:spcPts val="0"/>
              </a:spcAft>
              <a:buSzPts val="1800"/>
              <a:buChar char="●"/>
            </a:pPr>
            <a:r>
              <a:rPr lang="en"/>
              <a:t>Voice sessions allow for sharing of workload</a:t>
            </a:r>
            <a:endParaRPr/>
          </a:p>
          <a:p>
            <a:pPr indent="-342900" lvl="0" marL="457200" rtl="0" algn="l">
              <a:spcBef>
                <a:spcPts val="0"/>
              </a:spcBef>
              <a:spcAft>
                <a:spcPts val="0"/>
              </a:spcAft>
              <a:buSzPts val="1800"/>
              <a:buChar char="●"/>
            </a:pPr>
            <a:r>
              <a:rPr lang="en"/>
              <a:t>Delineation of tasks</a:t>
            </a:r>
            <a:endParaRPr/>
          </a:p>
          <a:p>
            <a:pPr indent="-342900" lvl="0" marL="457200" rtl="0" algn="l">
              <a:spcBef>
                <a:spcPts val="0"/>
              </a:spcBef>
              <a:spcAft>
                <a:spcPts val="0"/>
              </a:spcAft>
              <a:buSzPts val="1800"/>
              <a:buChar char="●"/>
            </a:pPr>
            <a:r>
              <a:rPr lang="en"/>
              <a:t>Vet ideas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Creation and Usage of Tools</a:t>
            </a:r>
            <a:endParaRPr>
              <a:latin typeface="Tahoma"/>
              <a:ea typeface="Tahoma"/>
              <a:cs typeface="Tahoma"/>
              <a:sym typeface="Tahoma"/>
            </a:endParaRPr>
          </a:p>
        </p:txBody>
      </p:sp>
      <p:sp>
        <p:nvSpPr>
          <p:cNvPr id="313" name="Google Shape;31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Tools we have</a:t>
            </a:r>
            <a:endParaRPr/>
          </a:p>
          <a:p>
            <a:pPr indent="-334327" lvl="0" marL="457200" rtl="0" algn="l">
              <a:spcBef>
                <a:spcPts val="1200"/>
              </a:spcBef>
              <a:spcAft>
                <a:spcPts val="0"/>
              </a:spcAft>
              <a:buSzPct val="100000"/>
              <a:buChar char="●"/>
            </a:pPr>
            <a:r>
              <a:rPr lang="en"/>
              <a:t>Cyberchef adaptation - General tool for ciphers adapted </a:t>
            </a:r>
            <a:r>
              <a:rPr lang="en"/>
              <a:t>to support runes</a:t>
            </a:r>
            <a:endParaRPr/>
          </a:p>
          <a:p>
            <a:pPr indent="-334327" lvl="0" marL="457200" rtl="0" algn="l">
              <a:spcBef>
                <a:spcPts val="0"/>
              </a:spcBef>
              <a:spcAft>
                <a:spcPts val="0"/>
              </a:spcAft>
              <a:buSzPct val="100000"/>
              <a:buChar char="●"/>
            </a:pPr>
            <a:r>
              <a:rPr lang="en"/>
              <a:t>TaiiwoBot (</a:t>
            </a:r>
            <a:r>
              <a:rPr lang="en"/>
              <a:t>CicadaBot) - Discord and IRC </a:t>
            </a:r>
            <a:r>
              <a:rPr lang="en"/>
              <a:t>bot </a:t>
            </a:r>
            <a:r>
              <a:rPr lang="en"/>
              <a:t>for rapid prototyping and more</a:t>
            </a:r>
            <a:endParaRPr/>
          </a:p>
          <a:p>
            <a:pPr indent="-334327" lvl="0" marL="457200" rtl="0" algn="l">
              <a:spcBef>
                <a:spcPts val="0"/>
              </a:spcBef>
              <a:spcAft>
                <a:spcPts val="0"/>
              </a:spcAft>
              <a:buSzPct val="100000"/>
              <a:buChar char="●"/>
            </a:pPr>
            <a:r>
              <a:rPr lang="en"/>
              <a:t>Many specialized scripts to run tests and ciphers</a:t>
            </a:r>
            <a:endParaRPr/>
          </a:p>
          <a:p>
            <a:pPr indent="-334327" lvl="0" marL="457200" rtl="0" algn="l">
              <a:spcBef>
                <a:spcPts val="0"/>
              </a:spcBef>
              <a:spcAft>
                <a:spcPts val="0"/>
              </a:spcAft>
              <a:buSzPct val="100000"/>
              <a:buChar char="●"/>
            </a:pPr>
            <a:r>
              <a:rPr lang="en"/>
              <a:t>3301 Hash alarm - hashes browser pages automatically</a:t>
            </a:r>
            <a:endParaRPr/>
          </a:p>
          <a:p>
            <a:pPr indent="-334327" lvl="0" marL="457200" rtl="0" algn="l">
              <a:spcBef>
                <a:spcPts val="0"/>
              </a:spcBef>
              <a:spcAft>
                <a:spcPts val="0"/>
              </a:spcAft>
              <a:buSzPct val="100000"/>
              <a:buChar char="●"/>
            </a:pPr>
            <a:r>
              <a:rPr lang="en"/>
              <a:t>Many more - C</a:t>
            </a:r>
            <a:r>
              <a:rPr lang="en"/>
              <a:t>ataloguing these tools is a project of it's own</a:t>
            </a:r>
            <a:endParaRPr/>
          </a:p>
          <a:p>
            <a:pPr indent="0" lvl="0" marL="0" rtl="0" algn="l">
              <a:spcBef>
                <a:spcPts val="1200"/>
              </a:spcBef>
              <a:spcAft>
                <a:spcPts val="0"/>
              </a:spcAft>
              <a:buNone/>
            </a:pPr>
            <a:r>
              <a:rPr lang="en"/>
              <a:t>Making tool development easier</a:t>
            </a:r>
            <a:endParaRPr/>
          </a:p>
          <a:p>
            <a:pPr indent="-334327" lvl="0" marL="457200" rtl="0" algn="l">
              <a:spcBef>
                <a:spcPts val="1200"/>
              </a:spcBef>
              <a:spcAft>
                <a:spcPts val="0"/>
              </a:spcAft>
              <a:buSzPct val="100000"/>
              <a:buChar char="●"/>
            </a:pPr>
            <a:r>
              <a:rPr lang="en"/>
              <a:t>Taiiwo’s cicada library - OOP</a:t>
            </a:r>
            <a:r>
              <a:rPr lang="en"/>
              <a:t> Python library for rune conversion and more</a:t>
            </a:r>
            <a:endParaRPr/>
          </a:p>
          <a:p>
            <a:pPr indent="-334327" lvl="0" marL="457200" rtl="0" algn="l">
              <a:spcBef>
                <a:spcPts val="0"/>
              </a:spcBef>
              <a:spcAft>
                <a:spcPts val="0"/>
              </a:spcAft>
              <a:buSzPct val="100000"/>
              <a:buChar char="●"/>
            </a:pPr>
            <a:r>
              <a:rPr lang="en"/>
              <a:t>Open source culture</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ahoma"/>
                <a:ea typeface="Tahoma"/>
                <a:cs typeface="Tahoma"/>
                <a:sym typeface="Tahoma"/>
              </a:rPr>
              <a:t>The Future Will Prevail</a:t>
            </a:r>
            <a:endParaRPr>
              <a:latin typeface="Tahoma"/>
              <a:ea typeface="Tahoma"/>
              <a:cs typeface="Tahoma"/>
              <a:sym typeface="Tahoma"/>
            </a:endParaRPr>
          </a:p>
        </p:txBody>
      </p:sp>
      <p:sp>
        <p:nvSpPr>
          <p:cNvPr id="319" name="Google Shape;319;p33"/>
          <p:cNvSpPr txBox="1"/>
          <p:nvPr>
            <p:ph idx="1" type="body"/>
          </p:nvPr>
        </p:nvSpPr>
        <p:spPr>
          <a:xfrm>
            <a:off x="311700" y="1152475"/>
            <a:ext cx="8166000" cy="496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year’s DEF CON theme is ‘The Future Will Prevail’</a:t>
            </a:r>
            <a:endParaRPr/>
          </a:p>
        </p:txBody>
      </p:sp>
      <p:pic>
        <p:nvPicPr>
          <p:cNvPr id="320" name="Google Shape;320;p33"/>
          <p:cNvPicPr preferRelativeResize="0"/>
          <p:nvPr/>
        </p:nvPicPr>
        <p:blipFill>
          <a:blip r:embed="rId3">
            <a:alphaModFix/>
          </a:blip>
          <a:stretch>
            <a:fillRect/>
          </a:stretch>
        </p:blipFill>
        <p:spPr>
          <a:xfrm>
            <a:off x="4958925" y="1595600"/>
            <a:ext cx="3940125" cy="2836900"/>
          </a:xfrm>
          <a:prstGeom prst="rect">
            <a:avLst/>
          </a:prstGeom>
          <a:noFill/>
          <a:ln>
            <a:noFill/>
          </a:ln>
        </p:spPr>
      </p:pic>
      <p:sp>
        <p:nvSpPr>
          <p:cNvPr id="321" name="Google Shape;321;p33"/>
          <p:cNvSpPr txBox="1"/>
          <p:nvPr/>
        </p:nvSpPr>
        <p:spPr>
          <a:xfrm>
            <a:off x="311700" y="1595600"/>
            <a:ext cx="4585200" cy="2609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2"/>
              </a:buClr>
              <a:buSzPts val="1800"/>
              <a:buChar char="●"/>
            </a:pPr>
            <a:r>
              <a:rPr lang="en" sz="1800">
                <a:solidFill>
                  <a:schemeClr val="lt2"/>
                </a:solidFill>
              </a:rPr>
              <a:t>The CicadaSolvers community embodies this spirit</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We have worked for years against all odds to solve the the unsolvable</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If we don’t stay optimistic, we know we will give up</a:t>
            </a:r>
            <a:endParaRPr sz="1800">
              <a:solidFill>
                <a:schemeClr val="lt2"/>
              </a:solidFill>
            </a:endParaRPr>
          </a:p>
          <a:p>
            <a:pPr indent="-342900" lvl="0" marL="457200" rtl="0" algn="l">
              <a:lnSpc>
                <a:spcPct val="115000"/>
              </a:lnSpc>
              <a:spcBef>
                <a:spcPts val="0"/>
              </a:spcBef>
              <a:spcAft>
                <a:spcPts val="0"/>
              </a:spcAft>
              <a:buClr>
                <a:schemeClr val="lt2"/>
              </a:buClr>
              <a:buSzPts val="1800"/>
              <a:buChar char="●"/>
            </a:pPr>
            <a:r>
              <a:rPr lang="en" sz="1800">
                <a:solidFill>
                  <a:schemeClr val="lt2"/>
                </a:solidFill>
              </a:rPr>
              <a:t>The future will prevail because people are learning now</a:t>
            </a:r>
            <a:endParaRPr sz="1800">
              <a:solidFill>
                <a:schemeClr val="lt2"/>
              </a:solidFill>
            </a:endParaRPr>
          </a:p>
          <a:p>
            <a:pPr indent="0" lvl="0" marL="0" rtl="0" algn="l">
              <a:spcBef>
                <a:spcPts val="12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133">
                <a:solidFill>
                  <a:srgbClr val="FF0000"/>
                </a:solidFill>
                <a:latin typeface="Tahoma"/>
                <a:ea typeface="Tahoma"/>
                <a:cs typeface="Tahoma"/>
                <a:sym typeface="Tahoma"/>
              </a:rPr>
              <a:t>A</a:t>
            </a:r>
            <a:r>
              <a:rPr lang="en">
                <a:solidFill>
                  <a:srgbClr val="FF0000"/>
                </a:solidFill>
                <a:latin typeface="Tahoma"/>
                <a:ea typeface="Tahoma"/>
                <a:cs typeface="Tahoma"/>
                <a:sym typeface="Tahoma"/>
              </a:rPr>
              <a:t>n End</a:t>
            </a:r>
            <a:endParaRPr>
              <a:solidFill>
                <a:srgbClr val="FF0000"/>
              </a:solidFill>
              <a:latin typeface="Tahoma"/>
              <a:ea typeface="Tahoma"/>
              <a:cs typeface="Tahoma"/>
              <a:sym typeface="Tahoma"/>
            </a:endParaRPr>
          </a:p>
        </p:txBody>
      </p:sp>
      <p:sp>
        <p:nvSpPr>
          <p:cNvPr id="327" name="Google Shape;327;p3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Recap</a:t>
            </a:r>
            <a:endParaRPr sz="1600">
              <a:solidFill>
                <a:schemeClr val="dk1"/>
              </a:solidFill>
            </a:endParaRPr>
          </a:p>
          <a:p>
            <a:pPr indent="-317500" lvl="0" marL="457200" rtl="0" algn="l">
              <a:spcBef>
                <a:spcPts val="1200"/>
              </a:spcBef>
              <a:spcAft>
                <a:spcPts val="0"/>
              </a:spcAft>
              <a:buSzPts val="1400"/>
              <a:buChar char="-"/>
            </a:pPr>
            <a:r>
              <a:rPr lang="en"/>
              <a:t>Overview of Cicada 3301</a:t>
            </a:r>
            <a:endParaRPr/>
          </a:p>
          <a:p>
            <a:pPr indent="-317500" lvl="0" marL="457200" rtl="0" algn="l">
              <a:spcBef>
                <a:spcPts val="0"/>
              </a:spcBef>
              <a:spcAft>
                <a:spcPts val="0"/>
              </a:spcAft>
              <a:buSzPts val="1400"/>
              <a:buChar char="-"/>
            </a:pPr>
            <a:r>
              <a:rPr lang="en"/>
              <a:t>Puzzle disinformation</a:t>
            </a:r>
            <a:endParaRPr/>
          </a:p>
          <a:p>
            <a:pPr indent="-317500" lvl="0" marL="457200" rtl="0" algn="l">
              <a:spcBef>
                <a:spcPts val="0"/>
              </a:spcBef>
              <a:spcAft>
                <a:spcPts val="0"/>
              </a:spcAft>
              <a:buSzPts val="1400"/>
              <a:buChar char="-"/>
            </a:pPr>
            <a:r>
              <a:rPr lang="en"/>
              <a:t>The Liber Primus and the deep web hash</a:t>
            </a:r>
            <a:endParaRPr/>
          </a:p>
          <a:p>
            <a:pPr indent="-317500" lvl="0" marL="457200" rtl="0" algn="l">
              <a:spcBef>
                <a:spcPts val="0"/>
              </a:spcBef>
              <a:spcAft>
                <a:spcPts val="0"/>
              </a:spcAft>
              <a:buSzPts val="1400"/>
              <a:buChar char="-"/>
            </a:pPr>
            <a:r>
              <a:rPr lang="en"/>
              <a:t>The CicadaSolvers community</a:t>
            </a:r>
            <a:endParaRPr/>
          </a:p>
          <a:p>
            <a:pPr indent="-317500" lvl="0" marL="457200" rtl="0" algn="l">
              <a:spcBef>
                <a:spcPts val="0"/>
              </a:spcBef>
              <a:spcAft>
                <a:spcPts val="0"/>
              </a:spcAft>
              <a:buSzPts val="1400"/>
              <a:buChar char="-"/>
            </a:pPr>
            <a:r>
              <a:rPr lang="en"/>
              <a:t>Our approach to collaborative puzzle-solving</a:t>
            </a:r>
            <a:endParaRPr/>
          </a:p>
          <a:p>
            <a:pPr indent="-317500" lvl="0" marL="457200" rtl="0" algn="l">
              <a:spcBef>
                <a:spcPts val="0"/>
              </a:spcBef>
              <a:spcAft>
                <a:spcPts val="0"/>
              </a:spcAft>
              <a:buSzPts val="1400"/>
              <a:buChar char="-"/>
            </a:pPr>
            <a:r>
              <a:rPr lang="en"/>
              <a:t>The future will prevail</a:t>
            </a:r>
            <a:endParaRPr/>
          </a:p>
        </p:txBody>
      </p:sp>
      <p:sp>
        <p:nvSpPr>
          <p:cNvPr id="328" name="Google Shape;328;p3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Important Links</a:t>
            </a:r>
            <a:endParaRPr sz="1600">
              <a:solidFill>
                <a:schemeClr val="dk1"/>
              </a:solidFill>
            </a:endParaRPr>
          </a:p>
          <a:p>
            <a:pPr indent="-317500" lvl="0" marL="457200" rtl="0" algn="l">
              <a:spcBef>
                <a:spcPts val="1200"/>
              </a:spcBef>
              <a:spcAft>
                <a:spcPts val="0"/>
              </a:spcAft>
              <a:buSzPts val="1400"/>
              <a:buChar char="-"/>
            </a:pPr>
            <a:r>
              <a:rPr lang="en"/>
              <a:t>Uncovering Cicada Wikia</a:t>
            </a:r>
            <a:endParaRPr/>
          </a:p>
          <a:p>
            <a:pPr indent="-317500" lvl="0" marL="457200" rtl="0" algn="l">
              <a:spcBef>
                <a:spcPts val="0"/>
              </a:spcBef>
              <a:spcAft>
                <a:spcPts val="0"/>
              </a:spcAft>
              <a:buSzPts val="1400"/>
              <a:buChar char="-"/>
            </a:pPr>
            <a:r>
              <a:rPr lang="en"/>
              <a:t>cicada.gq/discord</a:t>
            </a:r>
            <a:endParaRPr/>
          </a:p>
          <a:p>
            <a:pPr indent="-317500" lvl="0" marL="457200" rtl="0" algn="l">
              <a:spcBef>
                <a:spcPts val="0"/>
              </a:spcBef>
              <a:spcAft>
                <a:spcPts val="0"/>
              </a:spcAft>
              <a:buSzPts val="1400"/>
              <a:buChar char="-"/>
            </a:pPr>
            <a:r>
              <a:rPr lang="en"/>
              <a:t>github.com/cicada-solvers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