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media/image2.jpeg" ContentType="image/jpeg"/>
  <Override PartName="/ppt/media/image3.jpeg" ContentType="image/jpeg"/>
  <Override PartName="/ppt/notesSlides/notesSlide1.xml" ContentType="application/vnd.openxmlformats-officedocument.presentationml.notesSlide+xml"/>
  <Override PartName="/ppt/media/image4.jpeg" ContentType="image/jpeg"/>
  <Override PartName="/ppt/media/media1.mp4" ContentType="video/unknown"/>
  <Override PartName="/ppt/media/image5.jpeg" ContentType="image/jpeg"/>
  <Override PartName="/ppt/media/media2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8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38100" dist="64529" dir="2700000">
            <a:srgbClr val="000000">
              <a:alpha val="48275"/>
            </a:srgbClr>
          </a:outerShdw>
        </a:effectLst>
        <a:uFillTx/>
        <a:latin typeface="+mn-lt"/>
        <a:ea typeface="+mn-ea"/>
        <a:cs typeface="+mn-cs"/>
        <a:sym typeface="Helvetica Neue Light"/>
      </a:defRPr>
    </a:lvl1pPr>
    <a:lvl2pPr marL="0" marR="0" indent="3429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8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38100" dist="64529" dir="2700000">
            <a:srgbClr val="000000">
              <a:alpha val="48275"/>
            </a:srgbClr>
          </a:outerShdw>
        </a:effectLst>
        <a:uFillTx/>
        <a:latin typeface="+mn-lt"/>
        <a:ea typeface="+mn-ea"/>
        <a:cs typeface="+mn-cs"/>
        <a:sym typeface="Helvetica Neue Light"/>
      </a:defRPr>
    </a:lvl2pPr>
    <a:lvl3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8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38100" dist="64529" dir="2700000">
            <a:srgbClr val="000000">
              <a:alpha val="48275"/>
            </a:srgbClr>
          </a:outerShdw>
        </a:effectLst>
        <a:uFillTx/>
        <a:latin typeface="+mn-lt"/>
        <a:ea typeface="+mn-ea"/>
        <a:cs typeface="+mn-cs"/>
        <a:sym typeface="Helvetica Neue Light"/>
      </a:defRPr>
    </a:lvl3pPr>
    <a:lvl4pPr marL="0" marR="0" indent="10287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8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38100" dist="64529" dir="2700000">
            <a:srgbClr val="000000">
              <a:alpha val="48275"/>
            </a:srgbClr>
          </a:outerShdw>
        </a:effectLst>
        <a:uFillTx/>
        <a:latin typeface="+mn-lt"/>
        <a:ea typeface="+mn-ea"/>
        <a:cs typeface="+mn-cs"/>
        <a:sym typeface="Helvetica Neue Light"/>
      </a:defRPr>
    </a:lvl4pPr>
    <a:lvl5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8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38100" dist="64529" dir="2700000">
            <a:srgbClr val="000000">
              <a:alpha val="48275"/>
            </a:srgbClr>
          </a:outerShdw>
        </a:effectLst>
        <a:uFillTx/>
        <a:latin typeface="+mn-lt"/>
        <a:ea typeface="+mn-ea"/>
        <a:cs typeface="+mn-cs"/>
        <a:sym typeface="Helvetica Neue Light"/>
      </a:defRPr>
    </a:lvl5pPr>
    <a:lvl6pPr marL="0" marR="0" indent="17145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8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38100" dist="64529" dir="2700000">
            <a:srgbClr val="000000">
              <a:alpha val="48275"/>
            </a:srgbClr>
          </a:outerShdw>
        </a:effectLst>
        <a:uFillTx/>
        <a:latin typeface="+mn-lt"/>
        <a:ea typeface="+mn-ea"/>
        <a:cs typeface="+mn-cs"/>
        <a:sym typeface="Helvetica Neue Light"/>
      </a:defRPr>
    </a:lvl6pPr>
    <a:lvl7pPr marL="0" marR="0" indent="2057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8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38100" dist="64529" dir="2700000">
            <a:srgbClr val="000000">
              <a:alpha val="48275"/>
            </a:srgbClr>
          </a:outerShdw>
        </a:effectLst>
        <a:uFillTx/>
        <a:latin typeface="+mn-lt"/>
        <a:ea typeface="+mn-ea"/>
        <a:cs typeface="+mn-cs"/>
        <a:sym typeface="Helvetica Neue Light"/>
      </a:defRPr>
    </a:lvl7pPr>
    <a:lvl8pPr marL="0" marR="0" indent="24003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8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38100" dist="64529" dir="2700000">
            <a:srgbClr val="000000">
              <a:alpha val="48275"/>
            </a:srgbClr>
          </a:outerShdw>
        </a:effectLst>
        <a:uFillTx/>
        <a:latin typeface="+mn-lt"/>
        <a:ea typeface="+mn-ea"/>
        <a:cs typeface="+mn-cs"/>
        <a:sym typeface="Helvetica Neue Light"/>
      </a:defRPr>
    </a:lvl8pPr>
    <a:lvl9pPr marL="0" marR="0" indent="2743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800" u="none" kumimoji="0" normalizeH="0">
        <a:ln>
          <a:noFill/>
        </a:ln>
        <a:solidFill>
          <a:srgbClr val="FFFFFF"/>
        </a:solidFill>
        <a:effectLst>
          <a:outerShdw sx="100000" sy="100000" kx="0" ky="0" algn="b" rotWithShape="0" blurRad="38100" dist="64529" dir="2700000">
            <a:srgbClr val="000000">
              <a:alpha val="48275"/>
            </a:srgbClr>
          </a:outerShdw>
        </a:effectLst>
        <a:uFillTx/>
        <a:latin typeface="+mn-lt"/>
        <a:ea typeface="+mn-ea"/>
        <a:cs typeface="+mn-cs"/>
        <a:sym typeface="Helvetica Neue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def" i="de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676164">
              <a:alpha val="36000"/>
            </a:srgbClr>
          </a:solidFill>
        </a:fill>
      </a:tcStyle>
    </a:band2H>
    <a:firstCol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firstCol>
    <a:lastRow>
      <a:tcTxStyle b="def" i="de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lastRow>
    <a:firstRow>
      <a:tcTxStyle b="def" i="de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firstRow>
  </a:tblStyle>
  <a:tblStyle styleId="{C7B018BB-80A7-4F77-B60F-C8B233D01FF8}" styleName="">
    <a:tblBg/>
    <a:wholeTbl>
      <a:tcTxStyle b="def" i="de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676163">
              <a:alpha val="36000"/>
            </a:srgbClr>
          </a:solidFill>
        </a:fill>
      </a:tcStyle>
    </a:wholeTbl>
    <a:band2H>
      <a:tcTxStyle b="def" i="def"/>
      <a:tcStyle>
        <a:tcBdr/>
        <a:fill>
          <a:solidFill>
            <a:srgbClr val="676163">
              <a:alpha val="0"/>
            </a:srgbClr>
          </a:solidFill>
        </a:fill>
      </a:tcStyle>
    </a:band2H>
    <a:firstCol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top>
          <a:bottom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97EB">
              <a:alpha val="75000"/>
            </a:srgbClr>
          </a:solidFill>
        </a:fill>
      </a:tcStyle>
    </a:lastRow>
    <a:firstRow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000000">
                  <a:alpha val="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97EB">
              <a:alpha val="75000"/>
            </a:srgbClr>
          </a:solidFill>
        </a:fill>
      </a:tcStyle>
    </a:firstRow>
  </a:tblStyle>
  <a:tblStyle styleId="{EEE7283C-3CF3-47DC-8721-378D4A62B228}" styleName="">
    <a:tblBg/>
    <a:wholeTbl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4908F">
              <a:alpha val="64999"/>
            </a:srgbClr>
          </a:solidFill>
        </a:fill>
      </a:tcStyle>
    </a:band2H>
    <a:firstCol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firstCol>
    <a:lastRow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929292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71E00">
              <a:alpha val="80000"/>
            </a:srgbClr>
          </a:solidFill>
        </a:fill>
      </a:tcStyle>
    </a:lastRow>
    <a:firstRow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929292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2800">
              <a:alpha val="80000"/>
            </a:srgbClr>
          </a:solidFill>
        </a:fill>
      </a:tcStyle>
    </a:firstRow>
  </a:tblStyle>
  <a:tblStyle styleId="{CF821DB8-F4EB-4A41-A1BA-3FCAFE7338EE}" styleName="">
    <a:tblBg/>
    <a:wholeTbl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wholeTbl>
    <a:band2H>
      <a:tcTxStyle b="def" i="def"/>
      <a:tcStyle>
        <a:tcBdr/>
        <a:fill>
          <a:solidFill>
            <a:srgbClr val="676163">
              <a:alpha val="0"/>
            </a:srgbClr>
          </a:solidFill>
        </a:fill>
      </a:tcStyle>
    </a:band2H>
    <a:firstCol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400">
              <a:alpha val="90000"/>
            </a:srgbClr>
          </a:solidFill>
        </a:fill>
      </a:tcStyle>
    </a:lastRow>
    <a:firstRow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B400">
              <a:alpha val="90000"/>
            </a:srgbClr>
          </a:solidFill>
        </a:fill>
      </a:tcStyle>
    </a:firstRow>
  </a:tblStyle>
  <a:tblStyle styleId="{33BA23B1-9221-436E-865A-0063620EA4FD}" styleName="">
    <a:tblBg/>
    <a:wholeTbl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7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676164">
              <a:alpha val="36000"/>
            </a:srgbClr>
          </a:solidFill>
        </a:fill>
      </a:tcStyle>
    </a:band2H>
    <a:firstCol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firstCol>
    <a:lastRow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27D7D">
              <a:alpha val="64999"/>
            </a:srgbClr>
          </a:solidFill>
        </a:fill>
      </a:tcStyle>
    </a:lastRow>
    <a:firstRow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27D7D">
              <a:alpha val="64999"/>
            </a:srgbClr>
          </a:solidFill>
        </a:fill>
      </a:tcStyle>
    </a:firstRow>
  </a:tblStyle>
  <a:tblStyle styleId="{2708684C-4D16-4618-839F-0558EEFCDFE6}" styleName="">
    <a:tblBg/>
    <a:wholeTbl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676164">
              <a:alpha val="36000"/>
            </a:srgbClr>
          </a:solidFill>
        </a:fill>
      </a:tcStyle>
    </a:band2H>
    <a:firstCol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def" i="de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A0A4A8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lastRow>
    <a:firstRow>
      <a:tcTxStyle b="def" i="de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left>
          <a:right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bottom>
          <a:insideH>
            <a:ln w="25400" cap="flat">
              <a:solidFill>
                <a:srgbClr val="A0A4A8"/>
              </a:solidFill>
              <a:prstDash val="solid"/>
              <a:miter lim="400000"/>
            </a:ln>
          </a:insideH>
          <a:insideV>
            <a:ln w="25400" cap="flat">
              <a:solidFill>
                <a:srgbClr val="FFFFFF">
                  <a:alpha val="50000"/>
                </a:srgbClr>
              </a:solidFill>
              <a:prstDash val="solid"/>
              <a:miter lim="400000"/>
            </a:ln>
          </a:insideV>
        </a:tcBdr>
        <a:fill>
          <a:solidFill>
            <a:srgbClr val="676164">
              <a:alpha val="36000"/>
            </a:srgbClr>
          </a:solidFill>
        </a:fill>
      </a:tcStyle>
    </a:firstRow>
  </a:tblStyle>
  <a:tblStyle styleId="{8F44A2F1-9E1F-4B54-A3A2-5F16C0AD49E2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76163">
              <a:alpha val="36000"/>
            </a:srgbClr>
          </a:solidFill>
        </a:fill>
      </a:tcStyle>
    </a:wholeTbl>
    <a:band2H>
      <a:tcTxStyle b="def" i="def"/>
      <a:tcStyle>
        <a:tcBdr/>
        <a:fill>
          <a:solidFill>
            <a:srgbClr val="676163">
              <a:alpha val="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0071EB">
              <a:alpha val="60000"/>
            </a:srgb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4" name="Shape 13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200">
        <a:latin typeface="Lucida Grande"/>
        <a:ea typeface="Lucida Grande"/>
        <a:cs typeface="Lucida Grande"/>
        <a:sym typeface="Lucida Grande"/>
      </a:defRPr>
    </a:lvl1pPr>
    <a:lvl2pPr defTabSz="584200" latinLnBrk="0">
      <a:defRPr sz="2200">
        <a:latin typeface="Lucida Grande"/>
        <a:ea typeface="Lucida Grande"/>
        <a:cs typeface="Lucida Grande"/>
        <a:sym typeface="Lucida Grande"/>
      </a:defRPr>
    </a:lvl2pPr>
    <a:lvl3pPr defTabSz="584200" latinLnBrk="0">
      <a:defRPr sz="2200">
        <a:latin typeface="Lucida Grande"/>
        <a:ea typeface="Lucida Grande"/>
        <a:cs typeface="Lucida Grande"/>
        <a:sym typeface="Lucida Grande"/>
      </a:defRPr>
    </a:lvl3pPr>
    <a:lvl4pPr defTabSz="584200" latinLnBrk="0">
      <a:defRPr sz="2200">
        <a:latin typeface="Lucida Grande"/>
        <a:ea typeface="Lucida Grande"/>
        <a:cs typeface="Lucida Grande"/>
        <a:sym typeface="Lucida Grande"/>
      </a:defRPr>
    </a:lvl4pPr>
    <a:lvl5pPr defTabSz="584200" latinLnBrk="0">
      <a:defRPr sz="2200">
        <a:latin typeface="Lucida Grande"/>
        <a:ea typeface="Lucida Grande"/>
        <a:cs typeface="Lucida Grande"/>
        <a:sym typeface="Lucida Grande"/>
      </a:defRPr>
    </a:lvl5pPr>
    <a:lvl6pPr defTabSz="584200" latinLnBrk="0">
      <a:defRPr sz="2200">
        <a:latin typeface="Lucida Grande"/>
        <a:ea typeface="Lucida Grande"/>
        <a:cs typeface="Lucida Grande"/>
        <a:sym typeface="Lucida Grande"/>
      </a:defRPr>
    </a:lvl6pPr>
    <a:lvl7pPr defTabSz="584200" latinLnBrk="0">
      <a:defRPr sz="2200">
        <a:latin typeface="Lucida Grande"/>
        <a:ea typeface="Lucida Grande"/>
        <a:cs typeface="Lucida Grande"/>
        <a:sym typeface="Lucida Grande"/>
      </a:defRPr>
    </a:lvl7pPr>
    <a:lvl8pPr defTabSz="584200" latinLnBrk="0">
      <a:defRPr sz="2200">
        <a:latin typeface="Lucida Grande"/>
        <a:ea typeface="Lucida Grande"/>
        <a:cs typeface="Lucida Grande"/>
        <a:sym typeface="Lucida Grande"/>
      </a:defRPr>
    </a:lvl8pPr>
    <a:lvl9pPr defTabSz="584200" latinLnBrk="0">
      <a:defRPr sz="22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Shape 1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CC 2.0 Image credit A. Siegel: https://www.flickr.com/photos/66322003@N00/8133716733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4155281" y="1928812"/>
            <a:ext cx="15894844" cy="4929188"/>
          </a:xfrm>
          <a:prstGeom prst="rect">
            <a:avLst/>
          </a:prstGeom>
        </p:spPr>
        <p:txBody>
          <a:bodyPr lIns="71437" tIns="71437" rIns="71437" bIns="71437" anchor="b">
            <a:noAutofit/>
          </a:bodyPr>
          <a:lstStyle>
            <a:lvl1pPr defTabSz="821531">
              <a:defRPr sz="11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Bold"/>
                <a:ea typeface="Inconsolata Regular Bold"/>
                <a:cs typeface="Inconsolata Regular Bold"/>
                <a:sym typeface="Inconsolata Regular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half" idx="1"/>
          </p:nvPr>
        </p:nvSpPr>
        <p:spPr>
          <a:xfrm>
            <a:off x="4155281" y="6840140"/>
            <a:ext cx="15894844" cy="4232673"/>
          </a:xfrm>
          <a:prstGeom prst="rect">
            <a:avLst/>
          </a:prstGeom>
        </p:spPr>
        <p:txBody>
          <a:bodyPr lIns="71437" tIns="71437" rIns="71437" bIns="71437">
            <a:noAutofit/>
          </a:bodyPr>
          <a:lstStyle>
            <a:lvl1pPr marL="0" indent="0" defTabSz="821531">
              <a:lnSpc>
                <a:spcPct val="100000"/>
              </a:lnSpc>
              <a:spcBef>
                <a:spcPts val="1600"/>
              </a:spcBef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1pPr>
            <a:lvl2pPr marL="0" indent="0" defTabSz="821531">
              <a:lnSpc>
                <a:spcPct val="100000"/>
              </a:lnSpc>
              <a:spcBef>
                <a:spcPts val="1600"/>
              </a:spcBef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2pPr>
            <a:lvl3pPr marL="0" indent="0" defTabSz="821531">
              <a:lnSpc>
                <a:spcPct val="100000"/>
              </a:lnSpc>
              <a:spcBef>
                <a:spcPts val="1600"/>
              </a:spcBef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3pPr>
            <a:lvl4pPr marL="0" indent="0" defTabSz="821531">
              <a:lnSpc>
                <a:spcPct val="100000"/>
              </a:lnSpc>
              <a:spcBef>
                <a:spcPts val="1600"/>
              </a:spcBef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4pPr>
            <a:lvl5pPr marL="0" indent="0" defTabSz="821531">
              <a:lnSpc>
                <a:spcPct val="100000"/>
              </a:lnSpc>
              <a:spcBef>
                <a:spcPts val="1600"/>
              </a:spcBef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20706050" y="13109062"/>
            <a:ext cx="409779" cy="428345"/>
          </a:xfrm>
          <a:prstGeom prst="rect">
            <a:avLst/>
          </a:prstGeom>
        </p:spPr>
        <p:txBody>
          <a:bodyPr lIns="71437" tIns="71437" rIns="71437" bIns="71437" anchor="b"/>
          <a:lstStyle>
            <a:lvl1pPr defTabSz="821531">
              <a:defRPr b="1" sz="1800">
                <a:solidFill>
                  <a:srgbClr val="FFFFFF">
                    <a:alpha val="70000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155281" y="357187"/>
            <a:ext cx="16073438" cy="3429001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defTabSz="821531">
              <a:defRPr sz="11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half" idx="1"/>
          </p:nvPr>
        </p:nvSpPr>
        <p:spPr>
          <a:xfrm>
            <a:off x="4155281" y="3893343"/>
            <a:ext cx="16073438" cy="8036720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marL="564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1pPr>
            <a:lvl2pPr marL="10089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2pPr>
            <a:lvl3pPr marL="1453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3pPr>
            <a:lvl4pPr marL="18979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4pPr>
            <a:lvl5pPr marL="2342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xfrm>
            <a:off x="20706050" y="13109062"/>
            <a:ext cx="409779" cy="428345"/>
          </a:xfrm>
          <a:prstGeom prst="rect">
            <a:avLst/>
          </a:prstGeom>
        </p:spPr>
        <p:txBody>
          <a:bodyPr lIns="71437" tIns="71437" rIns="71437" bIns="71437" anchor="b"/>
          <a:lstStyle>
            <a:lvl1pPr defTabSz="821531">
              <a:defRPr b="1" sz="1800">
                <a:solidFill>
                  <a:srgbClr val="FFFFFF">
                    <a:alpha val="70000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- 2 Colum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4155281" y="357187"/>
            <a:ext cx="16073438" cy="3429001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defTabSz="821531">
              <a:defRPr sz="11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4155281" y="3893343"/>
            <a:ext cx="16073438" cy="8036720"/>
          </a:xfrm>
          <a:prstGeom prst="rect">
            <a:avLst/>
          </a:prstGeom>
        </p:spPr>
        <p:txBody>
          <a:bodyPr lIns="71437" tIns="71437" rIns="71437" bIns="71437" numCol="2" spcCol="803671">
            <a:noAutofit/>
          </a:bodyPr>
          <a:lstStyle>
            <a:lvl1pPr marL="564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1pPr>
            <a:lvl2pPr marL="10089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2pPr>
            <a:lvl3pPr marL="1453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3pPr>
            <a:lvl4pPr marL="18979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4pPr>
            <a:lvl5pPr marL="2342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xfrm>
            <a:off x="20706050" y="13109062"/>
            <a:ext cx="409779" cy="428345"/>
          </a:xfrm>
          <a:prstGeom prst="rect">
            <a:avLst/>
          </a:prstGeom>
        </p:spPr>
        <p:txBody>
          <a:bodyPr lIns="71437" tIns="71437" rIns="71437" bIns="71437" anchor="b"/>
          <a:lstStyle>
            <a:lvl1pPr defTabSz="821531">
              <a:defRPr b="1" sz="1800">
                <a:solidFill>
                  <a:srgbClr val="FFFFFF">
                    <a:alpha val="70000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ody Level One…"/>
          <p:cNvSpPr txBox="1"/>
          <p:nvPr>
            <p:ph type="body" idx="1"/>
          </p:nvPr>
        </p:nvSpPr>
        <p:spPr>
          <a:xfrm>
            <a:off x="4155281" y="1928812"/>
            <a:ext cx="16073438" cy="9858376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marL="564444" indent="-564444" defTabSz="821531">
              <a:lnSpc>
                <a:spcPct val="100000"/>
              </a:lnSpc>
              <a:spcBef>
                <a:spcPts val="50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1pPr>
            <a:lvl2pPr marL="1008944" indent="-564444" defTabSz="821531">
              <a:lnSpc>
                <a:spcPct val="100000"/>
              </a:lnSpc>
              <a:spcBef>
                <a:spcPts val="50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2pPr>
            <a:lvl3pPr marL="1453444" indent="-564444" defTabSz="821531">
              <a:lnSpc>
                <a:spcPct val="100000"/>
              </a:lnSpc>
              <a:spcBef>
                <a:spcPts val="50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3pPr>
            <a:lvl4pPr marL="1897944" indent="-564444" defTabSz="821531">
              <a:lnSpc>
                <a:spcPct val="100000"/>
              </a:lnSpc>
              <a:spcBef>
                <a:spcPts val="50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4pPr>
            <a:lvl5pPr marL="2342444" indent="-564444" defTabSz="821531">
              <a:lnSpc>
                <a:spcPct val="100000"/>
              </a:lnSpc>
              <a:spcBef>
                <a:spcPts val="50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lide Number"/>
          <p:cNvSpPr txBox="1"/>
          <p:nvPr>
            <p:ph type="sldNum" sz="quarter" idx="2"/>
          </p:nvPr>
        </p:nvSpPr>
        <p:spPr>
          <a:xfrm>
            <a:off x="20706050" y="13109062"/>
            <a:ext cx="409779" cy="428345"/>
          </a:xfrm>
          <a:prstGeom prst="rect">
            <a:avLst/>
          </a:prstGeom>
        </p:spPr>
        <p:txBody>
          <a:bodyPr lIns="71437" tIns="71437" rIns="71437" bIns="71437" anchor="b"/>
          <a:lstStyle>
            <a:lvl1pPr defTabSz="821531">
              <a:defRPr b="1" sz="1800">
                <a:solidFill>
                  <a:srgbClr val="FFFFFF">
                    <a:alpha val="70000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"/>
          <p:cNvSpPr txBox="1"/>
          <p:nvPr>
            <p:ph type="sldNum" sz="quarter" idx="2"/>
          </p:nvPr>
        </p:nvSpPr>
        <p:spPr>
          <a:xfrm>
            <a:off x="20706050" y="13109062"/>
            <a:ext cx="409779" cy="428345"/>
          </a:xfrm>
          <a:prstGeom prst="rect">
            <a:avLst/>
          </a:prstGeom>
        </p:spPr>
        <p:txBody>
          <a:bodyPr lIns="71437" tIns="71437" rIns="71437" bIns="71437" anchor="b"/>
          <a:lstStyle>
            <a:lvl1pPr defTabSz="821531">
              <a:defRPr b="1" sz="1800">
                <a:solidFill>
                  <a:srgbClr val="FFFFFF">
                    <a:alpha val="70000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/>
          <p:nvPr>
            <p:ph type="title"/>
          </p:nvPr>
        </p:nvSpPr>
        <p:spPr>
          <a:xfrm>
            <a:off x="4155281" y="357187"/>
            <a:ext cx="16073438" cy="3429001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defTabSz="821531">
              <a:defRPr sz="11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4" name="Slide Number"/>
          <p:cNvSpPr txBox="1"/>
          <p:nvPr>
            <p:ph type="sldNum" sz="quarter" idx="2"/>
          </p:nvPr>
        </p:nvSpPr>
        <p:spPr>
          <a:xfrm>
            <a:off x="20706050" y="13109062"/>
            <a:ext cx="409779" cy="428345"/>
          </a:xfrm>
          <a:prstGeom prst="rect">
            <a:avLst/>
          </a:prstGeom>
        </p:spPr>
        <p:txBody>
          <a:bodyPr lIns="71437" tIns="71437" rIns="71437" bIns="71437" anchor="b"/>
          <a:lstStyle>
            <a:lvl1pPr defTabSz="821531">
              <a:defRPr b="1" sz="1800">
                <a:solidFill>
                  <a:srgbClr val="FFFFFF">
                    <a:alpha val="70000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/>
          <p:nvPr>
            <p:ph type="title"/>
          </p:nvPr>
        </p:nvSpPr>
        <p:spPr>
          <a:xfrm>
            <a:off x="4155281" y="5143500"/>
            <a:ext cx="16073438" cy="3429000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defTabSz="821531">
              <a:defRPr sz="11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Bold"/>
                <a:ea typeface="Inconsolata Regular Bold"/>
                <a:cs typeface="Inconsolata Regular Bold"/>
                <a:sym typeface="Inconsolata Regular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2" name="Slide Number"/>
          <p:cNvSpPr txBox="1"/>
          <p:nvPr>
            <p:ph type="sldNum" sz="quarter" idx="2"/>
          </p:nvPr>
        </p:nvSpPr>
        <p:spPr>
          <a:xfrm>
            <a:off x="20706050" y="13109062"/>
            <a:ext cx="409779" cy="428345"/>
          </a:xfrm>
          <a:prstGeom prst="rect">
            <a:avLst/>
          </a:prstGeom>
        </p:spPr>
        <p:txBody>
          <a:bodyPr lIns="71437" tIns="71437" rIns="71437" bIns="71437" anchor="b"/>
          <a:lstStyle>
            <a:lvl1pPr defTabSz="821531">
              <a:defRPr b="1" sz="1800">
                <a:solidFill>
                  <a:srgbClr val="FFFFFF">
                    <a:alpha val="70000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Image"/>
          <p:cNvSpPr/>
          <p:nvPr>
            <p:ph type="pic" idx="21"/>
          </p:nvPr>
        </p:nvSpPr>
        <p:spPr>
          <a:xfrm>
            <a:off x="4150027" y="344582"/>
            <a:ext cx="16073440" cy="9454964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70" name="Title Text"/>
          <p:cNvSpPr txBox="1"/>
          <p:nvPr>
            <p:ph type="title"/>
          </p:nvPr>
        </p:nvSpPr>
        <p:spPr>
          <a:xfrm>
            <a:off x="4155281" y="9572625"/>
            <a:ext cx="16073438" cy="1714500"/>
          </a:xfrm>
          <a:prstGeom prst="rect">
            <a:avLst/>
          </a:prstGeom>
        </p:spPr>
        <p:txBody>
          <a:bodyPr lIns="71437" tIns="71437" rIns="71437" bIns="71437" anchor="b">
            <a:noAutofit/>
          </a:bodyPr>
          <a:lstStyle>
            <a:lvl1pPr defTabSz="821531">
              <a:defRPr sz="11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Bold"/>
                <a:ea typeface="Inconsolata Regular Bold"/>
                <a:cs typeface="Inconsolata Regular Bold"/>
                <a:sym typeface="Inconsolata Regular Bold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1" name="Body Level One…"/>
          <p:cNvSpPr txBox="1"/>
          <p:nvPr>
            <p:ph type="body" sz="quarter" idx="1"/>
          </p:nvPr>
        </p:nvSpPr>
        <p:spPr>
          <a:xfrm>
            <a:off x="4155281" y="11269265"/>
            <a:ext cx="16073438" cy="2196704"/>
          </a:xfrm>
          <a:prstGeom prst="rect">
            <a:avLst/>
          </a:prstGeom>
        </p:spPr>
        <p:txBody>
          <a:bodyPr lIns="71437" tIns="71437" rIns="71437" bIns="71437">
            <a:noAutofit/>
          </a:bodyPr>
          <a:lstStyle>
            <a:lvl1pPr marL="0" indent="0" defTabSz="821531">
              <a:lnSpc>
                <a:spcPct val="100000"/>
              </a:lnSpc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1pPr>
            <a:lvl2pPr marL="0" indent="0" defTabSz="821531">
              <a:lnSpc>
                <a:spcPct val="100000"/>
              </a:lnSpc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2pPr>
            <a:lvl3pPr marL="0" indent="0" defTabSz="821531">
              <a:lnSpc>
                <a:spcPct val="100000"/>
              </a:lnSpc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3pPr>
            <a:lvl4pPr marL="0" indent="0" defTabSz="821531">
              <a:lnSpc>
                <a:spcPct val="100000"/>
              </a:lnSpc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4pPr>
            <a:lvl5pPr marL="0" indent="0" defTabSz="821531">
              <a:lnSpc>
                <a:spcPct val="100000"/>
              </a:lnSpc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20706050" y="13109062"/>
            <a:ext cx="409779" cy="428345"/>
          </a:xfrm>
          <a:prstGeom prst="rect">
            <a:avLst/>
          </a:prstGeom>
        </p:spPr>
        <p:txBody>
          <a:bodyPr lIns="71437" tIns="71437" rIns="71437" bIns="71437" anchor="b"/>
          <a:lstStyle>
            <a:lvl1pPr defTabSz="821531">
              <a:defRPr b="1" sz="1800">
                <a:solidFill>
                  <a:srgbClr val="FFFFFF">
                    <a:alpha val="70000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Image"/>
          <p:cNvSpPr/>
          <p:nvPr>
            <p:ph type="pic" sz="half" idx="21"/>
          </p:nvPr>
        </p:nvSpPr>
        <p:spPr>
          <a:xfrm>
            <a:off x="13174265" y="1750218"/>
            <a:ext cx="7054454" cy="10228958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0" name="Title Text"/>
          <p:cNvSpPr txBox="1"/>
          <p:nvPr>
            <p:ph type="title"/>
          </p:nvPr>
        </p:nvSpPr>
        <p:spPr>
          <a:xfrm>
            <a:off x="4155281" y="1946671"/>
            <a:ext cx="7233048" cy="4929189"/>
          </a:xfrm>
          <a:prstGeom prst="rect">
            <a:avLst/>
          </a:prstGeom>
        </p:spPr>
        <p:txBody>
          <a:bodyPr lIns="71437" tIns="71437" rIns="71437" bIns="71437" anchor="b">
            <a:noAutofit/>
          </a:bodyPr>
          <a:lstStyle>
            <a:lvl1pPr defTabSz="821531">
              <a:defRPr sz="11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1" name="Body Level One…"/>
          <p:cNvSpPr txBox="1"/>
          <p:nvPr>
            <p:ph type="body" sz="quarter" idx="1"/>
          </p:nvPr>
        </p:nvSpPr>
        <p:spPr>
          <a:xfrm>
            <a:off x="4155281" y="6858000"/>
            <a:ext cx="7233048" cy="4232672"/>
          </a:xfrm>
          <a:prstGeom prst="rect">
            <a:avLst/>
          </a:prstGeom>
        </p:spPr>
        <p:txBody>
          <a:bodyPr lIns="71437" tIns="71437" rIns="71437" bIns="71437">
            <a:noAutofit/>
          </a:bodyPr>
          <a:lstStyle>
            <a:lvl1pPr marL="0" indent="0" defTabSz="821531">
              <a:lnSpc>
                <a:spcPct val="100000"/>
              </a:lnSpc>
              <a:spcBef>
                <a:spcPts val="1600"/>
              </a:spcBef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1pPr>
            <a:lvl2pPr marL="0" indent="0" defTabSz="821531">
              <a:lnSpc>
                <a:spcPct val="100000"/>
              </a:lnSpc>
              <a:spcBef>
                <a:spcPts val="1600"/>
              </a:spcBef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2pPr>
            <a:lvl3pPr marL="0" indent="0" defTabSz="821531">
              <a:lnSpc>
                <a:spcPct val="100000"/>
              </a:lnSpc>
              <a:spcBef>
                <a:spcPts val="1600"/>
              </a:spcBef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3pPr>
            <a:lvl4pPr marL="0" indent="0" defTabSz="821531">
              <a:lnSpc>
                <a:spcPct val="100000"/>
              </a:lnSpc>
              <a:spcBef>
                <a:spcPts val="1600"/>
              </a:spcBef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4pPr>
            <a:lvl5pPr marL="0" indent="0" defTabSz="821531">
              <a:lnSpc>
                <a:spcPct val="100000"/>
              </a:lnSpc>
              <a:spcBef>
                <a:spcPts val="1600"/>
              </a:spcBef>
              <a:buClrTx/>
              <a:buSzTx/>
              <a:buFontTx/>
              <a:buNone/>
              <a:defRPr sz="5800">
                <a:solidFill>
                  <a:srgbClr val="73B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2" name="Slide Number"/>
          <p:cNvSpPr txBox="1"/>
          <p:nvPr>
            <p:ph type="sldNum" sz="quarter" idx="2"/>
          </p:nvPr>
        </p:nvSpPr>
        <p:spPr>
          <a:xfrm>
            <a:off x="20706050" y="13109062"/>
            <a:ext cx="409779" cy="428345"/>
          </a:xfrm>
          <a:prstGeom prst="rect">
            <a:avLst/>
          </a:prstGeom>
        </p:spPr>
        <p:txBody>
          <a:bodyPr lIns="71437" tIns="71437" rIns="71437" bIns="71437" anchor="b"/>
          <a:lstStyle>
            <a:lvl1pPr defTabSz="821531">
              <a:defRPr b="1" sz="1800">
                <a:solidFill>
                  <a:srgbClr val="FFFFFF">
                    <a:alpha val="70000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Image"/>
          <p:cNvSpPr/>
          <p:nvPr>
            <p:ph type="pic" sz="half" idx="21"/>
          </p:nvPr>
        </p:nvSpPr>
        <p:spPr>
          <a:xfrm>
            <a:off x="13174265" y="2803921"/>
            <a:ext cx="7054454" cy="10228958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0" name="Title Text"/>
          <p:cNvSpPr txBox="1"/>
          <p:nvPr>
            <p:ph type="title"/>
          </p:nvPr>
        </p:nvSpPr>
        <p:spPr>
          <a:xfrm>
            <a:off x="4155281" y="357187"/>
            <a:ext cx="16073438" cy="3429001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defTabSz="821531">
              <a:defRPr sz="11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1" name="Body Level One…"/>
          <p:cNvSpPr txBox="1"/>
          <p:nvPr>
            <p:ph type="body" sz="quarter" idx="1"/>
          </p:nvPr>
        </p:nvSpPr>
        <p:spPr>
          <a:xfrm>
            <a:off x="4155281" y="3893343"/>
            <a:ext cx="7233048" cy="8036720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marL="564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1pPr>
            <a:lvl2pPr marL="10089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2pPr>
            <a:lvl3pPr marL="1453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3pPr>
            <a:lvl4pPr marL="18979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4pPr>
            <a:lvl5pPr marL="2342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20706050" y="13109062"/>
            <a:ext cx="409779" cy="428345"/>
          </a:xfrm>
          <a:prstGeom prst="rect">
            <a:avLst/>
          </a:prstGeom>
        </p:spPr>
        <p:txBody>
          <a:bodyPr lIns="71437" tIns="71437" rIns="71437" bIns="71437" anchor="b"/>
          <a:lstStyle>
            <a:lvl1pPr defTabSz="821531">
              <a:defRPr b="1" sz="1800">
                <a:solidFill>
                  <a:srgbClr val="FFFFFF">
                    <a:alpha val="70000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- Lef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Text"/>
          <p:cNvSpPr txBox="1"/>
          <p:nvPr>
            <p:ph type="title"/>
          </p:nvPr>
        </p:nvSpPr>
        <p:spPr>
          <a:xfrm>
            <a:off x="4155281" y="357187"/>
            <a:ext cx="16073438" cy="3429001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defTabSz="821531">
              <a:defRPr sz="11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0" name="Body Level One…"/>
          <p:cNvSpPr txBox="1"/>
          <p:nvPr>
            <p:ph type="body" sz="quarter" idx="1"/>
          </p:nvPr>
        </p:nvSpPr>
        <p:spPr>
          <a:xfrm>
            <a:off x="4155281" y="3893343"/>
            <a:ext cx="7233048" cy="8036720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marL="564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1pPr>
            <a:lvl2pPr marL="10089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2pPr>
            <a:lvl3pPr marL="1453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3pPr>
            <a:lvl4pPr marL="18979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4pPr>
            <a:lvl5pPr marL="2342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xfrm>
            <a:off x="20706050" y="13109062"/>
            <a:ext cx="409779" cy="428345"/>
          </a:xfrm>
          <a:prstGeom prst="rect">
            <a:avLst/>
          </a:prstGeom>
        </p:spPr>
        <p:txBody>
          <a:bodyPr lIns="71437" tIns="71437" rIns="71437" bIns="71437" anchor="b"/>
          <a:lstStyle>
            <a:lvl1pPr defTabSz="821531">
              <a:defRPr b="1" sz="1800">
                <a:solidFill>
                  <a:srgbClr val="FFFFFF">
                    <a:alpha val="70000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 - Righ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Text"/>
          <p:cNvSpPr txBox="1"/>
          <p:nvPr>
            <p:ph type="title"/>
          </p:nvPr>
        </p:nvSpPr>
        <p:spPr>
          <a:xfrm>
            <a:off x="4155281" y="357187"/>
            <a:ext cx="16073438" cy="3429001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defTabSz="821531">
              <a:defRPr sz="11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quarter" idx="1"/>
          </p:nvPr>
        </p:nvSpPr>
        <p:spPr>
          <a:xfrm>
            <a:off x="12995671" y="3893343"/>
            <a:ext cx="7233048" cy="8036720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marL="564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1pPr>
            <a:lvl2pPr marL="10089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2pPr>
            <a:lvl3pPr marL="1453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3pPr>
            <a:lvl4pPr marL="18979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4pPr>
            <a:lvl5pPr marL="2342444" indent="-564444" defTabSz="821531">
              <a:lnSpc>
                <a:spcPct val="100000"/>
              </a:lnSpc>
              <a:spcBef>
                <a:spcPts val="3300"/>
              </a:spcBef>
              <a:buClrTx/>
              <a:buSzPct val="30000"/>
              <a:buFontTx/>
              <a:buBlip>
                <a:blip r:embed="rId3"/>
              </a:buBlip>
              <a:defRPr sz="5000">
                <a:solidFill>
                  <a:srgbClr val="FFFFFF"/>
                </a:solidFill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Hack Regular"/>
                <a:ea typeface="Hack Regular"/>
                <a:cs typeface="Hack Regular"/>
                <a:sym typeface="Hack Regular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0" name="Slide Number"/>
          <p:cNvSpPr txBox="1"/>
          <p:nvPr>
            <p:ph type="sldNum" sz="quarter" idx="2"/>
          </p:nvPr>
        </p:nvSpPr>
        <p:spPr>
          <a:xfrm>
            <a:off x="20706050" y="13109062"/>
            <a:ext cx="409779" cy="428345"/>
          </a:xfrm>
          <a:prstGeom prst="rect">
            <a:avLst/>
          </a:prstGeom>
        </p:spPr>
        <p:txBody>
          <a:bodyPr lIns="71437" tIns="71437" rIns="71437" bIns="71437" anchor="b"/>
          <a:lstStyle>
            <a:lvl1pPr defTabSz="821531">
              <a:defRPr b="1" sz="1800">
                <a:solidFill>
                  <a:srgbClr val="FFFFFF">
                    <a:alpha val="70000"/>
                  </a:srgbClr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8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Text"/>
          <p:cNvSpPr txBox="1"/>
          <p:nvPr>
            <p:ph type="title"/>
          </p:nvPr>
        </p:nvSpPr>
        <p:spPr>
          <a:xfrm>
            <a:off x="831199" y="5735599"/>
            <a:ext cx="22721602" cy="2244801"/>
          </a:xfrm>
          <a:prstGeom prst="rect">
            <a:avLst/>
          </a:prstGeom>
        </p:spPr>
        <p:txBody>
          <a:bodyPr anchor="ctr"/>
          <a:lstStyle>
            <a:lvl1pPr algn="ctr">
              <a:defRPr sz="9600"/>
            </a:lvl1pPr>
          </a:lstStyle>
          <a:p>
            <a:pPr/>
            <a:r>
              <a:t>Title Text</a:t>
            </a: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1199" y="1186733"/>
            <a:ext cx="22721602" cy="15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43799" tIns="243799" rIns="243799" bIns="243799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1199" y="3073266"/>
            <a:ext cx="22721602" cy="911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43799" tIns="243799" rIns="243799" bIns="2437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188838" y="12524796"/>
            <a:ext cx="867584" cy="870499"/>
          </a:xfrm>
          <a:prstGeom prst="rect">
            <a:avLst/>
          </a:prstGeom>
          <a:ln w="12700">
            <a:miter lim="400000"/>
          </a:ln>
        </p:spPr>
        <p:txBody>
          <a:bodyPr wrap="none" lIns="243799" tIns="243799" rIns="243799" bIns="243799" anchor="ctr">
            <a:spAutoFit/>
          </a:bodyPr>
          <a:lstStyle>
            <a:lvl1pPr algn="r" defTabSz="2438400">
              <a:defRPr sz="2600">
                <a:solidFill>
                  <a:srgbClr val="ADADA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>
                <a:effectLst/>
              </a:defRPr>
            </a:pPr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l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1028700" marR="0" indent="-914400" algn="l" defTabSz="2438400" latinLnBrk="0">
        <a:lnSpc>
          <a:spcPct val="115000"/>
        </a:lnSpc>
        <a:spcBef>
          <a:spcPts val="0"/>
        </a:spcBef>
        <a:spcAft>
          <a:spcPts val="0"/>
        </a:spcAft>
        <a:buClr>
          <a:srgbClr val="ADADAD"/>
        </a:buClr>
        <a:buSzPts val="4800"/>
        <a:buFont typeface="Arial"/>
        <a:buChar char="●"/>
        <a:tabLst/>
        <a:defRPr b="0" baseline="0" cap="none" i="0" spc="0" strike="noStrike" sz="4800" u="none">
          <a:solidFill>
            <a:srgbClr val="ADADAD"/>
          </a:solidFill>
          <a:uFillTx/>
          <a:latin typeface="Arial"/>
          <a:ea typeface="Arial"/>
          <a:cs typeface="Arial"/>
          <a:sym typeface="Arial"/>
        </a:defRPr>
      </a:lvl1pPr>
      <a:lvl2pPr marL="1685471" marR="0" indent="-1088571" algn="l" defTabSz="2438400" latinLnBrk="0">
        <a:lnSpc>
          <a:spcPct val="115000"/>
        </a:lnSpc>
        <a:spcBef>
          <a:spcPts val="0"/>
        </a:spcBef>
        <a:spcAft>
          <a:spcPts val="0"/>
        </a:spcAft>
        <a:buClr>
          <a:srgbClr val="ADADAD"/>
        </a:buClr>
        <a:buSzPts val="4800"/>
        <a:buFont typeface="Arial"/>
        <a:buChar char="○"/>
        <a:tabLst/>
        <a:defRPr b="0" baseline="0" cap="none" i="0" spc="0" strike="noStrike" sz="4800" u="none">
          <a:solidFill>
            <a:srgbClr val="ADADAD"/>
          </a:solidFill>
          <a:uFillTx/>
          <a:latin typeface="Arial"/>
          <a:ea typeface="Arial"/>
          <a:cs typeface="Arial"/>
          <a:sym typeface="Arial"/>
        </a:defRPr>
      </a:lvl2pPr>
      <a:lvl3pPr marL="2142671" marR="0" indent="-1088571" algn="l" defTabSz="2438400" latinLnBrk="0">
        <a:lnSpc>
          <a:spcPct val="115000"/>
        </a:lnSpc>
        <a:spcBef>
          <a:spcPts val="0"/>
        </a:spcBef>
        <a:spcAft>
          <a:spcPts val="0"/>
        </a:spcAft>
        <a:buClr>
          <a:srgbClr val="ADADAD"/>
        </a:buClr>
        <a:buSzPts val="4800"/>
        <a:buFont typeface="Arial"/>
        <a:buChar char="■"/>
        <a:tabLst/>
        <a:defRPr b="0" baseline="0" cap="none" i="0" spc="0" strike="noStrike" sz="4800" u="none">
          <a:solidFill>
            <a:srgbClr val="ADADAD"/>
          </a:solidFill>
          <a:uFillTx/>
          <a:latin typeface="Arial"/>
          <a:ea typeface="Arial"/>
          <a:cs typeface="Arial"/>
          <a:sym typeface="Arial"/>
        </a:defRPr>
      </a:lvl3pPr>
      <a:lvl4pPr marL="2599871" marR="0" indent="-1088571" algn="l" defTabSz="2438400" latinLnBrk="0">
        <a:lnSpc>
          <a:spcPct val="115000"/>
        </a:lnSpc>
        <a:spcBef>
          <a:spcPts val="0"/>
        </a:spcBef>
        <a:spcAft>
          <a:spcPts val="0"/>
        </a:spcAft>
        <a:buClr>
          <a:srgbClr val="ADADAD"/>
        </a:buClr>
        <a:buSzPts val="4800"/>
        <a:buFont typeface="Arial"/>
        <a:buChar char="●"/>
        <a:tabLst/>
        <a:defRPr b="0" baseline="0" cap="none" i="0" spc="0" strike="noStrike" sz="4800" u="none">
          <a:solidFill>
            <a:srgbClr val="ADADAD"/>
          </a:solidFill>
          <a:uFillTx/>
          <a:latin typeface="Arial"/>
          <a:ea typeface="Arial"/>
          <a:cs typeface="Arial"/>
          <a:sym typeface="Arial"/>
        </a:defRPr>
      </a:lvl4pPr>
      <a:lvl5pPr marL="3057071" marR="0" indent="-1088571" algn="l" defTabSz="2438400" latinLnBrk="0">
        <a:lnSpc>
          <a:spcPct val="115000"/>
        </a:lnSpc>
        <a:spcBef>
          <a:spcPts val="0"/>
        </a:spcBef>
        <a:spcAft>
          <a:spcPts val="0"/>
        </a:spcAft>
        <a:buClr>
          <a:srgbClr val="ADADAD"/>
        </a:buClr>
        <a:buSzPts val="4800"/>
        <a:buFont typeface="Arial"/>
        <a:buChar char="○"/>
        <a:tabLst/>
        <a:defRPr b="0" baseline="0" cap="none" i="0" spc="0" strike="noStrike" sz="4800" u="none">
          <a:solidFill>
            <a:srgbClr val="ADADAD"/>
          </a:solidFill>
          <a:uFillTx/>
          <a:latin typeface="Arial"/>
          <a:ea typeface="Arial"/>
          <a:cs typeface="Arial"/>
          <a:sym typeface="Arial"/>
        </a:defRPr>
      </a:lvl5pPr>
      <a:lvl6pPr marL="3514271" marR="0" indent="-1088571" algn="l" defTabSz="2438400" latinLnBrk="0">
        <a:lnSpc>
          <a:spcPct val="115000"/>
        </a:lnSpc>
        <a:spcBef>
          <a:spcPts val="0"/>
        </a:spcBef>
        <a:spcAft>
          <a:spcPts val="0"/>
        </a:spcAft>
        <a:buClr>
          <a:srgbClr val="ADADAD"/>
        </a:buClr>
        <a:buSzPts val="4800"/>
        <a:buFont typeface="Arial"/>
        <a:buChar char="■"/>
        <a:tabLst/>
        <a:defRPr b="0" baseline="0" cap="none" i="0" spc="0" strike="noStrike" sz="4800" u="none">
          <a:solidFill>
            <a:srgbClr val="ADADAD"/>
          </a:solidFill>
          <a:uFillTx/>
          <a:latin typeface="Arial"/>
          <a:ea typeface="Arial"/>
          <a:cs typeface="Arial"/>
          <a:sym typeface="Arial"/>
        </a:defRPr>
      </a:lvl6pPr>
      <a:lvl7pPr marL="3971471" marR="0" indent="-1088571" algn="l" defTabSz="2438400" latinLnBrk="0">
        <a:lnSpc>
          <a:spcPct val="115000"/>
        </a:lnSpc>
        <a:spcBef>
          <a:spcPts val="0"/>
        </a:spcBef>
        <a:spcAft>
          <a:spcPts val="0"/>
        </a:spcAft>
        <a:buClr>
          <a:srgbClr val="ADADAD"/>
        </a:buClr>
        <a:buSzPts val="4800"/>
        <a:buFont typeface="Arial"/>
        <a:buChar char="●"/>
        <a:tabLst/>
        <a:defRPr b="0" baseline="0" cap="none" i="0" spc="0" strike="noStrike" sz="4800" u="none">
          <a:solidFill>
            <a:srgbClr val="ADADAD"/>
          </a:solidFill>
          <a:uFillTx/>
          <a:latin typeface="Arial"/>
          <a:ea typeface="Arial"/>
          <a:cs typeface="Arial"/>
          <a:sym typeface="Arial"/>
        </a:defRPr>
      </a:lvl7pPr>
      <a:lvl8pPr marL="4428671" marR="0" indent="-1088571" algn="l" defTabSz="2438400" latinLnBrk="0">
        <a:lnSpc>
          <a:spcPct val="115000"/>
        </a:lnSpc>
        <a:spcBef>
          <a:spcPts val="0"/>
        </a:spcBef>
        <a:spcAft>
          <a:spcPts val="0"/>
        </a:spcAft>
        <a:buClr>
          <a:srgbClr val="ADADAD"/>
        </a:buClr>
        <a:buSzPts val="4800"/>
        <a:buFont typeface="Arial"/>
        <a:buChar char="○"/>
        <a:tabLst/>
        <a:defRPr b="0" baseline="0" cap="none" i="0" spc="0" strike="noStrike" sz="4800" u="none">
          <a:solidFill>
            <a:srgbClr val="ADADAD"/>
          </a:solidFill>
          <a:uFillTx/>
          <a:latin typeface="Arial"/>
          <a:ea typeface="Arial"/>
          <a:cs typeface="Arial"/>
          <a:sym typeface="Arial"/>
        </a:defRPr>
      </a:lvl8pPr>
      <a:lvl9pPr marL="4885871" marR="0" indent="-1088571" algn="l" defTabSz="2438400" latinLnBrk="0">
        <a:lnSpc>
          <a:spcPct val="115000"/>
        </a:lnSpc>
        <a:spcBef>
          <a:spcPts val="0"/>
        </a:spcBef>
        <a:spcAft>
          <a:spcPts val="0"/>
        </a:spcAft>
        <a:buClr>
          <a:srgbClr val="ADADAD"/>
        </a:buClr>
        <a:buSzPts val="4800"/>
        <a:buFont typeface="Arial"/>
        <a:buChar char="■"/>
        <a:tabLst/>
        <a:defRPr b="0" baseline="0" cap="none" i="0" spc="0" strike="noStrike" sz="4800" u="none">
          <a:solidFill>
            <a:srgbClr val="ADADAD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2438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6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twitter.com/symbolcrash1" TargetMode="External"/><Relationship Id="rId3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www.youtube.com/watch?v=1hJAEJNxlN0" TargetMode="External"/><Relationship Id="rId4" Type="http://schemas.openxmlformats.org/officeDocument/2006/relationships/hyperlink" Target="https://www.symbolcrash.com/podcast/" TargetMode="External"/><Relationship Id="rId5" Type="http://schemas.openxmlformats.org/officeDocument/2006/relationships/hyperlink" Target="https://github.com/awgh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olang.org/doc/effective_go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www.symbolcrash.com/2021/03/02/go-assembly-on-the-arm64/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Genetic-Malware/Ebowla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e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jpe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o-re.tk/" TargetMode="External"/><Relationship Id="rId4" Type="http://schemas.openxmlformats.org/officeDocument/2006/relationships/hyperlink" Target="https://github.com/sibears/IDAGolangHelper" TargetMode="External"/><Relationship Id="rId5" Type="http://schemas.openxmlformats.org/officeDocument/2006/relationships/hyperlink" Target="https://github.com/strazzere/golang_loader_assist" TargetMode="External"/><Relationship Id="rId6" Type="http://schemas.openxmlformats.org/officeDocument/2006/relationships/hyperlink" Target="https://rednaga.io/2016/09/21/reversing_go_binaries_like_a_pro/" TargetMode="Externa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Binject/debug/tree/master/pe" TargetMode="External"/><Relationship Id="rId4" Type="http://schemas.openxmlformats.org/officeDocument/2006/relationships/hyperlink" Target="https://github.com/Binject/debug/tree/master/elf" TargetMode="External"/><Relationship Id="rId5" Type="http://schemas.openxmlformats.org/officeDocument/2006/relationships/hyperlink" Target="https://github.com/Binject/debug/tree/master/macho" TargetMode="External"/><Relationship Id="rId6" Type="http://schemas.openxmlformats.org/officeDocument/2006/relationships/hyperlink" Target="https://github.com/Binject/debug" TargetMode="Externa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Binject/debug/blob/master/pe/file.go#L84" TargetMode="External"/><Relationship Id="rId4" Type="http://schemas.openxmlformats.org/officeDocument/2006/relationships/hyperlink" Target="https://github.com/Binject/debug/blob/master/pe/write.go#L10" TargetMode="Externa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olang.org/pkg/syscall/" TargetMode="External"/><Relationship Id="rId4" Type="http://schemas.openxmlformats.org/officeDocument/2006/relationships/hyperlink" Target="https://github.com/lsegal/cppgo" TargetMode="External"/><Relationship Id="rId5" Type="http://schemas.openxmlformats.org/officeDocument/2006/relationships/hyperlink" Target="https://github.com/awgh/cppgo" TargetMode="Externa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Binject/binjection" TargetMode="External"/><Relationship Id="rId4" Type="http://schemas.openxmlformats.org/officeDocument/2006/relationships/image" Target="../media/image6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hyperlink" Target="https://github.com/Binject/binjection/blob/master/bj/inject_pe.go" TargetMode="External"/><Relationship Id="rId4" Type="http://schemas.openxmlformats.org/officeDocument/2006/relationships/hyperlink" Target="https://github.com/Binject/binjection/blob/master/bj/inject_elf.go" TargetMode="External"/><Relationship Id="rId5" Type="http://schemas.openxmlformats.org/officeDocument/2006/relationships/hyperlink" Target="https://github.com/Binject/binjection/blob/master/bj/inject_macho.go" TargetMode="Externa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secretsquirrel/the-backdoor-factory" TargetMode="External"/><Relationship Id="rId4" Type="http://schemas.openxmlformats.org/officeDocument/2006/relationships/hyperlink" Target="https://www.bettercap.org/" TargetMode="Externa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bettercap/caplets/tree/master/download-autopwn" TargetMode="Externa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Binject/backdoorfactory" TargetMode="Externa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hak5/pineapple-packages-community/tree/master/network/bettercap" TargetMode="External"/><Relationship Id="rId4" Type="http://schemas.openxmlformats.org/officeDocument/2006/relationships/hyperlink" Target="https://github.com/hak5/pineapple-packages-community/tree/master/network/backdoorfactory" TargetMode="Externa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3" Type="http://schemas.microsoft.com/office/2007/relationships/media" Target="../media/media1.mp4"/><Relationship Id="rId4" Type="http://schemas.openxmlformats.org/officeDocument/2006/relationships/image" Target="../media/image10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://www.apple.com" TargetMode="External"/><Relationship Id="rId4" Type="http://schemas.openxmlformats.org/officeDocument/2006/relationships/hyperlink" Target="https://github.com/sassoftware/relic" TargetMode="Externa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C-Sto/goWMIExec" TargetMode="External"/><Relationship Id="rId4" Type="http://schemas.openxmlformats.org/officeDocument/2006/relationships/hyperlink" Target="https://github.com/hirochachacha/go-smb2" TargetMode="External"/><Relationship Id="rId5" Type="http://schemas.openxmlformats.org/officeDocument/2006/relationships/hyperlink" Target="https://www.hackingarticles.in/remote-code-execution-using-impacket/" TargetMode="Externa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gophish/gophish" TargetMode="External"/><Relationship Id="rId4" Type="http://schemas.openxmlformats.org/officeDocument/2006/relationships/hyperlink" Target="https://github.com/OJ/gobuster" TargetMode="External"/><Relationship Id="rId5" Type="http://schemas.openxmlformats.org/officeDocument/2006/relationships/hyperlink" Target="https://github.com/awgh/madns" TargetMode="External"/><Relationship Id="rId6" Type="http://schemas.openxmlformats.org/officeDocument/2006/relationships/hyperlink" Target="https://github.com/drk1wi/Modlishka" TargetMode="Externa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www.goggleheadedhacker.com/blog/post/22" TargetMode="External"/><Relationship Id="rId4" Type="http://schemas.openxmlformats.org/officeDocument/2006/relationships/hyperlink" Target="https://github.com/unixpickle/gobfuscate" TargetMode="External"/><Relationship Id="rId5" Type="http://schemas.openxmlformats.org/officeDocument/2006/relationships/hyperlink" Target="https://github.com/burrowers/garble" TargetMode="Externa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awgh/ratnet/tree/master/transports/udp" TargetMode="External"/><Relationship Id="rId4" Type="http://schemas.openxmlformats.org/officeDocument/2006/relationships/hyperlink" Target="https://github.com/awgh/ratnet/tree/master/transports/tls" TargetMode="External"/><Relationship Id="rId5" Type="http://schemas.openxmlformats.org/officeDocument/2006/relationships/hyperlink" Target="https://github.com/awgh/ratnet/tree/master/transports/https" TargetMode="External"/><Relationship Id="rId6" Type="http://schemas.openxmlformats.org/officeDocument/2006/relationships/hyperlink" Target="https://github.com/awgh/ratnet-transports/tree/master/dns" TargetMode="External"/><Relationship Id="rId7" Type="http://schemas.openxmlformats.org/officeDocument/2006/relationships/hyperlink" Target="https://github.com/awgh/ratnet-transports/tree/master/s3obj" TargetMode="External"/><Relationship Id="rId8" Type="http://schemas.openxmlformats.org/officeDocument/2006/relationships/hyperlink" Target="https://github.com/awgh/ratnet" TargetMode="Externa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sysdream/chashell" TargetMode="External"/><Relationship Id="rId4" Type="http://schemas.openxmlformats.org/officeDocument/2006/relationships/hyperlink" Target="https://github.com/jpillora/chisel" TargetMode="External"/><Relationship Id="rId5" Type="http://schemas.openxmlformats.org/officeDocument/2006/relationships/hyperlink" Target="https://blogs.blackberry.com/en/2021/06/pysa-loves-chachi-a-new-golang-rat" TargetMode="External"/><Relationship Id="rId6" Type="http://schemas.openxmlformats.org/officeDocument/2006/relationships/hyperlink" Target="https://github.com/ginuerzh/gost" TargetMode="External"/><Relationship Id="rId7" Type="http://schemas.openxmlformats.org/officeDocument/2006/relationships/hyperlink" Target="https://github.com/audibleblink/holeysocks" TargetMode="External"/><Relationship Id="rId8" Type="http://schemas.openxmlformats.org/officeDocument/2006/relationships/hyperlink" Target="https://github.com/WireGuard/wireguard-go" TargetMode="Externa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awnumar/memguard" TargetMode="External"/><Relationship Id="rId4" Type="http://schemas.openxmlformats.org/officeDocument/2006/relationships/hyperlink" Target="https://github.com/capnspacehook/pandorasbox" TargetMode="Externa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Binject/universal" TargetMode="Externa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Binject/universal/blob/main/loader_windows.go#L24" TargetMode="External"/><Relationship Id="rId3" Type="http://schemas.openxmlformats.org/officeDocument/2006/relationships/hyperlink" Target="https://github.com/Binject/universal/blob/import_address_table/utils_windows_amd64.s" TargetMode="External"/><Relationship Id="rId4" Type="http://schemas.openxmlformats.org/officeDocument/2006/relationships/hyperlink" Target="https://github.com/Binject/universal/tree/import_address_table" TargetMode="External"/><Relationship Id="rId5" Type="http://schemas.openxmlformats.org/officeDocument/2006/relationships/hyperlink" Target="https://github.com/Binject/universal/blob/main/loader_darwin.go#L19" TargetMode="External"/><Relationship Id="rId6" Type="http://schemas.openxmlformats.org/officeDocument/2006/relationships/hyperlink" Target="https://malwareunicorn.org/workshops/macos_dylib_injection.html#5" TargetMode="External"/><Relationship Id="rId7" Type="http://schemas.openxmlformats.org/officeDocument/2006/relationships/hyperlink" Target="https://github.com/Binject/universal/blob/main/loader_linux.go#L15" TargetMode="Externa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Binject/universal/tree/import_address_table" TargetMode="Externa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TheWover/donut" TargetMode="External"/><Relationship Id="rId4" Type="http://schemas.openxmlformats.org/officeDocument/2006/relationships/image" Target="../media/image5.jpe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Binject/go-donut" TargetMode="Externa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golang/go/issues/18976" TargetMode="Externa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Tylous/Limelighter" TargetMode="External"/><Relationship Id="rId4" Type="http://schemas.openxmlformats.org/officeDocument/2006/relationships/hyperlink" Target="https://github.com/optiv/ScareCrow" TargetMode="External"/><Relationship Id="rId5" Type="http://schemas.openxmlformats.org/officeDocument/2006/relationships/image" Target="../media/image15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vxug.fakedoma.in/papers/VXUG/Exclusive/HellsGate.pdf" TargetMode="External"/><Relationship Id="rId4" Type="http://schemas.openxmlformats.org/officeDocument/2006/relationships/hyperlink" Target="https://github.com/C-Sto/BananaPhone/tree/master/cmd/mkdirectwinsyscall" TargetMode="External"/><Relationship Id="rId5" Type="http://schemas.openxmlformats.org/officeDocument/2006/relationships/hyperlink" Target="https://github.com/C-Sto/BananaPhone/blob/master/example/mkwinsyscall/syscall.go" TargetMode="External"/><Relationship Id="rId6" Type="http://schemas.openxmlformats.org/officeDocument/2006/relationships/hyperlink" Target="https://github.com/C-Sto/BananaPhone" TargetMode="Externa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2.png"/><Relationship Id="rId4" Type="http://schemas.openxmlformats.org/officeDocument/2006/relationships/hyperlink" Target="https://vx-underground.org/archive/VxHeaven/lib/vrg02.html" TargetMode="External"/><Relationship Id="rId5" Type="http://schemas.openxmlformats.org/officeDocument/2006/relationships/hyperlink" Target="https://github.com/aus/gopherheaven/blob/master/pkg/heaven/asm_386.s" TargetMode="External"/><Relationship Id="rId6" Type="http://schemas.openxmlformats.org/officeDocument/2006/relationships/hyperlink" Target="https://github.com/aus/gopherheaven" TargetMode="Externa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vyrus001/go-mimikatz/blob/master/main.go" TargetMode="External"/><Relationship Id="rId4" Type="http://schemas.openxmlformats.org/officeDocument/2006/relationships/hyperlink" Target="https://github.com/vyrus001/go-mimikatz" TargetMode="Externa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video" Target="../media/media2.mp4"/><Relationship Id="rId3" Type="http://schemas.microsoft.com/office/2007/relationships/media" Target="../media/media2.mp4"/><Relationship Id="rId4" Type="http://schemas.openxmlformats.org/officeDocument/2006/relationships/image" Target="../media/image18.png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vyrus001/msflib" TargetMode="Externa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pkg.go.dev/golang.org/x/sys/windows/svc/example" TargetMode="External"/><Relationship Id="rId4" Type="http://schemas.openxmlformats.org/officeDocument/2006/relationships/hyperlink" Target="https://github.com/capnspacehook/taskmaster" TargetMode="Externa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ahhh/gscripts" TargetMode="External"/><Relationship Id="rId4" Type="http://schemas.openxmlformats.org/officeDocument/2006/relationships/hyperlink" Target="https://docs.google.com/presentation/d/1kHdz8DY0Zn44yn_XrZ2RVqDY1lpADThLPNPwHP-njbc/edit?usp=sharing" TargetMode="External"/><Relationship Id="rId5" Type="http://schemas.openxmlformats.org/officeDocument/2006/relationships/hyperlink" Target="https://github.com/gen0cide/gscript" TargetMode="External"/><Relationship Id="rId6" Type="http://schemas.openxmlformats.org/officeDocument/2006/relationships/image" Target="../media/image19.png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C-Sto/gosecretsdump" TargetMode="Externa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AlessandroZ/LaZagne" TargetMode="External"/><Relationship Id="rId4" Type="http://schemas.openxmlformats.org/officeDocument/2006/relationships/hyperlink" Target="https://gitlab.com/cznic/sqlite" TargetMode="External"/><Relationship Id="rId5" Type="http://schemas.openxmlformats.org/officeDocument/2006/relationships/hyperlink" Target="https://github.com/kerbyj/goLazagne" TargetMode="External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rclone/rclone" TargetMode="External"/><Relationship Id="rId4" Type="http://schemas.openxmlformats.org/officeDocument/2006/relationships/hyperlink" Target="https://github.com/audibleblink/sudophisher" TargetMode="External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3" Type="http://schemas.openxmlformats.org/officeDocument/2006/relationships/hyperlink" Target="https://github.com/BishopFox/sliver" TargetMode="External"/><Relationship Id="rId4" Type="http://schemas.openxmlformats.org/officeDocument/2006/relationships/image" Target="../media/image20.png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hyperlink" Target="https://github.com/Ne0nd0g/merlin" TargetMode="External"/><Relationship Id="rId4" Type="http://schemas.openxmlformats.org/officeDocument/2006/relationships/image" Target="../media/image21.png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awgh@awgh.org" TargetMode="External"/><Relationship Id="rId3" Type="http://schemas.openxmlformats.org/officeDocument/2006/relationships/hyperlink" Target="https://twitter.com/symbolcrash1" TargetMode="External"/><Relationship Id="rId4" Type="http://schemas.openxmlformats.org/officeDocument/2006/relationships/hyperlink" Target="https://symbolcrash.com/podcast" TargetMode="External"/><Relationship Id="rId5" Type="http://schemas.openxmlformats.org/officeDocument/2006/relationships/hyperlink" Target="https://www.symbolcrash.com/podcast" TargetMode="External"/><Relationship Id="rId6" Type="http://schemas.openxmlformats.org/officeDocument/2006/relationships/hyperlink" Target="https://www.symbolcrash.com/podcast/interview-with-josh-pitts/" TargetMode="External"/><Relationship Id="rId7" Type="http://schemas.openxmlformats.org/officeDocument/2006/relationships/hyperlink" Target="https://www.youtube.com/watch?v=3RVJ5QCwMmg" TargetMode="External"/><Relationship Id="rId8" Type="http://schemas.openxmlformats.org/officeDocument/2006/relationships/hyperlink" Target="https://www.symbolcrash.com/podcast/golang-offensive-tools-with-c-sto-and-capnspacehook/" TargetMode="External"/><Relationship Id="rId9" Type="http://schemas.openxmlformats.org/officeDocument/2006/relationships/hyperlink" Target="https://www.youtube.com/watch?v=ufUQ2ob-eTs" TargetMode="External"/><Relationship Id="rId10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Offensive Golang Bonanza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Offensive Golang </a:t>
            </a:r>
            <a:r>
              <a:rPr sz="17600">
                <a:latin typeface="IFC INSANE RODEO BOLD Bold"/>
                <a:ea typeface="IFC INSANE RODEO BOLD Bold"/>
                <a:cs typeface="IFC INSANE RODEO BOLD Bold"/>
                <a:sym typeface="IFC INSANE RODEO BOLD Bold"/>
              </a:rPr>
              <a:t>Bonanza</a:t>
            </a:r>
          </a:p>
        </p:txBody>
      </p:sp>
      <p:sp>
        <p:nvSpPr>
          <p:cNvPr id="137" name="Writing Golang Malware…"/>
          <p:cNvSpPr txBox="1"/>
          <p:nvPr>
            <p:ph type="subTitle" sz="half" idx="1"/>
          </p:nvPr>
        </p:nvSpPr>
        <p:spPr>
          <a:xfrm>
            <a:off x="4155281" y="6840140"/>
            <a:ext cx="15894844" cy="6975795"/>
          </a:xfrm>
          <a:prstGeom prst="rect">
            <a:avLst/>
          </a:prstGeom>
        </p:spPr>
        <p:txBody>
          <a:bodyPr/>
          <a:lstStyle/>
          <a:p>
            <a:pPr/>
            <a:r>
              <a:t>Writing Golang Malware</a:t>
            </a:r>
            <a:br/>
          </a:p>
          <a:p>
            <a:pPr/>
          </a:p>
          <a:p>
            <a:pPr/>
          </a:p>
          <a:p>
            <a:pPr/>
            <a:br/>
            <a:r>
              <a:rPr sz="4200"/>
              <a:t>Ben Kurtz       </a:t>
            </a:r>
            <a:r>
              <a:rPr sz="4200" u="sng">
                <a:hlinkClick r:id="rId2" invalidUrl="" action="" tgtFrame="" tooltip="" history="1" highlightClick="0" endSnd="0"/>
              </a:rPr>
              <a:t>@symbolcrash1</a:t>
            </a:r>
            <a:r>
              <a:rPr sz="4200"/>
              <a:t>     awgh@awgh.org</a:t>
            </a:r>
          </a:p>
        </p:txBody>
      </p:sp>
      <p:pic>
        <p:nvPicPr>
          <p:cNvPr id="138" name="dc-29-logo.png" descr="dc-29-logo.png"/>
          <p:cNvPicPr>
            <a:picLocks noChangeAspect="1"/>
          </p:cNvPicPr>
          <p:nvPr/>
        </p:nvPicPr>
        <p:blipFill>
          <a:blip r:embed="rId3">
            <a:extLst/>
          </a:blip>
          <a:srcRect l="0" t="6305" r="0" b="0"/>
          <a:stretch>
            <a:fillRect/>
          </a:stretch>
        </p:blipFill>
        <p:spPr>
          <a:xfrm>
            <a:off x="3930650" y="7457910"/>
            <a:ext cx="16522700" cy="49976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Introductio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Introductions</a:t>
            </a:r>
          </a:p>
        </p:txBody>
      </p:sp>
      <p:sp>
        <p:nvSpPr>
          <p:cNvPr id="141" name="First Defcon talk 16 years ago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First Defcon talk </a:t>
            </a:r>
            <a:r>
              <a:rPr u="sng">
                <a:hlinkClick r:id="rId3" invalidUrl="" action="" tgtFrame="" tooltip="" history="1" highlightClick="0" endSnd="0"/>
              </a:rPr>
              <a:t>16 years ago</a:t>
            </a:r>
          </a:p>
          <a:p>
            <a:pPr>
              <a:buBlip>
                <a:blip r:embed="rId2"/>
              </a:buBlip>
            </a:pPr>
            <a:r>
              <a:t>Host of the </a:t>
            </a:r>
            <a:r>
              <a:rPr u="sng">
                <a:hlinkClick r:id="rId4" invalidUrl="" action="" tgtFrame="" tooltip="" history="1" highlightClick="0" endSnd="0"/>
              </a:rPr>
              <a:t>Hack the Planet podcast</a:t>
            </a:r>
          </a:p>
          <a:p>
            <a:pPr>
              <a:buBlip>
                <a:blip r:embed="rId2"/>
              </a:buBlip>
            </a:pPr>
            <a:r>
              <a:t>All kinds of </a:t>
            </a:r>
            <a:r>
              <a:rPr u="sng">
                <a:hlinkClick r:id="rId5" invalidUrl="" action="" tgtFrame="" tooltip="" history="1" highlightClick="0" endSnd="0"/>
              </a:rPr>
              <a:t>random projects</a:t>
            </a:r>
            <a:br/>
          </a:p>
          <a:p>
            <a:pPr>
              <a:buBlip>
                <a:blip r:embed="rId2"/>
              </a:buBlip>
            </a:pPr>
            <a:r>
              <a:t>Enough about me, we’ve gotta </a:t>
            </a:r>
            <a:r>
              <a:rPr sz="7700">
                <a:latin typeface="IFC INSANE RODEO BOLD Bold"/>
                <a:ea typeface="IFC INSANE RODEO BOLD Bold"/>
                <a:cs typeface="IFC INSANE RODEO BOLD Bold"/>
                <a:sym typeface="IFC INSANE RODEO BOLD Bold"/>
              </a:rPr>
              <a:t>hustle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What We’re Do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We’re Doing</a:t>
            </a:r>
          </a:p>
        </p:txBody>
      </p:sp>
      <p:sp>
        <p:nvSpPr>
          <p:cNvPr id="144" name="Easy Mode: Listen along and you’ll get a sense of the available Golang malware components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632177" indent="-632177">
              <a:buBlip>
                <a:blip r:embed="rId2"/>
              </a:buBlip>
            </a:pPr>
            <a:r>
              <a:rPr sz="5600">
                <a:latin typeface="IFC INSANE RODEO BOLD Bold"/>
                <a:ea typeface="IFC INSANE RODEO BOLD Bold"/>
                <a:cs typeface="IFC INSANE RODEO BOLD Bold"/>
                <a:sym typeface="IFC INSANE RODEO BOLD Bold"/>
              </a:rPr>
              <a:t>Easy Mode</a:t>
            </a:r>
            <a:r>
              <a:t>: Listen along and you’ll get a sense of the available Golang malware components</a:t>
            </a:r>
          </a:p>
          <a:p>
            <a:pPr marL="632177" indent="-632177">
              <a:buBlip>
                <a:blip r:embed="rId2"/>
              </a:buBlip>
            </a:pPr>
            <a:r>
              <a:rPr sz="5600">
                <a:latin typeface="IFC INSANE RODEO BOLD Bold"/>
                <a:ea typeface="IFC INSANE RODEO BOLD Bold"/>
                <a:cs typeface="IFC INSANE RODEO BOLD Bold"/>
                <a:sym typeface="IFC INSANE RODEO BOLD Bold"/>
              </a:rPr>
              <a:t>Expert Mode</a:t>
            </a:r>
            <a:r>
              <a:t>: Follow the links to code samples, interviews, and all kinds of other stuff; learn how to make/detect Golang malware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147" name="Binject Origin &amp; Why Golang is cool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  <a:defRPr>
                <a:solidFill>
                  <a:srgbClr val="FF2600"/>
                </a:solidFill>
              </a:defRPr>
            </a:pPr>
            <a:r>
              <a:t>Binject Origin &amp; Why Golang is cool</a:t>
            </a:r>
          </a:p>
          <a:p>
            <a:pPr>
              <a:buBlip>
                <a:blip r:embed="rId2"/>
              </a:buBlip>
            </a:pPr>
            <a:r>
              <a:t>Malware Core Components</a:t>
            </a:r>
          </a:p>
          <a:p>
            <a:pPr>
              <a:buBlip>
                <a:blip r:embed="rId2"/>
              </a:buBlip>
            </a:pPr>
            <a:r>
              <a:t>Exploitation Tools</a:t>
            </a:r>
          </a:p>
          <a:p>
            <a:pPr>
              <a:buBlip>
                <a:blip r:embed="rId2"/>
              </a:buBlip>
            </a:pPr>
            <a:r>
              <a:t>EDR &amp; NIDS Evasion Tools</a:t>
            </a:r>
          </a:p>
          <a:p>
            <a:pPr>
              <a:buBlip>
                <a:blip r:embed="rId2"/>
              </a:buBlip>
            </a:pPr>
            <a:r>
              <a:t>Post-exploitation Tools</a:t>
            </a:r>
          </a:p>
          <a:p>
            <a:pPr>
              <a:buBlip>
                <a:blip r:embed="rId2"/>
              </a:buBlip>
            </a:pPr>
            <a:r>
              <a:t>Complete C2 Frameworks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Long, long ago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Long, long ago…</a:t>
            </a:r>
          </a:p>
        </p:txBody>
      </p:sp>
      <p:sp>
        <p:nvSpPr>
          <p:cNvPr id="150" name="I got interested in anti-censorship around an Iranian election, took a look at Tor’s obfsproxy2 and thought I could do better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I got interested in anti-censorship around an Iranian election, took a look at Tor’s obfsproxy2 and thought I could do better</a:t>
            </a:r>
          </a:p>
          <a:p>
            <a:pPr>
              <a:buBlip>
                <a:blip r:embed="rId2"/>
              </a:buBlip>
            </a:pPr>
            <a:r>
              <a:t>Started the Ratnet project*, decided to use that as an excuse to learn Golang</a:t>
            </a:r>
            <a:br/>
            <a:br/>
            <a:r>
              <a:rPr sz="3600"/>
              <a:t>*this comes up later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lang is Magic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Golang is Magic</a:t>
            </a:r>
          </a:p>
        </p:txBody>
      </p:sp>
      <p:sp>
        <p:nvSpPr>
          <p:cNvPr id="153" name="Everything you need comes in the stdlib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550606" indent="-550606">
              <a:buBlip>
                <a:blip r:embed="rId2"/>
              </a:buBlip>
              <a:defRPr sz="4200"/>
            </a:pPr>
            <a:r>
              <a:t>Everything you need comes in the stdlib</a:t>
            </a:r>
          </a:p>
          <a:p>
            <a:pPr lvl="1" marL="995106" indent="-550606">
              <a:buBlip>
                <a:blip r:embed="rId2"/>
              </a:buBlip>
              <a:defRPr sz="4200"/>
            </a:pPr>
            <a:r>
              <a:t>Crypto, Networking, FFI, Serialization, VFS</a:t>
            </a:r>
            <a:br/>
          </a:p>
          <a:p>
            <a:pPr marL="550606" indent="-550606">
              <a:buBlip>
                <a:blip r:embed="rId2"/>
              </a:buBlip>
              <a:defRPr sz="4200"/>
            </a:pPr>
            <a:r>
              <a:t>Or is built into the compiler||runtime</a:t>
            </a:r>
          </a:p>
          <a:p>
            <a:pPr lvl="1" marL="995106" indent="-550606">
              <a:buBlip>
                <a:blip r:embed="rId2"/>
              </a:buBlip>
              <a:defRPr sz="4200"/>
            </a:pPr>
            <a:r>
              <a:t>Cross-compiler, Tests, Asm, Threads, GC</a:t>
            </a:r>
            <a:br/>
          </a:p>
          <a:p>
            <a:pPr marL="550606" indent="-550606">
              <a:buBlip>
                <a:blip r:embed="rId2"/>
              </a:buBlip>
              <a:defRPr sz="4200"/>
            </a:pPr>
            <a:r>
              <a:t>3rd Party library support is unparalleled</a:t>
            </a:r>
          </a:p>
          <a:p>
            <a:pPr lvl="1" marL="995106" indent="-550606">
              <a:buBlip>
                <a:blip r:embed="rId2"/>
              </a:buBlip>
              <a:defRPr sz="4200"/>
            </a:pPr>
            <a:r>
              <a:t>Rust is years away, but what we did is a guide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lang is Magic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Golang is Magic</a:t>
            </a:r>
          </a:p>
        </p:txBody>
      </p:sp>
      <p:sp>
        <p:nvSpPr>
          <p:cNvPr id="156" name="Main Reason I love Go:  It’s the fastest way to be don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550606" indent="-550606">
              <a:buBlip>
                <a:blip r:embed="rId2"/>
              </a:buBlip>
              <a:defRPr sz="4200"/>
            </a:pPr>
            <a:r>
              <a:t>Main Reason I love Go:</a:t>
            </a:r>
            <a:br/>
            <a:br/>
            <a:r>
              <a:t>It’s the fastest way to be done</a:t>
            </a:r>
          </a:p>
          <a:p>
            <a:pPr marL="550606" indent="-550606">
              <a:buBlip>
                <a:blip r:embed="rId2"/>
              </a:buBlip>
              <a:defRPr sz="4200"/>
            </a:pPr>
          </a:p>
          <a:p>
            <a:pPr marL="550606" indent="-550606">
              <a:buBlip>
                <a:blip r:embed="rId2"/>
              </a:buBlip>
              <a:defRPr sz="4200"/>
            </a:pPr>
            <a:r>
              <a:t>Fastest way to learn Go:</a:t>
            </a:r>
            <a:br/>
            <a:br/>
            <a:r>
              <a:rPr u="sng">
                <a:hlinkClick r:id="rId3" invalidUrl="" action="" tgtFrame="" tooltip="" history="1" highlightClick="0" endSnd="0"/>
              </a:rPr>
              <a:t>golang.org/doc/effective_go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 Fac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 Facts</a:t>
            </a:r>
          </a:p>
        </p:txBody>
      </p:sp>
      <p:sp>
        <p:nvSpPr>
          <p:cNvPr id="159" name="Not interpreted, statically compiled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  <a:defRPr sz="4600"/>
            </a:pPr>
            <a:r>
              <a:t>Not interpreted, statically compiled</a:t>
            </a:r>
          </a:p>
          <a:p>
            <a:pPr>
              <a:buBlip>
                <a:blip r:embed="rId2"/>
              </a:buBlip>
              <a:defRPr sz="4600"/>
            </a:pPr>
            <a:r>
              <a:t>~800k Runtime compiled in</a:t>
            </a:r>
          </a:p>
          <a:p>
            <a:pPr>
              <a:buBlip>
                <a:blip r:embed="rId2"/>
              </a:buBlip>
              <a:defRPr sz="4600"/>
            </a:pPr>
            <a:r>
              <a:t>Embedded assembly language based on Plan9’s assembler, lets you do arbitrary low-level stuff without having to use CGO or set up external toolchains.</a:t>
            </a:r>
            <a:br/>
            <a:br/>
            <a:r>
              <a:t>Go Assembly Write-up:</a:t>
            </a:r>
            <a:br/>
            <a:r>
              <a:rPr u="sng">
                <a:hlinkClick r:id="rId3" invalidUrl="" action="" tgtFrame="" tooltip="" history="1" highlightClick="0" endSnd="0"/>
              </a:rPr>
              <a:t>https://www.symbolcrash.com/2021/03/02/go-assembly-on-the-arm64/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o Stuxnet Happen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 Stuxnet Happened</a:t>
            </a:r>
          </a:p>
        </p:txBody>
      </p:sp>
      <p:sp>
        <p:nvSpPr>
          <p:cNvPr id="162" name="Everyone gets hot on environmental keying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Everyone gets hot on environmental keying</a:t>
            </a:r>
          </a:p>
          <a:p>
            <a:pPr>
              <a:buBlip>
                <a:blip r:embed="rId2"/>
              </a:buBlip>
            </a:pPr>
            <a:r>
              <a:t>Josh Pitts does </a:t>
            </a:r>
            <a:r>
              <a:rPr u="sng">
                <a:hlinkClick r:id="rId3" invalidUrl="" action="" tgtFrame="" tooltip="" history="1" highlightClick="0" endSnd="0"/>
              </a:rPr>
              <a:t>Ebowla</a:t>
            </a:r>
            <a:r>
              <a:t> in Golang</a:t>
            </a:r>
          </a:p>
          <a:p>
            <a:pPr>
              <a:buBlip>
                <a:blip r:embed="rId2"/>
              </a:buBlip>
            </a:pPr>
            <a:r>
              <a:t>All the EDRs write sigs for Ebowla *cough* the Golang runtime (shared by all Golang progs)</a:t>
            </a:r>
          </a:p>
          <a:p>
            <a:pPr>
              <a:buBlip>
                <a:blip r:embed="rId2"/>
              </a:buBlip>
            </a:pPr>
            <a:r>
              <a:t>And then this happens…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Screen Shot 2021-07-05 at 9.17.29 PM.png" descr="Screen Shot 2021-07-05 at 9.17.2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77370" y="110743"/>
            <a:ext cx="18288001" cy="141593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Screen Shot 2021-07-05 at 9.17.29 PM.png" descr="Screen Shot 2021-07-05 at 9.17.2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77370" y="110743"/>
            <a:ext cx="18288001" cy="1415939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Docker"/>
          <p:cNvSpPr txBox="1"/>
          <p:nvPr/>
        </p:nvSpPr>
        <p:spPr>
          <a:xfrm rot="20559329">
            <a:off x="7159575" y="3260646"/>
            <a:ext cx="10064850" cy="3330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trike="sngStrike" sz="21600">
                <a:solidFill>
                  <a:srgbClr val="FF2600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pPr/>
            <a:r>
              <a:t>Docker</a:t>
            </a:r>
          </a:p>
        </p:txBody>
      </p:sp>
      <p:sp>
        <p:nvSpPr>
          <p:cNvPr id="168" name="Terraform"/>
          <p:cNvSpPr txBox="1"/>
          <p:nvPr/>
        </p:nvSpPr>
        <p:spPr>
          <a:xfrm rot="20559329">
            <a:off x="5111627" y="7869666"/>
            <a:ext cx="15019487" cy="3330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trike="sngStrike" sz="21600">
                <a:solidFill>
                  <a:srgbClr val="FF2600"/>
                </a:solidFill>
                <a:latin typeface="Hack Regular"/>
                <a:ea typeface="Hack Regular"/>
                <a:cs typeface="Hack Regular"/>
                <a:sym typeface="Hack Regular"/>
              </a:defRPr>
            </a:lvl1pPr>
          </a:lstStyle>
          <a:p>
            <a:pPr/>
            <a:r>
              <a:t>Terraform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y2exe/jar2exe retur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py2exe/jar2exe returns</a:t>
            </a:r>
          </a:p>
        </p:txBody>
      </p:sp>
      <p:sp>
        <p:nvSpPr>
          <p:cNvPr id="171" name="EDRs can’t figure out how to sig Go very well since it’s statically compiled, and can’t sig the runtime…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EDRs can’t figure out how to sig Go very well since it’s statically compiled, and can’t sig the runtime…</a:t>
            </a:r>
          </a:p>
          <a:p>
            <a:pPr>
              <a:buBlip>
                <a:blip r:embed="rId2"/>
              </a:buBlip>
            </a:pPr>
            <a:r>
              <a:t>And we already have this sweet exfiltration thing (Ratnet)…</a:t>
            </a:r>
          </a:p>
          <a:p>
            <a:pPr>
              <a:buBlip>
                <a:blip r:embed="rId2"/>
              </a:buBlip>
            </a:pPr>
            <a:r>
              <a:t>Start meeting up with other security people interested in Go and things escalate quickly…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05;p25" descr="Google Shape;105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56016" y="48804"/>
            <a:ext cx="14871967" cy="136183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05;p25" descr="Google Shape;105;p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56016" y="48804"/>
            <a:ext cx="14871967" cy="13618393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It’s Go Time!"/>
          <p:cNvSpPr txBox="1"/>
          <p:nvPr/>
        </p:nvSpPr>
        <p:spPr>
          <a:xfrm rot="20656240">
            <a:off x="6925282" y="6171406"/>
            <a:ext cx="10890624" cy="1730376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469900" dist="419100" dir="5400000">
              <a:srgbClr val="000000">
                <a:alpha val="78606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0800">
                <a:latin typeface="Hack Bold"/>
                <a:ea typeface="Hack Bold"/>
                <a:cs typeface="Hack Bold"/>
                <a:sym typeface="Hack Bold"/>
              </a:defRPr>
            </a:lvl1pPr>
          </a:lstStyle>
          <a:p>
            <a:pPr/>
            <a:r>
              <a:t>It’s Go Time!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#golang: the best place on the interne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#golang: the best place on the internet</a:t>
            </a:r>
          </a:p>
        </p:txBody>
      </p:sp>
      <p:sp>
        <p:nvSpPr>
          <p:cNvPr id="179" name="Helpful, friendly people writing malwar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  <a:defRPr sz="4500"/>
            </a:pPr>
            <a:r>
              <a:t>Helpful, friendly people writing malware</a:t>
            </a:r>
          </a:p>
          <a:p>
            <a:pPr>
              <a:buBlip>
                <a:blip r:embed="rId2"/>
              </a:buBlip>
              <a:defRPr sz="4500"/>
            </a:pPr>
            <a:r>
              <a:t>Binject: </a:t>
            </a:r>
            <a:r>
              <a:rPr>
                <a:latin typeface="Hack Bold"/>
                <a:ea typeface="Hack Bold"/>
                <a:cs typeface="Hack Bold"/>
                <a:sym typeface="Hack Bold"/>
              </a:rPr>
              <a:t>capnspacehook</a:t>
            </a:r>
            <a:r>
              <a:t>,</a:t>
            </a:r>
            <a:r>
              <a:rPr>
                <a:latin typeface="Hack Bold"/>
                <a:ea typeface="Hack Bold"/>
                <a:cs typeface="Hack Bold"/>
                <a:sym typeface="Hack Bold"/>
              </a:rPr>
              <a:t> vyrus001</a:t>
            </a:r>
            <a:r>
              <a:t>, </a:t>
            </a:r>
            <a:r>
              <a:rPr>
                <a:latin typeface="Hack Bold"/>
                <a:ea typeface="Hack Bold"/>
                <a:cs typeface="Hack Bold"/>
                <a:sym typeface="Hack Bold"/>
              </a:rPr>
              <a:t>ahhh</a:t>
            </a:r>
            <a:r>
              <a:t>, </a:t>
            </a:r>
            <a:r>
              <a:rPr>
                <a:latin typeface="Hack Bold"/>
                <a:ea typeface="Hack Bold"/>
                <a:cs typeface="Hack Bold"/>
                <a:sym typeface="Hack Bold"/>
              </a:rPr>
              <a:t>sblip</a:t>
            </a:r>
          </a:p>
          <a:p>
            <a:pPr>
              <a:buBlip>
                <a:blip r:embed="rId2"/>
              </a:buBlip>
              <a:defRPr sz="4500"/>
            </a:pPr>
            <a:r>
              <a:t>Others: </a:t>
            </a:r>
            <a:r>
              <a:rPr>
                <a:latin typeface="Hack Bold"/>
                <a:ea typeface="Hack Bold"/>
                <a:cs typeface="Hack Bold"/>
                <a:sym typeface="Hack Bold"/>
              </a:rPr>
              <a:t>C-Sto</a:t>
            </a:r>
            <a:r>
              <a:t>, omnifocal, </a:t>
            </a:r>
            <a:r>
              <a:rPr>
                <a:latin typeface="Hack Bold"/>
                <a:ea typeface="Hack Bold"/>
                <a:cs typeface="Hack Bold"/>
                <a:sym typeface="Hack Bold"/>
              </a:rPr>
              <a:t>aus</a:t>
            </a:r>
            <a:r>
              <a:t>, </a:t>
            </a:r>
            <a:r>
              <a:rPr>
                <a:latin typeface="Hack Bold"/>
                <a:ea typeface="Hack Bold"/>
                <a:cs typeface="Hack Bold"/>
                <a:sym typeface="Hack Bold"/>
              </a:rPr>
              <a:t>ne0nd0g</a:t>
            </a:r>
            <a:r>
              <a:t>, </a:t>
            </a:r>
            <a:r>
              <a:rPr>
                <a:latin typeface="Hack Bold"/>
                <a:ea typeface="Hack Bold"/>
                <a:cs typeface="Hack Bold"/>
                <a:sym typeface="Hack Bold"/>
              </a:rPr>
              <a:t>audibleblink</a:t>
            </a:r>
            <a:r>
              <a:t>, magnus stubman, + ~500</a:t>
            </a:r>
          </a:p>
          <a:p>
            <a:pPr>
              <a:buBlip>
                <a:blip r:embed="rId2"/>
              </a:buBlip>
              <a:defRPr sz="4500"/>
            </a:pPr>
            <a:r>
              <a:t>Donut: </a:t>
            </a:r>
            <a:r>
              <a:rPr>
                <a:latin typeface="Hack Bold"/>
                <a:ea typeface="Hack Bold"/>
                <a:cs typeface="Hack Bold"/>
                <a:sym typeface="Hack Bold"/>
              </a:rPr>
              <a:t>thewover</a:t>
            </a:r>
            <a:r>
              <a:t>, </a:t>
            </a:r>
            <a:r>
              <a:rPr>
                <a:latin typeface="Hack Bold"/>
                <a:ea typeface="Hack Bold"/>
                <a:cs typeface="Hack Bold"/>
                <a:sym typeface="Hack Bold"/>
              </a:rPr>
              <a:t>odzhan</a:t>
            </a:r>
          </a:p>
          <a:p>
            <a:pPr>
              <a:buBlip>
                <a:blip r:embed="rId2"/>
              </a:buBlip>
              <a:defRPr sz="4500"/>
            </a:pPr>
            <a:r>
              <a:t>Sliver: </a:t>
            </a:r>
            <a:r>
              <a:rPr>
                <a:latin typeface="Hack Bold"/>
                <a:ea typeface="Hack Bold"/>
                <a:cs typeface="Hack Bold"/>
                <a:sym typeface="Hack Bold"/>
              </a:rPr>
              <a:t>lesnuages</a:t>
            </a:r>
            <a:r>
              <a:t>, </a:t>
            </a:r>
            <a:r>
              <a:rPr>
                <a:latin typeface="Hack Bold"/>
                <a:ea typeface="Hack Bold"/>
                <a:cs typeface="Hack Bold"/>
                <a:sym typeface="Hack Bold"/>
              </a:rPr>
              <a:t>moloch</a:t>
            </a:r>
          </a:p>
          <a:p>
            <a:pPr>
              <a:buBlip>
                <a:blip r:embed="rId2"/>
              </a:buBlip>
              <a:defRPr sz="4500"/>
            </a:pPr>
            <a:r>
              <a:t>Sysop: jeffmcjunkin</a:t>
            </a:r>
          </a:p>
          <a:p>
            <a:pPr>
              <a:buBlip>
                <a:blip r:embed="rId2"/>
              </a:buBlip>
              <a:defRPr sz="4500"/>
            </a:pPr>
            <a:r>
              <a:t>My other favorite people</a:t>
            </a:r>
          </a:p>
        </p:txBody>
      </p:sp>
      <p:sp>
        <p:nvSpPr>
          <p:cNvPr id="180" name="Thanks Everyone! You’re awesome"/>
          <p:cNvSpPr txBox="1"/>
          <p:nvPr/>
        </p:nvSpPr>
        <p:spPr>
          <a:xfrm>
            <a:off x="18323758" y="9282020"/>
            <a:ext cx="6048376" cy="1692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latin typeface="Inconsolata Regular Bold"/>
                <a:ea typeface="Inconsolata Regular Bold"/>
                <a:cs typeface="Inconsolata Regular Bold"/>
                <a:sym typeface="Inconsolata Regular Bold"/>
              </a:defRPr>
            </a:pPr>
            <a:r>
              <a:t>Thanks Everyone!</a:t>
            </a:r>
            <a:br/>
            <a:r>
              <a:t>You’re awesome</a:t>
            </a:r>
          </a:p>
        </p:txBody>
      </p:sp>
      <p:pic>
        <p:nvPicPr>
          <p:cNvPr id="181" name="gopher-armed.jpg" descr="gopher-armed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807945" y="5081434"/>
            <a:ext cx="5080001" cy="3924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Offense and Defens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Offense and Defense</a:t>
            </a:r>
          </a:p>
        </p:txBody>
      </p:sp>
      <p:sp>
        <p:nvSpPr>
          <p:cNvPr id="184" name="We’re all working security engineers and red-teamers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3"/>
              </a:buBlip>
            </a:pPr>
            <a:r>
              <a:t>We’re all working security engineers and red-teamers</a:t>
            </a:r>
          </a:p>
          <a:p>
            <a:pPr>
              <a:buBlip>
                <a:blip r:embed="rId3"/>
              </a:buBlip>
            </a:pPr>
            <a:r>
              <a:t>The goal here is to communicate a deeper understanding of what is possible and how things </a:t>
            </a:r>
            <a:r>
              <a:rPr u="sng"/>
              <a:t>really</a:t>
            </a:r>
            <a:r>
              <a:t> work</a:t>
            </a:r>
          </a:p>
          <a:p>
            <a:pPr>
              <a:buBlip>
                <a:blip r:embed="rId3"/>
              </a:buBlip>
            </a:pPr>
            <a:r>
              <a:t>Everything we’re about to talk about is open source, so it can be studied for defense as well</a:t>
            </a:r>
          </a:p>
          <a:p>
            <a:pPr>
              <a:buBlip>
                <a:blip r:embed="rId3"/>
              </a:buBlip>
            </a:pPr>
            <a:r>
              <a:t>Don’t be an OSTrich</a:t>
            </a:r>
          </a:p>
        </p:txBody>
      </p:sp>
      <p:pic>
        <p:nvPicPr>
          <p:cNvPr id="185" name="ostrich_sand.jpg" descr="ostrich_sand.jpg"/>
          <p:cNvPicPr>
            <a:picLocks noChangeAspect="1"/>
          </p:cNvPicPr>
          <p:nvPr/>
        </p:nvPicPr>
        <p:blipFill>
          <a:blip r:embed="rId4">
            <a:extLst/>
          </a:blip>
          <a:srcRect l="10145" t="0" r="0" b="33722"/>
          <a:stretch>
            <a:fillRect/>
          </a:stretch>
        </p:blipFill>
        <p:spPr>
          <a:xfrm>
            <a:off x="13097763" y="10473790"/>
            <a:ext cx="4047894" cy="2513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lang Revers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Golang Reversing</a:t>
            </a:r>
          </a:p>
        </p:txBody>
      </p:sp>
      <p:sp>
        <p:nvSpPr>
          <p:cNvPr id="190" name="Go reversing tools are still somewhat limited, likely a result of static compilation requiring manual work (~C)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Go reversing tools are still somewhat limited, likely a result of static compilation requiring manual work (~C)</a:t>
            </a:r>
          </a:p>
          <a:p>
            <a:pPr>
              <a:buBlip>
                <a:blip r:embed="rId2"/>
              </a:buBlip>
            </a:pPr>
            <a:r>
              <a:rPr u="sng">
                <a:hlinkClick r:id="rId3" invalidUrl="" action="" tgtFrame="" tooltip="" history="1" highlightClick="0" endSnd="0"/>
              </a:rPr>
              <a:t>Gore/Redress</a:t>
            </a:r>
            <a:r>
              <a:t>: Extracts metadata from stripped Go binaries, some dependencies, compiler version</a:t>
            </a:r>
          </a:p>
          <a:p>
            <a:pPr>
              <a:buBlip>
                <a:blip r:embed="rId2"/>
              </a:buBlip>
            </a:pPr>
            <a:r>
              <a:rPr u="sng">
                <a:hlinkClick r:id="rId4" invalidUrl="" action="" tgtFrame="" tooltip="" history="1" highlightClick="0" endSnd="0"/>
              </a:rPr>
              <a:t>IDAGolangHelper</a:t>
            </a:r>
            <a:r>
              <a:t>: IDA scripts for parsing Golang type information</a:t>
            </a:r>
          </a:p>
          <a:p>
            <a:pPr>
              <a:buBlip>
                <a:blip r:embed="rId2"/>
              </a:buBlip>
            </a:pPr>
            <a:r>
              <a:rPr u="sng">
                <a:hlinkClick r:id="rId5" invalidUrl="" action="" tgtFrame="" tooltip="" history="1" highlightClick="0" endSnd="0"/>
              </a:rPr>
              <a:t>golang_loader_assist</a:t>
            </a:r>
            <a:r>
              <a:t>: related </a:t>
            </a:r>
            <a:r>
              <a:rPr u="sng">
                <a:hlinkClick r:id="rId6" invalidUrl="" action="" tgtFrame="" tooltip="" history="1" highlightClick="0" endSnd="0"/>
              </a:rPr>
              <a:t>blog post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193" name="Binject Origin &amp; Why Golang is cool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Binject Origin &amp; Why Golang is cool</a:t>
            </a:r>
          </a:p>
          <a:p>
            <a:pPr>
              <a:buBlip>
                <a:blip r:embed="rId2"/>
              </a:buBlip>
              <a:defRPr>
                <a:solidFill>
                  <a:srgbClr val="FF2600"/>
                </a:solidFill>
              </a:defRPr>
            </a:pPr>
            <a:r>
              <a:t>Malware Core Components</a:t>
            </a:r>
          </a:p>
          <a:p>
            <a:pPr>
              <a:buBlip>
                <a:blip r:embed="rId2"/>
              </a:buBlip>
            </a:pPr>
            <a:r>
              <a:t>Exploitation Tools</a:t>
            </a:r>
          </a:p>
          <a:p>
            <a:pPr>
              <a:buBlip>
                <a:blip r:embed="rId2"/>
              </a:buBlip>
            </a:pPr>
            <a:r>
              <a:t>EDR &amp; NIDS Evasion Tools</a:t>
            </a:r>
          </a:p>
          <a:p>
            <a:pPr>
              <a:buBlip>
                <a:blip r:embed="rId2"/>
              </a:buBlip>
            </a:pPr>
            <a:r>
              <a:t>Post-exploitation Tools</a:t>
            </a:r>
          </a:p>
          <a:p>
            <a:pPr>
              <a:buBlip>
                <a:blip r:embed="rId2"/>
              </a:buBlip>
            </a:pPr>
            <a:r>
              <a:t>Complete C2 Frameworks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Binject/debu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Binject/debug</a:t>
            </a:r>
          </a:p>
        </p:txBody>
      </p:sp>
      <p:sp>
        <p:nvSpPr>
          <p:cNvPr id="196" name="Fork of stdlib parsers for PE/Elf/Mach-O binary formats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  <a:defRPr sz="4700"/>
            </a:pPr>
            <a:r>
              <a:t>Fork of stdlib parsers for </a:t>
            </a:r>
            <a:r>
              <a:rPr u="sng">
                <a:hlinkClick r:id="rId3" invalidUrl="" action="" tgtFrame="" tooltip="" history="1" highlightClick="0" endSnd="0"/>
              </a:rPr>
              <a:t>PE</a:t>
            </a:r>
            <a:r>
              <a:t>/</a:t>
            </a:r>
            <a:r>
              <a:rPr u="sng">
                <a:hlinkClick r:id="rId4" invalidUrl="" action="" tgtFrame="" tooltip="" history="1" highlightClick="0" endSnd="0"/>
              </a:rPr>
              <a:t>Elf</a:t>
            </a:r>
            <a:r>
              <a:t>/</a:t>
            </a:r>
            <a:r>
              <a:rPr u="sng">
                <a:hlinkClick r:id="rId5" invalidUrl="" action="" tgtFrame="" tooltip="" history="1" highlightClick="0" endSnd="0"/>
              </a:rPr>
              <a:t>Mach-O</a:t>
            </a:r>
            <a:r>
              <a:t> binary formats</a:t>
            </a:r>
          </a:p>
          <a:p>
            <a:pPr>
              <a:buBlip>
                <a:blip r:embed="rId2"/>
              </a:buBlip>
              <a:defRPr sz="4700"/>
            </a:pPr>
            <a:r>
              <a:t>We fixed a bunch of bugs and added:</a:t>
            </a:r>
          </a:p>
          <a:p>
            <a:pPr lvl="1">
              <a:buBlip>
                <a:blip r:embed="rId2"/>
              </a:buBlip>
              <a:defRPr sz="4700"/>
            </a:pPr>
            <a:r>
              <a:t>Read/Write from File or Memory</a:t>
            </a:r>
          </a:p>
          <a:p>
            <a:pPr lvl="1">
              <a:buBlip>
                <a:blip r:embed="rId2"/>
              </a:buBlip>
              <a:defRPr sz="4700"/>
            </a:pPr>
            <a:r>
              <a:t>Parse/Modify your own process!</a:t>
            </a:r>
          </a:p>
          <a:p>
            <a:pPr lvl="1">
              <a:buBlip>
                <a:blip r:embed="rId2"/>
              </a:buBlip>
              <a:defRPr sz="4700"/>
            </a:pPr>
            <a:r>
              <a:t>Make changes to executables in code and write them back out!</a:t>
            </a:r>
          </a:p>
          <a:p>
            <a:pPr>
              <a:buBlip>
                <a:blip r:embed="rId2"/>
              </a:buBlip>
              <a:defRPr sz="4700"/>
            </a:pPr>
            <a:r>
              <a:t>This gets used by many of the other tools </a:t>
            </a:r>
          </a:p>
        </p:txBody>
      </p:sp>
      <p:sp>
        <p:nvSpPr>
          <p:cNvPr id="197" name="github.com/Binject/debug"/>
          <p:cNvSpPr txBox="1"/>
          <p:nvPr/>
        </p:nvSpPr>
        <p:spPr>
          <a:xfrm>
            <a:off x="4967912" y="2634366"/>
            <a:ext cx="10798870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6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6" invalidUrl="" action="" tgtFrame="" tooltip="" history="1" highlightClick="0" endSnd="0"/>
              </a:rPr>
              <a:t>github.com/Binject/debug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304;p194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Binject/debug</a:t>
            </a:r>
          </a:p>
        </p:txBody>
      </p:sp>
      <p:sp>
        <p:nvSpPr>
          <p:cNvPr id="200" name="Google Shape;1305;p194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</a:p>
          <a:p>
            <a:pPr>
              <a:buBlip>
                <a:blip r:embed="rId2"/>
              </a:buBlip>
            </a:pPr>
            <a:r>
              <a:t>Parser entrypoints are always </a:t>
            </a:r>
            <a:r>
              <a:rPr u="sng">
                <a:hlinkClick r:id="rId3" invalidUrl="" action="" tgtFrame="" tooltip="" history="1" highlightClick="0" endSnd="0"/>
              </a:rPr>
              <a:t>NewFile() or NewFileFromMemory()</a:t>
            </a:r>
          </a:p>
          <a:p>
            <a:pPr>
              <a:buBlip>
                <a:blip r:embed="rId2"/>
              </a:buBlip>
            </a:pPr>
            <a:r>
              <a:t>Generator entrypoints are always </a:t>
            </a:r>
            <a:r>
              <a:rPr u="sng">
                <a:hlinkClick r:id="rId4" invalidUrl="" action="" tgtFrame="" tooltip="" history="1" highlightClick="0" endSnd="0"/>
              </a:rPr>
              <a:t>Bytes()</a:t>
            </a:r>
          </a:p>
          <a:p>
            <a:pPr>
              <a:buBlip>
                <a:blip r:embed="rId2"/>
              </a:buBlip>
            </a:pPr>
            <a:r>
              <a:t>Added code for relocs, IAT, adding sections, hooking entrypoints, changing signatures, etc.</a:t>
            </a:r>
          </a:p>
          <a:p>
            <a:pPr>
              <a:buBlip>
                <a:blip r:embed="rId2"/>
              </a:buBlip>
            </a:pPr>
            <a:r>
              <a:t>Look at the code coming up for examples!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ppg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cppgo</a:t>
            </a:r>
          </a:p>
        </p:txBody>
      </p:sp>
      <p:sp>
        <p:nvSpPr>
          <p:cNvPr id="203" name="Go’s syscall lets you make calls to a single ABI, only on Windows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Go’s </a:t>
            </a:r>
            <a:r>
              <a:rPr u="sng">
                <a:hlinkClick r:id="rId3" invalidUrl="" action="" tgtFrame="" tooltip="" history="1" highlightClick="0" endSnd="0"/>
              </a:rPr>
              <a:t>syscall</a:t>
            </a:r>
            <a:r>
              <a:t> lets you make calls to a single ABI, only on Windows</a:t>
            </a:r>
          </a:p>
          <a:p>
            <a:pPr>
              <a:buBlip>
                <a:blip r:embed="rId2"/>
              </a:buBlip>
            </a:pPr>
            <a:r>
              <a:t>cppgo lets you make calls to any ABI on any platform! stdcall, cdecl, thiscall</a:t>
            </a:r>
          </a:p>
          <a:p>
            <a:pPr>
              <a:buBlip>
                <a:blip r:embed="rId2"/>
              </a:buBlip>
            </a:pPr>
            <a:r>
              <a:t>We forked this from </a:t>
            </a:r>
            <a:r>
              <a:rPr u="sng">
                <a:hlinkClick r:id="rId4" invalidUrl="" action="" tgtFrame="" tooltip="" history="1" highlightClick="0" endSnd="0"/>
              </a:rPr>
              <a:t>lsegal</a:t>
            </a:r>
            <a:r>
              <a:t> and added Apple M1 support!</a:t>
            </a:r>
          </a:p>
          <a:p>
            <a:pPr>
              <a:buBlip>
                <a:blip r:embed="rId2"/>
              </a:buBlip>
            </a:pPr>
            <a:r>
              <a:t>Best example of Go ASM ever   </a:t>
            </a:r>
          </a:p>
        </p:txBody>
      </p:sp>
      <p:sp>
        <p:nvSpPr>
          <p:cNvPr id="204" name="github.com/awgh/cppgo"/>
          <p:cNvSpPr txBox="1"/>
          <p:nvPr/>
        </p:nvSpPr>
        <p:spPr>
          <a:xfrm>
            <a:off x="4732639" y="2823940"/>
            <a:ext cx="9468459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5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5" invalidUrl="" action="" tgtFrame="" tooltip="" history="1" highlightClick="0" endSnd="0"/>
              </a:rPr>
              <a:t>github.com/awgh/cppgo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207" name="Binject Origin &amp; Why Golang is cool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Binject Origin &amp; Why Golang is cool</a:t>
            </a:r>
          </a:p>
          <a:p>
            <a:pPr>
              <a:buBlip>
                <a:blip r:embed="rId2"/>
              </a:buBlip>
            </a:pPr>
            <a:r>
              <a:t>Malware Core Components</a:t>
            </a:r>
          </a:p>
          <a:p>
            <a:pPr>
              <a:buBlip>
                <a:blip r:embed="rId2"/>
              </a:buBlip>
              <a:defRPr>
                <a:solidFill>
                  <a:srgbClr val="FF2600"/>
                </a:solidFill>
              </a:defRPr>
            </a:pPr>
            <a:r>
              <a:t>Exploitation Tools</a:t>
            </a:r>
          </a:p>
          <a:p>
            <a:pPr>
              <a:buBlip>
                <a:blip r:embed="rId2"/>
              </a:buBlip>
            </a:pPr>
            <a:r>
              <a:t>EDR &amp; NIDS Evasion Tools</a:t>
            </a:r>
          </a:p>
          <a:p>
            <a:pPr>
              <a:buBlip>
                <a:blip r:embed="rId2"/>
              </a:buBlip>
            </a:pPr>
            <a:r>
              <a:t>Post-exploitation Tools</a:t>
            </a:r>
          </a:p>
          <a:p>
            <a:pPr>
              <a:buBlip>
                <a:blip r:embed="rId2"/>
              </a:buBlip>
            </a:pPr>
            <a:r>
              <a:t>Complete C2 Frameworks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binje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binjection</a:t>
            </a:r>
          </a:p>
        </p:txBody>
      </p:sp>
      <p:sp>
        <p:nvSpPr>
          <p:cNvPr id="210" name="Tool to insert shellcode into binaries of any format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Tool to insert shellcode into binaries of any format.</a:t>
            </a:r>
          </a:p>
          <a:p>
            <a:pPr>
              <a:buBlip>
                <a:blip r:embed="rId2"/>
              </a:buBlip>
            </a:pPr>
            <a:r>
              <a:t>Variety of injection algorithms implemented.</a:t>
            </a:r>
          </a:p>
          <a:p>
            <a:pPr>
              <a:buBlip>
                <a:blip r:embed="rId2"/>
              </a:buBlip>
            </a:pPr>
            <a:r>
              <a:t>Extensible.</a:t>
            </a:r>
          </a:p>
          <a:p>
            <a:pPr>
              <a:buBlip>
                <a:blip r:embed="rId2"/>
              </a:buBlip>
            </a:pPr>
            <a:r>
              <a:t>Uses Binject/debug for parsing and writing, contains just the injection code itself. </a:t>
            </a:r>
          </a:p>
        </p:txBody>
      </p:sp>
      <p:sp>
        <p:nvSpPr>
          <p:cNvPr id="211" name="github.com/Binject/binjection"/>
          <p:cNvSpPr txBox="1"/>
          <p:nvPr/>
        </p:nvSpPr>
        <p:spPr>
          <a:xfrm>
            <a:off x="4783410" y="2810221"/>
            <a:ext cx="13016224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github.com/Binject/binjection</a:t>
            </a:r>
          </a:p>
        </p:txBody>
      </p:sp>
      <p:pic>
        <p:nvPicPr>
          <p:cNvPr id="212" name="Google Shape;1270;p189" descr="Google Shape;1270;p18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870024" y="402400"/>
            <a:ext cx="7262471" cy="19471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1269;p189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binjection</a:t>
            </a:r>
          </a:p>
          <a:p>
            <a:pPr/>
          </a:p>
        </p:txBody>
      </p:sp>
      <p:pic>
        <p:nvPicPr>
          <p:cNvPr id="215" name="Google Shape;1271;p189" descr="Google Shape;1271;p18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94423" y="4527075"/>
            <a:ext cx="3573402" cy="5806735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Google Shape;1272;p189"/>
          <p:cNvSpPr txBox="1"/>
          <p:nvPr/>
        </p:nvSpPr>
        <p:spPr>
          <a:xfrm>
            <a:off x="3229447" y="2487642"/>
            <a:ext cx="13736001" cy="1012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43799" tIns="243799" rIns="243799" bIns="243799">
            <a:spAutoFit/>
          </a:bodyPr>
          <a:lstStyle/>
          <a:p>
            <a:pPr lvl="1" indent="0" algn="l" defTabSz="2438400">
              <a:defRPr sz="5900">
                <a:effectLst/>
                <a:latin typeface="Hack Regular"/>
                <a:ea typeface="Hack Regular"/>
                <a:cs typeface="Hack Regular"/>
                <a:sym typeface="Hack Regular"/>
              </a:defRPr>
            </a:pPr>
            <a:r>
              <a:t>Injection Methods:</a:t>
            </a:r>
            <a:br/>
            <a:r>
              <a:rPr u="sng">
                <a:hlinkClick r:id="rId3" invalidUrl="" action="" tgtFrame="" tooltip="" history="1" highlightClick="0" endSnd="0"/>
              </a:rPr>
              <a:t>PE</a:t>
            </a:r>
            <a:r>
              <a:t> -&gt; Add new section</a:t>
            </a:r>
            <a:br/>
            <a:br/>
            <a:r>
              <a:rPr u="sng">
                <a:hlinkClick r:id="rId4" invalidUrl="" action="" tgtFrame="" tooltip="" history="1" highlightClick="0" endSnd="0"/>
              </a:rPr>
              <a:t>ELF</a:t>
            </a:r>
            <a:r>
              <a:t> -&gt; </a:t>
            </a:r>
          </a:p>
          <a:p>
            <a:pPr lvl="1" indent="0" algn="l" defTabSz="2438400">
              <a:defRPr sz="5900">
                <a:effectLst/>
                <a:latin typeface="Hack Regular"/>
                <a:ea typeface="Hack Regular"/>
                <a:cs typeface="Hack Regular"/>
                <a:sym typeface="Hack Regular"/>
              </a:defRPr>
            </a:pPr>
            <a:r>
              <a:t>Silvio Cesare’s padding infection method (updated for PIE), </a:t>
            </a:r>
          </a:p>
          <a:p>
            <a:pPr lvl="2" indent="0" algn="l" defTabSz="2438400">
              <a:defRPr sz="5900">
                <a:effectLst/>
                <a:latin typeface="Hack Regular"/>
                <a:ea typeface="Hack Regular"/>
                <a:cs typeface="Hack Regular"/>
                <a:sym typeface="Hack Regular"/>
              </a:defRPr>
            </a:pPr>
            <a:r>
              <a:t>sblip’s PT_NOTE method, and </a:t>
            </a:r>
          </a:p>
          <a:p>
            <a:pPr lvl="2" indent="0" algn="l" defTabSz="2438400">
              <a:defRPr sz="5900">
                <a:effectLst/>
                <a:latin typeface="Hack Regular"/>
                <a:ea typeface="Hack Regular"/>
                <a:cs typeface="Hack Regular"/>
                <a:sym typeface="Hack Regular"/>
              </a:defRPr>
            </a:pPr>
            <a:r>
              <a:t>shared lib .ctors hooking</a:t>
            </a:r>
            <a:br/>
          </a:p>
          <a:p>
            <a:pPr algn="l" defTabSz="2438400">
              <a:defRPr sz="5900">
                <a:effectLst/>
                <a:latin typeface="Hack Regular"/>
                <a:ea typeface="Hack Regular"/>
                <a:cs typeface="Hack Regular"/>
                <a:sym typeface="Hack Regular"/>
              </a:defRPr>
            </a:pPr>
            <a:r>
              <a:rPr u="sng">
                <a:hlinkClick r:id="rId5" invalidUrl="" action="" tgtFrame="" tooltip="" history="1" highlightClick="0" endSnd="0"/>
              </a:rPr>
              <a:t>Mach-O</a:t>
            </a:r>
            <a:r>
              <a:t> -&gt; One True Code Cave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Screen Shot 2021-07-10 at 1.31.42 PM.png" descr="Screen Shot 2021-07-10 at 1.31.4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40374" y="76096"/>
            <a:ext cx="15903252" cy="135638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backdoorfacto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backdoorfactory</a:t>
            </a:r>
          </a:p>
        </p:txBody>
      </p:sp>
      <p:sp>
        <p:nvSpPr>
          <p:cNvPr id="221" name="MitM tool that infects downloaded binaries with shellcod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MitM tool that infects downloaded binaries with shellcode</a:t>
            </a:r>
          </a:p>
          <a:p>
            <a:pPr>
              <a:buBlip>
                <a:blip r:embed="rId2"/>
              </a:buBlip>
            </a:pPr>
            <a:r>
              <a:t>Josh Pitts's </a:t>
            </a:r>
            <a:r>
              <a:rPr u="sng">
                <a:hlinkClick r:id="rId3" invalidUrl="" action="" tgtFrame="" tooltip="" history="1" highlightClick="0" endSnd="0"/>
              </a:rPr>
              <a:t>thebackdoorfactory</a:t>
            </a:r>
            <a:r>
              <a:t> stopped working sometime in 2016-17, but we loved it… (he’s updating it again)</a:t>
            </a:r>
          </a:p>
          <a:p>
            <a:pPr>
              <a:buBlip>
                <a:blip r:embed="rId2"/>
              </a:buBlip>
            </a:pPr>
            <a:r>
              <a:t>Let’s make a new one with a modular design using these components and replacing ettercap with </a:t>
            </a:r>
            <a:r>
              <a:rPr u="sng">
                <a:hlinkClick r:id="rId4" invalidUrl="" action="" tgtFrame="" tooltip="" history="1" highlightClick="0" endSnd="0"/>
              </a:rPr>
              <a:t>bettercap</a:t>
            </a:r>
            <a:r>
              <a:t>…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bettercap Caple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bettercap Caplets </a:t>
            </a:r>
          </a:p>
        </p:txBody>
      </p:sp>
      <p:sp>
        <p:nvSpPr>
          <p:cNvPr id="224" name="download-autopwn comes with bettercap, already intercepts web downloads and replaces them with shellcod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rPr u="sng">
                <a:hlinkClick r:id="rId3" invalidUrl="" action="" tgtFrame="" tooltip="" history="1" highlightClick="0" endSnd="0"/>
              </a:rPr>
              <a:t>download-autopwn</a:t>
            </a:r>
            <a:r>
              <a:t> comes with bettercap, already intercepts web downloads and replaces them with shellcode</a:t>
            </a:r>
          </a:p>
          <a:p>
            <a:pPr>
              <a:buBlip>
                <a:blip r:embed="rId2"/>
              </a:buBlip>
            </a:pPr>
            <a:r>
              <a:t>Only ReadFile/WriteFile are exposed in caplet script language</a:t>
            </a:r>
          </a:p>
          <a:p>
            <a:pPr>
              <a:buBlip>
                <a:blip r:embed="rId2"/>
              </a:buBlip>
            </a:pPr>
            <a:r>
              <a:t>So… we just point those at named pipes and redirect them to binjection!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BDF-After (1).png" descr="BDF-After (1)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19787" y="501978"/>
            <a:ext cx="13831758" cy="127120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backdoorfacto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backdoorfactory</a:t>
            </a:r>
          </a:p>
        </p:txBody>
      </p:sp>
      <p:sp>
        <p:nvSpPr>
          <p:cNvPr id="229" name="Starts up a pipe server, spits out a modified caplet and bettercap config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Starts up a pipe server, spits out a modified caplet and bettercap config</a:t>
            </a:r>
          </a:p>
          <a:p>
            <a:pPr>
              <a:buBlip>
                <a:blip r:embed="rId2"/>
              </a:buBlip>
            </a:pPr>
            <a:r>
              <a:t>Tells you what bettercap command to run</a:t>
            </a:r>
          </a:p>
          <a:p>
            <a:pPr>
              <a:buBlip>
                <a:blip r:embed="rId2"/>
              </a:buBlip>
            </a:pPr>
            <a:r>
              <a:t>Requires configuration of the User-Agent regexes and file extensions to inject</a:t>
            </a:r>
          </a:p>
          <a:p>
            <a:pPr>
              <a:buBlip>
                <a:blip r:embed="rId2"/>
              </a:buBlip>
            </a:pPr>
            <a:r>
              <a:t>Put your shellcodes in a directory structure with .bin extensions  </a:t>
            </a:r>
          </a:p>
        </p:txBody>
      </p:sp>
      <p:sp>
        <p:nvSpPr>
          <p:cNvPr id="230" name="github.com/Binject/backdoorfactory"/>
          <p:cNvSpPr txBox="1"/>
          <p:nvPr/>
        </p:nvSpPr>
        <p:spPr>
          <a:xfrm>
            <a:off x="4575212" y="2691033"/>
            <a:ext cx="15233576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github.com/Binject/backdoorfactory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backdoorfacto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backdoorfactory</a:t>
            </a:r>
          </a:p>
        </p:txBody>
      </p:sp>
      <p:sp>
        <p:nvSpPr>
          <p:cNvPr id="233" name="Adds support for unpacking archives (TGZ,ZIP,etc), injecting all binaries inside them, and repacking them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  <a:defRPr sz="4800"/>
            </a:pPr>
            <a:r>
              <a:t>Adds support for unpacking archives (TGZ,ZIP,etc), injecting all binaries inside them, and repacking them</a:t>
            </a:r>
          </a:p>
          <a:p>
            <a:pPr>
              <a:buBlip>
                <a:blip r:embed="rId2"/>
              </a:buBlip>
              <a:defRPr sz="4800"/>
            </a:pPr>
            <a:r>
              <a:t>Easy to add support for re-signing with stolen/purchased/generated key</a:t>
            </a:r>
          </a:p>
          <a:p>
            <a:pPr>
              <a:buBlip>
                <a:blip r:embed="rId2"/>
              </a:buBlip>
              <a:defRPr sz="4800"/>
            </a:pPr>
            <a:r>
              <a:t>We also ported this to Wifi Pineapple packages, since Golang supports mips32!</a:t>
            </a:r>
          </a:p>
          <a:p>
            <a:pPr lvl="1">
              <a:buBlip>
                <a:blip r:embed="rId2"/>
              </a:buBlip>
              <a:defRPr sz="4800"/>
            </a:pPr>
            <a:r>
              <a:t>Run it on a malicious AP or on-path router! (</a:t>
            </a:r>
            <a:r>
              <a:rPr u="sng">
                <a:hlinkClick r:id="rId3" invalidUrl="" action="" tgtFrame="" tooltip="" history="1" highlightClick="0" endSnd="0"/>
              </a:rPr>
              <a:t>bettercap</a:t>
            </a:r>
            <a:r>
              <a:t>, </a:t>
            </a:r>
            <a:r>
              <a:rPr u="sng">
                <a:hlinkClick r:id="rId4" invalidUrl="" action="" tgtFrame="" tooltip="" history="1" highlightClick="0" endSnd="0"/>
              </a:rPr>
              <a:t>backdoorfactory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Back to the Backdoor Factory.mp4" descr="Back to the Backdoor Factory.mp4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-45516" y="-25603"/>
            <a:ext cx="24475032" cy="13767206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919" fill="hold"/>
                                        <p:tgtEl>
                                          <p:spTgt spid="2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235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235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235"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Screen Shot 2021-07-10 at 1.50.59 PM.png" descr="Screen Shot 2021-07-10 at 1.50.5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441157"/>
            <a:ext cx="24384001" cy="128336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Screen Shot 2021-07-10 at 1.51.23 PM.png" descr="Screen Shot 2021-07-10 at 1.51.23 PM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946076" y="376237"/>
            <a:ext cx="20491908" cy="129636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igning from Gola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Signing from Golang</a:t>
            </a:r>
          </a:p>
        </p:txBody>
      </p:sp>
      <p:sp>
        <p:nvSpPr>
          <p:cNvPr id="242" name="Once you’ve injected, maybe you want to re-sign the binary (or just for EDR)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Once you’ve injected, maybe you want to re-sign the binary (or just for EDR)</a:t>
            </a:r>
          </a:p>
          <a:p>
            <a:pPr>
              <a:buBlip>
                <a:blip r:embed="rId2"/>
              </a:buBlip>
            </a:pPr>
            <a:r>
              <a:rPr u="sng">
                <a:hlinkClick r:id="rId3" invalidUrl="" action="" tgtFrame="" tooltip="" history="1" highlightClick="0" endSnd="0"/>
              </a:rPr>
              <a:t>Limelighter</a:t>
            </a:r>
            <a:r>
              <a:t> - signs EXE/DLL with real cert or makes one up!</a:t>
            </a:r>
          </a:p>
          <a:p>
            <a:pPr>
              <a:buBlip>
                <a:blip r:embed="rId2"/>
              </a:buBlip>
            </a:pPr>
            <a:r>
              <a:rPr u="sng">
                <a:hlinkClick r:id="rId4" invalidUrl="" action="" tgtFrame="" tooltip="" history="1" highlightClick="0" endSnd="0"/>
              </a:rPr>
              <a:t>Relic</a:t>
            </a:r>
            <a:r>
              <a:t> - signs everything!</a:t>
            </a:r>
          </a:p>
          <a:p>
            <a:pPr lvl="1">
              <a:buBlip>
                <a:blip r:embed="rId2"/>
              </a:buBlip>
            </a:pPr>
            <a:r>
              <a:t>RPM,DEB,JAR,XAP,PS1,APK,Mach-o,DMG</a:t>
            </a:r>
          </a:p>
          <a:p>
            <a:pPr lvl="1">
              <a:buBlip>
                <a:blip r:embed="rId2"/>
              </a:buBlip>
            </a:pPr>
            <a:r>
              <a:t>Authenticode EXE,MSI,CAB,appx,CAT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WMIExec &amp; go-smb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goWMIExec &amp; go-smb</a:t>
            </a:r>
          </a:p>
        </p:txBody>
      </p:sp>
      <p:sp>
        <p:nvSpPr>
          <p:cNvPr id="245" name="C-Sto’s goWMIExec brings WMI remote execution to Go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C-Sto’s </a:t>
            </a:r>
            <a:r>
              <a:rPr u="sng">
                <a:hlinkClick r:id="rId3" invalidUrl="" action="" tgtFrame="" tooltip="" history="1" highlightClick="0" endSnd="0"/>
              </a:rPr>
              <a:t>goWMIExec</a:t>
            </a:r>
            <a:r>
              <a:t> brings WMI remote execution to Go</a:t>
            </a:r>
          </a:p>
          <a:p>
            <a:pPr>
              <a:buBlip>
                <a:blip r:embed="rId2"/>
              </a:buBlip>
            </a:pPr>
            <a:r>
              <a:rPr u="sng">
                <a:hlinkClick r:id="rId4" invalidUrl="" action="" tgtFrame="" tooltip="" history="1" highlightClick="0" endSnd="0"/>
              </a:rPr>
              <a:t>go-smb2</a:t>
            </a:r>
            <a:r>
              <a:t> has full support for SMB copy operations</a:t>
            </a:r>
          </a:p>
          <a:p>
            <a:pPr>
              <a:buBlip>
                <a:blip r:embed="rId2"/>
              </a:buBlip>
            </a:pPr>
            <a:r>
              <a:t>Combined, you can do impacket’s “</a:t>
            </a:r>
            <a:r>
              <a:rPr u="sng">
                <a:hlinkClick r:id="rId5" invalidUrl="" action="" tgtFrame="" tooltip="" history="1" highlightClick="0" endSnd="0"/>
              </a:rPr>
              <a:t>smbexec</a:t>
            </a:r>
            <a:r>
              <a:t>” functionality:</a:t>
            </a:r>
          </a:p>
          <a:p>
            <a:pPr lvl="1">
              <a:buBlip>
                <a:blip r:embed="rId2"/>
              </a:buBlip>
            </a:pPr>
            <a:r>
              <a:t>Upload or share file with go-smb2</a:t>
            </a:r>
          </a:p>
          <a:p>
            <a:pPr lvl="1">
              <a:buBlip>
                <a:blip r:embed="rId2"/>
              </a:buBlip>
            </a:pPr>
            <a:r>
              <a:t>Execute it with goWMIExec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Screen Shot 2021-07-10 at 2.06.02 PM.png" descr="Screen Shot 2021-07-10 at 2.06.0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23582" y="820299"/>
            <a:ext cx="19536836" cy="7456368"/>
          </a:xfrm>
          <a:prstGeom prst="rect">
            <a:avLst/>
          </a:prstGeom>
          <a:ln w="12700">
            <a:miter lim="400000"/>
          </a:ln>
        </p:spPr>
      </p:pic>
      <p:sp>
        <p:nvSpPr>
          <p:cNvPr id="248" name="For complete example of smbexec in Go,  see the Source code for the Defcon 29 Workshop:  Writing Golang Malware"/>
          <p:cNvSpPr txBox="1"/>
          <p:nvPr/>
        </p:nvSpPr>
        <p:spPr>
          <a:xfrm>
            <a:off x="4223494" y="9348705"/>
            <a:ext cx="15937012" cy="204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4300">
                <a:latin typeface="Hack Regular"/>
                <a:ea typeface="Hack Regular"/>
                <a:cs typeface="Hack Regular"/>
                <a:sym typeface="Hack Regular"/>
              </a:defRPr>
            </a:pPr>
            <a:r>
              <a:t>For complete example of smbexec in Go, </a:t>
            </a:r>
            <a:br/>
            <a:r>
              <a:t>see the Source code for the Defcon 29 Workshop: </a:t>
            </a:r>
            <a:br/>
            <a:r>
              <a:t>Writing Golang Malware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Misc Exploit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Misc Exploitation</a:t>
            </a:r>
          </a:p>
        </p:txBody>
      </p:sp>
      <p:sp>
        <p:nvSpPr>
          <p:cNvPr id="251" name="gophish - Phishing toolki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rPr u="sng">
                <a:hlinkClick r:id="rId3" invalidUrl="" action="" tgtFrame="" tooltip="" history="1" highlightClick="0" endSnd="0"/>
              </a:rPr>
              <a:t>gophish</a:t>
            </a:r>
            <a:r>
              <a:t> - Phishing toolkit</a:t>
            </a:r>
          </a:p>
          <a:p>
            <a:pPr>
              <a:buBlip>
                <a:blip r:embed="rId2"/>
              </a:buBlip>
            </a:pPr>
            <a:r>
              <a:rPr u="sng">
                <a:hlinkClick r:id="rId4" invalidUrl="" action="" tgtFrame="" tooltip="" history="1" highlightClick="0" endSnd="0"/>
              </a:rPr>
              <a:t>gobuster</a:t>
            </a:r>
            <a:r>
              <a:t> - Brute-forcer for URIs, subdomains, open S3 buckets, vhosts</a:t>
            </a:r>
          </a:p>
          <a:p>
            <a:pPr>
              <a:buBlip>
                <a:blip r:embed="rId2"/>
              </a:buBlip>
            </a:pPr>
            <a:r>
              <a:rPr u="sng">
                <a:hlinkClick r:id="rId5" invalidUrl="" action="" tgtFrame="" tooltip="" history="1" highlightClick="0" endSnd="0"/>
              </a:rPr>
              <a:t>madns</a:t>
            </a:r>
            <a:r>
              <a:t> - DNS server for pentesters, useful for XXE exploitation and Android reversing</a:t>
            </a:r>
          </a:p>
          <a:p>
            <a:pPr>
              <a:buBlip>
                <a:blip r:embed="rId2"/>
              </a:buBlip>
            </a:pPr>
            <a:r>
              <a:rPr u="sng">
                <a:hlinkClick r:id="rId6" invalidUrl="" action="" tgtFrame="" tooltip="" history="1" highlightClick="0" endSnd="0"/>
              </a:rPr>
              <a:t>modlishka</a:t>
            </a:r>
            <a:r>
              <a:t> - Phishing reverse proxy/2FA bypass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254" name="Binject Origin &amp; Why Golang is cool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Binject Origin &amp; Why Golang is cool</a:t>
            </a:r>
          </a:p>
          <a:p>
            <a:pPr>
              <a:buBlip>
                <a:blip r:embed="rId2"/>
              </a:buBlip>
            </a:pPr>
            <a:r>
              <a:t>Malware Core Components</a:t>
            </a:r>
          </a:p>
          <a:p>
            <a:pPr>
              <a:buBlip>
                <a:blip r:embed="rId2"/>
              </a:buBlip>
            </a:pPr>
            <a:r>
              <a:t>Exploitation Tools</a:t>
            </a:r>
          </a:p>
          <a:p>
            <a:pPr>
              <a:buBlip>
                <a:blip r:embed="rId2"/>
              </a:buBlip>
              <a:defRPr>
                <a:solidFill>
                  <a:srgbClr val="FF2600"/>
                </a:solidFill>
              </a:defRPr>
            </a:pPr>
            <a:r>
              <a:t>EDR &amp; NIDS Evasion Tools</a:t>
            </a:r>
          </a:p>
          <a:p>
            <a:pPr>
              <a:buBlip>
                <a:blip r:embed="rId2"/>
              </a:buBlip>
            </a:pPr>
            <a:r>
              <a:t>Post-exploitation Tools</a:t>
            </a:r>
          </a:p>
          <a:p>
            <a:pPr>
              <a:buBlip>
                <a:blip r:embed="rId2"/>
              </a:buBlip>
            </a:pPr>
            <a:r>
              <a:t>Complete C2 Frameworks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arb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garble</a:t>
            </a:r>
          </a:p>
        </p:txBody>
      </p:sp>
      <p:sp>
        <p:nvSpPr>
          <p:cNvPr id="257" name="Replaces the broken gobfuscat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Replaces the </a:t>
            </a:r>
            <a:r>
              <a:rPr u="sng">
                <a:hlinkClick r:id="rId3" invalidUrl="" action="" tgtFrame="" tooltip="" history="1" highlightClick="0" endSnd="0"/>
              </a:rPr>
              <a:t>broken</a:t>
            </a:r>
            <a:r>
              <a:t> </a:t>
            </a:r>
            <a:r>
              <a:rPr u="sng">
                <a:hlinkClick r:id="rId4" invalidUrl="" action="" tgtFrame="" tooltip="" history="1" highlightClick="0" endSnd="0"/>
              </a:rPr>
              <a:t>gobfuscate</a:t>
            </a:r>
          </a:p>
          <a:p>
            <a:pPr>
              <a:buBlip>
                <a:blip r:embed="rId2"/>
              </a:buBlip>
            </a:pPr>
            <a:r>
              <a:t>Strips almost all Go metadata</a:t>
            </a:r>
          </a:p>
          <a:p>
            <a:pPr>
              <a:buBlip>
                <a:blip r:embed="rId2"/>
              </a:buBlip>
            </a:pPr>
            <a:r>
              <a:t>Replaces string literals with lambdas</a:t>
            </a:r>
          </a:p>
          <a:p>
            <a:pPr>
              <a:buBlip>
                <a:blip r:embed="rId2"/>
              </a:buBlip>
            </a:pPr>
            <a:r>
              <a:t>Works fast &amp; easy w./ Go modules</a:t>
            </a:r>
          </a:p>
          <a:p>
            <a:pPr>
              <a:buBlip>
                <a:blip r:embed="rId2"/>
              </a:buBlip>
            </a:pPr>
            <a:r>
              <a:t>The only Golang obfuscator you should be using!</a:t>
            </a:r>
          </a:p>
          <a:p>
            <a:pPr>
              <a:buBlip>
                <a:blip r:embed="rId2"/>
              </a:buBlip>
            </a:pPr>
            <a:r>
              <a:t>Try it with redress!</a:t>
            </a:r>
          </a:p>
        </p:txBody>
      </p:sp>
      <p:sp>
        <p:nvSpPr>
          <p:cNvPr id="258" name="github.com/burrowers/garble"/>
          <p:cNvSpPr txBox="1"/>
          <p:nvPr/>
        </p:nvSpPr>
        <p:spPr>
          <a:xfrm>
            <a:off x="4587068" y="2634365"/>
            <a:ext cx="12129282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5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5" invalidUrl="" action="" tgtFrame="" tooltip="" history="1" highlightClick="0" endSnd="0"/>
              </a:rPr>
              <a:t>github.com/burrowers/garble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atne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Ratnet</a:t>
            </a:r>
          </a:p>
        </p:txBody>
      </p:sp>
      <p:sp>
        <p:nvSpPr>
          <p:cNvPr id="261" name="Designed to help smuggle data through hostile networks (custom wire protocol for NIDS evasion)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Designed to help smuggle data through hostile networks (custom wire protocol for NIDS evasion)</a:t>
            </a:r>
          </a:p>
          <a:p>
            <a:pPr>
              <a:buBlip>
                <a:blip r:embed="rId2"/>
              </a:buBlip>
            </a:pPr>
            <a:r>
              <a:t>Uses pluggable transports: </a:t>
            </a:r>
            <a:br/>
            <a:r>
              <a:t>  </a:t>
            </a:r>
            <a:r>
              <a:rPr u="sng">
                <a:hlinkClick r:id="rId3" invalidUrl="" action="" tgtFrame="" tooltip="" history="1" highlightClick="0" endSnd="0"/>
              </a:rPr>
              <a:t>UDP</a:t>
            </a:r>
            <a:r>
              <a:t>, </a:t>
            </a:r>
            <a:r>
              <a:rPr u="sng">
                <a:hlinkClick r:id="rId4" invalidUrl="" action="" tgtFrame="" tooltip="" history="1" highlightClick="0" endSnd="0"/>
              </a:rPr>
              <a:t>TLS</a:t>
            </a:r>
            <a:r>
              <a:t>, </a:t>
            </a:r>
            <a:r>
              <a:rPr u="sng">
                <a:hlinkClick r:id="rId5" invalidUrl="" action="" tgtFrame="" tooltip="" history="1" highlightClick="0" endSnd="0"/>
              </a:rPr>
              <a:t>HTTPS</a:t>
            </a:r>
            <a:r>
              <a:t>, </a:t>
            </a:r>
            <a:r>
              <a:rPr u="sng">
                <a:hlinkClick r:id="rId6" invalidUrl="" action="" tgtFrame="" tooltip="" history="1" highlightClick="0" endSnd="0"/>
              </a:rPr>
              <a:t>DNS</a:t>
            </a:r>
            <a:r>
              <a:t>, </a:t>
            </a:r>
            <a:r>
              <a:rPr u="sng">
                <a:hlinkClick r:id="rId7" invalidUrl="" action="" tgtFrame="" tooltip="" history="1" highlightClick="0" endSnd="0"/>
              </a:rPr>
              <a:t>S3</a:t>
            </a:r>
          </a:p>
          <a:p>
            <a:pPr>
              <a:buBlip>
                <a:blip r:embed="rId2"/>
              </a:buBlip>
            </a:pPr>
            <a:r>
              <a:t>Store and forward + e2e encryption</a:t>
            </a:r>
          </a:p>
          <a:p>
            <a:pPr>
              <a:buBlip>
                <a:blip r:embed="rId2"/>
              </a:buBlip>
            </a:pPr>
            <a:r>
              <a:t>Also works offline/mesh</a:t>
            </a:r>
          </a:p>
          <a:p>
            <a:pPr lvl="1">
              <a:buBlip>
                <a:blip r:embed="rId2"/>
              </a:buBlip>
            </a:pPr>
            <a:r>
              <a:t>Handheld hardware coming out next year!</a:t>
            </a:r>
            <a:br/>
          </a:p>
        </p:txBody>
      </p:sp>
      <p:sp>
        <p:nvSpPr>
          <p:cNvPr id="262" name="github.com/awgh/ratnet"/>
          <p:cNvSpPr txBox="1"/>
          <p:nvPr/>
        </p:nvSpPr>
        <p:spPr>
          <a:xfrm>
            <a:off x="4439814" y="2638660"/>
            <a:ext cx="9911929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8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8" invalidUrl="" action="" tgtFrame="" tooltip="" history="1" highlightClick="0" endSnd="0"/>
              </a:rPr>
              <a:t>github.com/awgh/ratnet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atne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Ratnet</a:t>
            </a:r>
          </a:p>
        </p:txBody>
      </p:sp>
      <p:sp>
        <p:nvSpPr>
          <p:cNvPr id="265" name="Use Case: Pivot out of an isolated machine with mDNS/multicas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Use Case: Pivot out of an isolated machine with mDNS/multicast</a:t>
            </a:r>
          </a:p>
          <a:p>
            <a:pPr lvl="1">
              <a:buBlip>
                <a:blip r:embed="rId2"/>
              </a:buBlip>
            </a:pPr>
            <a:r>
              <a:t>Implants act as routers for other implants. They find each other, only one needs a way out</a:t>
            </a:r>
          </a:p>
          <a:p>
            <a:pPr lvl="1">
              <a:buBlip>
                <a:blip r:embed="rId2"/>
              </a:buBlip>
            </a:pPr>
            <a:r>
              <a:t>Demo also in the Workshop Source code</a:t>
            </a:r>
          </a:p>
          <a:p>
            <a:pPr>
              <a:buBlip>
                <a:blip r:embed="rId2"/>
              </a:buBlip>
            </a:pPr>
            <a:r>
              <a:t>Use Case: Pivot out of an egress-proxied datacenter using DNS or S3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Misc Tunnels &amp; Prox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Misc Tunnels &amp; Proxies</a:t>
            </a:r>
          </a:p>
        </p:txBody>
      </p:sp>
      <p:sp>
        <p:nvSpPr>
          <p:cNvPr id="268" name="Chashell - Reverse shell over DNS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rPr u="sng">
                <a:hlinkClick r:id="rId3" invalidUrl="" action="" tgtFrame="" tooltip="" history="1" highlightClick="0" endSnd="0"/>
              </a:rPr>
              <a:t>Chashell</a:t>
            </a:r>
            <a:r>
              <a:t> - Reverse shell over DNS</a:t>
            </a:r>
          </a:p>
          <a:p>
            <a:pPr>
              <a:buBlip>
                <a:blip r:embed="rId2"/>
              </a:buBlip>
            </a:pPr>
            <a:r>
              <a:rPr u="sng">
                <a:hlinkClick r:id="rId4" invalidUrl="" action="" tgtFrame="" tooltip="" history="1" highlightClick="0" endSnd="0"/>
              </a:rPr>
              <a:t>Chisel</a:t>
            </a:r>
            <a:r>
              <a:t> - TCP/UDP tunnel over HTTP</a:t>
            </a:r>
            <a:br/>
            <a:r>
              <a:t>(These two </a:t>
            </a:r>
            <a:r>
              <a:rPr u="sng">
                <a:hlinkClick r:id="rId5" invalidUrl="" action="" tgtFrame="" tooltip="" history="1" highlightClick="0" endSnd="0"/>
              </a:rPr>
              <a:t>made the news</a:t>
            </a:r>
            <a:r>
              <a:t> recently…)</a:t>
            </a:r>
          </a:p>
          <a:p>
            <a:pPr>
              <a:buBlip>
                <a:blip r:embed="rId2"/>
              </a:buBlip>
            </a:pPr>
          </a:p>
          <a:p>
            <a:pPr>
              <a:buBlip>
                <a:blip r:embed="rId2"/>
              </a:buBlip>
            </a:pPr>
            <a:r>
              <a:rPr u="sng">
                <a:hlinkClick r:id="rId6" invalidUrl="" action="" tgtFrame="" tooltip="" history="1" highlightClick="0" endSnd="0"/>
              </a:rPr>
              <a:t>Gost</a:t>
            </a:r>
            <a:r>
              <a:t> - HTTP/Socks5 tunnel</a:t>
            </a:r>
          </a:p>
          <a:p>
            <a:pPr>
              <a:buBlip>
                <a:blip r:embed="rId2"/>
              </a:buBlip>
            </a:pPr>
            <a:r>
              <a:rPr u="sng">
                <a:hlinkClick r:id="rId7" invalidUrl="" action="" tgtFrame="" tooltip="" history="1" highlightClick="0" endSnd="0"/>
              </a:rPr>
              <a:t>Holeysocks</a:t>
            </a:r>
            <a:r>
              <a:t> - Reverse Socks via SSH</a:t>
            </a:r>
          </a:p>
          <a:p>
            <a:pPr>
              <a:buBlip>
                <a:blip r:embed="rId2"/>
              </a:buBlip>
            </a:pPr>
            <a:r>
              <a:rPr u="sng">
                <a:hlinkClick r:id="rId8" invalidUrl="" action="" tgtFrame="" tooltip="" history="1" highlightClick="0" endSnd="0"/>
              </a:rPr>
              <a:t>Wireguard</a:t>
            </a:r>
            <a:r>
              <a:t> - Distributed VPN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andorasbox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pandorasbox</a:t>
            </a:r>
          </a:p>
        </p:txBody>
      </p:sp>
      <p:sp>
        <p:nvSpPr>
          <p:cNvPr id="271" name="Encrypted in-memory virtual filesystem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Encrypted in-memory virtual filesystem</a:t>
            </a:r>
          </a:p>
          <a:p>
            <a:pPr>
              <a:buBlip>
                <a:blip r:embed="rId2"/>
              </a:buBlip>
            </a:pPr>
            <a:r>
              <a:t>Transparent integration with Golang file abstraction</a:t>
            </a:r>
          </a:p>
          <a:p>
            <a:pPr>
              <a:buBlip>
                <a:blip r:embed="rId2"/>
              </a:buBlip>
            </a:pPr>
            <a:r>
              <a:t>Encryption and ~secure enclave provided by </a:t>
            </a:r>
            <a:r>
              <a:rPr u="sng">
                <a:hlinkClick r:id="rId3" invalidUrl="" action="" tgtFrame="" tooltip="" history="1" highlightClick="0" endSnd="0"/>
              </a:rPr>
              <a:t>MemGuard</a:t>
            </a:r>
          </a:p>
        </p:txBody>
      </p:sp>
      <p:sp>
        <p:nvSpPr>
          <p:cNvPr id="272" name="github.com/capnspacehook/pandorasbox"/>
          <p:cNvSpPr txBox="1"/>
          <p:nvPr/>
        </p:nvSpPr>
        <p:spPr>
          <a:xfrm>
            <a:off x="4341907" y="2694874"/>
            <a:ext cx="16120518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4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4" invalidUrl="" action="" tgtFrame="" tooltip="" history="1" highlightClick="0" endSnd="0"/>
              </a:rPr>
              <a:t>github.com/capnspacehook/pandorasbox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Universal Loa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Universal Loader</a:t>
            </a:r>
          </a:p>
        </p:txBody>
      </p:sp>
      <p:sp>
        <p:nvSpPr>
          <p:cNvPr id="275" name="Reflective DLL Loading in Golang on all Platforms (including the Apple M1!)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ADADAD"/>
              </a:buClr>
              <a:buSzPts val="3900"/>
              <a:buFont typeface="Arial"/>
              <a:buChar char="●"/>
              <a:defRPr sz="3900">
                <a:effectLst/>
              </a:defRPr>
            </a:pPr>
            <a:r>
              <a:t>Reflective DLL Loading in Golang on all Platforms (including the Apple M1!)</a:t>
            </a:r>
          </a:p>
          <a:p>
            <a: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ADADAD"/>
              </a:buClr>
              <a:buSzPts val="3900"/>
              <a:buFont typeface="Arial"/>
              <a:buChar char="●"/>
              <a:defRPr sz="3900">
                <a:effectLst/>
              </a:defRPr>
            </a:pPr>
          </a:p>
          <a:p>
            <a: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ADADAD"/>
              </a:buClr>
              <a:buSzPts val="3900"/>
              <a:buFont typeface="Arial"/>
              <a:buChar char="●"/>
              <a:defRPr sz="3900">
                <a:effectLst/>
              </a:defRPr>
            </a:pPr>
            <a:r>
              <a:t>Replicates the behavior of the system loader when loading a shared library into a process</a:t>
            </a:r>
          </a:p>
          <a:p>
            <a: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ADADAD"/>
              </a:buClr>
              <a:buSzPts val="3900"/>
              <a:buFont typeface="Arial"/>
              <a:buChar char="●"/>
              <a:defRPr sz="3900">
                <a:effectLst/>
              </a:defRPr>
            </a:pPr>
          </a:p>
          <a:p>
            <a: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ADADAD"/>
              </a:buClr>
              <a:buSzPts val="3900"/>
              <a:buFont typeface="Arial"/>
              <a:buChar char="●"/>
              <a:defRPr sz="3900">
                <a:effectLst/>
              </a:defRPr>
            </a:pPr>
            <a:r>
              <a:t>Load a shared library into the current process and call functions in it, with the same app interface on all platforms!</a:t>
            </a:r>
          </a:p>
          <a:p>
            <a: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ADADAD"/>
              </a:buClr>
              <a:buSzPts val="3900"/>
              <a:buFont typeface="Arial"/>
              <a:buChar char="●"/>
              <a:defRPr sz="3900">
                <a:effectLst/>
              </a:defRPr>
            </a:pPr>
          </a:p>
          <a:p>
            <a: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ADADAD"/>
              </a:buClr>
              <a:buSzPts val="3900"/>
              <a:buFont typeface="Arial"/>
              <a:buChar char="●"/>
              <a:defRPr sz="3900">
                <a:effectLst/>
              </a:defRPr>
            </a:pPr>
            <a:r>
              <a:t>Library can be loaded from memory, without ever touching disk!</a:t>
            </a:r>
          </a:p>
        </p:txBody>
      </p:sp>
      <p:sp>
        <p:nvSpPr>
          <p:cNvPr id="276" name="github.com/Binject/universal"/>
          <p:cNvSpPr txBox="1"/>
          <p:nvPr/>
        </p:nvSpPr>
        <p:spPr>
          <a:xfrm>
            <a:off x="4649693" y="2681759"/>
            <a:ext cx="12572753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2" invalidUrl="" action="" tgtFrame="" tooltip="" history="1" highlightClick="0" endSnd="0"/>
              </a:rPr>
              <a:t>github.com/Binject/universal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Universal Loa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Universal Loader</a:t>
            </a:r>
          </a:p>
        </p:txBody>
      </p:sp>
      <p:sp>
        <p:nvSpPr>
          <p:cNvPr id="279" name="Windows Method avoids system loader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ADADAD"/>
              </a:buClr>
              <a:buSzPts val="4300"/>
              <a:buFont typeface="Arial"/>
              <a:buChar char="●"/>
              <a:defRPr sz="4300">
                <a:effectLst/>
              </a:defRPr>
            </a:pPr>
            <a:r>
              <a:rPr u="sng">
                <a:uFill>
                  <a:solidFill>
                    <a:srgbClr val="4DD0E1"/>
                  </a:solidFill>
                </a:uFill>
                <a:hlinkClick r:id="rId2" invalidUrl="" action="" tgtFrame="" tooltip="" history="1" highlightClick="0" endSnd="0"/>
              </a:rPr>
              <a:t>Windows Method</a:t>
            </a:r>
            <a:r>
              <a:t> avoids system loader</a:t>
            </a:r>
          </a:p>
          <a:p>
            <a:pPr lvl="1" marL="1511300" indent="-914400" defTabSz="2438400">
              <a:lnSpc>
                <a:spcPct val="115000"/>
              </a:lnSpc>
              <a:spcBef>
                <a:spcPts val="0"/>
              </a:spcBef>
              <a:buClr>
                <a:srgbClr val="ADADAD"/>
              </a:buClr>
              <a:buSzPts val="4300"/>
              <a:buFont typeface="Arial"/>
              <a:buChar char="●"/>
              <a:defRPr sz="4300">
                <a:effectLst/>
              </a:defRPr>
            </a:pPr>
            <a:r>
              <a:t>Walks PEB (</a:t>
            </a:r>
            <a:r>
              <a:rPr u="sng">
                <a:uFill>
                  <a:solidFill>
                    <a:srgbClr val="4DD0E1"/>
                  </a:solidFill>
                </a:uFill>
                <a:hlinkClick r:id="rId3" invalidUrl="" action="" tgtFrame="" tooltip="" history="1" highlightClick="0" endSnd="0"/>
              </a:rPr>
              <a:t>Go ASM</a:t>
            </a:r>
            <a:r>
              <a:t>), </a:t>
            </a:r>
            <a:r>
              <a:rPr u="sng">
                <a:uFill>
                  <a:solidFill>
                    <a:srgbClr val="4DD0E1"/>
                  </a:solidFill>
                </a:uFill>
                <a:hlinkClick r:id="rId4" invalidUrl="" action="" tgtFrame="" tooltip="" history="1" highlightClick="0" endSnd="0"/>
              </a:rPr>
              <a:t>import_address_table branch</a:t>
            </a:r>
            <a:r>
              <a:t> does IAT fixups</a:t>
            </a:r>
            <a:br/>
          </a:p>
          <a:p>
            <a: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ADADAD"/>
              </a:buClr>
              <a:buSzPts val="4300"/>
              <a:buFont typeface="Arial"/>
              <a:buChar char="●"/>
              <a:defRPr sz="4300">
                <a:effectLst/>
              </a:defRPr>
            </a:pPr>
            <a:r>
              <a:rPr u="sng">
                <a:uFill>
                  <a:solidFill>
                    <a:srgbClr val="4DD0E1"/>
                  </a:solidFill>
                </a:uFill>
                <a:hlinkClick r:id="rId5" invalidUrl="" action="" tgtFrame="" tooltip="" history="1" highlightClick="0" endSnd="0"/>
              </a:rPr>
              <a:t>OSX Method</a:t>
            </a:r>
            <a:r>
              <a:t> uses dyld (thanks </a:t>
            </a:r>
            <a:r>
              <a:rPr u="sng">
                <a:hlinkClick r:id="rId6" invalidUrl="" action="" tgtFrame="" tooltip="" history="1" highlightClick="0" endSnd="0"/>
              </a:rPr>
              <a:t>MalwareUnicorn</a:t>
            </a:r>
            <a:r>
              <a:t>!)</a:t>
            </a:r>
            <a:br/>
          </a:p>
          <a:p>
            <a: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ADADAD"/>
              </a:buClr>
              <a:buSzPts val="4300"/>
              <a:buFont typeface="Arial"/>
              <a:buChar char="●"/>
              <a:defRPr sz="4300">
                <a:effectLst/>
              </a:defRPr>
            </a:pPr>
            <a:r>
              <a:rPr u="sng">
                <a:uFill>
                  <a:solidFill>
                    <a:srgbClr val="4DD0E1"/>
                  </a:solidFill>
                </a:uFill>
                <a:hlinkClick r:id="rId7" invalidUrl="" action="" tgtFrame="" tooltip="" history="1" highlightClick="0" endSnd="0"/>
              </a:rPr>
              <a:t>Linux Method</a:t>
            </a:r>
            <a:r>
              <a:t> avoids system loader and does not use memfd!</a:t>
            </a:r>
          </a:p>
          <a:p>
            <a: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ADADAD"/>
              </a:buClr>
              <a:buSzPts val="4300"/>
              <a:buFont typeface="Arial"/>
              <a:buChar char="●"/>
              <a:defRPr sz="4300">
                <a:effectLst/>
              </a:defRPr>
            </a:pPr>
          </a:p>
          <a:p>
            <a:pPr marL="1028700" indent="-914400" defTabSz="2438400">
              <a:lnSpc>
                <a:spcPct val="115000"/>
              </a:lnSpc>
              <a:spcBef>
                <a:spcPts val="0"/>
              </a:spcBef>
              <a:buClr>
                <a:srgbClr val="ADADAD"/>
              </a:buClr>
              <a:buSzPts val="4300"/>
              <a:buFont typeface="Arial"/>
              <a:buChar char="●"/>
              <a:defRPr sz="4300">
                <a:effectLst/>
              </a:defRPr>
            </a:pPr>
            <a:r>
              <a:t>Heavy use of Binject/debug to parse current process and library + cppgo to make the calls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Screen Shot 2021-07-11 at 7.12.34 PM.png" descr="Screen Shot 2021-07-11 at 7.12.3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81567" y="203966"/>
            <a:ext cx="15620866" cy="133080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Universal Loa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Universal Loader</a:t>
            </a:r>
          </a:p>
        </p:txBody>
      </p:sp>
      <p:sp>
        <p:nvSpPr>
          <p:cNvPr id="284" name="No system loader means other libraries will not be loaded automatically for you!…"/>
          <p:cNvSpPr txBox="1"/>
          <p:nvPr>
            <p:ph type="body" idx="1"/>
          </p:nvPr>
        </p:nvSpPr>
        <p:spPr>
          <a:xfrm>
            <a:off x="4155281" y="3893343"/>
            <a:ext cx="16073438" cy="9425111"/>
          </a:xfrm>
          <a:prstGeom prst="rect">
            <a:avLst/>
          </a:prstGeom>
        </p:spPr>
        <p:txBody>
          <a:bodyPr/>
          <a:lstStyle/>
          <a:p>
            <a:pPr marL="952500" indent="-952500">
              <a:buBlip>
                <a:blip r:embed="rId2"/>
              </a:buBlip>
              <a:defRPr sz="4400"/>
            </a:pPr>
            <a:r>
              <a:t>No system loader means other libraries will not be loaded automatically for you!</a:t>
            </a:r>
          </a:p>
          <a:p>
            <a:pPr lvl="1" marL="1397000" indent="-952500">
              <a:buBlip>
                <a:blip r:embed="rId2"/>
              </a:buBlip>
              <a:defRPr sz="4400"/>
            </a:pPr>
            <a:r>
              <a:rPr u="sng">
                <a:hlinkClick r:id="rId3" invalidUrl="" action="" tgtFrame="" tooltip="" history="1" highlightClick="0" endSnd="0"/>
              </a:rPr>
              <a:t>Window IAT branch</a:t>
            </a:r>
            <a:r>
              <a:t>: syscall</a:t>
            </a:r>
            <a:r>
              <a:rPr>
                <a:solidFill>
                  <a:srgbClr val="999999"/>
                </a:solidFill>
              </a:rPr>
              <a:t>.</a:t>
            </a:r>
            <a:r>
              <a:rPr>
                <a:solidFill>
                  <a:srgbClr val="DD4A68"/>
                </a:solidFill>
              </a:rPr>
              <a:t>MustLoadDLL</a:t>
            </a:r>
            <a:r>
              <a:rPr>
                <a:solidFill>
                  <a:srgbClr val="999999"/>
                </a:solidFill>
              </a:rPr>
              <a:t>(</a:t>
            </a:r>
            <a:r>
              <a:t>“kernel32.dll"</a:t>
            </a:r>
            <a:r>
              <a:rPr>
                <a:solidFill>
                  <a:srgbClr val="999999"/>
                </a:solidFill>
              </a:rPr>
              <a:t>) </a:t>
            </a:r>
            <a:r>
              <a:t>everything you need ahead of time, dependencies will be resolved by PEB + Binject/debug</a:t>
            </a:r>
          </a:p>
          <a:p>
            <a:pPr lvl="1" marL="1397000" indent="-952500">
              <a:buBlip>
                <a:blip r:embed="rId2"/>
              </a:buBlip>
              <a:defRPr sz="4400"/>
            </a:pPr>
            <a:r>
              <a:t>For Linux, statically compile the libs you need to load this way and avoid library dependencies altogether!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Donu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Donut</a:t>
            </a:r>
          </a:p>
        </p:txBody>
      </p:sp>
      <p:sp>
        <p:nvSpPr>
          <p:cNvPr id="287" name="Donut payload creation framework: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Donut payload creation framework:</a:t>
            </a:r>
          </a:p>
          <a:p>
            <a:pPr lvl="1">
              <a:buBlip>
                <a:blip r:embed="rId2"/>
              </a:buBlip>
            </a:pPr>
            <a:r>
              <a:t>A utility that converts EXE, DLL, .NET assembly, or JScript/VBS to an encrypted injectable shellcode</a:t>
            </a:r>
          </a:p>
          <a:p>
            <a:pPr lvl="1">
              <a:buBlip>
                <a:blip r:embed="rId2"/>
              </a:buBlip>
            </a:pPr>
            <a:r>
              <a:t>An asm loader that decrypts and loads a donut payload into a process</a:t>
            </a:r>
          </a:p>
          <a:p>
            <a:pPr lvl="1">
              <a:buBlip>
                <a:blip r:embed="rId2"/>
              </a:buBlip>
            </a:pPr>
            <a:r>
              <a:t>Supports remote loads, local/remote processes, and a ton of other stuff!</a:t>
            </a:r>
          </a:p>
        </p:txBody>
      </p:sp>
      <p:sp>
        <p:nvSpPr>
          <p:cNvPr id="288" name="github.com/TheWover/donut"/>
          <p:cNvSpPr txBox="1"/>
          <p:nvPr/>
        </p:nvSpPr>
        <p:spPr>
          <a:xfrm>
            <a:off x="4627692" y="2705456"/>
            <a:ext cx="11242341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github.com/TheWover/donut</a:t>
            </a:r>
          </a:p>
        </p:txBody>
      </p:sp>
      <p:pic>
        <p:nvPicPr>
          <p:cNvPr id="289" name="donut_logo_white.jpg" descr="donut_logo_white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636098" y="209995"/>
            <a:ext cx="7056465" cy="3429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-donu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go-donut</a:t>
            </a:r>
          </a:p>
        </p:txBody>
      </p:sp>
      <p:sp>
        <p:nvSpPr>
          <p:cNvPr id="292" name="Ported the donut utility to Go using Binject/debug, re-used the loader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Ported the donut utility to Go using Binject/debug, re-used the loader</a:t>
            </a:r>
          </a:p>
          <a:p>
            <a:pPr>
              <a:buBlip>
                <a:blip r:embed="rId2"/>
              </a:buBlip>
            </a:pPr>
            <a:r>
              <a:t>This lets your Golang-based c2’s generate donut payloads from code and from Linux/OSX.</a:t>
            </a:r>
          </a:p>
          <a:p>
            <a:pPr>
              <a:buBlip>
                <a:blip r:embed="rId2"/>
              </a:buBlip>
            </a:pPr>
            <a:r>
              <a:t>Can also use it in your implants…</a:t>
            </a:r>
          </a:p>
        </p:txBody>
      </p:sp>
      <p:sp>
        <p:nvSpPr>
          <p:cNvPr id="293" name="github.com/Binject/go-donut"/>
          <p:cNvSpPr txBox="1"/>
          <p:nvPr/>
        </p:nvSpPr>
        <p:spPr>
          <a:xfrm>
            <a:off x="4783628" y="2794973"/>
            <a:ext cx="12129283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github.com/Binject/go-donut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Universal vs Donu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Universal vs Donut</a:t>
            </a:r>
          </a:p>
        </p:txBody>
      </p:sp>
      <p:sp>
        <p:nvSpPr>
          <p:cNvPr id="296" name="For an implant module system that never touches disk, you may be better off using Donut and injecting into new/separate processes (or yourself) rather than Universal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952500" indent="-952500">
              <a:buBlip>
                <a:blip r:embed="rId2"/>
              </a:buBlip>
              <a:defRPr sz="4400"/>
            </a:pPr>
            <a:r>
              <a:t>For an implant module system that never touches disk, you may be better off using Donut and injecting into new/separate processes (or yourself) rather than Universal</a:t>
            </a:r>
          </a:p>
          <a:p>
            <a:pPr marL="952500" indent="-952500">
              <a:buBlip>
                <a:blip r:embed="rId2"/>
              </a:buBlip>
              <a:defRPr sz="4400"/>
            </a:pPr>
            <a:r>
              <a:t>Especially if you want to run complex modules like mimikatz (COM host must be on main thread) or</a:t>
            </a:r>
            <a:r>
              <a:rPr>
                <a:solidFill>
                  <a:srgbClr val="999999"/>
                </a:solidFill>
              </a:rPr>
              <a:t> </a:t>
            </a:r>
            <a:r>
              <a:rPr u="sng">
                <a:hlinkClick r:id="rId3" invalidUrl="" action="" tgtFrame="" tooltip="" history="1" highlightClick="0" endSnd="0"/>
              </a:rPr>
              <a:t>other Go programs</a:t>
            </a:r>
            <a:r>
              <a:t>.</a:t>
            </a:r>
            <a:r>
              <a:rPr>
                <a:solidFill>
                  <a:srgbClr val="999999"/>
                </a:solidFill>
              </a:rPr>
              <a:t> 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carecro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Scarecrow</a:t>
            </a:r>
          </a:p>
        </p:txBody>
      </p:sp>
      <p:sp>
        <p:nvSpPr>
          <p:cNvPr id="299" name="Another payload creation framework: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Another payload creation framework:</a:t>
            </a:r>
          </a:p>
          <a:p>
            <a:pPr lvl="1">
              <a:buBlip>
                <a:blip r:embed="rId2"/>
              </a:buBlip>
            </a:pPr>
            <a:r>
              <a:t>Signs payloads using </a:t>
            </a:r>
            <a:r>
              <a:rPr u="sng">
                <a:hlinkClick r:id="rId3" invalidUrl="" action="" tgtFrame="" tooltip="" history="1" highlightClick="0" endSnd="0"/>
              </a:rPr>
              <a:t>limelighter</a:t>
            </a:r>
          </a:p>
          <a:p>
            <a:pPr lvl="1">
              <a:buBlip>
                <a:blip r:embed="rId2"/>
              </a:buBlip>
            </a:pPr>
            <a:r>
              <a:t>Disables ETW by unhooking itself</a:t>
            </a:r>
          </a:p>
          <a:p>
            <a:pPr lvl="1">
              <a:buBlip>
                <a:blip r:embed="rId2"/>
              </a:buBlip>
            </a:pPr>
            <a:r>
              <a:t>AES encryption</a:t>
            </a:r>
          </a:p>
          <a:p>
            <a:pPr lvl="1">
              <a:buBlip>
                <a:blip r:embed="rId2"/>
              </a:buBlip>
            </a:pPr>
            <a:r>
              <a:t>Many other stealth features!</a:t>
            </a:r>
          </a:p>
        </p:txBody>
      </p:sp>
      <p:sp>
        <p:nvSpPr>
          <p:cNvPr id="300" name="github.com/optiv/ScareCrow"/>
          <p:cNvSpPr txBox="1"/>
          <p:nvPr/>
        </p:nvSpPr>
        <p:spPr>
          <a:xfrm>
            <a:off x="4524441" y="2752849"/>
            <a:ext cx="11685812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4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4" invalidUrl="" action="" tgtFrame="" tooltip="" history="1" highlightClick="0" endSnd="0"/>
              </a:rPr>
              <a:t>github.com/optiv/ScareCrow</a:t>
            </a:r>
          </a:p>
        </p:txBody>
      </p:sp>
      <p:pic>
        <p:nvPicPr>
          <p:cNvPr id="301" name="ScareCrow.png" descr="ScareCrow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8718590" y="1069482"/>
            <a:ext cx="5321197" cy="58385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bananaph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bananaphone</a:t>
            </a:r>
          </a:p>
        </p:txBody>
      </p:sp>
      <p:sp>
        <p:nvSpPr>
          <p:cNvPr id="304" name="Implements Hell’s Gate for Golang, using the exact same interface as the built-in syscall library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Implements </a:t>
            </a:r>
            <a:r>
              <a:rPr u="sng">
                <a:uFill>
                  <a:solidFill>
                    <a:srgbClr val="4DD0E1"/>
                  </a:solidFill>
                </a:uFill>
                <a:hlinkClick r:id="rId3" invalidUrl="" action="" tgtFrame="" tooltip="" history="1" highlightClick="0" endSnd="0"/>
              </a:rPr>
              <a:t>Hell’s Gate</a:t>
            </a:r>
            <a:r>
              <a:t> for Golang, using the exact same interface as the built-in syscall library</a:t>
            </a:r>
          </a:p>
          <a:p>
            <a:pPr>
              <a:buBlip>
                <a:blip r:embed="rId2"/>
              </a:buBlip>
            </a:pPr>
            <a:r>
              <a:t>Modified version of </a:t>
            </a:r>
            <a:r>
              <a:rPr u="sng">
                <a:hlinkClick r:id="rId4" invalidUrl="" action="" tgtFrame="" tooltip="" history="1" highlightClick="0" endSnd="0"/>
              </a:rPr>
              <a:t>mkwinsyscall</a:t>
            </a:r>
            <a:r>
              <a:t> generates Go stubs from </a:t>
            </a:r>
            <a:r>
              <a:rPr u="sng">
                <a:hlinkClick r:id="rId5" invalidUrl="" action="" tgtFrame="" tooltip="" history="1" highlightClick="0" endSnd="0"/>
              </a:rPr>
              <a:t>headers</a:t>
            </a:r>
          </a:p>
          <a:p>
            <a:pPr>
              <a:buBlip>
                <a:blip r:embed="rId2"/>
              </a:buBlip>
            </a:pPr>
            <a:r>
              <a:t>Uses Go ASM and Binject/debug</a:t>
            </a:r>
          </a:p>
          <a:p>
            <a:pPr>
              <a:buBlip>
                <a:blip r:embed="rId2"/>
              </a:buBlip>
            </a:pPr>
            <a:r>
              <a:t>Code using syscall can be easily converted! There is no reason not to use this, it’s amazing and easy</a:t>
            </a:r>
          </a:p>
        </p:txBody>
      </p:sp>
      <p:sp>
        <p:nvSpPr>
          <p:cNvPr id="305" name="github.com/C-Sto/BananaPhone"/>
          <p:cNvSpPr txBox="1"/>
          <p:nvPr/>
        </p:nvSpPr>
        <p:spPr>
          <a:xfrm>
            <a:off x="4697087" y="2705456"/>
            <a:ext cx="12572753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6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6" invalidUrl="" action="" tgtFrame="" tooltip="" history="1" highlightClick="0" endSnd="0"/>
              </a:rPr>
              <a:t>github.com/C-Sto/BananaPhone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bananaph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bananaphone</a:t>
            </a:r>
          </a:p>
        </p:txBody>
      </p:sp>
      <p:sp>
        <p:nvSpPr>
          <p:cNvPr id="308" name="Bananaphone also has a unique improvement over traditional Hell’s Gate:  The “auto mode” will detect when NTDLL has been hooked by EDR and automatically switch to loading NTDLL from disk instead of the hooked in-memory version!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Bananaphone also has a unique improvement over traditional Hell’s Gate:</a:t>
            </a:r>
            <a:br/>
            <a:br/>
            <a:r>
              <a:t>The “auto mode” will detect when NTDLL has been hooked by EDR and automatically switch to loading NTDLL from disk instead of the hooked in-memory version!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pherheaven.png" descr="gopherheave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389775" y="534302"/>
            <a:ext cx="6707326" cy="6707326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gopherheave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gopherheaven</a:t>
            </a:r>
          </a:p>
        </p:txBody>
      </p:sp>
      <p:sp>
        <p:nvSpPr>
          <p:cNvPr id="312" name="Implements Heaven’s Gate for Golang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3"/>
              </a:buBlip>
            </a:pPr>
          </a:p>
          <a:p>
            <a:pPr>
              <a:buBlip>
                <a:blip r:embed="rId3"/>
              </a:buBlip>
            </a:pPr>
            <a:r>
              <a:t>Implements </a:t>
            </a:r>
            <a:r>
              <a:rPr u="sng">
                <a:hlinkClick r:id="rId4" invalidUrl="" action="" tgtFrame="" tooltip="" history="1" highlightClick="0" endSnd="0"/>
              </a:rPr>
              <a:t>Heaven’s Gate</a:t>
            </a:r>
            <a:r>
              <a:t> for Golang</a:t>
            </a:r>
          </a:p>
          <a:p>
            <a:pPr>
              <a:buBlip>
                <a:blip r:embed="rId3"/>
              </a:buBlip>
            </a:pPr>
            <a:r>
              <a:t>Allows calling 64-bit code from 32-bit as a method of EDR evasion</a:t>
            </a:r>
          </a:p>
          <a:p>
            <a:pPr>
              <a:buBlip>
                <a:blip r:embed="rId3"/>
              </a:buBlip>
            </a:pPr>
            <a:r>
              <a:t>Also uses Binject/debug :)</a:t>
            </a:r>
          </a:p>
          <a:p>
            <a:pPr>
              <a:buBlip>
                <a:blip r:embed="rId3"/>
              </a:buBlip>
            </a:pPr>
            <a:r>
              <a:t>Some sweet </a:t>
            </a:r>
            <a:r>
              <a:rPr u="sng">
                <a:hlinkClick r:id="rId5" invalidUrl="" action="" tgtFrame="" tooltip="" history="1" highlightClick="0" endSnd="0"/>
              </a:rPr>
              <a:t>i386 Go ASM</a:t>
            </a:r>
          </a:p>
        </p:txBody>
      </p:sp>
      <p:sp>
        <p:nvSpPr>
          <p:cNvPr id="313" name="github.com/aus/gopherheaven"/>
          <p:cNvSpPr txBox="1"/>
          <p:nvPr/>
        </p:nvSpPr>
        <p:spPr>
          <a:xfrm>
            <a:off x="4918822" y="2705456"/>
            <a:ext cx="12129283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6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6" invalidUrl="" action="" tgtFrame="" tooltip="" history="1" highlightClick="0" endSnd="0"/>
              </a:rPr>
              <a:t>github.com/aus/gopherheaven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316" name="Binject Origin &amp; Why Golang is cool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Binject Origin &amp; Why Golang is cool</a:t>
            </a:r>
          </a:p>
          <a:p>
            <a:pPr>
              <a:buBlip>
                <a:blip r:embed="rId2"/>
              </a:buBlip>
            </a:pPr>
            <a:r>
              <a:t>Malware Core Components</a:t>
            </a:r>
          </a:p>
          <a:p>
            <a:pPr>
              <a:buBlip>
                <a:blip r:embed="rId2"/>
              </a:buBlip>
            </a:pPr>
            <a:r>
              <a:t>Exploitation Tools</a:t>
            </a:r>
          </a:p>
          <a:p>
            <a:pPr>
              <a:buBlip>
                <a:blip r:embed="rId2"/>
              </a:buBlip>
            </a:pPr>
            <a:r>
              <a:t>EDR &amp; NIDS Evasion Tools</a:t>
            </a:r>
          </a:p>
          <a:p>
            <a:pPr>
              <a:buBlip>
                <a:blip r:embed="rId2"/>
              </a:buBlip>
              <a:defRPr>
                <a:solidFill>
                  <a:srgbClr val="FF2600"/>
                </a:solidFill>
              </a:defRPr>
            </a:pPr>
            <a:r>
              <a:t>Post-exploitation Tools</a:t>
            </a:r>
          </a:p>
          <a:p>
            <a:pPr>
              <a:buBlip>
                <a:blip r:embed="rId2"/>
              </a:buBlip>
            </a:pPr>
            <a:r>
              <a:t>Complete C2 Frameworks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-mimikatz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go-mimikatz</a:t>
            </a:r>
          </a:p>
        </p:txBody>
      </p:sp>
      <p:sp>
        <p:nvSpPr>
          <p:cNvPr id="319" name="Combines go-donut and bananaphone … which both use Binject/debug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Combines go-donut and bananaphone</a:t>
            </a:r>
            <a:br/>
            <a:r>
              <a:rPr sz="4400"/>
              <a:t>… which both use Binject/debug</a:t>
            </a:r>
          </a:p>
          <a:p>
            <a:pPr>
              <a:buBlip>
                <a:blip r:embed="rId2"/>
              </a:buBlip>
            </a:pPr>
            <a:r>
              <a:t>Downloads mimikatz to RAM, makes it into a donut payload, and injects it into itself with bananaphoned system calls!</a:t>
            </a:r>
          </a:p>
          <a:p>
            <a:pPr>
              <a:buBlip>
                <a:blip r:embed="rId2"/>
              </a:buBlip>
            </a:pPr>
            <a:r>
              <a:t>Lets you just run mimikatz on a surprising number of systems…</a:t>
            </a:r>
          </a:p>
          <a:p>
            <a:pPr>
              <a:buBlip>
                <a:blip r:embed="rId2"/>
              </a:buBlip>
            </a:pPr>
            <a:r>
              <a:rPr u="sng">
                <a:hlinkClick r:id="rId3" invalidUrl="" action="" tgtFrame="" tooltip="" history="1" highlightClick="0" endSnd="0"/>
              </a:rPr>
              <a:t>Whole program</a:t>
            </a:r>
            <a:r>
              <a:t> is &lt;150 lines of code!</a:t>
            </a:r>
          </a:p>
        </p:txBody>
      </p:sp>
      <p:sp>
        <p:nvSpPr>
          <p:cNvPr id="320" name="github.com/vyrus001/go-mimikatz"/>
          <p:cNvSpPr txBox="1"/>
          <p:nvPr/>
        </p:nvSpPr>
        <p:spPr>
          <a:xfrm>
            <a:off x="4742785" y="2752849"/>
            <a:ext cx="13903165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4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4" invalidUrl="" action="" tgtFrame="" tooltip="" history="1" highlightClick="0" endSnd="0"/>
              </a:rPr>
              <a:t>github.com/vyrus001/go-mimikatz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Screen Shot 2021-07-11 at 7.23.05 PM.png" descr="Screen Shot 2021-07-11 at 7.23.0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46095" y="107957"/>
            <a:ext cx="15691810" cy="135000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Demo go-mimikatz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 go-mimikatz</a:t>
            </a:r>
          </a:p>
        </p:txBody>
      </p:sp>
      <p:sp>
        <p:nvSpPr>
          <p:cNvPr id="325" name="From Linux, go-mimikatz dir: GOOS=windows GOARCH=amd64 go build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From Linux, go-mimikatz dir:</a:t>
            </a:r>
            <a:br/>
            <a:r>
              <a:t>GOOS=windows GOARCH=amd64 go build</a:t>
            </a:r>
          </a:p>
          <a:p>
            <a:pPr>
              <a:buBlip>
                <a:blip r:embed="rId2"/>
              </a:buBlip>
            </a:pPr>
            <a:r>
              <a:t>Copied to a SMB share with name “gm.exe”</a:t>
            </a:r>
          </a:p>
          <a:p>
            <a:pPr>
              <a:buBlip>
                <a:blip r:embed="rId2"/>
              </a:buBlip>
            </a:pPr>
            <a:r>
              <a:t>Did not even use garble…</a:t>
            </a:r>
          </a:p>
          <a:p>
            <a:pPr>
              <a:buBlip>
                <a:blip r:embed="rId2"/>
              </a:buBlip>
            </a:pPr>
            <a:r>
              <a:t>This is current mimikatz, Win10 Edge, Defender enabled, running from SMB…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-mimikatz-on-edge.mp4" descr="go-mimikatz-on-edge.mp4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3120153" y="54115"/>
            <a:ext cx="18143694" cy="136077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click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307" fill="hold"/>
                                        <p:tgtEl>
                                          <p:spTgt spid="3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327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327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327"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msflib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msflib</a:t>
            </a:r>
          </a:p>
        </p:txBody>
      </p:sp>
      <p:sp>
        <p:nvSpPr>
          <p:cNvPr id="330" name="Make your implants work with Metasploit!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Make your implants work with Metasploit!</a:t>
            </a:r>
          </a:p>
          <a:p>
            <a:pPr>
              <a:buBlip>
                <a:blip r:embed="rId2"/>
              </a:buBlip>
            </a:pPr>
            <a:r>
              <a:t>Uses bananaphone</a:t>
            </a:r>
          </a:p>
          <a:p>
            <a:pPr>
              <a:buBlip>
                <a:blip r:embed="rId2"/>
              </a:buBlip>
            </a:pPr>
            <a:r>
              <a:t>Run a payload in the implant process</a:t>
            </a:r>
          </a:p>
          <a:p>
            <a:pPr>
              <a:buBlip>
                <a:blip r:embed="rId2"/>
              </a:buBlip>
            </a:pPr>
            <a:r>
              <a:t>Inject a payload into a remote process</a:t>
            </a:r>
          </a:p>
        </p:txBody>
      </p:sp>
      <p:sp>
        <p:nvSpPr>
          <p:cNvPr id="331" name="github.com/vyrus001/msflib"/>
          <p:cNvSpPr txBox="1"/>
          <p:nvPr/>
        </p:nvSpPr>
        <p:spPr>
          <a:xfrm>
            <a:off x="4642926" y="2752849"/>
            <a:ext cx="11685811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github.com/vyrus001/msflib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askmast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taskmaster</a:t>
            </a:r>
          </a:p>
        </p:txBody>
      </p:sp>
      <p:sp>
        <p:nvSpPr>
          <p:cNvPr id="334" name="Windows Task Scheduler library for Go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Windows Task Scheduler library for Go</a:t>
            </a:r>
          </a:p>
          <a:p>
            <a:pPr>
              <a:buBlip>
                <a:blip r:embed="rId2"/>
              </a:buBlip>
            </a:pPr>
            <a:r>
              <a:t>For persistence, it’s easier to schedule a task than to create a Windows service</a:t>
            </a:r>
          </a:p>
          <a:p>
            <a:pPr>
              <a:buBlip>
                <a:blip r:embed="rId2"/>
              </a:buBlip>
            </a:pPr>
            <a:r>
              <a:t>If you really want a Windows service, </a:t>
            </a:r>
            <a:r>
              <a:rPr u="sng">
                <a:hlinkClick r:id="rId3" invalidUrl="" action="" tgtFrame="" tooltip="" history="1" highlightClick="0" endSnd="0"/>
              </a:rPr>
              <a:t>here’s an example</a:t>
            </a:r>
          </a:p>
        </p:txBody>
      </p:sp>
      <p:sp>
        <p:nvSpPr>
          <p:cNvPr id="335" name="github.com/capnspacehook/taskmaster"/>
          <p:cNvSpPr txBox="1"/>
          <p:nvPr/>
        </p:nvSpPr>
        <p:spPr>
          <a:xfrm>
            <a:off x="4353477" y="2681759"/>
            <a:ext cx="15677047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4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4" invalidUrl="" action="" tgtFrame="" tooltip="" history="1" highlightClick="0" endSnd="0"/>
              </a:rPr>
              <a:t>github.com/capnspacehook/taskmaster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scrip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gscript</a:t>
            </a:r>
          </a:p>
        </p:txBody>
      </p:sp>
      <p:sp>
        <p:nvSpPr>
          <p:cNvPr id="338" name="Scripting language for droppers in all three OSes, using embedded JS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Scripting language for droppers in all three OSes, using embedded JS</a:t>
            </a:r>
          </a:p>
          <a:p>
            <a:pPr>
              <a:buBlip>
                <a:blip r:embed="rId2"/>
              </a:buBlip>
            </a:pPr>
            <a:r>
              <a:t>Can disable AV, EDR, firewalls, reg changes, persistence, allll kinds of stuff (</a:t>
            </a:r>
            <a:r>
              <a:rPr u="sng">
                <a:hlinkClick r:id="rId3" invalidUrl="" action="" tgtFrame="" tooltip="" history="1" highlightClick="0" endSnd="0"/>
              </a:rPr>
              <a:t>ahhh’s gscript repo</a:t>
            </a:r>
            <a:r>
              <a:t>)</a:t>
            </a:r>
          </a:p>
          <a:p>
            <a:pPr>
              <a:buBlip>
                <a:blip r:embed="rId2"/>
              </a:buBlip>
            </a:pPr>
            <a:r>
              <a:t>There’s a whole </a:t>
            </a:r>
            <a:r>
              <a:rPr u="sng">
                <a:hlinkClick r:id="rId4" invalidUrl="" action="" tgtFrame="" tooltip="" history="1" highlightClick="0" endSnd="0"/>
              </a:rPr>
              <a:t>Defcon26 talk</a:t>
            </a:r>
            <a:r>
              <a:t> on it! </a:t>
            </a:r>
          </a:p>
        </p:txBody>
      </p:sp>
      <p:sp>
        <p:nvSpPr>
          <p:cNvPr id="339" name="github.com/gen0cide/gscript"/>
          <p:cNvSpPr txBox="1"/>
          <p:nvPr/>
        </p:nvSpPr>
        <p:spPr>
          <a:xfrm>
            <a:off x="4752945" y="2776546"/>
            <a:ext cx="12129282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5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5" invalidUrl="" action="" tgtFrame="" tooltip="" history="1" highlightClick="0" endSnd="0"/>
              </a:rPr>
              <a:t>github.com/gen0cide/gscript</a:t>
            </a:r>
          </a:p>
        </p:txBody>
      </p:sp>
      <p:pic>
        <p:nvPicPr>
          <p:cNvPr id="340" name="gscript.png" descr="gscript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9621171" y="6650858"/>
            <a:ext cx="3810001" cy="3911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secretsdum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gosecretsdump</a:t>
            </a:r>
          </a:p>
        </p:txBody>
      </p:sp>
      <p:sp>
        <p:nvSpPr>
          <p:cNvPr id="343" name="Dumps hashes from NTDS.dit files much faster than impacket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Dumps hashes from NTDS.dit files much faster than impacket</a:t>
            </a:r>
          </a:p>
          <a:p>
            <a:pPr lvl="1">
              <a:buBlip>
                <a:blip r:embed="rId2"/>
              </a:buBlip>
            </a:pPr>
            <a:r>
              <a:t>Minutes vs Hours (Go vs Python)</a:t>
            </a:r>
          </a:p>
          <a:p>
            <a:pPr>
              <a:buBlip>
                <a:blip r:embed="rId2"/>
              </a:buBlip>
            </a:pPr>
            <a:r>
              <a:t>Requires SYSTEM privs to run locally</a:t>
            </a:r>
          </a:p>
          <a:p>
            <a:pPr>
              <a:buBlip>
                <a:blip r:embed="rId2"/>
              </a:buBlip>
            </a:pPr>
            <a:r>
              <a:t>Also works on backups</a:t>
            </a:r>
          </a:p>
        </p:txBody>
      </p:sp>
      <p:sp>
        <p:nvSpPr>
          <p:cNvPr id="344" name="github.com/C-Sto/gosecretsdump"/>
          <p:cNvSpPr txBox="1"/>
          <p:nvPr/>
        </p:nvSpPr>
        <p:spPr>
          <a:xfrm>
            <a:off x="4787244" y="2736139"/>
            <a:ext cx="13459694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github.com/C-Sto/gosecretsdump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Lazag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goLazagne</a:t>
            </a:r>
          </a:p>
        </p:txBody>
      </p:sp>
      <p:sp>
        <p:nvSpPr>
          <p:cNvPr id="347" name="Go port of lazagn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Go port of </a:t>
            </a:r>
            <a:r>
              <a:rPr u="sng">
                <a:hlinkClick r:id="rId3" invalidUrl="" action="" tgtFrame="" tooltip="" history="1" highlightClick="0" endSnd="0"/>
              </a:rPr>
              <a:t>lazagne</a:t>
            </a:r>
          </a:p>
          <a:p>
            <a:pPr>
              <a:buBlip>
                <a:blip r:embed="rId2"/>
              </a:buBlip>
            </a:pPr>
            <a:r>
              <a:t>Grabs all browser, mail, admin tool passwords</a:t>
            </a:r>
          </a:p>
          <a:p>
            <a:pPr>
              <a:buBlip>
                <a:blip r:embed="rId2"/>
              </a:buBlip>
            </a:pPr>
            <a:r>
              <a:t>Requires CGO just because of sqlite requirement, but… there are </a:t>
            </a:r>
            <a:r>
              <a:rPr u="sng">
                <a:hlinkClick r:id="rId4" invalidUrl="" action="" tgtFrame="" tooltip="" history="1" highlightClick="0" endSnd="0"/>
              </a:rPr>
              <a:t>purego alternatives</a:t>
            </a:r>
            <a:r>
              <a:t> now…</a:t>
            </a:r>
          </a:p>
        </p:txBody>
      </p:sp>
      <p:sp>
        <p:nvSpPr>
          <p:cNvPr id="348" name="github.com/kerbyj/goLazagne"/>
          <p:cNvSpPr txBox="1"/>
          <p:nvPr/>
        </p:nvSpPr>
        <p:spPr>
          <a:xfrm>
            <a:off x="4895125" y="2752850"/>
            <a:ext cx="12129283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5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5" invalidUrl="" action="" tgtFrame="" tooltip="" history="1" highlightClick="0" endSnd="0"/>
              </a:rPr>
              <a:t>github.com/kerbyj/goLazagne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Misc Post-Exploit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Misc Post-Exploitation</a:t>
            </a:r>
          </a:p>
        </p:txBody>
      </p:sp>
      <p:sp>
        <p:nvSpPr>
          <p:cNvPr id="351" name="rclone - dumps data from S3, Dropbox, GCloud, and other cloud drives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rPr u="sng">
                <a:hlinkClick r:id="rId3" invalidUrl="" action="" tgtFrame="" tooltip="" history="1" highlightClick="0" endSnd="0"/>
              </a:rPr>
              <a:t>rclone</a:t>
            </a:r>
            <a:r>
              <a:t> - dumps data from S3, Dropbox, GCloud, and other cloud drives</a:t>
            </a:r>
          </a:p>
          <a:p>
            <a:pPr>
              <a:buBlip>
                <a:blip r:embed="rId2"/>
              </a:buBlip>
            </a:pPr>
            <a:r>
              <a:rPr u="sng">
                <a:hlinkClick r:id="rId4" invalidUrl="" action="" tgtFrame="" tooltip="" history="1" highlightClick="0" endSnd="0"/>
              </a:rPr>
              <a:t>sudophisher</a:t>
            </a:r>
            <a:r>
              <a:t> - logs the sudo password by replacing ASKPASS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354" name="Binject Origin &amp; Why Golang is cool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Binject Origin &amp; Why Golang is cool</a:t>
            </a:r>
          </a:p>
          <a:p>
            <a:pPr>
              <a:buBlip>
                <a:blip r:embed="rId2"/>
              </a:buBlip>
            </a:pPr>
            <a:r>
              <a:t>Malware Core Components</a:t>
            </a:r>
          </a:p>
          <a:p>
            <a:pPr>
              <a:buBlip>
                <a:blip r:embed="rId2"/>
              </a:buBlip>
            </a:pPr>
            <a:r>
              <a:t>Exploitation Tools</a:t>
            </a:r>
          </a:p>
          <a:p>
            <a:pPr>
              <a:buBlip>
                <a:blip r:embed="rId2"/>
              </a:buBlip>
            </a:pPr>
            <a:r>
              <a:t>EDR &amp; NIDS Evasion Tools</a:t>
            </a:r>
          </a:p>
          <a:p>
            <a:pPr>
              <a:buBlip>
                <a:blip r:embed="rId2"/>
              </a:buBlip>
            </a:pPr>
            <a:r>
              <a:t>Post-exploitation Tools</a:t>
            </a:r>
          </a:p>
          <a:p>
            <a:pPr>
              <a:buBlip>
                <a:blip r:embed="rId2"/>
              </a:buBlip>
              <a:defRPr>
                <a:solidFill>
                  <a:srgbClr val="FF2600"/>
                </a:solidFill>
              </a:defRPr>
            </a:pPr>
            <a:r>
              <a:t>Complete C2 Frameworks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liv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sliver</a:t>
            </a:r>
          </a:p>
        </p:txBody>
      </p:sp>
      <p:sp>
        <p:nvSpPr>
          <p:cNvPr id="357" name="Open-source alternative to Cobalt Strike…"/>
          <p:cNvSpPr txBox="1"/>
          <p:nvPr>
            <p:ph type="body" sz="quarter" idx="1"/>
          </p:nvPr>
        </p:nvSpPr>
        <p:spPr>
          <a:xfrm>
            <a:off x="4155281" y="3893343"/>
            <a:ext cx="7233048" cy="9111314"/>
          </a:xfrm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Open-source alternative to Cobalt Strike</a:t>
            </a:r>
          </a:p>
          <a:p>
            <a:pPr>
              <a:buBlip>
                <a:blip r:embed="rId2"/>
              </a:buBlip>
            </a:pPr>
            <a:r>
              <a:t>Implant build/config/obfuscate</a:t>
            </a:r>
          </a:p>
          <a:p>
            <a:pPr>
              <a:buBlip>
                <a:blip r:embed="rId2"/>
              </a:buBlip>
            </a:pPr>
            <a:r>
              <a:t>Multiple exfiltration methods</a:t>
            </a:r>
          </a:p>
          <a:p>
            <a:pPr>
              <a:buBlip>
                <a:blip r:embed="rId2"/>
              </a:buBlip>
            </a:pPr>
            <a:r>
              <a:t>Actively Developed</a:t>
            </a:r>
          </a:p>
        </p:txBody>
      </p:sp>
      <p:sp>
        <p:nvSpPr>
          <p:cNvPr id="358" name="github.com/BishopFox/sliver"/>
          <p:cNvSpPr txBox="1"/>
          <p:nvPr/>
        </p:nvSpPr>
        <p:spPr>
          <a:xfrm>
            <a:off x="4729248" y="2705456"/>
            <a:ext cx="12129282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github.com/BishopFox/sliver</a:t>
            </a:r>
          </a:p>
        </p:txBody>
      </p:sp>
      <p:pic>
        <p:nvPicPr>
          <p:cNvPr id="359" name="Screen Shot 2021-07-10 at 10.54.08 PM.png" descr="Screen Shot 2021-07-10 at 10.54.08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727019" y="3887984"/>
            <a:ext cx="9452450" cy="92821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merli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merlin</a:t>
            </a:r>
          </a:p>
        </p:txBody>
      </p:sp>
      <p:sp>
        <p:nvSpPr>
          <p:cNvPr id="362" name="Single operator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Blip>
                <a:blip r:embed="rId2"/>
              </a:buBlip>
            </a:pPr>
            <a:r>
              <a:t>Single operator</a:t>
            </a:r>
          </a:p>
          <a:p>
            <a:pPr>
              <a:buBlip>
                <a:blip r:embed="rId2"/>
              </a:buBlip>
            </a:pPr>
            <a:r>
              <a:t>Many unique features!</a:t>
            </a:r>
          </a:p>
          <a:p>
            <a:pPr lvl="1">
              <a:buBlip>
                <a:blip r:embed="rId2"/>
              </a:buBlip>
            </a:pPr>
            <a:r>
              <a:t>Multiple injection methods including QueueUserAPC</a:t>
            </a:r>
          </a:p>
          <a:p>
            <a:pPr lvl="1">
              <a:buBlip>
                <a:blip r:embed="rId2"/>
              </a:buBlip>
            </a:pPr>
            <a:r>
              <a:t>Donut &amp; sRDI integration</a:t>
            </a:r>
          </a:p>
          <a:p>
            <a:pPr lvl="1">
              <a:buBlip>
                <a:blip r:embed="rId2"/>
              </a:buBlip>
            </a:pPr>
            <a:r>
              <a:t>QUIC support! (Also many others)</a:t>
            </a:r>
          </a:p>
        </p:txBody>
      </p:sp>
      <p:sp>
        <p:nvSpPr>
          <p:cNvPr id="363" name="github.com/Ne0nd0g/merlin"/>
          <p:cNvSpPr txBox="1"/>
          <p:nvPr/>
        </p:nvSpPr>
        <p:spPr>
          <a:xfrm>
            <a:off x="4769873" y="2634366"/>
            <a:ext cx="11242341" cy="1006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ack Regular"/>
                <a:ea typeface="Hack Regular"/>
                <a:cs typeface="Hack Regular"/>
                <a:sym typeface="Hack Regular"/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github.com/Ne0nd0g/merlin</a:t>
            </a:r>
          </a:p>
        </p:txBody>
      </p:sp>
      <p:pic>
        <p:nvPicPr>
          <p:cNvPr id="364" name="merlin.png" descr="merli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493483" y="458349"/>
            <a:ext cx="6056423" cy="60564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Ben Kurtz (awgh@awgh.org) @symbolcrash1…"/>
          <p:cNvSpPr txBox="1"/>
          <p:nvPr/>
        </p:nvSpPr>
        <p:spPr>
          <a:xfrm>
            <a:off x="4073723" y="9003261"/>
            <a:ext cx="16236554" cy="563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lvl="2" indent="1054100" algn="l" defTabSz="2438400">
              <a:defRPr sz="6400">
                <a:effectLst/>
                <a:latin typeface="Hack Regular"/>
                <a:ea typeface="Hack Regular"/>
                <a:cs typeface="Hack Regular"/>
                <a:sym typeface="Hack Regular"/>
              </a:defRPr>
            </a:pPr>
            <a:br/>
            <a:r>
              <a:t>Ben Kurtz (</a:t>
            </a:r>
            <a:r>
              <a:rPr u="sng">
                <a:hlinkClick r:id="rId2" invalidUrl="" action="" tgtFrame="" tooltip="" history="1" highlightClick="0" endSnd="0"/>
              </a:rPr>
              <a:t>awgh@awgh.org</a:t>
            </a:r>
            <a:r>
              <a:t>)</a:t>
            </a:r>
            <a:br/>
            <a:r>
              <a:rPr u="sng">
                <a:uFill>
                  <a:solidFill>
                    <a:srgbClr val="4DD0E1"/>
                  </a:solidFill>
                </a:uFill>
                <a:hlinkClick r:id="rId3" invalidUrl="" action="" tgtFrame="" tooltip="" history="1" highlightClick="0" endSnd="0"/>
              </a:rPr>
              <a:t>@symbolcrash1</a:t>
            </a:r>
          </a:p>
          <a:p>
            <a:pPr lvl="2" indent="1054100" algn="l" defTabSz="2438400">
              <a:defRPr sz="6400">
                <a:effectLst/>
                <a:latin typeface="Hack Regular"/>
                <a:ea typeface="Hack Regular"/>
                <a:cs typeface="Hack Regular"/>
                <a:sym typeface="Hack Regular"/>
              </a:defRPr>
            </a:pPr>
            <a:r>
              <a:rPr u="sng">
                <a:uFill>
                  <a:solidFill>
                    <a:srgbClr val="4DD0E1"/>
                  </a:solidFill>
                </a:uFill>
                <a:hlinkClick r:id="rId4" invalidUrl="" action="" tgtFrame="" tooltip="" history="1" highlightClick="0" endSnd="0"/>
              </a:rPr>
              <a:t>https://symbolcrash.com/podcast</a:t>
            </a:r>
          </a:p>
          <a:p>
            <a:pPr lvl="2" indent="1054100" algn="l" defTabSz="2438400">
              <a:defRPr sz="6400">
                <a:effectLst/>
                <a:latin typeface="Hack Regular"/>
                <a:ea typeface="Hack Regular"/>
                <a:cs typeface="Hack Regular"/>
                <a:sym typeface="Hack Regular"/>
              </a:defRPr>
            </a:pPr>
          </a:p>
        </p:txBody>
      </p:sp>
      <p:sp>
        <p:nvSpPr>
          <p:cNvPr id="367" name="Thanks!…"/>
          <p:cNvSpPr txBox="1"/>
          <p:nvPr>
            <p:ph type="title" idx="4294967295"/>
          </p:nvPr>
        </p:nvSpPr>
        <p:spPr>
          <a:xfrm>
            <a:off x="1413363" y="2512876"/>
            <a:ext cx="22426347" cy="6996134"/>
          </a:xfrm>
          <a:prstGeom prst="rect">
            <a:avLst/>
          </a:prstGeom>
        </p:spPr>
        <p:txBody>
          <a:bodyPr anchor="ctr"/>
          <a:lstStyle/>
          <a:p>
            <a:pPr defTabSz="821531">
              <a:defRPr sz="11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pPr>
            <a:r>
              <a:t>Thanks!</a:t>
            </a:r>
            <a:br/>
          </a:p>
          <a:p>
            <a:pPr defTabSz="821531">
              <a:defRPr sz="6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pPr>
            <a:br/>
            <a:r>
              <a:t>Relevant </a:t>
            </a:r>
            <a:r>
              <a:rPr u="sng">
                <a:hlinkClick r:id="rId5" invalidUrl="" action="" tgtFrame="" tooltip="" history="1" highlightClick="0" endSnd="0"/>
              </a:rPr>
              <a:t>Hack the Planet</a:t>
            </a:r>
            <a:r>
              <a:t> episodes:</a:t>
            </a:r>
          </a:p>
          <a:p>
            <a:pPr lvl="1" defTabSz="821531">
              <a:defRPr sz="6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pPr>
            <a:r>
              <a:t>    </a:t>
            </a:r>
            <a:r>
              <a:rPr u="sng">
                <a:hlinkClick r:id="rId6" invalidUrl="" action="" tgtFrame="" tooltip="" history="1" highlightClick="0" endSnd="0"/>
              </a:rPr>
              <a:t>Josh Pitts Interview</a:t>
            </a:r>
            <a:r>
              <a:t>            (</a:t>
            </a:r>
            <a:r>
              <a:rPr u="sng">
                <a:hlinkClick r:id="rId7" invalidUrl="" action="" tgtFrame="" tooltip="" history="1" highlightClick="0" endSnd="0"/>
              </a:rPr>
              <a:t>YouTube</a:t>
            </a:r>
            <a:r>
              <a:t>)</a:t>
            </a:r>
          </a:p>
          <a:p>
            <a:pPr defTabSz="821531">
              <a:defRPr sz="6200">
                <a:effectLst>
                  <a:outerShdw sx="100000" sy="100000" kx="0" ky="0" algn="b" rotWithShape="0" blurRad="50800" dist="38100" dir="5400000">
                    <a:srgbClr val="000000"/>
                  </a:outerShdw>
                </a:effectLst>
                <a:latin typeface="Inconsolata Regular Regular"/>
                <a:ea typeface="Inconsolata Regular Regular"/>
                <a:cs typeface="Inconsolata Regular Regular"/>
                <a:sym typeface="Inconsolata Regular Regular"/>
              </a:defRPr>
            </a:pPr>
            <a:r>
              <a:t>    </a:t>
            </a:r>
            <a:r>
              <a:rPr u="sng">
                <a:hlinkClick r:id="rId8" invalidUrl="" action="" tgtFrame="" tooltip="" history="1" highlightClick="0" endSnd="0"/>
              </a:rPr>
              <a:t>C-Sto &amp; capnspacehook Interview</a:t>
            </a:r>
            <a:r>
              <a:t> (</a:t>
            </a:r>
            <a:r>
              <a:rPr u="sng">
                <a:hlinkClick r:id="rId9" invalidUrl="" action="" tgtFrame="" tooltip="" history="1" highlightClick="0" endSnd="0"/>
              </a:rPr>
              <a:t>YouTube</a:t>
            </a:r>
            <a:r>
              <a:t>)</a:t>
            </a:r>
          </a:p>
        </p:txBody>
      </p:sp>
      <p:pic>
        <p:nvPicPr>
          <p:cNvPr id="368" name="dc-29-logo.png" descr="dc-29-logo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3930650" y="907502"/>
            <a:ext cx="16522701" cy="5334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3.png"/></Relationships>

</file>

<file path=ppt/theme/theme1.xml><?xml version="1.0" encoding="utf-8"?>
<a:theme xmlns:a="http://schemas.openxmlformats.org/drawingml/2006/main" xmlns:r="http://schemas.openxmlformats.org/officeDocument/2006/relationships" name="Industrial">
  <a:themeElements>
    <a:clrScheme name="Industrial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73CF"/>
      </a:accent1>
      <a:accent2>
        <a:srgbClr val="1A941F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Industrial">
      <a:majorFont>
        <a:latin typeface="VT220"/>
        <a:ea typeface="VT220"/>
        <a:cs typeface="VT220"/>
      </a:majorFont>
      <a:minorFont>
        <a:latin typeface="Helvetica Neue Light"/>
        <a:ea typeface="Helvetica Neue Light"/>
        <a:cs typeface="Helvetica Neue Light"/>
      </a:minorFont>
    </a:fontScheme>
    <a:fmtScheme name="Indust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38100" dist="64529" dir="2700000">
                <a:srgbClr val="000000">
                  <a:alpha val="48275"/>
                </a:srgbClr>
              </a:outerShdw>
            </a:effectLst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8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38100" dist="64529" dir="2700000">
                <a:srgbClr val="000000">
                  <a:alpha val="48275"/>
                </a:srgbClr>
              </a:outerShdw>
            </a:effectLst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Industrial">
  <a:themeElements>
    <a:clrScheme name="Industrial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73CF"/>
      </a:accent1>
      <a:accent2>
        <a:srgbClr val="1A941F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Industrial">
      <a:majorFont>
        <a:latin typeface="VT220"/>
        <a:ea typeface="VT220"/>
        <a:cs typeface="VT220"/>
      </a:majorFont>
      <a:minorFont>
        <a:latin typeface="Helvetica Neue Light"/>
        <a:ea typeface="Helvetica Neue Light"/>
        <a:cs typeface="Helvetica Neue Light"/>
      </a:minorFont>
    </a:fontScheme>
    <a:fmtScheme name="Indust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38100" dist="64529" dir="2700000">
                <a:srgbClr val="000000">
                  <a:alpha val="48275"/>
                </a:srgbClr>
              </a:outerShdw>
            </a:effectLst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8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38100" dist="64529" dir="2700000">
                <a:srgbClr val="000000">
                  <a:alpha val="48275"/>
                </a:srgbClr>
              </a:outerShdw>
            </a:effectLst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