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2.xml" ContentType="application/vnd.openxmlformats-officedocument.presentationml.comments+xml"/>
  <Override PartName="/ppt/notesSlides/notesSlide23.xml" ContentType="application/vnd.openxmlformats-officedocument.presentationml.notesSlide+xml"/>
  <Override PartName="/ppt/comments/comment3.xml" ContentType="application/vnd.openxmlformats-officedocument.presentationml.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comment4.xml" ContentType="application/vnd.openxmlformats-officedocument.presentationml.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comment5.xml" ContentType="application/vnd.openxmlformats-officedocument.presentationml.comment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omments/comment6.xml" ContentType="application/vnd.openxmlformats-officedocument.presentationml.comments+xml"/>
  <Override PartName="/ppt/notesSlides/notesSlide59.xml" ContentType="application/vnd.openxmlformats-officedocument.presentationml.notesSlide+xml"/>
  <Override PartName="/ppt/comments/comment7.xml" ContentType="application/vnd.openxmlformats-officedocument.presentationml.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omments/comment8.xml" ContentType="application/vnd.openxmlformats-officedocument.presentationml.comment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omments/comment9.xml" ContentType="application/vnd.openxmlformats-officedocument.presentationml.comments+xml"/>
  <Override PartName="/ppt/notesSlides/notesSlide92.xml" ContentType="application/vnd.openxmlformats-officedocument.presentationml.notesSlide+xml"/>
  <Override PartName="/ppt/comments/comment10.xml" ContentType="application/vnd.openxmlformats-officedocument.presentationml.comments+xml"/>
  <Override PartName="/ppt/notesSlides/notesSlide9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bookmarkIdSeed="2">
  <p:sldMasterIdLst>
    <p:sldMasterId id="2147483750" r:id="rId1"/>
  </p:sldMasterIdLst>
  <p:notesMasterIdLst>
    <p:notesMasterId r:id="rId95"/>
  </p:notesMasterIdLst>
  <p:handoutMasterIdLst>
    <p:handoutMasterId r:id="rId96"/>
  </p:handoutMasterIdLst>
  <p:sldIdLst>
    <p:sldId id="256" r:id="rId2"/>
    <p:sldId id="360" r:id="rId3"/>
    <p:sldId id="507" r:id="rId4"/>
    <p:sldId id="573" r:id="rId5"/>
    <p:sldId id="575" r:id="rId6"/>
    <p:sldId id="576" r:id="rId7"/>
    <p:sldId id="577" r:id="rId8"/>
    <p:sldId id="578" r:id="rId9"/>
    <p:sldId id="580" r:id="rId10"/>
    <p:sldId id="581" r:id="rId11"/>
    <p:sldId id="582" r:id="rId12"/>
    <p:sldId id="583" r:id="rId13"/>
    <p:sldId id="565" r:id="rId14"/>
    <p:sldId id="589" r:id="rId15"/>
    <p:sldId id="588" r:id="rId16"/>
    <p:sldId id="584" r:id="rId17"/>
    <p:sldId id="587" r:id="rId18"/>
    <p:sldId id="586" r:id="rId19"/>
    <p:sldId id="590" r:id="rId20"/>
    <p:sldId id="591" r:id="rId21"/>
    <p:sldId id="593" r:id="rId22"/>
    <p:sldId id="594" r:id="rId23"/>
    <p:sldId id="513" r:id="rId24"/>
    <p:sldId id="595" r:id="rId25"/>
    <p:sldId id="597" r:id="rId26"/>
    <p:sldId id="601" r:id="rId27"/>
    <p:sldId id="598" r:id="rId28"/>
    <p:sldId id="599" r:id="rId29"/>
    <p:sldId id="600" r:id="rId30"/>
    <p:sldId id="602" r:id="rId31"/>
    <p:sldId id="603" r:id="rId32"/>
    <p:sldId id="604" r:id="rId33"/>
    <p:sldId id="605" r:id="rId34"/>
    <p:sldId id="606" r:id="rId35"/>
    <p:sldId id="607" r:id="rId36"/>
    <p:sldId id="609" r:id="rId37"/>
    <p:sldId id="610" r:id="rId38"/>
    <p:sldId id="611" r:id="rId39"/>
    <p:sldId id="612" r:id="rId40"/>
    <p:sldId id="613" r:id="rId41"/>
    <p:sldId id="614" r:id="rId42"/>
    <p:sldId id="616" r:id="rId43"/>
    <p:sldId id="617" r:id="rId44"/>
    <p:sldId id="618" r:id="rId45"/>
    <p:sldId id="619" r:id="rId46"/>
    <p:sldId id="620" r:id="rId47"/>
    <p:sldId id="663" r:id="rId48"/>
    <p:sldId id="622" r:id="rId49"/>
    <p:sldId id="623" r:id="rId50"/>
    <p:sldId id="624" r:id="rId51"/>
    <p:sldId id="626" r:id="rId52"/>
    <p:sldId id="627" r:id="rId53"/>
    <p:sldId id="628" r:id="rId54"/>
    <p:sldId id="629" r:id="rId55"/>
    <p:sldId id="631" r:id="rId56"/>
    <p:sldId id="632" r:id="rId57"/>
    <p:sldId id="633" r:id="rId58"/>
    <p:sldId id="635" r:id="rId59"/>
    <p:sldId id="634" r:id="rId60"/>
    <p:sldId id="636" r:id="rId61"/>
    <p:sldId id="637" r:id="rId62"/>
    <p:sldId id="638" r:id="rId63"/>
    <p:sldId id="640" r:id="rId64"/>
    <p:sldId id="639" r:id="rId65"/>
    <p:sldId id="641" r:id="rId66"/>
    <p:sldId id="675" r:id="rId67"/>
    <p:sldId id="676" r:id="rId68"/>
    <p:sldId id="642" r:id="rId69"/>
    <p:sldId id="643" r:id="rId70"/>
    <p:sldId id="644" r:id="rId71"/>
    <p:sldId id="645" r:id="rId72"/>
    <p:sldId id="646" r:id="rId73"/>
    <p:sldId id="647" r:id="rId74"/>
    <p:sldId id="648" r:id="rId75"/>
    <p:sldId id="649" r:id="rId76"/>
    <p:sldId id="650" r:id="rId77"/>
    <p:sldId id="651" r:id="rId78"/>
    <p:sldId id="652" r:id="rId79"/>
    <p:sldId id="653" r:id="rId80"/>
    <p:sldId id="654" r:id="rId81"/>
    <p:sldId id="673" r:id="rId82"/>
    <p:sldId id="674" r:id="rId83"/>
    <p:sldId id="659" r:id="rId84"/>
    <p:sldId id="660" r:id="rId85"/>
    <p:sldId id="661" r:id="rId86"/>
    <p:sldId id="662" r:id="rId87"/>
    <p:sldId id="665" r:id="rId88"/>
    <p:sldId id="666" r:id="rId89"/>
    <p:sldId id="667" r:id="rId90"/>
    <p:sldId id="668" r:id="rId91"/>
    <p:sldId id="670" r:id="rId92"/>
    <p:sldId id="672" r:id="rId93"/>
    <p:sldId id="671" r:id="rId94"/>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3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A6A6A6"/>
    <a:srgbClr val="00FF00"/>
    <a:srgbClr val="FF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CF484-C7A9-F5CA-3A88-670FA1973257}" v="144" dt="2021-07-18T21:11:41.597"/>
    <p1510:client id="{3063E7CD-43CE-4991-B8E1-B4778C27144B}" v="1650" dt="2021-07-15T21:43:57.094"/>
    <p1510:client id="{92161BD9-F92A-0434-171D-C2130C644025}" v="228" dt="2021-07-15T21:29:04.747"/>
    <p1510:client id="{D1294EC9-A60F-7761-70B3-163478D6B096}" v="128" dt="2021-07-18T01:15:45.983"/>
    <p1510:client id="{D177DEC9-443C-314A-7348-43C574D66B2C}" v="12" dt="2021-07-18T01:06:07.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303" autoAdjust="0"/>
  </p:normalViewPr>
  <p:slideViewPr>
    <p:cSldViewPr snapToGrid="0">
      <p:cViewPr varScale="1">
        <p:scale>
          <a:sx n="129" d="100"/>
          <a:sy n="129" d="100"/>
        </p:scale>
        <p:origin x="22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comment1.xml><?xml version="1.0" encoding="utf-8"?>
<p:cmLst xmlns:a="http://schemas.openxmlformats.org/drawingml/2006/main" xmlns:r="http://schemas.openxmlformats.org/officeDocument/2006/relationships" xmlns:p="http://schemas.openxmlformats.org/presentationml/2006/main">
  <p:cm authorId="4" dt="2021-07-12T13:23:49.033" idx="1">
    <p:pos x="6184" y="832"/>
    <p:text>What drew our interest to this?  Some may ask why we were picking on it.</p:text>
    <p:extLst>
      <p:ext uri="{C676402C-5697-4E1C-873F-D02D1690AC5C}">
        <p15:threadingInfo xmlns:p15="http://schemas.microsoft.com/office/powerpoint/2012/main" timeZoneBias="420"/>
      </p:ext>
    </p:extLst>
  </p:cm>
  <p:cm authorId="4" dt="2021-07-12T14:38:49.324" idx="2">
    <p:pos x="6184" y="928"/>
    <p:text>That's the most priviledge SW so it's the most interesting from the attacker perspective</p:text>
    <p:extLst>
      <p:ext uri="{C676402C-5697-4E1C-873F-D02D1690AC5C}">
        <p15:threadingInfo xmlns:p15="http://schemas.microsoft.com/office/powerpoint/2012/main" timeZoneBias="420">
          <p15:parentCm authorId="4" idx="1"/>
        </p15:threadingInfo>
      </p:ext>
    </p:extLst>
  </p:cm>
  <p:cm authorId="4" dt="2021-07-12T13:48:30.999" idx="3">
    <p:pos x="10" y="10"/>
    <p:text>In the abstract we specifically did not want to make mentions of BootROM. I think we need to continue that here. Maybe boot SW?</p:text>
    <p:extLst>
      <p:ext uri="{C676402C-5697-4E1C-873F-D02D1690AC5C}">
        <p15:threadingInfo xmlns:p15="http://schemas.microsoft.com/office/powerpoint/2012/main" timeZoneBias="420"/>
      </p:ext>
    </p:extLst>
  </p:cm>
  <p:cm authorId="4" dt="2021-07-12T14:39:04.317" idx="10">
    <p:pos x="10" y="106"/>
    <p:text>OK</p:text>
    <p:extLst>
      <p:ext uri="{C676402C-5697-4E1C-873F-D02D1690AC5C}">
        <p15:threadingInfo xmlns:p15="http://schemas.microsoft.com/office/powerpoint/2012/main" timeZoneBias="420">
          <p15:parentCm authorId="4" idx="3"/>
        </p15:threadingInfo>
      </p:ext>
    </p:extLst>
  </p:cm>
  <p:cm authorId="4" dt="2021-07-12T15:22:08.256" idx="13">
    <p:pos x="10" y="202"/>
    <p:text>done</p:text>
    <p:extLst>
      <p:ext uri="{C676402C-5697-4E1C-873F-D02D1690AC5C}">
        <p15:threadingInfo xmlns:p15="http://schemas.microsoft.com/office/powerpoint/2012/main" timeZoneBias="420">
          <p15:parentCm authorId="4" idx="3"/>
        </p15:threadingInfo>
      </p:ext>
    </p:extLst>
  </p:cm>
  <p:cm authorId="4" dt="2021-07-12T13:49:19.674" idx="4">
    <p:pos x="6178" y="828"/>
    <p:text>"Which we had 0 experience with" is this necessary? What does this serve?</p:text>
    <p:extLst>
      <p:ext uri="{C676402C-5697-4E1C-873F-D02D1690AC5C}">
        <p15:threadingInfo xmlns:p15="http://schemas.microsoft.com/office/powerpoint/2012/main" timeZoneBias="420"/>
      </p:ext>
    </p:extLst>
  </p:cm>
  <p:cm authorId="4" dt="2021-07-12T14:39:22.847" idx="11">
    <p:pos x="6178" y="924"/>
    <p:text>It shows the process of how we end-up detecting the bug in ISA but we started from scratch. It is essentially the story of full research from A to B to C to D and to finding the bug - a chain</p:text>
    <p:extLst>
      <p:ext uri="{C676402C-5697-4E1C-873F-D02D1690AC5C}">
        <p15:threadingInfo xmlns:p15="http://schemas.microsoft.com/office/powerpoint/2012/main" timeZoneBias="420">
          <p15:parentCm authorId="4" idx="4"/>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4" dt="2021-07-12T13:50:35.491" idx="5">
    <p:pos x="10" y="10"/>
    <p:text>Not sure if the spec defines M as god mode. Also maybe we don't want to hint that is the case with our cores? (its also only god on the CPU)</p:text>
    <p:extLst>
      <p:ext uri="{C676402C-5697-4E1C-873F-D02D1690AC5C}">
        <p15:threadingInfo xmlns:p15="http://schemas.microsoft.com/office/powerpoint/2012/main" timeZoneBias="420"/>
      </p:ext>
    </p:extLst>
  </p:cm>
  <p:cm authorId="4" dt="2021-07-12T15:52:10.074" idx="14">
    <p:pos x="10" y="106"/>
    <p:text>It's an "unformal" description - the most priviledged mode where SW runs :) As far as i know there isn't any more priviledge mode</p:text>
    <p:extLst>
      <p:ext uri="{C676402C-5697-4E1C-873F-D02D1690AC5C}">
        <p15:threadingInfo xmlns:p15="http://schemas.microsoft.com/office/powerpoint/2012/main" timeZoneBias="420">
          <p15:parentCm authorId="4" idx="5"/>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4" dt="2021-07-12T13:51:50.213" idx="6">
    <p:pos x="10" y="10"/>
    <p:text>May need to send AdaCore a copy?
</p:text>
    <p:extLst>
      <p:ext uri="{C676402C-5697-4E1C-873F-D02D1690AC5C}">
        <p15:threadingInfo xmlns:p15="http://schemas.microsoft.com/office/powerpoint/2012/main" timeZoneBias="420"/>
      </p:ext>
    </p:extLst>
  </p:cm>
  <p:cm authorId="4" dt="2021-07-12T15:52:56.413" idx="15">
    <p:pos x="10" y="106"/>
    <p:text>[Mention was removed] what do you think?</p:text>
    <p:extLst>
      <p:ext uri="{C676402C-5697-4E1C-873F-D02D1690AC5C}">
        <p15:threadingInfo xmlns:p15="http://schemas.microsoft.com/office/powerpoint/2012/main" timeZoneBias="420">
          <p15:parentCm authorId="4" idx="6"/>
        </p15:threadingInfo>
      </p:ext>
    </p:extLst>
  </p:cm>
  <p:cm authorId="4" dt="2021-07-12T16:09:23.263" idx="18">
    <p:pos x="10" y="202"/>
    <p:text>I meant more that we are somewhat promoting AdaCore's stuff
</p:text>
    <p:extLst>
      <p:ext uri="{C676402C-5697-4E1C-873F-D02D1690AC5C}">
        <p15:threadingInfo xmlns:p15="http://schemas.microsoft.com/office/powerpoint/2012/main" timeZoneBias="420">
          <p15:parentCm authorId="4" idx="6"/>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4" dt="2021-07-13T15:35:41.619" idx="19">
    <p:pos x="6310" y="49"/>
    <p:text>I agree with that observation - but is this true of the implementaiton?
I believe standard development flows is NOT to run in this way, you can coerce normal GCC to turn off errors/warnings and other things too -- not sure this is demonstrative statement.?
</p:text>
    <p:extLst>
      <p:ext uri="{C676402C-5697-4E1C-873F-D02D1690AC5C}">
        <p15:threadingInfo xmlns:p15="http://schemas.microsoft.com/office/powerpoint/2012/main" timeZoneBias="420"/>
      </p:ext>
    </p:extLst>
  </p:cm>
  <p:cm authorId="4" dt="2021-07-13T16:06:19.052" idx="20">
    <p:pos x="6310" y="145"/>
    <p:text>I think the biggest difference is that GCC's option is still the same "tool", while in this case you must run different binary.
However, I do agree that there are a lot of similarities of how to create a development process
</p:text>
    <p:extLst>
      <p:ext uri="{C676402C-5697-4E1C-873F-D02D1690AC5C}">
        <p15:threadingInfo xmlns:p15="http://schemas.microsoft.com/office/powerpoint/2012/main" timeZoneBias="420">
          <p15:parentCm authorId="4" idx="19"/>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4" dt="2021-07-13T15:38:14.828" idx="21">
    <p:pos x="6194" y="2416"/>
    <p:text>are these hypothesis?  assertions of fact?
You say "EVALUATION" as though you made a determination vs a "survey" of the technology to understnad how to approach your attack scenario... be careful how you are positioning this...
</p:text>
    <p:extLst>
      <p:ext uri="{C676402C-5697-4E1C-873F-D02D1690AC5C}">
        <p15:threadingInfo xmlns:p15="http://schemas.microsoft.com/office/powerpoint/2012/main" timeZoneBias="420"/>
      </p:ext>
    </p:extLst>
  </p:cm>
  <p:cm authorId="4" dt="2021-07-13T16:13:49.128" idx="22">
    <p:pos x="6194" y="2512"/>
    <p:text>Good point, thanks for the comment!
</p:text>
    <p:extLst>
      <p:ext uri="{C676402C-5697-4E1C-873F-D02D1690AC5C}">
        <p15:threadingInfo xmlns:p15="http://schemas.microsoft.com/office/powerpoint/2012/main" timeZoneBias="420">
          <p15:parentCm authorId="4" idx="21"/>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4" dt="2021-07-12T13:53:10.405" idx="7">
    <p:pos x="10" y="10"/>
    <p:text>no screenshots here contain NV specific extensions right?
</p:text>
    <p:extLst>
      <p:ext uri="{C676402C-5697-4E1C-873F-D02D1690AC5C}">
        <p15:threadingInfo xmlns:p15="http://schemas.microsoft.com/office/powerpoint/2012/main" timeZoneBias="420"/>
      </p:ext>
    </p:extLst>
  </p:cm>
  <p:cm authorId="4" dt="2021-07-12T15:53:45.723" idx="16">
    <p:pos x="10" y="106"/>
    <p:text>Correct - it was blanked / removed</p:text>
    <p:extLst>
      <p:ext uri="{C676402C-5697-4E1C-873F-D02D1690AC5C}">
        <p15:threadingInfo xmlns:p15="http://schemas.microsoft.com/office/powerpoint/2012/main" timeZoneBias="420">
          <p15:parentCm authorId="4" idx="7"/>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4" dt="2021-07-14T06:47:21.202" idx="25">
    <p:pos x="6279" y="694"/>
    <p:text>SPARK eliminated? many/most of the usual targets might be a more direct way to state this?
</p:text>
    <p:extLst>
      <p:ext uri="{C676402C-5697-4E1C-873F-D02D1690AC5C}">
        <p15:threadingInfo xmlns:p15="http://schemas.microsoft.com/office/powerpoint/2012/main" timeZoneBias="42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4" dt="2021-07-13T15:47:38.417" idx="23">
    <p:pos x="6403" y="696"/>
    <p:text>I think this is nvidia specific? Maybe just call it memory? Some RISC-V I assume may run from flash directly like other microcontrollers?
</p:text>
    <p:extLst>
      <p:ext uri="{C676402C-5697-4E1C-873F-D02D1690AC5C}">
        <p15:threadingInfo xmlns:p15="http://schemas.microsoft.com/office/powerpoint/2012/main" timeZoneBias="420"/>
      </p:ext>
    </p:extLst>
  </p:cm>
  <p:cm authorId="4" dt="2021-07-13T16:08:51.353" idx="24">
    <p:pos x="6403" y="792"/>
    <p:text>As best of my knowledge I / D MEM is general term (pretty common in MIPS world as well)
</p:text>
    <p:extLst>
      <p:ext uri="{C676402C-5697-4E1C-873F-D02D1690AC5C}">
        <p15:threadingInfo xmlns:p15="http://schemas.microsoft.com/office/powerpoint/2012/main" timeZoneBias="420">
          <p15:parentCm authorId="4" idx="23"/>
        </p15:threadingInfo>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4" dt="2021-07-12T10:34:26.955" idx="8">
    <p:pos x="10" y="10"/>
    <p:text>Assuming we are thanking the RISV folks?
</p:text>
    <p:extLst>
      <p:ext uri="{C676402C-5697-4E1C-873F-D02D1690AC5C}">
        <p15:threadingInfo xmlns:p15="http://schemas.microsoft.com/office/powerpoint/2012/main" timeZoneBias="420"/>
      </p:ext>
    </p:extLst>
  </p:cm>
  <p:cm authorId="4" dt="2021-07-12T13:55:11.662" idx="9">
    <p:pos x="10" y="106"/>
    <p:text>Remember SiFive do not want to be named at all
</p:text>
    <p:extLst>
      <p:ext uri="{C676402C-5697-4E1C-873F-D02D1690AC5C}">
        <p15:threadingInfo xmlns:p15="http://schemas.microsoft.com/office/powerpoint/2012/main" timeZoneBias="420">
          <p15:parentCm authorId="4" idx="8"/>
        </p15:threadingInfo>
      </p:ext>
    </p:extLst>
  </p:cm>
  <p:cm authorId="4" dt="2021-07-12T15:54:27.487" idx="17">
    <p:pos x="10" y="202"/>
    <p:text>Hm... we list them on slide 68 where we describe how to report isse to RISC-V and they help with communication and coordination - I think we should send them kudos here as well</p:text>
    <p:extLst>
      <p:ext uri="{C676402C-5697-4E1C-873F-D02D1690AC5C}">
        <p15:threadingInfo xmlns:p15="http://schemas.microsoft.com/office/powerpoint/2012/main" timeZoneBias="420">
          <p15:parentCm authorId="4" idx="8"/>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4" dt="2021-07-14T06:57:04.657" idx="27">
    <p:pos x="6406" y="694"/>
    <p:text>It's weird that the statement is ENDS on it's lack of sufficiency when it made the work harder by eliminating large classes of the usual target/issues.
I'd suggest reviersing it.  something to echo your analysis.
While TSL and FV implementations can't eliminate logical/architectural issues they do eliminate large classes of SW attacks that are normally used in our analysis.  
(i.e. end on the value brought, rather than end on what it failed to do -- which ALL other implementations also fail to do?)... does that make sense?
Could go further and imply more companies should be looking at methods like this to eliminate bugs of this class?
</p:text>
    <p:extLst>
      <p:ext uri="{C676402C-5697-4E1C-873F-D02D1690AC5C}">
        <p15:threadingInfo xmlns:p15="http://schemas.microsoft.com/office/powerpoint/2012/main" timeZoneBias="420"/>
      </p:ext>
    </p:extLst>
  </p:cm>
  <p:cm authorId="4" dt="2021-07-14T06:59:05.629" idx="28">
    <p:pos x="6502" y="790"/>
    <p:text>re: this statement -- is this new?  Feels like this is a trend that's been occurring/increasing as attackers target lower and lower elements in the stack?  Is this just 'uplelevling' the technique and defenders need to uplevel response?
</p:text>
    <p:extLst>
      <p:ext uri="{C676402C-5697-4E1C-873F-D02D1690AC5C}">
        <p15:threadingInfo xmlns:p15="http://schemas.microsoft.com/office/powerpoint/2012/main" timeZoneBias="420"/>
      </p:ext>
    </p:extLst>
  </p:cm>
  <p:cm authorId="4" dt="2021-07-14T07:00:45.944" idx="29">
    <p:pos x="6598" y="886"/>
    <p:text>again possible lead with positives/recommendations than negatives?....
ISA disclsoures is not common/easy.  There is something unique in the OSS version of Risc-V though that they _did_ quickly adapt to the reality, stand up a group, and drive a response out which is unique/novel/new?  It was hard because it was their first, but a good indicator of a healthy way for an industry to respond to research like this no? 
</p:text>
    <p:extLst>
      <p:ext uri="{C676402C-5697-4E1C-873F-D02D1690AC5C}">
        <p15:threadingInfo xmlns:p15="http://schemas.microsoft.com/office/powerpoint/2012/main" timeZoneBias="420"/>
      </p:ext>
    </p:extLst>
  </p:cm>
  <p:cm authorId="4" dt="2021-07-14T07:01:28.868" idx="30">
    <p:pos x="6598" y="982"/>
    <p:text>tough but worth doing :)
</p:text>
    <p:extLst>
      <p:ext uri="{C676402C-5697-4E1C-873F-D02D1690AC5C}">
        <p15:threadingInfo xmlns:p15="http://schemas.microsoft.com/office/powerpoint/2012/main" timeZoneBias="420">
          <p15:parentCm authorId="4" idx="29"/>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Box 1"/>
          <p:cNvSpPr txBox="1"/>
          <p:nvPr/>
        </p:nvSpPr>
        <p:spPr>
          <a:xfrm>
            <a:off x="0" y="0"/>
            <a:ext cx="3280498" cy="534104"/>
          </a:xfrm>
          <a:prstGeom prst="rect">
            <a:avLst/>
          </a:prstGeom>
          <a:noFill/>
          <a:ln>
            <a:noFill/>
          </a:ln>
        </p:spPr>
        <p:txBody>
          <a:bodyPr vert="horz" lIns="90000" tIns="45000" rIns="90000" bIns="45000" anchor="ctr" compatLnSpc="0">
            <a:noAutofit/>
          </a:bodyPr>
          <a:lstStyle/>
          <a:p>
            <a:pPr marL="0" marR="0" lvl="0" indent="0" algn="ctr" rtl="0" hangingPunct="0">
              <a:lnSpc>
                <a:spcPct val="100000"/>
              </a:lnSpc>
              <a:spcBef>
                <a:spcPts val="0"/>
              </a:spcBef>
              <a:spcAft>
                <a:spcPts val="0"/>
              </a:spcAft>
              <a:buNone/>
              <a:tabLst/>
            </a:pPr>
            <a:endParaRPr lang="en-US" sz="1400" b="1" i="0" u="none" strike="noStrike">
              <a:ln>
                <a:noFill/>
              </a:ln>
              <a:solidFill>
                <a:srgbClr val="FFFFFF"/>
              </a:solidFill>
              <a:latin typeface="Verdana" pitchFamily="34"/>
              <a:ea typeface="Arial Unicode MS" pitchFamily="2"/>
              <a:cs typeface="Tahoma" pitchFamily="2"/>
            </a:endParaRPr>
          </a:p>
        </p:txBody>
      </p:sp>
      <p:sp>
        <p:nvSpPr>
          <p:cNvPr id="3" name="TextBox 2"/>
          <p:cNvSpPr txBox="1"/>
          <p:nvPr/>
        </p:nvSpPr>
        <p:spPr>
          <a:xfrm>
            <a:off x="4279055" y="0"/>
            <a:ext cx="3280498" cy="534104"/>
          </a:xfrm>
          <a:prstGeom prst="rect">
            <a:avLst/>
          </a:prstGeom>
          <a:noFill/>
          <a:ln>
            <a:noFill/>
          </a:ln>
        </p:spPr>
        <p:txBody>
          <a:bodyPr vert="horz" lIns="90000" tIns="45000" rIns="90000" bIns="45000" anchor="ctr" compatLnSpc="0">
            <a:noAutofit/>
          </a:bodyPr>
          <a:lstStyle/>
          <a:p>
            <a:pPr marL="0" marR="0" lvl="0" indent="0" algn="r" rtl="0" hangingPunct="0">
              <a:lnSpc>
                <a:spcPct val="100000"/>
              </a:lnSpc>
              <a:spcBef>
                <a:spcPts val="0"/>
              </a:spcBef>
              <a:spcAft>
                <a:spcPts val="0"/>
              </a:spcAft>
              <a:buNone/>
              <a:tabLst/>
            </a:pPr>
            <a:endParaRPr lang="en-US" sz="1400" b="1" i="0" u="none" strike="noStrike">
              <a:ln>
                <a:noFill/>
              </a:ln>
              <a:solidFill>
                <a:srgbClr val="FFFFFF"/>
              </a:solidFill>
              <a:latin typeface="Verdana" pitchFamily="34"/>
              <a:ea typeface="Arial Unicode MS" pitchFamily="2"/>
              <a:cs typeface="Tahoma" pitchFamily="2"/>
            </a:endParaRPr>
          </a:p>
        </p:txBody>
      </p:sp>
      <p:sp>
        <p:nvSpPr>
          <p:cNvPr id="4" name="TextBox 3"/>
          <p:cNvSpPr txBox="1"/>
          <p:nvPr/>
        </p:nvSpPr>
        <p:spPr>
          <a:xfrm>
            <a:off x="0" y="10157659"/>
            <a:ext cx="3280498" cy="534104"/>
          </a:xfrm>
          <a:prstGeom prst="rect">
            <a:avLst/>
          </a:prstGeom>
          <a:noFill/>
          <a:ln>
            <a:noFill/>
          </a:ln>
        </p:spPr>
        <p:txBody>
          <a:bodyPr vert="horz" lIns="90000" tIns="45000" rIns="90000" bIns="45000" anchor="b" compatLnSpc="0">
            <a:noAutofit/>
          </a:bodyPr>
          <a:lstStyle/>
          <a:p>
            <a:pPr marL="0" marR="0" lvl="0" indent="0" algn="ctr" rtl="0" hangingPunct="0">
              <a:lnSpc>
                <a:spcPct val="100000"/>
              </a:lnSpc>
              <a:spcBef>
                <a:spcPts val="0"/>
              </a:spcBef>
              <a:spcAft>
                <a:spcPts val="0"/>
              </a:spcAft>
              <a:buNone/>
              <a:tabLst/>
            </a:pPr>
            <a:endParaRPr lang="en-US" sz="1400" b="1" i="0" u="none" strike="noStrike">
              <a:ln>
                <a:noFill/>
              </a:ln>
              <a:solidFill>
                <a:srgbClr val="FFFFFF"/>
              </a:solidFill>
              <a:latin typeface="Verdana" pitchFamily="34"/>
              <a:ea typeface="Arial Unicode MS" pitchFamily="2"/>
              <a:cs typeface="Tahoma" pitchFamily="2"/>
            </a:endParaRPr>
          </a:p>
        </p:txBody>
      </p:sp>
      <p:sp>
        <p:nvSpPr>
          <p:cNvPr id="5" name="TextBox 4"/>
          <p:cNvSpPr txBox="1"/>
          <p:nvPr/>
        </p:nvSpPr>
        <p:spPr>
          <a:xfrm>
            <a:off x="4279055" y="10157659"/>
            <a:ext cx="3280498" cy="534104"/>
          </a:xfrm>
          <a:prstGeom prst="rect">
            <a:avLst/>
          </a:prstGeom>
          <a:noFill/>
          <a:ln>
            <a:noFill/>
          </a:ln>
        </p:spPr>
        <p:txBody>
          <a:bodyPr vert="horz" lIns="90000" tIns="45000" rIns="90000" bIns="45000" anchor="b" compatLnSpc="0">
            <a:noAutofit/>
          </a:bodyPr>
          <a:lstStyle/>
          <a:p>
            <a:pPr marL="0" marR="0" lvl="0" indent="0" algn="r" rtl="0" hangingPunct="0">
              <a:lnSpc>
                <a:spcPct val="100000"/>
              </a:lnSpc>
              <a:spcBef>
                <a:spcPts val="0"/>
              </a:spcBef>
              <a:spcAft>
                <a:spcPts val="0"/>
              </a:spcAft>
              <a:buNone/>
              <a:tabLst/>
            </a:pPr>
            <a:fld id="{43EE1756-0665-4605-8957-DEC5F32E30B8}" type="slidenum">
              <a:t>‹#›</a:t>
            </a:fld>
            <a:endParaRPr lang="en-US" sz="1400" b="1" i="0" u="none" strike="noStrike">
              <a:ln>
                <a:noFill/>
              </a:ln>
              <a:solidFill>
                <a:srgbClr val="FFFFFF"/>
              </a:solidFill>
              <a:latin typeface="Verdana" pitchFamily="34"/>
              <a:ea typeface="Arial Unicode MS" pitchFamily="2"/>
              <a:cs typeface="Tahoma" pitchFamily="2"/>
            </a:endParaRPr>
          </a:p>
        </p:txBody>
      </p:sp>
    </p:spTree>
    <p:extLst>
      <p:ext uri="{BB962C8B-B14F-4D97-AF65-F5344CB8AC3E}">
        <p14:creationId xmlns:p14="http://schemas.microsoft.com/office/powerpoint/2010/main" val="4473414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07000" y="812520"/>
            <a:ext cx="5345280" cy="4008959"/>
          </a:xfrm>
          <a:prstGeom prst="rect">
            <a:avLst/>
          </a:prstGeom>
          <a:noFill/>
          <a:ln>
            <a:noFill/>
            <a:prstDash val="solid"/>
          </a:ln>
        </p:spPr>
      </p:sp>
      <p:sp>
        <p:nvSpPr>
          <p:cNvPr id="3" name="Notes Placeholder 2"/>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280680" cy="534240"/>
          </a:xfrm>
          <a:prstGeom prst="rect">
            <a:avLst/>
          </a:prstGeom>
          <a:noFill/>
          <a:ln>
            <a:noFill/>
          </a:ln>
        </p:spPr>
        <p:txBody>
          <a:bodyPr lIns="0" tIns="0" rIns="0" bIns="0">
            <a:noAutofit/>
          </a:bodyPr>
          <a:lstStyle>
            <a:lvl1pPr marL="0" marR="0" lvl="0" indent="0" algn="ctr" rtl="0" hangingPunct="0">
              <a:buNone/>
              <a:tabLst/>
              <a:defRPr lang="en-GB" sz="1400" b="1">
                <a:solidFill>
                  <a:srgbClr val="FFFFFF"/>
                </a:solidFill>
                <a:latin typeface="Verdana" pitchFamily="34"/>
                <a:ea typeface="Arial Unicode MS" pitchFamily="2"/>
                <a:cs typeface="Tahoma" pitchFamily="2"/>
              </a:defRPr>
            </a:lvl1pPr>
          </a:lstStyle>
          <a:p>
            <a:pPr lvl="0"/>
            <a:endParaRPr lang="en-GB"/>
          </a:p>
        </p:txBody>
      </p:sp>
      <p:sp>
        <p:nvSpPr>
          <p:cNvPr id="5" name="Date Placeholder 4"/>
          <p:cNvSpPr txBox="1">
            <a:spLocks noGrp="1"/>
          </p:cNvSpPr>
          <p:nvPr>
            <p:ph type="dt" idx="1"/>
          </p:nvPr>
        </p:nvSpPr>
        <p:spPr>
          <a:xfrm>
            <a:off x="4278960" y="0"/>
            <a:ext cx="3280680" cy="534240"/>
          </a:xfrm>
          <a:prstGeom prst="rect">
            <a:avLst/>
          </a:prstGeom>
          <a:noFill/>
          <a:ln>
            <a:noFill/>
          </a:ln>
        </p:spPr>
        <p:txBody>
          <a:bodyPr lIns="0" tIns="0" rIns="0" bIns="0">
            <a:noAutofit/>
          </a:bodyPr>
          <a:lstStyle>
            <a:lvl1pPr marL="0" marR="0" lvl="0" indent="0" algn="r" rtl="0" hangingPunct="0">
              <a:buNone/>
              <a:tabLst/>
              <a:defRPr lang="x-none" sz="1400" b="1">
                <a:solidFill>
                  <a:srgbClr val="FFFFFF"/>
                </a:solidFill>
                <a:latin typeface="Verdana" pitchFamily="34"/>
                <a:ea typeface="Arial Unicode MS" pitchFamily="2"/>
                <a:cs typeface="Tahoma" pitchFamily="2"/>
              </a:defRPr>
            </a:lvl1pPr>
          </a:lstStyle>
          <a:p>
            <a:pPr lvl="0"/>
            <a:endParaRPr lang="x-none"/>
          </a:p>
        </p:txBody>
      </p:sp>
      <p:sp>
        <p:nvSpPr>
          <p:cNvPr id="6" name="Footer Placeholder 5"/>
          <p:cNvSpPr txBox="1">
            <a:spLocks noGrp="1"/>
          </p:cNvSpPr>
          <p:nvPr>
            <p:ph type="ftr" sz="quarter" idx="4"/>
          </p:nvPr>
        </p:nvSpPr>
        <p:spPr>
          <a:xfrm>
            <a:off x="0" y="10157400"/>
            <a:ext cx="3280680" cy="534240"/>
          </a:xfrm>
          <a:prstGeom prst="rect">
            <a:avLst/>
          </a:prstGeom>
          <a:noFill/>
          <a:ln>
            <a:noFill/>
          </a:ln>
        </p:spPr>
        <p:txBody>
          <a:bodyPr lIns="0" tIns="0" rIns="0" bIns="0" anchor="b">
            <a:noAutofit/>
          </a:bodyPr>
          <a:lstStyle>
            <a:lvl1pPr marL="0" marR="0" lvl="0" indent="0" algn="ctr" rtl="0" hangingPunct="0">
              <a:buNone/>
              <a:tabLst/>
              <a:defRPr lang="en-GB" sz="1400" b="1">
                <a:solidFill>
                  <a:srgbClr val="FFFFFF"/>
                </a:solidFill>
                <a:latin typeface="Verdana" pitchFamily="34"/>
                <a:ea typeface="Arial Unicode MS" pitchFamily="2"/>
                <a:cs typeface="Tahoma" pitchFamily="2"/>
              </a:defRPr>
            </a:lvl1pPr>
          </a:lstStyle>
          <a:p>
            <a:pPr lvl="0"/>
            <a:endParaRPr lang="en-GB"/>
          </a:p>
        </p:txBody>
      </p:sp>
      <p:sp>
        <p:nvSpPr>
          <p:cNvPr id="7" name="Slide Number Placeholder 6"/>
          <p:cNvSpPr txBox="1">
            <a:spLocks noGrp="1"/>
          </p:cNvSpPr>
          <p:nvPr>
            <p:ph type="sldNum" sz="quarter" idx="5"/>
          </p:nvPr>
        </p:nvSpPr>
        <p:spPr>
          <a:xfrm>
            <a:off x="4278960" y="10157400"/>
            <a:ext cx="3280680" cy="534240"/>
          </a:xfrm>
          <a:prstGeom prst="rect">
            <a:avLst/>
          </a:prstGeom>
          <a:noFill/>
          <a:ln>
            <a:noFill/>
          </a:ln>
        </p:spPr>
        <p:txBody>
          <a:bodyPr lIns="0" tIns="0" rIns="0" bIns="0" anchor="b">
            <a:noAutofit/>
          </a:bodyPr>
          <a:lstStyle>
            <a:lvl1pPr marL="0" marR="0" lvl="0" indent="0" algn="r" rtl="0" hangingPunct="0">
              <a:buNone/>
              <a:tabLst/>
              <a:defRPr lang="en-GB" sz="1400" b="1">
                <a:solidFill>
                  <a:srgbClr val="FFFFFF"/>
                </a:solidFill>
                <a:latin typeface="Verdana" pitchFamily="34"/>
                <a:ea typeface="Arial Unicode MS" pitchFamily="2"/>
                <a:cs typeface="Tahoma" pitchFamily="2"/>
              </a:defRPr>
            </a:lvl1pPr>
          </a:lstStyle>
          <a:p>
            <a:pPr lvl="0"/>
            <a:fld id="{212E2467-1F38-48CA-874F-7395583F0206}" type="slidenum">
              <a:t>‹#›</a:t>
            </a:fld>
            <a:endParaRPr lang="en-GB"/>
          </a:p>
        </p:txBody>
      </p:sp>
    </p:spTree>
    <p:extLst>
      <p:ext uri="{BB962C8B-B14F-4D97-AF65-F5344CB8AC3E}">
        <p14:creationId xmlns:p14="http://schemas.microsoft.com/office/powerpoint/2010/main" val="1350701007"/>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a:ln>
          <a:noFill/>
        </a:ln>
        <a:latin typeface="Arial" pitchFamily="18"/>
        <a:ea typeface="Arial Unicode MS" pitchFamily="2"/>
        <a:cs typeface="Tahoma"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21FFA3DE-5C5C-4186-B58A-42BFFB56DB54}" type="slidenum">
              <a:t>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89470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938881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95820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952737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374948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3518548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1567309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552246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358171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1535277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2578300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r>
              <a:rPr lang="en-US" baseline="0" dirty="0"/>
              <a:t>Additionally, special thanks to the following </a:t>
            </a:r>
            <a:r>
              <a:rPr lang="en-US" dirty="0"/>
              <a:t>people for the constructive criticism and brainstorming in the past stages of the project development:</a:t>
            </a:r>
          </a:p>
        </p:txBody>
      </p:sp>
    </p:spTree>
    <p:extLst>
      <p:ext uri="{BB962C8B-B14F-4D97-AF65-F5344CB8AC3E}">
        <p14:creationId xmlns:p14="http://schemas.microsoft.com/office/powerpoint/2010/main" val="4191622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666359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544469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813444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033198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647622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9644492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19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234449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920020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337172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901451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pPr marL="216000" marR="0" lvl="0" indent="-216000" defTabSz="914400" rtl="0" eaLnBrk="1" fontAlgn="auto" latinLnBrk="0" hangingPunct="0">
              <a:lnSpc>
                <a:spcPct val="100000"/>
              </a:lnSpc>
              <a:spcBef>
                <a:spcPts val="0"/>
              </a:spcBef>
              <a:spcAft>
                <a:spcPts val="0"/>
              </a:spcAft>
              <a:buClrTx/>
              <a:buSzTx/>
              <a:buFontTx/>
              <a:buNone/>
              <a:tabLst/>
              <a:defRPr/>
            </a:pPr>
            <a:r>
              <a:rPr lang="en-US" sz="2000" dirty="0"/>
              <a:t>perf impact is around</a:t>
            </a:r>
            <a:r>
              <a:rPr lang="en-US" sz="2400" dirty="0"/>
              <a:t> </a:t>
            </a:r>
            <a:r>
              <a:rPr lang="en-US" dirty="0">
                <a:effectLst/>
              </a:rPr>
              <a:t>2.5% for fully enabled LKRG, or around 0.7% for LKRG with code integrity checks on random events disabled</a:t>
            </a:r>
            <a:endParaRPr lang="en-US" sz="2400" dirty="0"/>
          </a:p>
          <a:p>
            <a:endParaRPr lang="en-US" dirty="0"/>
          </a:p>
        </p:txBody>
      </p:sp>
    </p:spTree>
    <p:extLst>
      <p:ext uri="{BB962C8B-B14F-4D97-AF65-F5344CB8AC3E}">
        <p14:creationId xmlns:p14="http://schemas.microsoft.com/office/powerpoint/2010/main" val="1854723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pPr marL="216000" marR="0" lvl="0" indent="-216000" defTabSz="914400" rtl="0" eaLnBrk="1" fontAlgn="auto" latinLnBrk="0" hangingPunct="0">
              <a:lnSpc>
                <a:spcPct val="100000"/>
              </a:lnSpc>
              <a:spcBef>
                <a:spcPts val="0"/>
              </a:spcBef>
              <a:spcAft>
                <a:spcPts val="0"/>
              </a:spcAft>
              <a:buClrTx/>
              <a:buSzTx/>
              <a:buFontTx/>
              <a:buNone/>
              <a:tabLst/>
              <a:defRPr/>
            </a:pPr>
            <a:r>
              <a:rPr lang="en-US" sz="2000" dirty="0"/>
              <a:t>perf impact is around</a:t>
            </a:r>
            <a:r>
              <a:rPr lang="en-US" sz="2400" dirty="0"/>
              <a:t> </a:t>
            </a:r>
            <a:r>
              <a:rPr lang="en-US" dirty="0">
                <a:effectLst/>
              </a:rPr>
              <a:t>2.5% for fully enabled LKRG, or around 0.7% for LKRG with code integrity checks on random events disabled</a:t>
            </a:r>
            <a:endParaRPr lang="en-US" sz="2400" dirty="0"/>
          </a:p>
          <a:p>
            <a:endParaRPr lang="en-US" dirty="0"/>
          </a:p>
        </p:txBody>
      </p:sp>
    </p:spTree>
    <p:extLst>
      <p:ext uri="{BB962C8B-B14F-4D97-AF65-F5344CB8AC3E}">
        <p14:creationId xmlns:p14="http://schemas.microsoft.com/office/powerpoint/2010/main" val="11344226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21668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580866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6693036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97203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29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723872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6233038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210885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50231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906304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572159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545056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498166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9108042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5862921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39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8584038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782394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8641473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2867367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8524915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039308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2506830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2925256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6904633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45811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49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8358138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4609454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233924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665955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3459184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6990238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338721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2188019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7683645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5555883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59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8533896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9131794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4177993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8782289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1031729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6478826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2763210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1030805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5103957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1557224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69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9248393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58863244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523304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6201900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0888422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0026854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106962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04886699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0240755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7501015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79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9230509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9242716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0920261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19085969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1419011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84</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5157231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85</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17238546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86</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2117900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87</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6743571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88</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95408895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89</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66994141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90</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70139310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91</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69835033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11CC7D0B-956F-4F37-ABAB-1E5A860D2994}" type="slidenum">
              <a:t>92</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22703036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oAutofit/>
          </a:bodyPr>
          <a:lstStyle/>
          <a:p>
            <a:pPr lvl="0"/>
            <a:fld id="{21FFA3DE-5C5C-4186-B58A-42BFFB56DB54}" type="slidenum">
              <a:t>93</a:t>
            </a:fld>
            <a:endParaRPr lang="en-GB"/>
          </a:p>
        </p:txBody>
      </p:sp>
      <p:sp>
        <p:nvSpPr>
          <p:cNvPr id="2" name="Slide Image Placeholder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756000" y="5078520"/>
            <a:ext cx="6047640" cy="4811400"/>
          </a:xfrm>
        </p:spPr>
        <p:txBody>
          <a:bodyPr>
            <a:spAutoFit/>
          </a:bodyPr>
          <a:lstStyle/>
          <a:p>
            <a:endParaRPr lang="en-US" dirty="0"/>
          </a:p>
        </p:txBody>
      </p:sp>
    </p:spTree>
    <p:extLst>
      <p:ext uri="{BB962C8B-B14F-4D97-AF65-F5344CB8AC3E}">
        <p14:creationId xmlns:p14="http://schemas.microsoft.com/office/powerpoint/2010/main" val="3244151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548" y="1237197"/>
            <a:ext cx="8569532" cy="2631887"/>
          </a:xfrm>
        </p:spPr>
        <p:txBody>
          <a:bodyPr anchor="b">
            <a:normAutofit/>
          </a:bodyPr>
          <a:lstStyle>
            <a:lvl1pPr algn="ctr">
              <a:defRPr sz="5291"/>
            </a:lvl1pPr>
          </a:lstStyle>
          <a:p>
            <a:r>
              <a:rPr lang="en-US"/>
              <a:t>Click to edit Master title style</a:t>
            </a:r>
            <a:endParaRPr lang="en-US" dirty="0"/>
          </a:p>
        </p:txBody>
      </p:sp>
      <p:sp>
        <p:nvSpPr>
          <p:cNvPr id="3" name="Subtitle 2"/>
          <p:cNvSpPr>
            <a:spLocks noGrp="1"/>
          </p:cNvSpPr>
          <p:nvPr>
            <p:ph type="subTitle" idx="1"/>
          </p:nvPr>
        </p:nvSpPr>
        <p:spPr>
          <a:xfrm>
            <a:off x="755548" y="3970580"/>
            <a:ext cx="8569532"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lvl="0"/>
            <a:endParaRPr lang="en-GB"/>
          </a:p>
        </p:txBody>
      </p:sp>
      <p:sp>
        <p:nvSpPr>
          <p:cNvPr id="5" name="Footer Placeholder 4"/>
          <p:cNvSpPr>
            <a:spLocks noGrp="1"/>
          </p:cNvSpPr>
          <p:nvPr>
            <p:ph type="ftr" sz="quarter" idx="11"/>
          </p:nvPr>
        </p:nvSpPr>
        <p:spPr/>
        <p:txBody>
          <a:bodyPr/>
          <a:lstStyle/>
          <a:p>
            <a:pPr lvl="0"/>
            <a:endParaRPr lang="en-GB"/>
          </a:p>
        </p:txBody>
      </p:sp>
      <p:sp>
        <p:nvSpPr>
          <p:cNvPr id="6" name="Slide Number Placeholder 5"/>
          <p:cNvSpPr>
            <a:spLocks noGrp="1"/>
          </p:cNvSpPr>
          <p:nvPr>
            <p:ph type="sldNum" sz="quarter" idx="12"/>
          </p:nvPr>
        </p:nvSpPr>
        <p:spPr/>
        <p:txBody>
          <a:bodyPr/>
          <a:lstStyle/>
          <a:p>
            <a:pPr lvl="0"/>
            <a:fld id="{A7510E18-CD0C-42F1-9AA4-D53988E6333A}" type="slidenum">
              <a:rPr lang="en-US" smtClean="0"/>
              <a:t>‹#›</a:t>
            </a:fld>
            <a:endParaRPr lang="en-US"/>
          </a:p>
        </p:txBody>
      </p:sp>
    </p:spTree>
    <p:extLst>
      <p:ext uri="{BB962C8B-B14F-4D97-AF65-F5344CB8AC3E}">
        <p14:creationId xmlns:p14="http://schemas.microsoft.com/office/powerpoint/2010/main" val="70480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lvl="0"/>
            <a:endParaRPr lang="en-GB"/>
          </a:p>
        </p:txBody>
      </p:sp>
      <p:sp>
        <p:nvSpPr>
          <p:cNvPr id="5" name="Footer Placeholder 4"/>
          <p:cNvSpPr>
            <a:spLocks noGrp="1"/>
          </p:cNvSpPr>
          <p:nvPr>
            <p:ph type="ftr" sz="quarter" idx="11"/>
          </p:nvPr>
        </p:nvSpPr>
        <p:spPr/>
        <p:txBody>
          <a:bodyPr/>
          <a:lstStyle/>
          <a:p>
            <a:pPr lvl="0"/>
            <a:endParaRPr lang="en-GB"/>
          </a:p>
        </p:txBody>
      </p:sp>
      <p:sp>
        <p:nvSpPr>
          <p:cNvPr id="6" name="Slide Number Placeholder 5"/>
          <p:cNvSpPr>
            <a:spLocks noGrp="1"/>
          </p:cNvSpPr>
          <p:nvPr>
            <p:ph type="sldNum" sz="quarter" idx="12"/>
          </p:nvPr>
        </p:nvSpPr>
        <p:spPr/>
        <p:txBody>
          <a:bodyPr/>
          <a:lstStyle/>
          <a:p>
            <a:pPr lvl="0"/>
            <a:fld id="{2E361095-4B2F-4BFB-A283-17354F13A9A2}" type="slidenum">
              <a:rPr lang="en-US" smtClean="0"/>
              <a:t>‹#›</a:t>
            </a:fld>
            <a:endParaRPr lang="en-US"/>
          </a:p>
        </p:txBody>
      </p:sp>
    </p:spTree>
    <p:extLst>
      <p:ext uri="{BB962C8B-B14F-4D97-AF65-F5344CB8AC3E}">
        <p14:creationId xmlns:p14="http://schemas.microsoft.com/office/powerpoint/2010/main" val="1896384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367" y="724472"/>
            <a:ext cx="8047891" cy="3144614"/>
          </a:xfrm>
        </p:spPr>
        <p:txBody>
          <a:bodyPr anchor="b">
            <a:normAutofit/>
          </a:bodyPr>
          <a:lstStyle>
            <a:lvl1pPr>
              <a:defRPr sz="3748"/>
            </a:lvl1pPr>
          </a:lstStyle>
          <a:p>
            <a:r>
              <a:rPr lang="en-US"/>
              <a:t>Click to edit Master title style</a:t>
            </a:r>
            <a:endParaRPr lang="en-US" dirty="0"/>
          </a:p>
        </p:txBody>
      </p:sp>
      <p:sp>
        <p:nvSpPr>
          <p:cNvPr id="3" name="Text Placeholder 2"/>
          <p:cNvSpPr>
            <a:spLocks noGrp="1"/>
          </p:cNvSpPr>
          <p:nvPr>
            <p:ph type="body" idx="1"/>
          </p:nvPr>
        </p:nvSpPr>
        <p:spPr>
          <a:xfrm>
            <a:off x="1016367" y="3970582"/>
            <a:ext cx="8047891" cy="1653678"/>
          </a:xfrm>
        </p:spPr>
        <p:txBody>
          <a:bodyPr/>
          <a:lstStyle>
            <a:lvl1pPr marL="0" indent="0" algn="ctr">
              <a:buNone/>
              <a:defRPr sz="2646">
                <a:solidFill>
                  <a:schemeClr val="tx1">
                    <a:tint val="75000"/>
                  </a:schemeClr>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lvl="0"/>
            <a:endParaRPr lang="en-GB"/>
          </a:p>
        </p:txBody>
      </p:sp>
      <p:sp>
        <p:nvSpPr>
          <p:cNvPr id="5" name="Footer Placeholder 4"/>
          <p:cNvSpPr>
            <a:spLocks noGrp="1"/>
          </p:cNvSpPr>
          <p:nvPr>
            <p:ph type="ftr" sz="quarter" idx="11"/>
          </p:nvPr>
        </p:nvSpPr>
        <p:spPr/>
        <p:txBody>
          <a:bodyPr/>
          <a:lstStyle/>
          <a:p>
            <a:pPr lvl="0"/>
            <a:endParaRPr lang="en-GB"/>
          </a:p>
        </p:txBody>
      </p:sp>
      <p:sp>
        <p:nvSpPr>
          <p:cNvPr id="6" name="Slide Number Placeholder 5"/>
          <p:cNvSpPr>
            <a:spLocks noGrp="1"/>
          </p:cNvSpPr>
          <p:nvPr>
            <p:ph type="sldNum" sz="quarter" idx="12"/>
          </p:nvPr>
        </p:nvSpPr>
        <p:spPr/>
        <p:txBody>
          <a:bodyPr/>
          <a:lstStyle/>
          <a:p>
            <a:pPr lvl="0"/>
            <a:fld id="{DCEA4815-1355-40A4-9DF1-625BEB5E6323}" type="slidenum">
              <a:rPr lang="en-US" smtClean="0"/>
              <a:t>‹#›</a:t>
            </a:fld>
            <a:endParaRPr lang="en-US"/>
          </a:p>
        </p:txBody>
      </p:sp>
    </p:spTree>
    <p:extLst>
      <p:ext uri="{BB962C8B-B14F-4D97-AF65-F5344CB8AC3E}">
        <p14:creationId xmlns:p14="http://schemas.microsoft.com/office/powerpoint/2010/main" val="170741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55548" y="671973"/>
            <a:ext cx="8560727" cy="146202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55547" y="2301986"/>
            <a:ext cx="4221761" cy="4081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04311" y="2301986"/>
            <a:ext cx="4211964" cy="4081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A627FF3D-827C-47A1-BE7B-68C1600345E2}" type="slidenum">
              <a:rPr lang="en-US" smtClean="0"/>
              <a:t>‹#›</a:t>
            </a:fld>
            <a:endParaRPr lang="en-US"/>
          </a:p>
        </p:txBody>
      </p:sp>
    </p:spTree>
    <p:extLst>
      <p:ext uri="{BB962C8B-B14F-4D97-AF65-F5344CB8AC3E}">
        <p14:creationId xmlns:p14="http://schemas.microsoft.com/office/powerpoint/2010/main" val="395880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5548" y="671973"/>
            <a:ext cx="8560727" cy="1461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9195" y="2301986"/>
            <a:ext cx="3969109" cy="908210"/>
          </a:xfrm>
        </p:spPr>
        <p:txBody>
          <a:bodyPr anchor="b"/>
          <a:lstStyle>
            <a:lvl1pPr marL="0" indent="0">
              <a:lnSpc>
                <a:spcPct val="100000"/>
              </a:lnSpc>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755546" y="3210197"/>
            <a:ext cx="4222757" cy="3173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56964" y="2301986"/>
            <a:ext cx="3959310" cy="908210"/>
          </a:xfrm>
        </p:spPr>
        <p:txBody>
          <a:bodyPr anchor="b"/>
          <a:lstStyle>
            <a:lvl1pPr marL="0" indent="0">
              <a:lnSpc>
                <a:spcPct val="100000"/>
              </a:lnSpc>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103317" y="3210197"/>
            <a:ext cx="4212958" cy="3173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lvl="0"/>
            <a:endParaRPr lang="en-GB"/>
          </a:p>
        </p:txBody>
      </p:sp>
      <p:sp>
        <p:nvSpPr>
          <p:cNvPr id="8" name="Footer Placeholder 7"/>
          <p:cNvSpPr>
            <a:spLocks noGrp="1"/>
          </p:cNvSpPr>
          <p:nvPr>
            <p:ph type="ftr" sz="quarter" idx="11"/>
          </p:nvPr>
        </p:nvSpPr>
        <p:spPr/>
        <p:txBody>
          <a:bodyPr/>
          <a:lstStyle/>
          <a:p>
            <a:pPr lvl="0"/>
            <a:endParaRPr lang="en-GB"/>
          </a:p>
        </p:txBody>
      </p:sp>
      <p:sp>
        <p:nvSpPr>
          <p:cNvPr id="9" name="Slide Number Placeholder 8"/>
          <p:cNvSpPr>
            <a:spLocks noGrp="1"/>
          </p:cNvSpPr>
          <p:nvPr>
            <p:ph type="sldNum" sz="quarter" idx="12"/>
          </p:nvPr>
        </p:nvSpPr>
        <p:spPr/>
        <p:txBody>
          <a:bodyPr/>
          <a:lstStyle/>
          <a:p>
            <a:pPr lvl="0"/>
            <a:fld id="{A6F1399A-9A6D-4D67-869B-860398A26420}" type="slidenum">
              <a:rPr lang="en-US" smtClean="0"/>
              <a:t>‹#›</a:t>
            </a:fld>
            <a:endParaRPr lang="en-US"/>
          </a:p>
        </p:txBody>
      </p:sp>
    </p:spTree>
    <p:extLst>
      <p:ext uri="{BB962C8B-B14F-4D97-AF65-F5344CB8AC3E}">
        <p14:creationId xmlns:p14="http://schemas.microsoft.com/office/powerpoint/2010/main" val="3593309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lvl="0"/>
            <a:endParaRPr lang="en-GB"/>
          </a:p>
        </p:txBody>
      </p:sp>
      <p:sp>
        <p:nvSpPr>
          <p:cNvPr id="4" name="Footer Placeholder 3"/>
          <p:cNvSpPr>
            <a:spLocks noGrp="1"/>
          </p:cNvSpPr>
          <p:nvPr>
            <p:ph type="ftr" sz="quarter" idx="11"/>
          </p:nvPr>
        </p:nvSpPr>
        <p:spPr/>
        <p:txBody>
          <a:bodyPr/>
          <a:lstStyle/>
          <a:p>
            <a:pPr lvl="0"/>
            <a:endParaRPr lang="en-GB"/>
          </a:p>
        </p:txBody>
      </p:sp>
      <p:sp>
        <p:nvSpPr>
          <p:cNvPr id="5" name="Slide Number Placeholder 4"/>
          <p:cNvSpPr>
            <a:spLocks noGrp="1"/>
          </p:cNvSpPr>
          <p:nvPr>
            <p:ph type="sldNum" sz="quarter" idx="12"/>
          </p:nvPr>
        </p:nvSpPr>
        <p:spPr/>
        <p:txBody>
          <a:bodyPr/>
          <a:lstStyle/>
          <a:p>
            <a:pPr lvl="0"/>
            <a:fld id="{62EEC5A8-1F17-4C65-85D6-20AFE660A11F}" type="slidenum">
              <a:rPr lang="en-US" smtClean="0"/>
              <a:t>‹#›</a:t>
            </a:fld>
            <a:endParaRPr lang="en-US"/>
          </a:p>
        </p:txBody>
      </p:sp>
    </p:spTree>
    <p:extLst>
      <p:ext uri="{BB962C8B-B14F-4D97-AF65-F5344CB8AC3E}">
        <p14:creationId xmlns:p14="http://schemas.microsoft.com/office/powerpoint/2010/main" val="2397670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GB"/>
          </a:p>
        </p:txBody>
      </p:sp>
      <p:sp>
        <p:nvSpPr>
          <p:cNvPr id="3" name="Footer Placeholder 2"/>
          <p:cNvSpPr>
            <a:spLocks noGrp="1"/>
          </p:cNvSpPr>
          <p:nvPr>
            <p:ph type="ftr" sz="quarter" idx="11"/>
          </p:nvPr>
        </p:nvSpPr>
        <p:spPr/>
        <p:txBody>
          <a:bodyPr/>
          <a:lstStyle/>
          <a:p>
            <a:pPr lvl="0"/>
            <a:endParaRPr lang="en-GB"/>
          </a:p>
        </p:txBody>
      </p:sp>
      <p:sp>
        <p:nvSpPr>
          <p:cNvPr id="4" name="Slide Number Placeholder 3"/>
          <p:cNvSpPr>
            <a:spLocks noGrp="1"/>
          </p:cNvSpPr>
          <p:nvPr>
            <p:ph type="sldNum" sz="quarter" idx="12"/>
          </p:nvPr>
        </p:nvSpPr>
        <p:spPr/>
        <p:txBody>
          <a:bodyPr/>
          <a:lstStyle/>
          <a:p>
            <a:pPr lvl="0"/>
            <a:fld id="{2422E85F-0C0D-458C-A754-87E8DBEA3E7F}" type="slidenum">
              <a:rPr lang="en-US" smtClean="0"/>
              <a:t>‹#›</a:t>
            </a:fld>
            <a:endParaRPr lang="en-US"/>
          </a:p>
        </p:txBody>
      </p:sp>
    </p:spTree>
    <p:extLst>
      <p:ext uri="{BB962C8B-B14F-4D97-AF65-F5344CB8AC3E}">
        <p14:creationId xmlns:p14="http://schemas.microsoft.com/office/powerpoint/2010/main" val="31751899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385" y="671971"/>
            <a:ext cx="3251264" cy="2603888"/>
          </a:xfrm>
        </p:spPr>
        <p:txBody>
          <a:bodyPr anchor="b">
            <a:normAutofit/>
          </a:bodyPr>
          <a:lstStyle>
            <a:lvl1pPr>
              <a:defRPr sz="3086"/>
            </a:lvl1pPr>
          </a:lstStyle>
          <a:p>
            <a:r>
              <a:rPr lang="en-US"/>
              <a:t>Click to edit Master title style</a:t>
            </a:r>
            <a:endParaRPr lang="en-US" dirty="0"/>
          </a:p>
        </p:txBody>
      </p:sp>
      <p:sp>
        <p:nvSpPr>
          <p:cNvPr id="3" name="Content Placeholder 2"/>
          <p:cNvSpPr>
            <a:spLocks noGrp="1"/>
          </p:cNvSpPr>
          <p:nvPr>
            <p:ph idx="1"/>
          </p:nvPr>
        </p:nvSpPr>
        <p:spPr>
          <a:xfrm>
            <a:off x="4198660" y="671971"/>
            <a:ext cx="5117614" cy="571175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58385" y="3275861"/>
            <a:ext cx="3251264" cy="3107865"/>
          </a:xfrm>
        </p:spPr>
        <p:txBody>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04FFCEF8-1435-47C0-A7C6-0D12504EBAC5}" type="slidenum">
              <a:rPr lang="en-US" smtClean="0"/>
              <a:t>‹#›</a:t>
            </a:fld>
            <a:endParaRPr lang="en-US"/>
          </a:p>
        </p:txBody>
      </p:sp>
    </p:spTree>
    <p:extLst>
      <p:ext uri="{BB962C8B-B14F-4D97-AF65-F5344CB8AC3E}">
        <p14:creationId xmlns:p14="http://schemas.microsoft.com/office/powerpoint/2010/main" val="279557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386" y="671971"/>
            <a:ext cx="4594493" cy="2603888"/>
          </a:xfrm>
        </p:spPr>
        <p:txBody>
          <a:bodyPr anchor="b">
            <a:normAutofit/>
          </a:bodyPr>
          <a:lstStyle>
            <a:lvl1pPr>
              <a:defRPr sz="3527"/>
            </a:lvl1pPr>
          </a:lstStyle>
          <a:p>
            <a:r>
              <a:rPr lang="en-US"/>
              <a:t>Click to edit Master title style</a:t>
            </a:r>
            <a:endParaRPr lang="en-US" dirty="0"/>
          </a:p>
        </p:txBody>
      </p:sp>
      <p:sp>
        <p:nvSpPr>
          <p:cNvPr id="3" name="Picture Placeholder 2"/>
          <p:cNvSpPr>
            <a:spLocks noGrp="1" noChangeAspect="1"/>
          </p:cNvSpPr>
          <p:nvPr>
            <p:ph type="pic" idx="1"/>
          </p:nvPr>
        </p:nvSpPr>
        <p:spPr>
          <a:xfrm>
            <a:off x="5787686" y="836526"/>
            <a:ext cx="3270843" cy="538264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endParaRPr lang="en-US" dirty="0"/>
          </a:p>
        </p:txBody>
      </p:sp>
      <p:sp>
        <p:nvSpPr>
          <p:cNvPr id="4" name="Text Placeholder 3"/>
          <p:cNvSpPr>
            <a:spLocks noGrp="1"/>
          </p:cNvSpPr>
          <p:nvPr>
            <p:ph type="body" sz="half" idx="2"/>
          </p:nvPr>
        </p:nvSpPr>
        <p:spPr>
          <a:xfrm>
            <a:off x="755546" y="3275859"/>
            <a:ext cx="4598505" cy="3107866"/>
          </a:xfrm>
        </p:spPr>
        <p:txBody>
          <a:bodyPr>
            <a:normAutofit/>
          </a:bodyPr>
          <a:lstStyle>
            <a:lvl1pPr marL="0" indent="0" algn="ctr">
              <a:buNone/>
              <a:defRPr sz="198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CAEE9F01-DB59-4E73-B842-8C384B8F802D}" type="slidenum">
              <a:rPr lang="en-US" smtClean="0"/>
              <a:t>‹#›</a:t>
            </a:fld>
            <a:endParaRPr lang="en-US"/>
          </a:p>
        </p:txBody>
      </p:sp>
    </p:spTree>
    <p:extLst>
      <p:ext uri="{BB962C8B-B14F-4D97-AF65-F5344CB8AC3E}">
        <p14:creationId xmlns:p14="http://schemas.microsoft.com/office/powerpoint/2010/main" val="3855492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557" y="4728240"/>
            <a:ext cx="8572140" cy="903187"/>
          </a:xfrm>
        </p:spPr>
        <p:txBody>
          <a:bodyPr anchor="b">
            <a:normAutofit/>
          </a:bodyPr>
          <a:lstStyle>
            <a:lvl1pPr>
              <a:defRPr sz="3086"/>
            </a:lvl1pPr>
          </a:lstStyle>
          <a:p>
            <a:r>
              <a:rPr lang="en-US"/>
              <a:t>Click to edit Master title style</a:t>
            </a:r>
            <a:endParaRPr lang="en-US" dirty="0"/>
          </a:p>
        </p:txBody>
      </p:sp>
      <p:sp>
        <p:nvSpPr>
          <p:cNvPr id="3" name="Picture Placeholder 2"/>
          <p:cNvSpPr>
            <a:spLocks noGrp="1" noChangeAspect="1"/>
          </p:cNvSpPr>
          <p:nvPr>
            <p:ph type="pic" idx="1"/>
          </p:nvPr>
        </p:nvSpPr>
        <p:spPr>
          <a:xfrm>
            <a:off x="755557" y="684893"/>
            <a:ext cx="8572140" cy="3725532"/>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endParaRPr lang="en-US" dirty="0"/>
          </a:p>
        </p:txBody>
      </p:sp>
      <p:sp>
        <p:nvSpPr>
          <p:cNvPr id="4" name="Text Placeholder 3"/>
          <p:cNvSpPr>
            <a:spLocks noGrp="1"/>
          </p:cNvSpPr>
          <p:nvPr>
            <p:ph type="body" sz="half" idx="2"/>
          </p:nvPr>
        </p:nvSpPr>
        <p:spPr>
          <a:xfrm>
            <a:off x="755547" y="5631427"/>
            <a:ext cx="8570845" cy="752299"/>
          </a:xfrm>
        </p:spPr>
        <p:txBody>
          <a:bodyPr>
            <a:normAutofit/>
          </a:bodyPr>
          <a:lstStyle>
            <a:lvl1pPr marL="0" indent="0" algn="ctr">
              <a:buNone/>
              <a:defRPr sz="198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54B94F5A-B9CC-49E9-9730-BA5892B83C12}" type="slidenum">
              <a:rPr lang="en-US" smtClean="0"/>
              <a:t>‹#›</a:t>
            </a:fld>
            <a:endParaRPr lang="en-US"/>
          </a:p>
        </p:txBody>
      </p:sp>
    </p:spTree>
    <p:extLst>
      <p:ext uri="{BB962C8B-B14F-4D97-AF65-F5344CB8AC3E}">
        <p14:creationId xmlns:p14="http://schemas.microsoft.com/office/powerpoint/2010/main" val="77637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755546" y="671973"/>
            <a:ext cx="8560728" cy="3775273"/>
          </a:xfrm>
        </p:spPr>
        <p:txBody>
          <a:bodyPr anchor="ctr"/>
          <a:lstStyle>
            <a:lvl1pPr>
              <a:defRPr sz="3527"/>
            </a:lvl1pPr>
          </a:lstStyle>
          <a:p>
            <a:r>
              <a:rPr lang="en-US"/>
              <a:t>Click to edit Master title style</a:t>
            </a:r>
            <a:endParaRPr lang="en-US" dirty="0"/>
          </a:p>
        </p:txBody>
      </p:sp>
      <p:sp>
        <p:nvSpPr>
          <p:cNvPr id="4" name="Text Placeholder 3"/>
          <p:cNvSpPr>
            <a:spLocks noGrp="1"/>
          </p:cNvSpPr>
          <p:nvPr>
            <p:ph type="body" sz="half" idx="2"/>
          </p:nvPr>
        </p:nvSpPr>
        <p:spPr>
          <a:xfrm>
            <a:off x="755548" y="4635035"/>
            <a:ext cx="8560727" cy="1755090"/>
          </a:xfrm>
        </p:spPr>
        <p:txBody>
          <a:bodyPr anchor="ct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54B94F5A-B9CC-49E9-9730-BA5892B83C12}" type="slidenum">
              <a:rPr lang="en-US" smtClean="0"/>
              <a:t>‹#›</a:t>
            </a:fld>
            <a:endParaRPr lang="en-US"/>
          </a:p>
        </p:txBody>
      </p:sp>
    </p:spTree>
    <p:extLst>
      <p:ext uri="{BB962C8B-B14F-4D97-AF65-F5344CB8AC3E}">
        <p14:creationId xmlns:p14="http://schemas.microsoft.com/office/powerpoint/2010/main" val="3418730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5761" y="671971"/>
            <a:ext cx="7691729" cy="3299122"/>
          </a:xfrm>
        </p:spPr>
        <p:txBody>
          <a:bodyPr anchor="ctr"/>
          <a:lstStyle>
            <a:lvl1pPr>
              <a:defRPr sz="3527"/>
            </a:lvl1pPr>
          </a:lstStyle>
          <a:p>
            <a:r>
              <a:rPr lang="en-US"/>
              <a:t>Click to edit Master title style</a:t>
            </a:r>
            <a:endParaRPr lang="en-US" dirty="0"/>
          </a:p>
        </p:txBody>
      </p:sp>
      <p:sp>
        <p:nvSpPr>
          <p:cNvPr id="12" name="Text Placeholder 3"/>
          <p:cNvSpPr>
            <a:spLocks noGrp="1"/>
          </p:cNvSpPr>
          <p:nvPr>
            <p:ph type="body" sz="half" idx="13"/>
          </p:nvPr>
        </p:nvSpPr>
        <p:spPr>
          <a:xfrm>
            <a:off x="1422669" y="3979392"/>
            <a:ext cx="7236601" cy="470481"/>
          </a:xfrm>
        </p:spPr>
        <p:txBody>
          <a:bodyPr anchor="t">
            <a:normAutofit/>
          </a:bodyPr>
          <a:lstStyle>
            <a:lvl1pPr marL="0" indent="0" algn="r">
              <a:buNone/>
              <a:defRPr sz="1543"/>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4" name="Text Placeholder 3"/>
          <p:cNvSpPr>
            <a:spLocks noGrp="1"/>
          </p:cNvSpPr>
          <p:nvPr>
            <p:ph type="body" sz="half" idx="2"/>
          </p:nvPr>
        </p:nvSpPr>
        <p:spPr>
          <a:xfrm>
            <a:off x="755545" y="4635037"/>
            <a:ext cx="8560728" cy="1748690"/>
          </a:xfrm>
        </p:spPr>
        <p:txBody>
          <a:bodyPr anchor="ctr">
            <a:normAutofit/>
          </a:bodyPr>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54B94F5A-B9CC-49E9-9730-BA5892B83C12}" type="slidenum">
              <a:rPr lang="en-US" smtClean="0"/>
              <a:t>‹#›</a:t>
            </a:fld>
            <a:endParaRPr lang="en-US"/>
          </a:p>
        </p:txBody>
      </p:sp>
      <p:sp>
        <p:nvSpPr>
          <p:cNvPr id="10" name="TextBox 9"/>
          <p:cNvSpPr txBox="1"/>
          <p:nvPr/>
        </p:nvSpPr>
        <p:spPr>
          <a:xfrm>
            <a:off x="556998" y="707410"/>
            <a:ext cx="504031" cy="644607"/>
          </a:xfrm>
          <a:prstGeom prst="rect">
            <a:avLst/>
          </a:prstGeom>
        </p:spPr>
        <p:txBody>
          <a:bodyPr vert="horz" lIns="100796" tIns="50398" rIns="100796" bIns="5039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818" dirty="0">
                <a:solidFill>
                  <a:schemeClr val="tx1"/>
                </a:solidFill>
                <a:effectLst/>
              </a:rPr>
              <a:t>“</a:t>
            </a:r>
          </a:p>
        </p:txBody>
      </p:sp>
      <p:sp>
        <p:nvSpPr>
          <p:cNvPr id="14" name="TextBox 13"/>
          <p:cNvSpPr txBox="1"/>
          <p:nvPr/>
        </p:nvSpPr>
        <p:spPr>
          <a:xfrm>
            <a:off x="8760708" y="3387828"/>
            <a:ext cx="504031" cy="644607"/>
          </a:xfrm>
          <a:prstGeom prst="rect">
            <a:avLst/>
          </a:prstGeom>
        </p:spPr>
        <p:txBody>
          <a:bodyPr vert="horz" lIns="100796" tIns="50398" rIns="100796" bIns="5039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818" dirty="0">
                <a:solidFill>
                  <a:schemeClr val="tx1"/>
                </a:solidFill>
                <a:effectLst/>
              </a:rPr>
              <a:t>”</a:t>
            </a:r>
          </a:p>
        </p:txBody>
      </p:sp>
    </p:spTree>
    <p:extLst>
      <p:ext uri="{BB962C8B-B14F-4D97-AF65-F5344CB8AC3E}">
        <p14:creationId xmlns:p14="http://schemas.microsoft.com/office/powerpoint/2010/main" val="4022561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755557" y="2344561"/>
            <a:ext cx="8562021" cy="2768833"/>
          </a:xfrm>
        </p:spPr>
        <p:txBody>
          <a:bodyPr anchor="b"/>
          <a:lstStyle>
            <a:lvl1pPr>
              <a:defRPr sz="3527"/>
            </a:lvl1pPr>
          </a:lstStyle>
          <a:p>
            <a:r>
              <a:rPr lang="en-US"/>
              <a:t>Click to edit Master title style</a:t>
            </a:r>
            <a:endParaRPr lang="en-US" dirty="0"/>
          </a:p>
        </p:txBody>
      </p:sp>
      <p:sp>
        <p:nvSpPr>
          <p:cNvPr id="4" name="Text Placeholder 3"/>
          <p:cNvSpPr>
            <a:spLocks noGrp="1"/>
          </p:cNvSpPr>
          <p:nvPr>
            <p:ph type="body" sz="half" idx="2"/>
          </p:nvPr>
        </p:nvSpPr>
        <p:spPr>
          <a:xfrm>
            <a:off x="755546" y="5126377"/>
            <a:ext cx="8560728" cy="1257349"/>
          </a:xfrm>
        </p:spPr>
        <p:txBody>
          <a:bodyPr anchor="t"/>
          <a:lstStyle>
            <a:lvl1pPr marL="0" indent="0" algn="ctr">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GB"/>
          </a:p>
        </p:txBody>
      </p:sp>
      <p:sp>
        <p:nvSpPr>
          <p:cNvPr id="6" name="Footer Placeholder 5"/>
          <p:cNvSpPr>
            <a:spLocks noGrp="1"/>
          </p:cNvSpPr>
          <p:nvPr>
            <p:ph type="ftr" sz="quarter" idx="11"/>
          </p:nvPr>
        </p:nvSpPr>
        <p:spPr/>
        <p:txBody>
          <a:bodyPr/>
          <a:lstStyle/>
          <a:p>
            <a:pPr lvl="0"/>
            <a:endParaRPr lang="en-GB"/>
          </a:p>
        </p:txBody>
      </p:sp>
      <p:sp>
        <p:nvSpPr>
          <p:cNvPr id="7" name="Slide Number Placeholder 6"/>
          <p:cNvSpPr>
            <a:spLocks noGrp="1"/>
          </p:cNvSpPr>
          <p:nvPr>
            <p:ph type="sldNum" sz="quarter" idx="12"/>
          </p:nvPr>
        </p:nvSpPr>
        <p:spPr/>
        <p:txBody>
          <a:bodyPr/>
          <a:lstStyle/>
          <a:p>
            <a:pPr lvl="0"/>
            <a:fld id="{54B94F5A-B9CC-49E9-9730-BA5892B83C12}" type="slidenum">
              <a:rPr lang="en-US" smtClean="0"/>
              <a:t>‹#›</a:t>
            </a:fld>
            <a:endParaRPr lang="en-US"/>
          </a:p>
        </p:txBody>
      </p:sp>
    </p:spTree>
    <p:extLst>
      <p:ext uri="{BB962C8B-B14F-4D97-AF65-F5344CB8AC3E}">
        <p14:creationId xmlns:p14="http://schemas.microsoft.com/office/powerpoint/2010/main" val="1905257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755545" y="671973"/>
            <a:ext cx="8560728" cy="1461188"/>
          </a:xfrm>
        </p:spPr>
        <p:txBody>
          <a:bodyPr/>
          <a:lstStyle/>
          <a:p>
            <a:r>
              <a:rPr lang="en-US"/>
              <a:t>Click to edit Master title style</a:t>
            </a:r>
            <a:endParaRPr lang="en-US" dirty="0"/>
          </a:p>
        </p:txBody>
      </p:sp>
      <p:sp>
        <p:nvSpPr>
          <p:cNvPr id="7" name="Text Placeholder 2"/>
          <p:cNvSpPr>
            <a:spLocks noGrp="1"/>
          </p:cNvSpPr>
          <p:nvPr>
            <p:ph type="body" idx="1"/>
          </p:nvPr>
        </p:nvSpPr>
        <p:spPr>
          <a:xfrm>
            <a:off x="755547" y="2301987"/>
            <a:ext cx="2727652" cy="907541"/>
          </a:xfrm>
        </p:spPr>
        <p:txBody>
          <a:bodyPr anchor="b">
            <a:noAutofit/>
          </a:bodyPr>
          <a:lstStyle>
            <a:lvl1pPr marL="0" indent="0" algn="ctr">
              <a:lnSpc>
                <a:spcPct val="100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8" name="Text Placeholder 3"/>
          <p:cNvSpPr>
            <a:spLocks noGrp="1"/>
          </p:cNvSpPr>
          <p:nvPr>
            <p:ph type="body" sz="half" idx="15"/>
          </p:nvPr>
        </p:nvSpPr>
        <p:spPr>
          <a:xfrm>
            <a:off x="755547" y="3209526"/>
            <a:ext cx="2727652" cy="317419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9" name="Text Placeholder 4"/>
          <p:cNvSpPr>
            <a:spLocks noGrp="1"/>
          </p:cNvSpPr>
          <p:nvPr>
            <p:ph type="body" sz="quarter" idx="3"/>
          </p:nvPr>
        </p:nvSpPr>
        <p:spPr>
          <a:xfrm>
            <a:off x="3675127" y="2301986"/>
            <a:ext cx="2727324" cy="907540"/>
          </a:xfrm>
        </p:spPr>
        <p:txBody>
          <a:bodyPr anchor="b">
            <a:noAutofit/>
          </a:bodyPr>
          <a:lstStyle>
            <a:lvl1pPr marL="0" indent="0" algn="ctr">
              <a:lnSpc>
                <a:spcPct val="100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10" name="Text Placeholder 3"/>
          <p:cNvSpPr>
            <a:spLocks noGrp="1"/>
          </p:cNvSpPr>
          <p:nvPr>
            <p:ph type="body" sz="half" idx="16"/>
          </p:nvPr>
        </p:nvSpPr>
        <p:spPr>
          <a:xfrm>
            <a:off x="3675127" y="3209526"/>
            <a:ext cx="2728368" cy="317419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11" name="Text Placeholder 4"/>
          <p:cNvSpPr>
            <a:spLocks noGrp="1"/>
          </p:cNvSpPr>
          <p:nvPr>
            <p:ph type="body" sz="quarter" idx="13"/>
          </p:nvPr>
        </p:nvSpPr>
        <p:spPr>
          <a:xfrm>
            <a:off x="6592506" y="2301986"/>
            <a:ext cx="2721248" cy="907540"/>
          </a:xfrm>
        </p:spPr>
        <p:txBody>
          <a:bodyPr anchor="b">
            <a:noAutofit/>
          </a:bodyPr>
          <a:lstStyle>
            <a:lvl1pPr marL="0" indent="0" algn="ctr">
              <a:lnSpc>
                <a:spcPct val="100000"/>
              </a:lnSpc>
              <a:buNone/>
              <a:defRPr sz="2646"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12" name="Text Placeholder 3"/>
          <p:cNvSpPr>
            <a:spLocks noGrp="1"/>
          </p:cNvSpPr>
          <p:nvPr>
            <p:ph type="body" sz="half" idx="17"/>
          </p:nvPr>
        </p:nvSpPr>
        <p:spPr>
          <a:xfrm>
            <a:off x="6595026" y="3209526"/>
            <a:ext cx="2721248" cy="317419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3" name="Date Placeholder 2"/>
          <p:cNvSpPr>
            <a:spLocks noGrp="1"/>
          </p:cNvSpPr>
          <p:nvPr>
            <p:ph type="dt" sz="half" idx="10"/>
          </p:nvPr>
        </p:nvSpPr>
        <p:spPr/>
        <p:txBody>
          <a:bodyPr/>
          <a:lstStyle/>
          <a:p>
            <a:pPr lvl="0"/>
            <a:endParaRPr lang="en-GB"/>
          </a:p>
        </p:txBody>
      </p:sp>
      <p:sp>
        <p:nvSpPr>
          <p:cNvPr id="4" name="Footer Placeholder 3"/>
          <p:cNvSpPr>
            <a:spLocks noGrp="1"/>
          </p:cNvSpPr>
          <p:nvPr>
            <p:ph type="ftr" sz="quarter" idx="11"/>
          </p:nvPr>
        </p:nvSpPr>
        <p:spPr/>
        <p:txBody>
          <a:bodyPr/>
          <a:lstStyle/>
          <a:p>
            <a:pPr lvl="0"/>
            <a:endParaRPr lang="en-GB"/>
          </a:p>
        </p:txBody>
      </p:sp>
      <p:sp>
        <p:nvSpPr>
          <p:cNvPr id="5" name="Slide Number Placeholder 4"/>
          <p:cNvSpPr>
            <a:spLocks noGrp="1"/>
          </p:cNvSpPr>
          <p:nvPr>
            <p:ph type="sldNum" sz="quarter" idx="12"/>
          </p:nvPr>
        </p:nvSpPr>
        <p:spPr/>
        <p:txBody>
          <a:bodyPr/>
          <a:lstStyle/>
          <a:p>
            <a:pPr lvl="0"/>
            <a:fld id="{54B94F5A-B9CC-49E9-9730-BA5892B83C12}" type="slidenum">
              <a:rPr lang="en-US" smtClean="0"/>
              <a:t>‹#›</a:t>
            </a:fld>
            <a:endParaRPr lang="en-US"/>
          </a:p>
        </p:txBody>
      </p:sp>
    </p:spTree>
    <p:extLst>
      <p:ext uri="{BB962C8B-B14F-4D97-AF65-F5344CB8AC3E}">
        <p14:creationId xmlns:p14="http://schemas.microsoft.com/office/powerpoint/2010/main" val="3800858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755546" y="671973"/>
            <a:ext cx="8560728" cy="146118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755548" y="4397296"/>
            <a:ext cx="2727651" cy="635222"/>
          </a:xfrm>
        </p:spPr>
        <p:txBody>
          <a:bodyPr anchor="b">
            <a:noAutofit/>
          </a:bodyPr>
          <a:lstStyle>
            <a:lvl1pPr marL="0" indent="0" algn="ctr">
              <a:lnSpc>
                <a:spcPct val="100000"/>
              </a:lnSpc>
              <a:buNone/>
              <a:defRPr sz="220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20" name="Picture Placeholder 2"/>
          <p:cNvSpPr>
            <a:spLocks noGrp="1" noChangeAspect="1"/>
          </p:cNvSpPr>
          <p:nvPr>
            <p:ph type="pic" idx="15"/>
          </p:nvPr>
        </p:nvSpPr>
        <p:spPr>
          <a:xfrm>
            <a:off x="902907" y="2306302"/>
            <a:ext cx="2430901" cy="1679928"/>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en-US"/>
              <a:t>Click icon to add picture</a:t>
            </a:r>
            <a:endParaRPr lang="en-US" dirty="0"/>
          </a:p>
        </p:txBody>
      </p:sp>
      <p:sp>
        <p:nvSpPr>
          <p:cNvPr id="21" name="Text Placeholder 3"/>
          <p:cNvSpPr>
            <a:spLocks noGrp="1"/>
          </p:cNvSpPr>
          <p:nvPr>
            <p:ph type="body" sz="half" idx="18"/>
          </p:nvPr>
        </p:nvSpPr>
        <p:spPr>
          <a:xfrm>
            <a:off x="755548" y="5032518"/>
            <a:ext cx="2727651" cy="135120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22" name="Text Placeholder 4"/>
          <p:cNvSpPr>
            <a:spLocks noGrp="1"/>
          </p:cNvSpPr>
          <p:nvPr>
            <p:ph type="body" sz="quarter" idx="3"/>
          </p:nvPr>
        </p:nvSpPr>
        <p:spPr>
          <a:xfrm>
            <a:off x="3673328" y="4397296"/>
            <a:ext cx="2727674" cy="635222"/>
          </a:xfrm>
        </p:spPr>
        <p:txBody>
          <a:bodyPr anchor="b">
            <a:noAutofit/>
          </a:bodyPr>
          <a:lstStyle>
            <a:lvl1pPr marL="0" indent="0" algn="ctr">
              <a:lnSpc>
                <a:spcPct val="100000"/>
              </a:lnSpc>
              <a:buNone/>
              <a:defRPr sz="220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23" name="Picture Placeholder 2"/>
          <p:cNvSpPr>
            <a:spLocks noGrp="1" noChangeAspect="1"/>
          </p:cNvSpPr>
          <p:nvPr>
            <p:ph type="pic" idx="21"/>
          </p:nvPr>
        </p:nvSpPr>
        <p:spPr>
          <a:xfrm>
            <a:off x="3777750" y="2306302"/>
            <a:ext cx="2423026" cy="1679928"/>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en-US"/>
              <a:t>Click icon to add picture</a:t>
            </a:r>
            <a:endParaRPr lang="en-US" dirty="0"/>
          </a:p>
        </p:txBody>
      </p:sp>
      <p:sp>
        <p:nvSpPr>
          <p:cNvPr id="24" name="Text Placeholder 3"/>
          <p:cNvSpPr>
            <a:spLocks noGrp="1"/>
          </p:cNvSpPr>
          <p:nvPr>
            <p:ph type="body" sz="half" idx="19"/>
          </p:nvPr>
        </p:nvSpPr>
        <p:spPr>
          <a:xfrm>
            <a:off x="3672209" y="5032517"/>
            <a:ext cx="2728793" cy="1351209"/>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25" name="Text Placeholder 4"/>
          <p:cNvSpPr>
            <a:spLocks noGrp="1"/>
          </p:cNvSpPr>
          <p:nvPr>
            <p:ph type="body" sz="quarter" idx="13"/>
          </p:nvPr>
        </p:nvSpPr>
        <p:spPr>
          <a:xfrm>
            <a:off x="6592609" y="4397296"/>
            <a:ext cx="2720165" cy="635222"/>
          </a:xfrm>
        </p:spPr>
        <p:txBody>
          <a:bodyPr anchor="b">
            <a:noAutofit/>
          </a:bodyPr>
          <a:lstStyle>
            <a:lvl1pPr marL="0" indent="0" algn="ctr">
              <a:lnSpc>
                <a:spcPct val="100000"/>
              </a:lnSpc>
              <a:buNone/>
              <a:defRPr sz="2205" b="0">
                <a:solidFill>
                  <a:schemeClr val="tx1"/>
                </a:solidFill>
              </a:defRPr>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26" name="Picture Placeholder 2"/>
          <p:cNvSpPr>
            <a:spLocks noGrp="1" noChangeAspect="1"/>
          </p:cNvSpPr>
          <p:nvPr>
            <p:ph type="pic" idx="22"/>
          </p:nvPr>
        </p:nvSpPr>
        <p:spPr>
          <a:xfrm>
            <a:off x="6740926" y="2306302"/>
            <a:ext cx="2424338" cy="1679928"/>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r>
              <a:rPr lang="en-US"/>
              <a:t>Click icon to add picture</a:t>
            </a:r>
            <a:endParaRPr lang="en-US" dirty="0"/>
          </a:p>
        </p:txBody>
      </p:sp>
      <p:sp>
        <p:nvSpPr>
          <p:cNvPr id="27" name="Text Placeholder 3"/>
          <p:cNvSpPr>
            <a:spLocks noGrp="1"/>
          </p:cNvSpPr>
          <p:nvPr>
            <p:ph type="body" sz="half" idx="20"/>
          </p:nvPr>
        </p:nvSpPr>
        <p:spPr>
          <a:xfrm>
            <a:off x="6592505" y="5032519"/>
            <a:ext cx="2723769" cy="1351206"/>
          </a:xfrm>
        </p:spPr>
        <p:txBody>
          <a:bodyPr anchor="t">
            <a:normAutofit/>
          </a:bodyPr>
          <a:lstStyle>
            <a:lvl1pPr marL="0" indent="0" algn="ctr">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3" name="Date Placeholder 2"/>
          <p:cNvSpPr>
            <a:spLocks noGrp="1"/>
          </p:cNvSpPr>
          <p:nvPr>
            <p:ph type="dt" sz="half" idx="10"/>
          </p:nvPr>
        </p:nvSpPr>
        <p:spPr/>
        <p:txBody>
          <a:bodyPr/>
          <a:lstStyle/>
          <a:p>
            <a:pPr lvl="0"/>
            <a:endParaRPr lang="en-GB"/>
          </a:p>
        </p:txBody>
      </p:sp>
      <p:sp>
        <p:nvSpPr>
          <p:cNvPr id="4" name="Footer Placeholder 3"/>
          <p:cNvSpPr>
            <a:spLocks noGrp="1"/>
          </p:cNvSpPr>
          <p:nvPr>
            <p:ph type="ftr" sz="quarter" idx="11"/>
          </p:nvPr>
        </p:nvSpPr>
        <p:spPr/>
        <p:txBody>
          <a:bodyPr/>
          <a:lstStyle/>
          <a:p>
            <a:pPr lvl="0"/>
            <a:endParaRPr lang="en-GB"/>
          </a:p>
        </p:txBody>
      </p:sp>
      <p:sp>
        <p:nvSpPr>
          <p:cNvPr id="5" name="Slide Number Placeholder 4"/>
          <p:cNvSpPr>
            <a:spLocks noGrp="1"/>
          </p:cNvSpPr>
          <p:nvPr>
            <p:ph type="sldNum" sz="quarter" idx="12"/>
          </p:nvPr>
        </p:nvSpPr>
        <p:spPr/>
        <p:txBody>
          <a:bodyPr/>
          <a:lstStyle/>
          <a:p>
            <a:pPr lvl="0"/>
            <a:fld id="{54B94F5A-B9CC-49E9-9730-BA5892B83C12}" type="slidenum">
              <a:rPr lang="en-US" smtClean="0"/>
              <a:t>‹#›</a:t>
            </a:fld>
            <a:endParaRPr lang="en-US"/>
          </a:p>
        </p:txBody>
      </p:sp>
    </p:spTree>
    <p:extLst>
      <p:ext uri="{BB962C8B-B14F-4D97-AF65-F5344CB8AC3E}">
        <p14:creationId xmlns:p14="http://schemas.microsoft.com/office/powerpoint/2010/main" val="18584284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lvl="0"/>
            <a:endParaRPr lang="en-GB"/>
          </a:p>
        </p:txBody>
      </p:sp>
      <p:sp>
        <p:nvSpPr>
          <p:cNvPr id="5" name="Footer Placeholder 4"/>
          <p:cNvSpPr>
            <a:spLocks noGrp="1"/>
          </p:cNvSpPr>
          <p:nvPr>
            <p:ph type="ftr" sz="quarter" idx="11"/>
          </p:nvPr>
        </p:nvSpPr>
        <p:spPr/>
        <p:txBody>
          <a:bodyPr/>
          <a:lstStyle/>
          <a:p>
            <a:pPr lvl="0"/>
            <a:endParaRPr lang="en-GB"/>
          </a:p>
        </p:txBody>
      </p:sp>
      <p:sp>
        <p:nvSpPr>
          <p:cNvPr id="6" name="Slide Number Placeholder 5"/>
          <p:cNvSpPr>
            <a:spLocks noGrp="1"/>
          </p:cNvSpPr>
          <p:nvPr>
            <p:ph type="sldNum" sz="quarter" idx="12"/>
          </p:nvPr>
        </p:nvSpPr>
        <p:spPr/>
        <p:txBody>
          <a:bodyPr/>
          <a:lstStyle/>
          <a:p>
            <a:pPr lvl="0"/>
            <a:fld id="{D764203D-D54D-4C36-9444-A8E4005A416A}" type="slidenum">
              <a:rPr lang="en-US" smtClean="0"/>
              <a:t>‹#›</a:t>
            </a:fld>
            <a:endParaRPr lang="en-US"/>
          </a:p>
        </p:txBody>
      </p:sp>
    </p:spTree>
    <p:extLst>
      <p:ext uri="{BB962C8B-B14F-4D97-AF65-F5344CB8AC3E}">
        <p14:creationId xmlns:p14="http://schemas.microsoft.com/office/powerpoint/2010/main" val="1001453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3948" y="671971"/>
            <a:ext cx="2102327" cy="571175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55547" y="671971"/>
            <a:ext cx="6332393" cy="57117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lvl="0"/>
            <a:endParaRPr lang="en-GB"/>
          </a:p>
        </p:txBody>
      </p:sp>
      <p:sp>
        <p:nvSpPr>
          <p:cNvPr id="5" name="Footer Placeholder 4"/>
          <p:cNvSpPr>
            <a:spLocks noGrp="1"/>
          </p:cNvSpPr>
          <p:nvPr>
            <p:ph type="ftr" sz="quarter" idx="11"/>
          </p:nvPr>
        </p:nvSpPr>
        <p:spPr/>
        <p:txBody>
          <a:bodyPr/>
          <a:lstStyle/>
          <a:p>
            <a:pPr lvl="0"/>
            <a:endParaRPr lang="en-GB"/>
          </a:p>
        </p:txBody>
      </p:sp>
      <p:sp>
        <p:nvSpPr>
          <p:cNvPr id="6" name="Slide Number Placeholder 5"/>
          <p:cNvSpPr>
            <a:spLocks noGrp="1"/>
          </p:cNvSpPr>
          <p:nvPr>
            <p:ph type="sldNum" sz="quarter" idx="12"/>
          </p:nvPr>
        </p:nvSpPr>
        <p:spPr/>
        <p:txBody>
          <a:bodyPr/>
          <a:lstStyle/>
          <a:p>
            <a:pPr lvl="0"/>
            <a:fld id="{CD997EB5-4B33-44D1-8F44-8DAEA3FE3FCE}" type="slidenum">
              <a:rPr lang="en-US" smtClean="0"/>
              <a:t>‹#›</a:t>
            </a:fld>
            <a:endParaRPr lang="en-US"/>
          </a:p>
        </p:txBody>
      </p:sp>
    </p:spTree>
    <p:extLst>
      <p:ext uri="{BB962C8B-B14F-4D97-AF65-F5344CB8AC3E}">
        <p14:creationId xmlns:p14="http://schemas.microsoft.com/office/powerpoint/2010/main" val="2953514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5548" y="671973"/>
            <a:ext cx="8560727" cy="14620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55546" y="2310522"/>
            <a:ext cx="8560728" cy="40732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48955" y="6485223"/>
            <a:ext cx="2268141" cy="402483"/>
          </a:xfrm>
          <a:prstGeom prst="rect">
            <a:avLst/>
          </a:prstGeom>
        </p:spPr>
        <p:txBody>
          <a:bodyPr vert="horz" lIns="91440" tIns="45720" rIns="91440" bIns="45720" rtlCol="0" anchor="ctr"/>
          <a:lstStyle>
            <a:lvl1pPr algn="r">
              <a:defRPr sz="1102">
                <a:solidFill>
                  <a:schemeClr val="tx1">
                    <a:tint val="75000"/>
                  </a:schemeClr>
                </a:solidFill>
              </a:defRPr>
            </a:lvl1pPr>
          </a:lstStyle>
          <a:p>
            <a:pPr lvl="0"/>
            <a:endParaRPr lang="en-GB"/>
          </a:p>
        </p:txBody>
      </p:sp>
      <p:sp>
        <p:nvSpPr>
          <p:cNvPr id="5" name="Footer Placeholder 4"/>
          <p:cNvSpPr>
            <a:spLocks noGrp="1"/>
          </p:cNvSpPr>
          <p:nvPr>
            <p:ph type="ftr" sz="quarter" idx="3"/>
          </p:nvPr>
        </p:nvSpPr>
        <p:spPr>
          <a:xfrm>
            <a:off x="755547" y="6485223"/>
            <a:ext cx="5517278" cy="402483"/>
          </a:xfrm>
          <a:prstGeom prst="rect">
            <a:avLst/>
          </a:prstGeom>
        </p:spPr>
        <p:txBody>
          <a:bodyPr vert="horz" lIns="91440" tIns="45720" rIns="91440" bIns="45720" rtlCol="0" anchor="ctr"/>
          <a:lstStyle>
            <a:lvl1pPr algn="l">
              <a:defRPr sz="1102">
                <a:solidFill>
                  <a:schemeClr val="tx1">
                    <a:tint val="75000"/>
                  </a:schemeClr>
                </a:solidFill>
              </a:defRPr>
            </a:lvl1pPr>
          </a:lstStyle>
          <a:p>
            <a:pPr lvl="0"/>
            <a:endParaRPr lang="en-GB"/>
          </a:p>
        </p:txBody>
      </p:sp>
      <p:sp>
        <p:nvSpPr>
          <p:cNvPr id="6" name="Slide Number Placeholder 5"/>
          <p:cNvSpPr>
            <a:spLocks noGrp="1"/>
          </p:cNvSpPr>
          <p:nvPr>
            <p:ph type="sldNum" sz="quarter" idx="4"/>
          </p:nvPr>
        </p:nvSpPr>
        <p:spPr>
          <a:xfrm>
            <a:off x="8693226" y="6485223"/>
            <a:ext cx="623049" cy="402483"/>
          </a:xfrm>
          <a:prstGeom prst="rect">
            <a:avLst/>
          </a:prstGeom>
        </p:spPr>
        <p:txBody>
          <a:bodyPr vert="horz" lIns="91440" tIns="45720" rIns="91440" bIns="45720" rtlCol="0" anchor="ctr"/>
          <a:lstStyle>
            <a:lvl1pPr algn="r">
              <a:defRPr sz="1102">
                <a:solidFill>
                  <a:schemeClr val="tx1">
                    <a:tint val="75000"/>
                  </a:schemeClr>
                </a:solidFill>
              </a:defRPr>
            </a:lvl1pPr>
          </a:lstStyle>
          <a:p>
            <a:pPr lvl="0"/>
            <a:fld id="{54B94F5A-B9CC-49E9-9730-BA5892B83C12}" type="slidenum">
              <a:rPr lang="en-US" smtClean="0"/>
              <a:t>‹#›</a:t>
            </a:fld>
            <a:endParaRPr lang="en-US"/>
          </a:p>
        </p:txBody>
      </p:sp>
    </p:spTree>
    <p:extLst>
      <p:ext uri="{BB962C8B-B14F-4D97-AF65-F5344CB8AC3E}">
        <p14:creationId xmlns:p14="http://schemas.microsoft.com/office/powerpoint/2010/main" val="3682711979"/>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1007943" rtl="0" eaLnBrk="1" latinLnBrk="0" hangingPunct="1">
        <a:lnSpc>
          <a:spcPct val="90000"/>
        </a:lnSpc>
        <a:spcBef>
          <a:spcPct val="0"/>
        </a:spcBef>
        <a:buNone/>
        <a:defRPr sz="3748"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witter.com/Adam_pi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twitter.com/matrosov"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binarly-io" TargetMode="External"/><Relationship Id="rId3" Type="http://schemas.openxmlformats.org/officeDocument/2006/relationships/hyperlink" Target="http://pi3.com.pl/" TargetMode="External"/><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hyperlink" Target="https://twitter.com/Adam_pi3" TargetMode="External"/><Relationship Id="rId10" Type="http://schemas.openxmlformats.org/officeDocument/2006/relationships/image" Target="../media/image6.png"/><Relationship Id="rId4" Type="http://schemas.openxmlformats.org/officeDocument/2006/relationships/hyperlink" Target="mailto:pi3@pi3.com.pl" TargetMode="External"/><Relationship Id="rId9" Type="http://schemas.openxmlformats.org/officeDocument/2006/relationships/hyperlink" Target="https://twitter.com/matrosov"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medium.com/swlh/negative-rings-in-intel-architecture-the-security-threats-youve-probably-never-heard-of-d725a4b6f831"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medium.com/swlh/negative-rings-in-intel-architecture-the-security-threats-youve-probably-never-heard-of-d725a4b6f831"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hyperlink" Target="https://medium.com/swlh/negative-rings-in-intel-architecture-the-security-threats-youve-probably-never-heard-of-d725a4b6f83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comments" Target="../comments/comment2.xml"/><Relationship Id="rId4" Type="http://schemas.openxmlformats.org/officeDocument/2006/relationships/hyperlink" Target="https://medium.com/swlh/negative-rings-in-intel-architecture-the-security-threats-youve-probably-never-heard-of-d725a4b6f831"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comments" Target="../comments/commen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comments" Target="../comments/comment4.xm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guedou.github.io/talks/2019_BeeRump/slides.pdf" TargetMode="Externa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https://guedou.github.io/talks/2019_BeeRump/slides.pdf" TargetMode="External"/><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hyperlink" Target="https://guedou.github.io/talks/2019_BeeRump/slides.pdf" TargetMode="External"/><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hyperlink" Target="https://guedou.github.io/talks/2019_BeeRump/slides.pdf" TargetMode="External"/><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hyperlink" Target="https://guedou.github.io/talks/2019_BeeRump/slides.pdf" TargetMode="External"/><Relationship Id="rId7"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guedou.github.io/talks/2019_BeeRump/slides.pdf" TargetMode="External"/><Relationship Id="rId7"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guedou.github.io/talks/2019_BeeRump/slides.pdf" TargetMode="External"/><Relationship Id="rId7"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 Id="rId9" Type="http://schemas.openxmlformats.org/officeDocument/2006/relationships/image" Target="../media/image29.png"/></Relationships>
</file>

<file path=ppt/slides/_rels/slide5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https://guedou.github.io/talks/2019_BeeRump/slides.pdf" TargetMode="External"/><Relationship Id="rId7"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10" Type="http://schemas.openxmlformats.org/officeDocument/2006/relationships/comments" Target="../comments/comment6.xml"/><Relationship Id="rId4" Type="http://schemas.openxmlformats.org/officeDocument/2006/relationships/image" Target="../media/image25.png"/><Relationship Id="rId9"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7.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6.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7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9.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hyperlink" Target="https://twitter.com/Adam_pi3" TargetMode="External"/><Relationship Id="rId7" Type="http://schemas.openxmlformats.org/officeDocument/2006/relationships/image" Target="../media/image4.jpeg"/><Relationship Id="rId2" Type="http://schemas.openxmlformats.org/officeDocument/2006/relationships/notesSlide" Target="../notesSlides/notesSlide9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twitter.com/matrosov"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p:cNvSpPr txBox="1">
            <a:spLocks noGrp="1"/>
          </p:cNvSpPr>
          <p:nvPr>
            <p:ph type="ctrTitle"/>
          </p:nvPr>
        </p:nvSpPr>
        <p:spPr>
          <a:xfrm>
            <a:off x="1055239" y="5876652"/>
            <a:ext cx="8108850" cy="1462634"/>
          </a:xfrm>
        </p:spPr>
        <p:txBody>
          <a:bodyPr>
            <a:normAutofit/>
          </a:bodyPr>
          <a:lstStyle/>
          <a:p>
            <a:pPr marR="360000" lvl="0"/>
            <a:r>
              <a:rPr lang="en-US" sz="4200" dirty="0">
                <a:solidFill>
                  <a:srgbClr val="C00000"/>
                </a:solidFill>
              </a:rPr>
              <a:t>MTVEC</a:t>
            </a:r>
            <a:r>
              <a:rPr lang="en-US" sz="4200" dirty="0">
                <a:solidFill>
                  <a:srgbClr val="FFC000"/>
                </a:solidFill>
              </a:rPr>
              <a:t> corruption for hardening </a:t>
            </a:r>
            <a:r>
              <a:rPr lang="en-US" sz="4200" dirty="0">
                <a:solidFill>
                  <a:srgbClr val="00B050"/>
                </a:solidFill>
              </a:rPr>
              <a:t>ISA</a:t>
            </a:r>
          </a:p>
        </p:txBody>
      </p:sp>
      <p:sp>
        <p:nvSpPr>
          <p:cNvPr id="14" name="Date Placeholder 1">
            <a:extLst>
              <a:ext uri="{FF2B5EF4-FFF2-40B4-BE49-F238E27FC236}">
                <a16:creationId xmlns:a16="http://schemas.microsoft.com/office/drawing/2014/main" id="{75E2C03B-EEE7-4762-B179-6D91E98892FE}"/>
              </a:ext>
            </a:extLst>
          </p:cNvPr>
          <p:cNvSpPr>
            <a:spLocks noGrp="1"/>
          </p:cNvSpPr>
          <p:nvPr>
            <p:ph type="dt" sz="half" idx="10"/>
          </p:nvPr>
        </p:nvSpPr>
        <p:spPr>
          <a:xfrm>
            <a:off x="1349550" y="4638441"/>
            <a:ext cx="2603040" cy="1000212"/>
          </a:xfrm>
        </p:spPr>
        <p:txBody>
          <a:bodyPr/>
          <a:lstStyle/>
          <a:p>
            <a:pPr algn="l"/>
            <a:r>
              <a:rPr lang="en-US" sz="1800" dirty="0"/>
              <a:t>Adam </a:t>
            </a:r>
            <a:r>
              <a:rPr lang="en-US" sz="1800" dirty="0">
                <a:solidFill>
                  <a:schemeClr val="tx1"/>
                </a:solidFill>
              </a:rPr>
              <a:t>'</a:t>
            </a:r>
            <a:r>
              <a:rPr lang="en-US" sz="1800" dirty="0">
                <a:solidFill>
                  <a:srgbClr val="C00000"/>
                </a:solidFill>
              </a:rPr>
              <a:t>pi3</a:t>
            </a:r>
            <a:r>
              <a:rPr lang="en-US" sz="1800" dirty="0"/>
              <a:t>' Zabrocki</a:t>
            </a:r>
            <a:br>
              <a:rPr lang="pl-PL" sz="1800" dirty="0"/>
            </a:br>
            <a:r>
              <a:rPr lang="en-US" sz="1800" dirty="0"/>
              <a:t>Twitter</a:t>
            </a:r>
            <a:r>
              <a:rPr lang="pl-PL" sz="1800" dirty="0"/>
              <a:t>: </a:t>
            </a:r>
            <a:r>
              <a:rPr lang="pl-PL" sz="1800" dirty="0">
                <a:hlinkClick r:id="rId3"/>
              </a:rPr>
              <a:t>@Adam_pi3</a:t>
            </a:r>
            <a:endParaRPr lang="pl-PL" sz="1800" dirty="0"/>
          </a:p>
        </p:txBody>
      </p:sp>
      <p:sp>
        <p:nvSpPr>
          <p:cNvPr id="8" name="Title 1">
            <a:extLst>
              <a:ext uri="{FF2B5EF4-FFF2-40B4-BE49-F238E27FC236}">
                <a16:creationId xmlns:a16="http://schemas.microsoft.com/office/drawing/2014/main" id="{677D29F0-793E-45CB-8FE3-6120EEC3FFE8}"/>
              </a:ext>
            </a:extLst>
          </p:cNvPr>
          <p:cNvSpPr txBox="1">
            <a:spLocks/>
          </p:cNvSpPr>
          <p:nvPr/>
        </p:nvSpPr>
        <p:spPr>
          <a:xfrm>
            <a:off x="431396" y="157984"/>
            <a:ext cx="9356536" cy="1000212"/>
          </a:xfrm>
          <a:prstGeom prst="rect">
            <a:avLst/>
          </a:prstGeom>
        </p:spPr>
        <p:txBody>
          <a:bodyPr vert="horz" lIns="91440" tIns="45720" rIns="91440" bIns="45720" rtlCol="0" anchor="b">
            <a:normAutofit fontScale="60000" lnSpcReduction="20000"/>
          </a:bodyPr>
          <a:lstStyle>
            <a:lvl1pPr algn="ctr" defTabSz="1007943" rtl="0" eaLnBrk="1" latinLnBrk="0" hangingPunct="1">
              <a:lnSpc>
                <a:spcPct val="90000"/>
              </a:lnSpc>
              <a:spcBef>
                <a:spcPct val="0"/>
              </a:spcBef>
              <a:buNone/>
              <a:defRPr sz="5291"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marR="360000"/>
            <a:r>
              <a:rPr lang="pl-PL" sz="8000" dirty="0">
                <a:solidFill>
                  <a:srgbClr val="FFC000"/>
                </a:solidFill>
              </a:rPr>
              <a:t>Glitching </a:t>
            </a:r>
            <a:r>
              <a:rPr lang="pl-PL" sz="8000" dirty="0">
                <a:solidFill>
                  <a:srgbClr val="C00000"/>
                </a:solidFill>
              </a:rPr>
              <a:t>RISC-V</a:t>
            </a:r>
            <a:r>
              <a:rPr lang="pl-PL" sz="8000" dirty="0">
                <a:solidFill>
                  <a:srgbClr val="FFC000"/>
                </a:solidFill>
              </a:rPr>
              <a:t> chips:</a:t>
            </a:r>
            <a:endParaRPr lang="en-US" sz="8000" dirty="0">
              <a:solidFill>
                <a:srgbClr val="FFC000"/>
              </a:solidFill>
            </a:endParaRPr>
          </a:p>
        </p:txBody>
      </p:sp>
      <p:pic>
        <p:nvPicPr>
          <p:cNvPr id="9" name="Picture 8" descr="A close-up of a map&#10;&#10;Description automatically generated with medium confidence">
            <a:extLst>
              <a:ext uri="{FF2B5EF4-FFF2-40B4-BE49-F238E27FC236}">
                <a16:creationId xmlns:a16="http://schemas.microsoft.com/office/drawing/2014/main" id="{AF153EB5-4058-4407-B652-78022C7AA1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4279" y="2294534"/>
            <a:ext cx="3172066" cy="2215411"/>
          </a:xfrm>
          <a:prstGeom prst="rect">
            <a:avLst/>
          </a:prstGeom>
          <a:ln>
            <a:solidFill>
              <a:srgbClr val="00B0F0"/>
            </a:solidFill>
          </a:ln>
        </p:spPr>
      </p:pic>
      <p:sp>
        <p:nvSpPr>
          <p:cNvPr id="15" name="Rectangle 14">
            <a:extLst>
              <a:ext uri="{FF2B5EF4-FFF2-40B4-BE49-F238E27FC236}">
                <a16:creationId xmlns:a16="http://schemas.microsoft.com/office/drawing/2014/main" id="{046791BA-B60D-4661-8F43-01A078761551}"/>
              </a:ext>
            </a:extLst>
          </p:cNvPr>
          <p:cNvSpPr/>
          <p:nvPr/>
        </p:nvSpPr>
        <p:spPr>
          <a:xfrm>
            <a:off x="3454279" y="2294534"/>
            <a:ext cx="3172066" cy="2215411"/>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55E5175B-A7D5-43F2-8D31-83270EE821D5}"/>
              </a:ext>
            </a:extLst>
          </p:cNvPr>
          <p:cNvCxnSpPr>
            <a:cxnSpLocks/>
          </p:cNvCxnSpPr>
          <p:nvPr/>
        </p:nvCxnSpPr>
        <p:spPr>
          <a:xfrm flipV="1">
            <a:off x="3965849" y="1561894"/>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1198B2F-63CC-4BA6-AF64-96678667F3A1}"/>
              </a:ext>
            </a:extLst>
          </p:cNvPr>
          <p:cNvCxnSpPr>
            <a:cxnSpLocks/>
          </p:cNvCxnSpPr>
          <p:nvPr/>
        </p:nvCxnSpPr>
        <p:spPr>
          <a:xfrm flipV="1">
            <a:off x="4493895" y="1561894"/>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B85A395-FDE6-40A5-9992-F5ED0B817081}"/>
              </a:ext>
            </a:extLst>
          </p:cNvPr>
          <p:cNvCxnSpPr>
            <a:cxnSpLocks/>
          </p:cNvCxnSpPr>
          <p:nvPr/>
        </p:nvCxnSpPr>
        <p:spPr>
          <a:xfrm flipV="1">
            <a:off x="5031404" y="1561894"/>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41940AA-091E-4319-B7EE-8A1B2899FCD2}"/>
              </a:ext>
            </a:extLst>
          </p:cNvPr>
          <p:cNvCxnSpPr>
            <a:cxnSpLocks/>
          </p:cNvCxnSpPr>
          <p:nvPr/>
        </p:nvCxnSpPr>
        <p:spPr>
          <a:xfrm flipV="1">
            <a:off x="5556576" y="1561894"/>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C9DE9A9-95ED-499A-A5B7-4DBD74039BBE}"/>
              </a:ext>
            </a:extLst>
          </p:cNvPr>
          <p:cNvCxnSpPr>
            <a:cxnSpLocks/>
          </p:cNvCxnSpPr>
          <p:nvPr/>
        </p:nvCxnSpPr>
        <p:spPr>
          <a:xfrm flipV="1">
            <a:off x="6095330" y="1561894"/>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D974A54-7393-4191-AEC4-C56D6F8B7905}"/>
              </a:ext>
            </a:extLst>
          </p:cNvPr>
          <p:cNvCxnSpPr>
            <a:cxnSpLocks/>
          </p:cNvCxnSpPr>
          <p:nvPr/>
        </p:nvCxnSpPr>
        <p:spPr>
          <a:xfrm flipV="1">
            <a:off x="4009509" y="4658378"/>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C9702AB-5B19-4AF0-A842-721658877DA4}"/>
              </a:ext>
            </a:extLst>
          </p:cNvPr>
          <p:cNvCxnSpPr>
            <a:cxnSpLocks/>
          </p:cNvCxnSpPr>
          <p:nvPr/>
        </p:nvCxnSpPr>
        <p:spPr>
          <a:xfrm flipV="1">
            <a:off x="4537555" y="4658378"/>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71F9D8A-89AB-4888-B8FD-656EFDC0D4B5}"/>
              </a:ext>
            </a:extLst>
          </p:cNvPr>
          <p:cNvCxnSpPr>
            <a:cxnSpLocks/>
          </p:cNvCxnSpPr>
          <p:nvPr/>
        </p:nvCxnSpPr>
        <p:spPr>
          <a:xfrm flipV="1">
            <a:off x="5075064" y="4658378"/>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5659E64-B163-4117-B11A-933ED39CBD0D}"/>
              </a:ext>
            </a:extLst>
          </p:cNvPr>
          <p:cNvCxnSpPr>
            <a:cxnSpLocks/>
          </p:cNvCxnSpPr>
          <p:nvPr/>
        </p:nvCxnSpPr>
        <p:spPr>
          <a:xfrm flipV="1">
            <a:off x="5600236" y="4658378"/>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3988ABD-17BA-41C5-8E70-88E6FF2E8AFF}"/>
              </a:ext>
            </a:extLst>
          </p:cNvPr>
          <p:cNvCxnSpPr>
            <a:cxnSpLocks/>
          </p:cNvCxnSpPr>
          <p:nvPr/>
        </p:nvCxnSpPr>
        <p:spPr>
          <a:xfrm flipV="1">
            <a:off x="6138990" y="4658378"/>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908A54A-9671-48F2-B747-025EB21811DF}"/>
              </a:ext>
            </a:extLst>
          </p:cNvPr>
          <p:cNvCxnSpPr>
            <a:cxnSpLocks/>
          </p:cNvCxnSpPr>
          <p:nvPr/>
        </p:nvCxnSpPr>
        <p:spPr>
          <a:xfrm flipH="1">
            <a:off x="2530664" y="2668241"/>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781D4C1-26C2-4F43-BC55-3CAF49C541D8}"/>
              </a:ext>
            </a:extLst>
          </p:cNvPr>
          <p:cNvCxnSpPr>
            <a:cxnSpLocks/>
          </p:cNvCxnSpPr>
          <p:nvPr/>
        </p:nvCxnSpPr>
        <p:spPr>
          <a:xfrm flipH="1">
            <a:off x="2529840" y="4160113"/>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27AA9B-39C4-42FB-9AC2-C0C693A1596A}"/>
              </a:ext>
            </a:extLst>
          </p:cNvPr>
          <p:cNvCxnSpPr>
            <a:cxnSpLocks/>
          </p:cNvCxnSpPr>
          <p:nvPr/>
        </p:nvCxnSpPr>
        <p:spPr>
          <a:xfrm flipH="1">
            <a:off x="2529837" y="3018349"/>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54B21D6-EA4B-43E2-9F2C-4A7224E2583D}"/>
              </a:ext>
            </a:extLst>
          </p:cNvPr>
          <p:cNvCxnSpPr>
            <a:cxnSpLocks/>
          </p:cNvCxnSpPr>
          <p:nvPr/>
        </p:nvCxnSpPr>
        <p:spPr>
          <a:xfrm flipH="1">
            <a:off x="2529837" y="3402239"/>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377C433-5961-468D-909F-C77C15E34D4C}"/>
              </a:ext>
            </a:extLst>
          </p:cNvPr>
          <p:cNvCxnSpPr>
            <a:cxnSpLocks/>
          </p:cNvCxnSpPr>
          <p:nvPr/>
        </p:nvCxnSpPr>
        <p:spPr>
          <a:xfrm flipH="1">
            <a:off x="2529837" y="3779837"/>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8544A36-6DB1-4882-B6B7-F2B4E322733B}"/>
              </a:ext>
            </a:extLst>
          </p:cNvPr>
          <p:cNvCxnSpPr>
            <a:cxnSpLocks/>
          </p:cNvCxnSpPr>
          <p:nvPr/>
        </p:nvCxnSpPr>
        <p:spPr>
          <a:xfrm flipH="1">
            <a:off x="6785507" y="2664134"/>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BD202A-AB1A-4F98-A459-220EDC5DECBF}"/>
              </a:ext>
            </a:extLst>
          </p:cNvPr>
          <p:cNvCxnSpPr>
            <a:cxnSpLocks/>
          </p:cNvCxnSpPr>
          <p:nvPr/>
        </p:nvCxnSpPr>
        <p:spPr>
          <a:xfrm flipH="1">
            <a:off x="6784683" y="4156006"/>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76BD344-84B3-4EB6-BCD8-C1F53E3FFED2}"/>
              </a:ext>
            </a:extLst>
          </p:cNvPr>
          <p:cNvCxnSpPr>
            <a:cxnSpLocks/>
          </p:cNvCxnSpPr>
          <p:nvPr/>
        </p:nvCxnSpPr>
        <p:spPr>
          <a:xfrm flipH="1">
            <a:off x="6784680" y="3014242"/>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4EB60A3-EE46-401E-B9C9-BD5EB01DB044}"/>
              </a:ext>
            </a:extLst>
          </p:cNvPr>
          <p:cNvCxnSpPr>
            <a:cxnSpLocks/>
          </p:cNvCxnSpPr>
          <p:nvPr/>
        </p:nvCxnSpPr>
        <p:spPr>
          <a:xfrm flipH="1">
            <a:off x="6784680" y="3398132"/>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90DB1B-1182-4057-8438-B8FBF82F8B62}"/>
              </a:ext>
            </a:extLst>
          </p:cNvPr>
          <p:cNvCxnSpPr>
            <a:cxnSpLocks/>
          </p:cNvCxnSpPr>
          <p:nvPr/>
        </p:nvCxnSpPr>
        <p:spPr>
          <a:xfrm flipH="1">
            <a:off x="6784680" y="3775730"/>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76" name="Date Placeholder 1">
            <a:extLst>
              <a:ext uri="{FF2B5EF4-FFF2-40B4-BE49-F238E27FC236}">
                <a16:creationId xmlns:a16="http://schemas.microsoft.com/office/drawing/2014/main" id="{CBB4E81B-B698-4390-B896-02D89872B0D4}"/>
              </a:ext>
            </a:extLst>
          </p:cNvPr>
          <p:cNvSpPr txBox="1">
            <a:spLocks/>
          </p:cNvSpPr>
          <p:nvPr/>
        </p:nvSpPr>
        <p:spPr>
          <a:xfrm>
            <a:off x="6518792" y="4638441"/>
            <a:ext cx="2603040" cy="1000212"/>
          </a:xfrm>
          <a:prstGeom prst="rect">
            <a:avLst/>
          </a:prstGeom>
        </p:spPr>
        <p:txBody>
          <a:bodyPr vert="horz" lIns="91440" tIns="45720" rIns="91440" bIns="45720" rtlCol="0" anchor="ctr"/>
          <a:lstStyle>
            <a:defPPr>
              <a:defRPr lang="en-US"/>
            </a:defPPr>
            <a:lvl1pPr marL="0" algn="r" defTabSz="914400" rtl="0" eaLnBrk="1" latinLnBrk="0" hangingPunct="1">
              <a:defRPr sz="1102"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pl-PL" sz="1800" dirty="0"/>
              <a:t>Alex Matrosov</a:t>
            </a:r>
            <a:br>
              <a:rPr lang="pl-PL" sz="1800" dirty="0"/>
            </a:br>
            <a:r>
              <a:rPr lang="en-US" sz="1800" dirty="0"/>
              <a:t>Twitter</a:t>
            </a:r>
            <a:r>
              <a:rPr lang="pl-PL" sz="1800" dirty="0"/>
              <a:t>: </a:t>
            </a:r>
            <a:r>
              <a:rPr lang="pl-PL" sz="1800" dirty="0">
                <a:hlinkClick r:id="rId5"/>
              </a:rPr>
              <a:t>@matrosov</a:t>
            </a:r>
            <a:endParaRPr lang="pl-PL" sz="1800" dirty="0"/>
          </a:p>
        </p:txBody>
      </p:sp>
      <p:pic>
        <p:nvPicPr>
          <p:cNvPr id="3" name="Picture 3">
            <a:extLst>
              <a:ext uri="{FF2B5EF4-FFF2-40B4-BE49-F238E27FC236}">
                <a16:creationId xmlns:a16="http://schemas.microsoft.com/office/drawing/2014/main" id="{C4D6933C-2693-40EB-9D6A-CE259044AEB7}"/>
              </a:ext>
            </a:extLst>
          </p:cNvPr>
          <p:cNvPicPr>
            <a:picLocks noChangeAspect="1"/>
          </p:cNvPicPr>
          <p:nvPr/>
        </p:nvPicPr>
        <p:blipFill>
          <a:blip r:embed="rId6"/>
          <a:stretch>
            <a:fillRect/>
          </a:stretch>
        </p:blipFill>
        <p:spPr>
          <a:xfrm>
            <a:off x="4763655" y="3516872"/>
            <a:ext cx="805650" cy="7838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en-US" dirty="0">
                <a:solidFill>
                  <a:schemeClr val="accent1"/>
                </a:solidFill>
              </a:rPr>
              <a:t>/</a:t>
            </a:r>
            <a:r>
              <a:rPr lang="en-US" dirty="0" err="1">
                <a:solidFill>
                  <a:schemeClr val="accent1"/>
                </a:solidFill>
              </a:rPr>
              <a:t>usr</a:t>
            </a:r>
            <a:r>
              <a:rPr lang="en-US" dirty="0">
                <a:solidFill>
                  <a:schemeClr val="accent1"/>
                </a:solidFill>
              </a:rPr>
              <a:t>/bin/who</a:t>
            </a:r>
            <a:r>
              <a:rPr lang="pl-PL" dirty="0">
                <a:solidFill>
                  <a:srgbClr val="FFC000"/>
                </a:solidFill>
              </a:rPr>
              <a:t>WE</a:t>
            </a:r>
            <a:r>
              <a:rPr lang="pl-PL" dirty="0">
                <a:solidFill>
                  <a:schemeClr val="tx1">
                    <a:lumMod val="95000"/>
                  </a:schemeClr>
                </a:solidFill>
              </a:rPr>
              <a:t>ARE</a:t>
            </a:r>
            <a:endParaRPr lang="en-US" dirty="0">
              <a:solidFill>
                <a:schemeClr val="tx1">
                  <a:lumMod val="95000"/>
                </a:schemeClr>
              </a:solidFill>
            </a:endParaRPr>
          </a:p>
        </p:txBody>
      </p:sp>
      <p:sp>
        <p:nvSpPr>
          <p:cNvPr id="3" name="Text Placeholder 2"/>
          <p:cNvSpPr txBox="1">
            <a:spLocks noGrp="1"/>
          </p:cNvSpPr>
          <p:nvPr>
            <p:ph idx="1"/>
          </p:nvPr>
        </p:nvSpPr>
        <p:spPr>
          <a:xfrm>
            <a:off x="307095" y="3263580"/>
            <a:ext cx="2895600" cy="463781"/>
          </a:xfrm>
        </p:spPr>
        <p:txBody>
          <a:bodyPr wrap="square">
            <a:spAutoFit/>
          </a:bodyPr>
          <a:lstStyle/>
          <a:p>
            <a:pPr marL="0" lvl="0" indent="0" algn="ctr">
              <a:buNone/>
            </a:pPr>
            <a:r>
              <a:rPr lang="en-US" dirty="0"/>
              <a:t>Adam ‘</a:t>
            </a:r>
            <a:r>
              <a:rPr lang="en-US" dirty="0">
                <a:solidFill>
                  <a:srgbClr val="C00000"/>
                </a:solidFill>
              </a:rPr>
              <a:t>pi3</a:t>
            </a:r>
            <a:r>
              <a:rPr lang="en-US" dirty="0"/>
              <a:t>’ Zabrocki</a:t>
            </a:r>
            <a:r>
              <a:rPr lang="pl-PL" dirty="0"/>
              <a:t>:</a:t>
            </a:r>
            <a:endParaRPr lang="en-US" dirty="0"/>
          </a:p>
        </p:txBody>
      </p:sp>
      <p:sp>
        <p:nvSpPr>
          <p:cNvPr id="4" name="Slide Number Placeholder 3"/>
          <p:cNvSpPr>
            <a:spLocks noGrp="1"/>
          </p:cNvSpPr>
          <p:nvPr>
            <p:ph type="sldNum" sz="quarter" idx="12"/>
          </p:nvPr>
        </p:nvSpPr>
        <p:spPr>
          <a:xfrm>
            <a:off x="8727825" y="7083290"/>
            <a:ext cx="623049" cy="402483"/>
          </a:xfrm>
        </p:spPr>
        <p:txBody>
          <a:bodyPr/>
          <a:lstStyle/>
          <a:p>
            <a:pPr lvl="0"/>
            <a:fld id="{40395656-0A0C-44A5-BAB8-406A4B9BBCA4}" type="slidenum">
              <a:rPr/>
              <a:t>2</a:t>
            </a:fld>
            <a:endParaRPr lang="en-GB"/>
          </a:p>
        </p:txBody>
      </p:sp>
      <p:sp>
        <p:nvSpPr>
          <p:cNvPr id="12" name="TextBox 11"/>
          <p:cNvSpPr txBox="1"/>
          <p:nvPr/>
        </p:nvSpPr>
        <p:spPr>
          <a:xfrm>
            <a:off x="508921" y="3943969"/>
            <a:ext cx="4883567" cy="3139321"/>
          </a:xfrm>
          <a:prstGeom prst="rect">
            <a:avLst/>
          </a:prstGeom>
          <a:noFill/>
        </p:spPr>
        <p:txBody>
          <a:bodyPr wrap="square" rtlCol="0">
            <a:spAutoFit/>
          </a:bodyPr>
          <a:lstStyle/>
          <a:p>
            <a:pPr marL="285750" indent="-285750">
              <a:buFont typeface="Arial" panose="020B0604020202020204" pitchFamily="34" charset="0"/>
              <a:buChar char="•"/>
            </a:pPr>
            <a:r>
              <a:rPr lang="pl-PL" dirty="0"/>
              <a:t>Phrack author</a:t>
            </a:r>
          </a:p>
          <a:p>
            <a:pPr marL="285750" indent="-285750">
              <a:buFont typeface="Arial" panose="020B0604020202020204" pitchFamily="34" charset="0"/>
              <a:buChar char="•"/>
            </a:pPr>
            <a:r>
              <a:rPr lang="pl-PL" dirty="0"/>
              <a:t>Bughunter (Hyper-V, </a:t>
            </a:r>
            <a:r>
              <a:rPr lang="en-US" dirty="0"/>
              <a:t>Intel/NVIDIA</a:t>
            </a:r>
            <a:r>
              <a:rPr lang="pl-PL" dirty="0"/>
              <a:t> vGPU, Linux kernel, OpenSSH, Apache, gcc SSP / ProPolice, Apache, xpdf, more…) – CVEs</a:t>
            </a:r>
          </a:p>
          <a:p>
            <a:pPr marL="285750" indent="-285750">
              <a:buFont typeface="Arial" panose="020B0604020202020204" pitchFamily="34" charset="0"/>
              <a:buChar char="•"/>
            </a:pPr>
            <a:r>
              <a:rPr lang="en-US" dirty="0"/>
              <a:t>The ERESI Reverse Engineering Software Interface</a:t>
            </a:r>
          </a:p>
          <a:p>
            <a:pPr marL="285750" indent="-285750">
              <a:buFont typeface="Arial" panose="020B0604020202020204" pitchFamily="34" charset="0"/>
              <a:buChar char="•"/>
            </a:pPr>
            <a:r>
              <a:rPr lang="pl-PL" dirty="0"/>
              <a:t>Creator and a developer of Linux Kernel Runtime Guard (LKRG)</a:t>
            </a:r>
          </a:p>
          <a:p>
            <a:pPr marL="285750" indent="-285750">
              <a:buFont typeface="Arial" panose="020B0604020202020204" pitchFamily="34" charset="0"/>
              <a:buChar char="•"/>
            </a:pPr>
            <a:r>
              <a:rPr lang="pl-PL" dirty="0"/>
              <a:t>More…</a:t>
            </a:r>
          </a:p>
          <a:p>
            <a:pPr marL="285750" indent="-285750">
              <a:buFont typeface="Arial" panose="020B0604020202020204" pitchFamily="34" charset="0"/>
              <a:buChar char="•"/>
            </a:pPr>
            <a:endParaRPr lang="pl-PL" dirty="0"/>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D5CFE2DB-B4B3-48B5-A0D5-E477B09241CC}"/>
              </a:ext>
            </a:extLst>
          </p:cNvPr>
          <p:cNvSpPr txBox="1"/>
          <p:nvPr/>
        </p:nvSpPr>
        <p:spPr>
          <a:xfrm>
            <a:off x="2150015" y="1683232"/>
            <a:ext cx="2406058" cy="1477328"/>
          </a:xfrm>
          <a:prstGeom prst="rect">
            <a:avLst/>
          </a:prstGeom>
          <a:noFill/>
        </p:spPr>
        <p:txBody>
          <a:bodyPr wrap="square" rtlCol="0">
            <a:spAutoFit/>
          </a:bodyPr>
          <a:lstStyle/>
          <a:p>
            <a:pPr lvl="0"/>
            <a:r>
              <a:rPr lang="en-US" dirty="0"/>
              <a:t>Private contact:</a:t>
            </a:r>
            <a:endParaRPr lang="en-US" dirty="0">
              <a:hlinkClick r:id="rId3"/>
            </a:endParaRPr>
          </a:p>
          <a:p>
            <a:pPr lvl="0"/>
            <a:endParaRPr lang="en-US" dirty="0">
              <a:hlinkClick r:id="rId3"/>
            </a:endParaRPr>
          </a:p>
          <a:p>
            <a:pPr lvl="0"/>
            <a:r>
              <a:rPr lang="en-US" dirty="0">
                <a:hlinkClick r:id="rId3"/>
              </a:rPr>
              <a:t>http://pi3.com.pl</a:t>
            </a:r>
            <a:endParaRPr lang="en-US" dirty="0"/>
          </a:p>
          <a:p>
            <a:pPr lvl="0"/>
            <a:r>
              <a:rPr lang="en-US" dirty="0">
                <a:hlinkClick r:id="rId4"/>
              </a:rPr>
              <a:t>pi3@pi3.com.pl</a:t>
            </a:r>
            <a:endParaRPr lang="en-US" dirty="0"/>
          </a:p>
          <a:p>
            <a:pPr lvl="0"/>
            <a:r>
              <a:rPr lang="en-US" sz="1800" dirty="0"/>
              <a:t>Twitter</a:t>
            </a:r>
            <a:r>
              <a:rPr lang="pl-PL" sz="1800" dirty="0"/>
              <a:t>: </a:t>
            </a:r>
            <a:r>
              <a:rPr lang="pl-PL" sz="1800" dirty="0">
                <a:hlinkClick r:id="rId5"/>
              </a:rPr>
              <a:t>@Adam_pi3</a:t>
            </a:r>
            <a:endParaRPr lang="en-US" dirty="0"/>
          </a:p>
        </p:txBody>
      </p:sp>
      <p:sp>
        <p:nvSpPr>
          <p:cNvPr id="9" name="Text Placeholder 2">
            <a:extLst>
              <a:ext uri="{FF2B5EF4-FFF2-40B4-BE49-F238E27FC236}">
                <a16:creationId xmlns:a16="http://schemas.microsoft.com/office/drawing/2014/main" id="{E7EDD718-CBE0-4255-9650-ADB84AB3964F}"/>
              </a:ext>
            </a:extLst>
          </p:cNvPr>
          <p:cNvSpPr txBox="1">
            <a:spLocks/>
          </p:cNvSpPr>
          <p:nvPr/>
        </p:nvSpPr>
        <p:spPr>
          <a:xfrm>
            <a:off x="5325746" y="3263580"/>
            <a:ext cx="2823908"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ctr">
              <a:buFont typeface="Arial" panose="020B0604020202020204" pitchFamily="34" charset="0"/>
              <a:buNone/>
            </a:pPr>
            <a:r>
              <a:rPr lang="pl-PL" dirty="0"/>
              <a:t>Alex Matrosov:</a:t>
            </a:r>
            <a:endParaRPr lang="en-US" dirty="0"/>
          </a:p>
        </p:txBody>
      </p:sp>
      <p:pic>
        <p:nvPicPr>
          <p:cNvPr id="11" name="Picture 6">
            <a:extLst>
              <a:ext uri="{FF2B5EF4-FFF2-40B4-BE49-F238E27FC236}">
                <a16:creationId xmlns:a16="http://schemas.microsoft.com/office/drawing/2014/main" id="{A6E3E7F6-4313-4884-ACD4-EDABEFB40B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922" y="1671277"/>
            <a:ext cx="1501239" cy="15012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a:extLst>
              <a:ext uri="{FF2B5EF4-FFF2-40B4-BE49-F238E27FC236}">
                <a16:creationId xmlns:a16="http://schemas.microsoft.com/office/drawing/2014/main" id="{C08727C0-7C5B-4050-BA19-F2443F7925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8270" y="1765036"/>
            <a:ext cx="1400175" cy="140017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EC0343B-2E41-404F-9A78-0808D90904A2}"/>
              </a:ext>
            </a:extLst>
          </p:cNvPr>
          <p:cNvSpPr txBox="1"/>
          <p:nvPr/>
        </p:nvSpPr>
        <p:spPr>
          <a:xfrm>
            <a:off x="7071892" y="1733764"/>
            <a:ext cx="2961793" cy="1200329"/>
          </a:xfrm>
          <a:prstGeom prst="rect">
            <a:avLst/>
          </a:prstGeom>
          <a:noFill/>
        </p:spPr>
        <p:txBody>
          <a:bodyPr wrap="square" lIns="91440" tIns="45720" rIns="91440" bIns="45720" rtlCol="0" anchor="t">
            <a:spAutoFit/>
          </a:bodyPr>
          <a:lstStyle/>
          <a:p>
            <a:pPr lvl="0"/>
            <a:r>
              <a:rPr lang="en-US" dirty="0"/>
              <a:t>Private contact:</a:t>
            </a:r>
            <a:endParaRPr lang="en-US" dirty="0">
              <a:hlinkClick r:id="rId3"/>
            </a:endParaRPr>
          </a:p>
          <a:p>
            <a:pPr lvl="0"/>
            <a:endParaRPr lang="en-US" dirty="0">
              <a:hlinkClick r:id="rId3"/>
            </a:endParaRPr>
          </a:p>
          <a:p>
            <a:r>
              <a:rPr lang="en-US" dirty="0">
                <a:ea typeface="+mn-lt"/>
                <a:cs typeface="+mn-lt"/>
                <a:hlinkClick r:id="rId8"/>
              </a:rPr>
              <a:t>github.com/binarly-io</a:t>
            </a:r>
            <a:endParaRPr lang="en-US"/>
          </a:p>
          <a:p>
            <a:pPr lvl="0"/>
            <a:r>
              <a:rPr lang="en-US" sz="1800" dirty="0"/>
              <a:t>Twitter</a:t>
            </a:r>
            <a:r>
              <a:rPr lang="pl-PL" sz="1800" dirty="0"/>
              <a:t>: </a:t>
            </a:r>
            <a:r>
              <a:rPr lang="pl-PL" sz="1800" dirty="0">
                <a:hlinkClick r:id="rId9"/>
              </a:rPr>
              <a:t>@matrosov</a:t>
            </a:r>
            <a:endParaRPr lang="en-US" dirty="0"/>
          </a:p>
        </p:txBody>
      </p:sp>
      <p:sp>
        <p:nvSpPr>
          <p:cNvPr id="16" name="TextBox 15">
            <a:extLst>
              <a:ext uri="{FF2B5EF4-FFF2-40B4-BE49-F238E27FC236}">
                <a16:creationId xmlns:a16="http://schemas.microsoft.com/office/drawing/2014/main" id="{CBE356AC-5749-4F2C-820C-5DF5A1FAB2A3}"/>
              </a:ext>
            </a:extLst>
          </p:cNvPr>
          <p:cNvSpPr txBox="1"/>
          <p:nvPr/>
        </p:nvSpPr>
        <p:spPr>
          <a:xfrm>
            <a:off x="5667867" y="3941894"/>
            <a:ext cx="4734034" cy="258532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t>Security </a:t>
            </a:r>
            <a:r>
              <a:rPr lang="en-US" dirty="0" err="1"/>
              <a:t>REsearcher</a:t>
            </a:r>
            <a:r>
              <a:rPr lang="en-US" dirty="0"/>
              <a:t> since 1997</a:t>
            </a:r>
          </a:p>
          <a:p>
            <a:pPr marL="285750" indent="-285750">
              <a:buFont typeface="Arial" panose="020B0604020202020204" pitchFamily="34" charset="0"/>
              <a:buChar char="•"/>
            </a:pPr>
            <a:r>
              <a:rPr lang="en-US" dirty="0"/>
              <a:t>Conference speaker and trainer</a:t>
            </a:r>
          </a:p>
          <a:p>
            <a:pPr marL="285750" indent="-285750">
              <a:buFont typeface="Arial" panose="020B0604020202020204" pitchFamily="34" charset="0"/>
              <a:buChar char="•"/>
            </a:pPr>
            <a:r>
              <a:rPr lang="en-US" dirty="0"/>
              <a:t>Breaking all shades of firmware</a:t>
            </a:r>
          </a:p>
          <a:p>
            <a:pPr marL="285750" indent="-285750">
              <a:buFont typeface="Arial" panose="020B0604020202020204" pitchFamily="34" charset="0"/>
              <a:buChar char="•"/>
            </a:pPr>
            <a:r>
              <a:rPr lang="en-US" dirty="0" err="1"/>
              <a:t>codeXplorer</a:t>
            </a:r>
            <a:r>
              <a:rPr lang="en-US" dirty="0"/>
              <a:t> &amp; </a:t>
            </a:r>
            <a:r>
              <a:rPr lang="en-US" dirty="0" err="1"/>
              <a:t>efiXplorer</a:t>
            </a:r>
            <a:r>
              <a:rPr lang="en-US" dirty="0"/>
              <a:t> IDA plugins</a:t>
            </a:r>
          </a:p>
          <a:p>
            <a:pPr marL="285750" indent="-285750">
              <a:buFont typeface="Arial" panose="020B0604020202020204" pitchFamily="34" charset="0"/>
              <a:buChar char="•"/>
            </a:pPr>
            <a:r>
              <a:rPr lang="en-US" dirty="0"/>
              <a:t>Author "</a:t>
            </a:r>
            <a:r>
              <a:rPr lang="en-US" dirty="0" err="1"/>
              <a:t>Bootkits</a:t>
            </a:r>
            <a:r>
              <a:rPr lang="en-US" dirty="0"/>
              <a:t> and Rootkits" book</a:t>
            </a:r>
          </a:p>
          <a:p>
            <a:pPr marL="285750" indent="-285750">
              <a:buFont typeface="Arial" panose="020B0604020202020204" pitchFamily="34" charset="0"/>
              <a:buChar char="•"/>
            </a:pPr>
            <a:r>
              <a:rPr lang="en-US" dirty="0"/>
              <a:t>Founder of </a:t>
            </a:r>
            <a:r>
              <a:rPr lang="en-US" dirty="0" err="1"/>
              <a:t>Binarly</a:t>
            </a:r>
            <a:r>
              <a:rPr lang="en-US" dirty="0"/>
              <a:t>, Inc.</a:t>
            </a:r>
            <a:endParaRPr lang="en-US" dirty="0">
              <a:ea typeface="+mn-lt"/>
              <a:cs typeface="+mn-lt"/>
            </a:endParaRPr>
          </a:p>
          <a:p>
            <a:pPr marL="285750" indent="-285750">
              <a:buFont typeface="Arial" panose="020B0604020202020204" pitchFamily="34" charset="0"/>
              <a:buChar char="•"/>
            </a:pPr>
            <a:r>
              <a:rPr lang="en-US" dirty="0"/>
              <a:t>More...</a:t>
            </a:r>
            <a:endParaRPr lang="pl-PL" dirty="0"/>
          </a:p>
          <a:p>
            <a:pPr marL="285750" indent="-285750">
              <a:buFont typeface="Arial" panose="020B0604020202020204" pitchFamily="34" charset="0"/>
              <a:buChar char="•"/>
            </a:pPr>
            <a:endParaRPr lang="pl-PL" dirty="0"/>
          </a:p>
          <a:p>
            <a:pPr marL="285750" indent="-285750">
              <a:buFont typeface="Arial" panose="020B0604020202020204" pitchFamily="34" charset="0"/>
              <a:buChar char="•"/>
            </a:pPr>
            <a:endParaRPr lang="en-US" dirty="0"/>
          </a:p>
        </p:txBody>
      </p:sp>
      <p:pic>
        <p:nvPicPr>
          <p:cNvPr id="7" name="Picture 6" descr="Logo&#10;&#10;Description automatically generated">
            <a:extLst>
              <a:ext uri="{FF2B5EF4-FFF2-40B4-BE49-F238E27FC236}">
                <a16:creationId xmlns:a16="http://schemas.microsoft.com/office/drawing/2014/main" id="{7DBD18AA-FD45-4416-B8EC-3A21A36C6A0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61657" y="5625304"/>
            <a:ext cx="2387509" cy="1991282"/>
          </a:xfrm>
          <a:prstGeom prst="rect">
            <a:avLst/>
          </a:prstGeom>
        </p:spPr>
      </p:pic>
    </p:spTree>
    <p:extLst>
      <p:ext uri="{BB962C8B-B14F-4D97-AF65-F5344CB8AC3E}">
        <p14:creationId xmlns:p14="http://schemas.microsoft.com/office/powerpoint/2010/main" val="244106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3</a:t>
            </a:fld>
            <a:endParaRPr lang="en-GB"/>
          </a:p>
        </p:txBody>
      </p:sp>
      <p:sp>
        <p:nvSpPr>
          <p:cNvPr id="14" name="Text Placeholder 2">
            <a:extLst>
              <a:ext uri="{FF2B5EF4-FFF2-40B4-BE49-F238E27FC236}">
                <a16:creationId xmlns:a16="http://schemas.microsoft.com/office/drawing/2014/main" id="{450B5A00-E262-4E79-8547-2CA9AF3F8585}"/>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15" name="Text Placeholder 2">
            <a:extLst>
              <a:ext uri="{FF2B5EF4-FFF2-40B4-BE49-F238E27FC236}">
                <a16:creationId xmlns:a16="http://schemas.microsoft.com/office/drawing/2014/main" id="{005AE3A6-DE0A-49BF-AD52-B30266594E8D}"/>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spTree>
    <p:extLst>
      <p:ext uri="{BB962C8B-B14F-4D97-AF65-F5344CB8AC3E}">
        <p14:creationId xmlns:p14="http://schemas.microsoft.com/office/powerpoint/2010/main" val="3743097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4</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57" name="Text Placeholder 2">
            <a:extLst>
              <a:ext uri="{FF2B5EF4-FFF2-40B4-BE49-F238E27FC236}">
                <a16:creationId xmlns:a16="http://schemas.microsoft.com/office/drawing/2014/main" id="{29F15E2D-BEF3-4A46-BC3A-60ED2A97B9F6}"/>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58" name="Text Placeholder 2">
            <a:extLst>
              <a:ext uri="{FF2B5EF4-FFF2-40B4-BE49-F238E27FC236}">
                <a16:creationId xmlns:a16="http://schemas.microsoft.com/office/drawing/2014/main" id="{6C6BAA8B-CE37-4F7C-951F-6A12218E002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spTree>
    <p:extLst>
      <p:ext uri="{BB962C8B-B14F-4D97-AF65-F5344CB8AC3E}">
        <p14:creationId xmlns:p14="http://schemas.microsoft.com/office/powerpoint/2010/main" val="253073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par>
                                <p:cTn id="17" presetID="3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style.rotation</p:attrName>
                                        </p:attrNameLst>
                                      </p:cBhvr>
                                      <p:tavLst>
                                        <p:tav tm="0">
                                          <p:val>
                                            <p:fltVal val="90"/>
                                          </p:val>
                                        </p:tav>
                                        <p:tav tm="100000">
                                          <p:val>
                                            <p:fltVal val="0"/>
                                          </p:val>
                                        </p:tav>
                                      </p:tavLst>
                                    </p:anim>
                                    <p:animEffect transition="in" filter="fade">
                                      <p:cBhvr>
                                        <p:cTn id="22" dur="1000"/>
                                        <p:tgtEl>
                                          <p:spTgt spid="8"/>
                                        </p:tgtEl>
                                      </p:cBhvr>
                                    </p:animEffect>
                                  </p:childTnLst>
                                </p:cTn>
                              </p:par>
                              <p:par>
                                <p:cTn id="23" presetID="3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fltVal val="0"/>
                                          </p:val>
                                        </p:tav>
                                        <p:tav tm="100000">
                                          <p:val>
                                            <p:strVal val="#ppt_w"/>
                                          </p:val>
                                        </p:tav>
                                      </p:tavLst>
                                    </p:anim>
                                    <p:anim calcmode="lin" valueType="num">
                                      <p:cBhvr>
                                        <p:cTn id="26" dur="1000" fill="hold"/>
                                        <p:tgtEl>
                                          <p:spTgt spid="9"/>
                                        </p:tgtEl>
                                        <p:attrNameLst>
                                          <p:attrName>ppt_h</p:attrName>
                                        </p:attrNameLst>
                                      </p:cBhvr>
                                      <p:tavLst>
                                        <p:tav tm="0">
                                          <p:val>
                                            <p:fltVal val="0"/>
                                          </p:val>
                                        </p:tav>
                                        <p:tav tm="100000">
                                          <p:val>
                                            <p:strVal val="#ppt_h"/>
                                          </p:val>
                                        </p:tav>
                                      </p:tavLst>
                                    </p:anim>
                                    <p:anim calcmode="lin" valueType="num">
                                      <p:cBhvr>
                                        <p:cTn id="27" dur="1000" fill="hold"/>
                                        <p:tgtEl>
                                          <p:spTgt spid="9"/>
                                        </p:tgtEl>
                                        <p:attrNameLst>
                                          <p:attrName>style.rotation</p:attrName>
                                        </p:attrNameLst>
                                      </p:cBhvr>
                                      <p:tavLst>
                                        <p:tav tm="0">
                                          <p:val>
                                            <p:fltVal val="90"/>
                                          </p:val>
                                        </p:tav>
                                        <p:tav tm="100000">
                                          <p:val>
                                            <p:fltVal val="0"/>
                                          </p:val>
                                        </p:tav>
                                      </p:tavLst>
                                    </p:anim>
                                    <p:animEffect transition="in" filter="fade">
                                      <p:cBhvr>
                                        <p:cTn id="28" dur="1000"/>
                                        <p:tgtEl>
                                          <p:spTgt spid="9"/>
                                        </p:tgtEl>
                                      </p:cBhvr>
                                    </p:animEffect>
                                  </p:childTnLst>
                                </p:cTn>
                              </p:par>
                              <p:par>
                                <p:cTn id="29" presetID="3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ppt_w</p:attrName>
                                        </p:attrNameLst>
                                      </p:cBhvr>
                                      <p:tavLst>
                                        <p:tav tm="0">
                                          <p:val>
                                            <p:fltVal val="0"/>
                                          </p:val>
                                        </p:tav>
                                        <p:tav tm="100000">
                                          <p:val>
                                            <p:strVal val="#ppt_w"/>
                                          </p:val>
                                        </p:tav>
                                      </p:tavLst>
                                    </p:anim>
                                    <p:anim calcmode="lin" valueType="num">
                                      <p:cBhvr>
                                        <p:cTn id="32" dur="1000" fill="hold"/>
                                        <p:tgtEl>
                                          <p:spTgt spid="10"/>
                                        </p:tgtEl>
                                        <p:attrNameLst>
                                          <p:attrName>ppt_h</p:attrName>
                                        </p:attrNameLst>
                                      </p:cBhvr>
                                      <p:tavLst>
                                        <p:tav tm="0">
                                          <p:val>
                                            <p:fltVal val="0"/>
                                          </p:val>
                                        </p:tav>
                                        <p:tav tm="100000">
                                          <p:val>
                                            <p:strVal val="#ppt_h"/>
                                          </p:val>
                                        </p:tav>
                                      </p:tavLst>
                                    </p:anim>
                                    <p:anim calcmode="lin" valueType="num">
                                      <p:cBhvr>
                                        <p:cTn id="33" dur="1000" fill="hold"/>
                                        <p:tgtEl>
                                          <p:spTgt spid="10"/>
                                        </p:tgtEl>
                                        <p:attrNameLst>
                                          <p:attrName>style.rotation</p:attrName>
                                        </p:attrNameLst>
                                      </p:cBhvr>
                                      <p:tavLst>
                                        <p:tav tm="0">
                                          <p:val>
                                            <p:fltVal val="90"/>
                                          </p:val>
                                        </p:tav>
                                        <p:tav tm="100000">
                                          <p:val>
                                            <p:fltVal val="0"/>
                                          </p:val>
                                        </p:tav>
                                      </p:tavLst>
                                    </p:anim>
                                    <p:animEffect transition="in" filter="fade">
                                      <p:cBhvr>
                                        <p:cTn id="34" dur="1000"/>
                                        <p:tgtEl>
                                          <p:spTgt spid="10"/>
                                        </p:tgtEl>
                                      </p:cBhvr>
                                    </p:animEffect>
                                  </p:childTnLst>
                                </p:cTn>
                              </p:par>
                              <p:par>
                                <p:cTn id="35" presetID="3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par>
                                <p:cTn id="41" presetID="3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000" fill="hold"/>
                                        <p:tgtEl>
                                          <p:spTgt spid="12"/>
                                        </p:tgtEl>
                                        <p:attrNameLst>
                                          <p:attrName>ppt_w</p:attrName>
                                        </p:attrNameLst>
                                      </p:cBhvr>
                                      <p:tavLst>
                                        <p:tav tm="0">
                                          <p:val>
                                            <p:fltVal val="0"/>
                                          </p:val>
                                        </p:tav>
                                        <p:tav tm="100000">
                                          <p:val>
                                            <p:strVal val="#ppt_w"/>
                                          </p:val>
                                        </p:tav>
                                      </p:tavLst>
                                    </p:anim>
                                    <p:anim calcmode="lin" valueType="num">
                                      <p:cBhvr>
                                        <p:cTn id="44" dur="1000" fill="hold"/>
                                        <p:tgtEl>
                                          <p:spTgt spid="12"/>
                                        </p:tgtEl>
                                        <p:attrNameLst>
                                          <p:attrName>ppt_h</p:attrName>
                                        </p:attrNameLst>
                                      </p:cBhvr>
                                      <p:tavLst>
                                        <p:tav tm="0">
                                          <p:val>
                                            <p:fltVal val="0"/>
                                          </p:val>
                                        </p:tav>
                                        <p:tav tm="100000">
                                          <p:val>
                                            <p:strVal val="#ppt_h"/>
                                          </p:val>
                                        </p:tav>
                                      </p:tavLst>
                                    </p:anim>
                                    <p:anim calcmode="lin" valueType="num">
                                      <p:cBhvr>
                                        <p:cTn id="45" dur="1000" fill="hold"/>
                                        <p:tgtEl>
                                          <p:spTgt spid="12"/>
                                        </p:tgtEl>
                                        <p:attrNameLst>
                                          <p:attrName>style.rotation</p:attrName>
                                        </p:attrNameLst>
                                      </p:cBhvr>
                                      <p:tavLst>
                                        <p:tav tm="0">
                                          <p:val>
                                            <p:fltVal val="90"/>
                                          </p:val>
                                        </p:tav>
                                        <p:tav tm="100000">
                                          <p:val>
                                            <p:fltVal val="0"/>
                                          </p:val>
                                        </p:tav>
                                      </p:tavLst>
                                    </p:anim>
                                    <p:animEffect transition="in" filter="fade">
                                      <p:cBhvr>
                                        <p:cTn id="46" dur="1000"/>
                                        <p:tgtEl>
                                          <p:spTgt spid="12"/>
                                        </p:tgtEl>
                                      </p:cBhvr>
                                    </p:animEffect>
                                  </p:childTnLst>
                                </p:cTn>
                              </p:par>
                              <p:par>
                                <p:cTn id="47" presetID="3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p:cTn id="49" dur="1000" fill="hold"/>
                                        <p:tgtEl>
                                          <p:spTgt spid="19"/>
                                        </p:tgtEl>
                                        <p:attrNameLst>
                                          <p:attrName>ppt_w</p:attrName>
                                        </p:attrNameLst>
                                      </p:cBhvr>
                                      <p:tavLst>
                                        <p:tav tm="0">
                                          <p:val>
                                            <p:fltVal val="0"/>
                                          </p:val>
                                        </p:tav>
                                        <p:tav tm="100000">
                                          <p:val>
                                            <p:strVal val="#ppt_w"/>
                                          </p:val>
                                        </p:tav>
                                      </p:tavLst>
                                    </p:anim>
                                    <p:anim calcmode="lin" valueType="num">
                                      <p:cBhvr>
                                        <p:cTn id="50" dur="1000" fill="hold"/>
                                        <p:tgtEl>
                                          <p:spTgt spid="19"/>
                                        </p:tgtEl>
                                        <p:attrNameLst>
                                          <p:attrName>ppt_h</p:attrName>
                                        </p:attrNameLst>
                                      </p:cBhvr>
                                      <p:tavLst>
                                        <p:tav tm="0">
                                          <p:val>
                                            <p:fltVal val="0"/>
                                          </p:val>
                                        </p:tav>
                                        <p:tav tm="100000">
                                          <p:val>
                                            <p:strVal val="#ppt_h"/>
                                          </p:val>
                                        </p:tav>
                                      </p:tavLst>
                                    </p:anim>
                                    <p:anim calcmode="lin" valueType="num">
                                      <p:cBhvr>
                                        <p:cTn id="51" dur="1000" fill="hold"/>
                                        <p:tgtEl>
                                          <p:spTgt spid="19"/>
                                        </p:tgtEl>
                                        <p:attrNameLst>
                                          <p:attrName>style.rotation</p:attrName>
                                        </p:attrNameLst>
                                      </p:cBhvr>
                                      <p:tavLst>
                                        <p:tav tm="0">
                                          <p:val>
                                            <p:fltVal val="90"/>
                                          </p:val>
                                        </p:tav>
                                        <p:tav tm="100000">
                                          <p:val>
                                            <p:fltVal val="0"/>
                                          </p:val>
                                        </p:tav>
                                      </p:tavLst>
                                    </p:anim>
                                    <p:animEffect transition="in" filter="fade">
                                      <p:cBhvr>
                                        <p:cTn id="52" dur="1000"/>
                                        <p:tgtEl>
                                          <p:spTgt spid="19"/>
                                        </p:tgtEl>
                                      </p:cBhvr>
                                    </p:animEffect>
                                  </p:childTnLst>
                                </p:cTn>
                              </p:par>
                              <p:par>
                                <p:cTn id="53" presetID="3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p:cTn id="55" dur="1000" fill="hold"/>
                                        <p:tgtEl>
                                          <p:spTgt spid="21"/>
                                        </p:tgtEl>
                                        <p:attrNameLst>
                                          <p:attrName>ppt_w</p:attrName>
                                        </p:attrNameLst>
                                      </p:cBhvr>
                                      <p:tavLst>
                                        <p:tav tm="0">
                                          <p:val>
                                            <p:fltVal val="0"/>
                                          </p:val>
                                        </p:tav>
                                        <p:tav tm="100000">
                                          <p:val>
                                            <p:strVal val="#ppt_w"/>
                                          </p:val>
                                        </p:tav>
                                      </p:tavLst>
                                    </p:anim>
                                    <p:anim calcmode="lin" valueType="num">
                                      <p:cBhvr>
                                        <p:cTn id="56" dur="1000" fill="hold"/>
                                        <p:tgtEl>
                                          <p:spTgt spid="21"/>
                                        </p:tgtEl>
                                        <p:attrNameLst>
                                          <p:attrName>ppt_h</p:attrName>
                                        </p:attrNameLst>
                                      </p:cBhvr>
                                      <p:tavLst>
                                        <p:tav tm="0">
                                          <p:val>
                                            <p:fltVal val="0"/>
                                          </p:val>
                                        </p:tav>
                                        <p:tav tm="100000">
                                          <p:val>
                                            <p:strVal val="#ppt_h"/>
                                          </p:val>
                                        </p:tav>
                                      </p:tavLst>
                                    </p:anim>
                                    <p:anim calcmode="lin" valueType="num">
                                      <p:cBhvr>
                                        <p:cTn id="57" dur="1000" fill="hold"/>
                                        <p:tgtEl>
                                          <p:spTgt spid="21"/>
                                        </p:tgtEl>
                                        <p:attrNameLst>
                                          <p:attrName>style.rotation</p:attrName>
                                        </p:attrNameLst>
                                      </p:cBhvr>
                                      <p:tavLst>
                                        <p:tav tm="0">
                                          <p:val>
                                            <p:fltVal val="90"/>
                                          </p:val>
                                        </p:tav>
                                        <p:tav tm="100000">
                                          <p:val>
                                            <p:fltVal val="0"/>
                                          </p:val>
                                        </p:tav>
                                      </p:tavLst>
                                    </p:anim>
                                    <p:animEffect transition="in" filter="fade">
                                      <p:cBhvr>
                                        <p:cTn id="58" dur="1000"/>
                                        <p:tgtEl>
                                          <p:spTgt spid="21"/>
                                        </p:tgtEl>
                                      </p:cBhvr>
                                    </p:animEffect>
                                  </p:childTnLst>
                                </p:cTn>
                              </p:par>
                              <p:par>
                                <p:cTn id="59" presetID="31"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p:cTn id="61" dur="1000" fill="hold"/>
                                        <p:tgtEl>
                                          <p:spTgt spid="22"/>
                                        </p:tgtEl>
                                        <p:attrNameLst>
                                          <p:attrName>ppt_w</p:attrName>
                                        </p:attrNameLst>
                                      </p:cBhvr>
                                      <p:tavLst>
                                        <p:tav tm="0">
                                          <p:val>
                                            <p:fltVal val="0"/>
                                          </p:val>
                                        </p:tav>
                                        <p:tav tm="100000">
                                          <p:val>
                                            <p:strVal val="#ppt_w"/>
                                          </p:val>
                                        </p:tav>
                                      </p:tavLst>
                                    </p:anim>
                                    <p:anim calcmode="lin" valueType="num">
                                      <p:cBhvr>
                                        <p:cTn id="62" dur="1000" fill="hold"/>
                                        <p:tgtEl>
                                          <p:spTgt spid="22"/>
                                        </p:tgtEl>
                                        <p:attrNameLst>
                                          <p:attrName>ppt_h</p:attrName>
                                        </p:attrNameLst>
                                      </p:cBhvr>
                                      <p:tavLst>
                                        <p:tav tm="0">
                                          <p:val>
                                            <p:fltVal val="0"/>
                                          </p:val>
                                        </p:tav>
                                        <p:tav tm="100000">
                                          <p:val>
                                            <p:strVal val="#ppt_h"/>
                                          </p:val>
                                        </p:tav>
                                      </p:tavLst>
                                    </p:anim>
                                    <p:anim calcmode="lin" valueType="num">
                                      <p:cBhvr>
                                        <p:cTn id="63" dur="1000" fill="hold"/>
                                        <p:tgtEl>
                                          <p:spTgt spid="22"/>
                                        </p:tgtEl>
                                        <p:attrNameLst>
                                          <p:attrName>style.rotation</p:attrName>
                                        </p:attrNameLst>
                                      </p:cBhvr>
                                      <p:tavLst>
                                        <p:tav tm="0">
                                          <p:val>
                                            <p:fltVal val="90"/>
                                          </p:val>
                                        </p:tav>
                                        <p:tav tm="100000">
                                          <p:val>
                                            <p:fltVal val="0"/>
                                          </p:val>
                                        </p:tav>
                                      </p:tavLst>
                                    </p:anim>
                                    <p:animEffect transition="in" filter="fade">
                                      <p:cBhvr>
                                        <p:cTn id="64" dur="1000"/>
                                        <p:tgtEl>
                                          <p:spTgt spid="22"/>
                                        </p:tgtEl>
                                      </p:cBhvr>
                                    </p:animEffect>
                                  </p:childTnLst>
                                </p:cTn>
                              </p:par>
                              <p:par>
                                <p:cTn id="65" presetID="31" presetClass="entr" presetSubtype="0" fill="hold"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p:cTn id="67" dur="1000" fill="hold"/>
                                        <p:tgtEl>
                                          <p:spTgt spid="23"/>
                                        </p:tgtEl>
                                        <p:attrNameLst>
                                          <p:attrName>ppt_w</p:attrName>
                                        </p:attrNameLst>
                                      </p:cBhvr>
                                      <p:tavLst>
                                        <p:tav tm="0">
                                          <p:val>
                                            <p:fltVal val="0"/>
                                          </p:val>
                                        </p:tav>
                                        <p:tav tm="100000">
                                          <p:val>
                                            <p:strVal val="#ppt_w"/>
                                          </p:val>
                                        </p:tav>
                                      </p:tavLst>
                                    </p:anim>
                                    <p:anim calcmode="lin" valueType="num">
                                      <p:cBhvr>
                                        <p:cTn id="68" dur="1000" fill="hold"/>
                                        <p:tgtEl>
                                          <p:spTgt spid="23"/>
                                        </p:tgtEl>
                                        <p:attrNameLst>
                                          <p:attrName>ppt_h</p:attrName>
                                        </p:attrNameLst>
                                      </p:cBhvr>
                                      <p:tavLst>
                                        <p:tav tm="0">
                                          <p:val>
                                            <p:fltVal val="0"/>
                                          </p:val>
                                        </p:tav>
                                        <p:tav tm="100000">
                                          <p:val>
                                            <p:strVal val="#ppt_h"/>
                                          </p:val>
                                        </p:tav>
                                      </p:tavLst>
                                    </p:anim>
                                    <p:anim calcmode="lin" valueType="num">
                                      <p:cBhvr>
                                        <p:cTn id="69" dur="1000" fill="hold"/>
                                        <p:tgtEl>
                                          <p:spTgt spid="23"/>
                                        </p:tgtEl>
                                        <p:attrNameLst>
                                          <p:attrName>style.rotation</p:attrName>
                                        </p:attrNameLst>
                                      </p:cBhvr>
                                      <p:tavLst>
                                        <p:tav tm="0">
                                          <p:val>
                                            <p:fltVal val="90"/>
                                          </p:val>
                                        </p:tav>
                                        <p:tav tm="100000">
                                          <p:val>
                                            <p:fltVal val="0"/>
                                          </p:val>
                                        </p:tav>
                                      </p:tavLst>
                                    </p:anim>
                                    <p:animEffect transition="in" filter="fade">
                                      <p:cBhvr>
                                        <p:cTn id="70" dur="1000"/>
                                        <p:tgtEl>
                                          <p:spTgt spid="23"/>
                                        </p:tgtEl>
                                      </p:cBhvr>
                                    </p:animEffect>
                                  </p:childTnLst>
                                </p:cTn>
                              </p:par>
                              <p:par>
                                <p:cTn id="71" presetID="31" presetClass="entr" presetSubtype="0" fill="hold" nodeType="withEffect">
                                  <p:stCondLst>
                                    <p:cond delay="0"/>
                                  </p:stCondLst>
                                  <p:childTnLst>
                                    <p:set>
                                      <p:cBhvr>
                                        <p:cTn id="72" dur="1" fill="hold">
                                          <p:stCondLst>
                                            <p:cond delay="0"/>
                                          </p:stCondLst>
                                        </p:cTn>
                                        <p:tgtEl>
                                          <p:spTgt spid="48"/>
                                        </p:tgtEl>
                                        <p:attrNameLst>
                                          <p:attrName>style.visibility</p:attrName>
                                        </p:attrNameLst>
                                      </p:cBhvr>
                                      <p:to>
                                        <p:strVal val="visible"/>
                                      </p:to>
                                    </p:set>
                                    <p:anim calcmode="lin" valueType="num">
                                      <p:cBhvr>
                                        <p:cTn id="73" dur="1000" fill="hold"/>
                                        <p:tgtEl>
                                          <p:spTgt spid="48"/>
                                        </p:tgtEl>
                                        <p:attrNameLst>
                                          <p:attrName>ppt_w</p:attrName>
                                        </p:attrNameLst>
                                      </p:cBhvr>
                                      <p:tavLst>
                                        <p:tav tm="0">
                                          <p:val>
                                            <p:fltVal val="0"/>
                                          </p:val>
                                        </p:tav>
                                        <p:tav tm="100000">
                                          <p:val>
                                            <p:strVal val="#ppt_w"/>
                                          </p:val>
                                        </p:tav>
                                      </p:tavLst>
                                    </p:anim>
                                    <p:anim calcmode="lin" valueType="num">
                                      <p:cBhvr>
                                        <p:cTn id="74" dur="1000" fill="hold"/>
                                        <p:tgtEl>
                                          <p:spTgt spid="48"/>
                                        </p:tgtEl>
                                        <p:attrNameLst>
                                          <p:attrName>ppt_h</p:attrName>
                                        </p:attrNameLst>
                                      </p:cBhvr>
                                      <p:tavLst>
                                        <p:tav tm="0">
                                          <p:val>
                                            <p:fltVal val="0"/>
                                          </p:val>
                                        </p:tav>
                                        <p:tav tm="100000">
                                          <p:val>
                                            <p:strVal val="#ppt_h"/>
                                          </p:val>
                                        </p:tav>
                                      </p:tavLst>
                                    </p:anim>
                                    <p:anim calcmode="lin" valueType="num">
                                      <p:cBhvr>
                                        <p:cTn id="75" dur="1000" fill="hold"/>
                                        <p:tgtEl>
                                          <p:spTgt spid="48"/>
                                        </p:tgtEl>
                                        <p:attrNameLst>
                                          <p:attrName>style.rotation</p:attrName>
                                        </p:attrNameLst>
                                      </p:cBhvr>
                                      <p:tavLst>
                                        <p:tav tm="0">
                                          <p:val>
                                            <p:fltVal val="90"/>
                                          </p:val>
                                        </p:tav>
                                        <p:tav tm="100000">
                                          <p:val>
                                            <p:fltVal val="0"/>
                                          </p:val>
                                        </p:tav>
                                      </p:tavLst>
                                    </p:anim>
                                    <p:animEffect transition="in" filter="fade">
                                      <p:cBhvr>
                                        <p:cTn id="76" dur="1000"/>
                                        <p:tgtEl>
                                          <p:spTgt spid="48"/>
                                        </p:tgtEl>
                                      </p:cBhvr>
                                    </p:animEffect>
                                  </p:childTnLst>
                                </p:cTn>
                              </p:par>
                              <p:par>
                                <p:cTn id="77" presetID="31" presetClass="entr" presetSubtype="0" fill="hold" nodeType="withEffect">
                                  <p:stCondLst>
                                    <p:cond delay="0"/>
                                  </p:stCondLst>
                                  <p:childTnLst>
                                    <p:set>
                                      <p:cBhvr>
                                        <p:cTn id="78" dur="1" fill="hold">
                                          <p:stCondLst>
                                            <p:cond delay="0"/>
                                          </p:stCondLst>
                                        </p:cTn>
                                        <p:tgtEl>
                                          <p:spTgt spid="49"/>
                                        </p:tgtEl>
                                        <p:attrNameLst>
                                          <p:attrName>style.visibility</p:attrName>
                                        </p:attrNameLst>
                                      </p:cBhvr>
                                      <p:to>
                                        <p:strVal val="visible"/>
                                      </p:to>
                                    </p:set>
                                    <p:anim calcmode="lin" valueType="num">
                                      <p:cBhvr>
                                        <p:cTn id="79" dur="1000" fill="hold"/>
                                        <p:tgtEl>
                                          <p:spTgt spid="49"/>
                                        </p:tgtEl>
                                        <p:attrNameLst>
                                          <p:attrName>ppt_w</p:attrName>
                                        </p:attrNameLst>
                                      </p:cBhvr>
                                      <p:tavLst>
                                        <p:tav tm="0">
                                          <p:val>
                                            <p:fltVal val="0"/>
                                          </p:val>
                                        </p:tav>
                                        <p:tav tm="100000">
                                          <p:val>
                                            <p:strVal val="#ppt_w"/>
                                          </p:val>
                                        </p:tav>
                                      </p:tavLst>
                                    </p:anim>
                                    <p:anim calcmode="lin" valueType="num">
                                      <p:cBhvr>
                                        <p:cTn id="80" dur="1000" fill="hold"/>
                                        <p:tgtEl>
                                          <p:spTgt spid="49"/>
                                        </p:tgtEl>
                                        <p:attrNameLst>
                                          <p:attrName>ppt_h</p:attrName>
                                        </p:attrNameLst>
                                      </p:cBhvr>
                                      <p:tavLst>
                                        <p:tav tm="0">
                                          <p:val>
                                            <p:fltVal val="0"/>
                                          </p:val>
                                        </p:tav>
                                        <p:tav tm="100000">
                                          <p:val>
                                            <p:strVal val="#ppt_h"/>
                                          </p:val>
                                        </p:tav>
                                      </p:tavLst>
                                    </p:anim>
                                    <p:anim calcmode="lin" valueType="num">
                                      <p:cBhvr>
                                        <p:cTn id="81" dur="1000" fill="hold"/>
                                        <p:tgtEl>
                                          <p:spTgt spid="49"/>
                                        </p:tgtEl>
                                        <p:attrNameLst>
                                          <p:attrName>style.rotation</p:attrName>
                                        </p:attrNameLst>
                                      </p:cBhvr>
                                      <p:tavLst>
                                        <p:tav tm="0">
                                          <p:val>
                                            <p:fltVal val="90"/>
                                          </p:val>
                                        </p:tav>
                                        <p:tav tm="100000">
                                          <p:val>
                                            <p:fltVal val="0"/>
                                          </p:val>
                                        </p:tav>
                                      </p:tavLst>
                                    </p:anim>
                                    <p:animEffect transition="in" filter="fade">
                                      <p:cBhvr>
                                        <p:cTn id="82" dur="1000"/>
                                        <p:tgtEl>
                                          <p:spTgt spid="49"/>
                                        </p:tgtEl>
                                      </p:cBhvr>
                                    </p:animEffect>
                                  </p:childTnLst>
                                </p:cTn>
                              </p:par>
                              <p:par>
                                <p:cTn id="83" presetID="31" presetClass="entr" presetSubtype="0" fill="hold" nodeType="withEffect">
                                  <p:stCondLst>
                                    <p:cond delay="0"/>
                                  </p:stCondLst>
                                  <p:childTnLst>
                                    <p:set>
                                      <p:cBhvr>
                                        <p:cTn id="84" dur="1" fill="hold">
                                          <p:stCondLst>
                                            <p:cond delay="0"/>
                                          </p:stCondLst>
                                        </p:cTn>
                                        <p:tgtEl>
                                          <p:spTgt spid="50"/>
                                        </p:tgtEl>
                                        <p:attrNameLst>
                                          <p:attrName>style.visibility</p:attrName>
                                        </p:attrNameLst>
                                      </p:cBhvr>
                                      <p:to>
                                        <p:strVal val="visible"/>
                                      </p:to>
                                    </p:set>
                                    <p:anim calcmode="lin" valueType="num">
                                      <p:cBhvr>
                                        <p:cTn id="85" dur="1000" fill="hold"/>
                                        <p:tgtEl>
                                          <p:spTgt spid="50"/>
                                        </p:tgtEl>
                                        <p:attrNameLst>
                                          <p:attrName>ppt_w</p:attrName>
                                        </p:attrNameLst>
                                      </p:cBhvr>
                                      <p:tavLst>
                                        <p:tav tm="0">
                                          <p:val>
                                            <p:fltVal val="0"/>
                                          </p:val>
                                        </p:tav>
                                        <p:tav tm="100000">
                                          <p:val>
                                            <p:strVal val="#ppt_w"/>
                                          </p:val>
                                        </p:tav>
                                      </p:tavLst>
                                    </p:anim>
                                    <p:anim calcmode="lin" valueType="num">
                                      <p:cBhvr>
                                        <p:cTn id="86" dur="1000" fill="hold"/>
                                        <p:tgtEl>
                                          <p:spTgt spid="50"/>
                                        </p:tgtEl>
                                        <p:attrNameLst>
                                          <p:attrName>ppt_h</p:attrName>
                                        </p:attrNameLst>
                                      </p:cBhvr>
                                      <p:tavLst>
                                        <p:tav tm="0">
                                          <p:val>
                                            <p:fltVal val="0"/>
                                          </p:val>
                                        </p:tav>
                                        <p:tav tm="100000">
                                          <p:val>
                                            <p:strVal val="#ppt_h"/>
                                          </p:val>
                                        </p:tav>
                                      </p:tavLst>
                                    </p:anim>
                                    <p:anim calcmode="lin" valueType="num">
                                      <p:cBhvr>
                                        <p:cTn id="87" dur="1000" fill="hold"/>
                                        <p:tgtEl>
                                          <p:spTgt spid="50"/>
                                        </p:tgtEl>
                                        <p:attrNameLst>
                                          <p:attrName>style.rotation</p:attrName>
                                        </p:attrNameLst>
                                      </p:cBhvr>
                                      <p:tavLst>
                                        <p:tav tm="0">
                                          <p:val>
                                            <p:fltVal val="90"/>
                                          </p:val>
                                        </p:tav>
                                        <p:tav tm="100000">
                                          <p:val>
                                            <p:fltVal val="0"/>
                                          </p:val>
                                        </p:tav>
                                      </p:tavLst>
                                    </p:anim>
                                    <p:animEffect transition="in" filter="fade">
                                      <p:cBhvr>
                                        <p:cTn id="88" dur="1000"/>
                                        <p:tgtEl>
                                          <p:spTgt spid="50"/>
                                        </p:tgtEl>
                                      </p:cBhvr>
                                    </p:animEffect>
                                  </p:childTnLst>
                                </p:cTn>
                              </p:par>
                              <p:par>
                                <p:cTn id="89" presetID="31"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 calcmode="lin" valueType="num">
                                      <p:cBhvr>
                                        <p:cTn id="91" dur="1000" fill="hold"/>
                                        <p:tgtEl>
                                          <p:spTgt spid="51"/>
                                        </p:tgtEl>
                                        <p:attrNameLst>
                                          <p:attrName>ppt_w</p:attrName>
                                        </p:attrNameLst>
                                      </p:cBhvr>
                                      <p:tavLst>
                                        <p:tav tm="0">
                                          <p:val>
                                            <p:fltVal val="0"/>
                                          </p:val>
                                        </p:tav>
                                        <p:tav tm="100000">
                                          <p:val>
                                            <p:strVal val="#ppt_w"/>
                                          </p:val>
                                        </p:tav>
                                      </p:tavLst>
                                    </p:anim>
                                    <p:anim calcmode="lin" valueType="num">
                                      <p:cBhvr>
                                        <p:cTn id="92" dur="1000" fill="hold"/>
                                        <p:tgtEl>
                                          <p:spTgt spid="51"/>
                                        </p:tgtEl>
                                        <p:attrNameLst>
                                          <p:attrName>ppt_h</p:attrName>
                                        </p:attrNameLst>
                                      </p:cBhvr>
                                      <p:tavLst>
                                        <p:tav tm="0">
                                          <p:val>
                                            <p:fltVal val="0"/>
                                          </p:val>
                                        </p:tav>
                                        <p:tav tm="100000">
                                          <p:val>
                                            <p:strVal val="#ppt_h"/>
                                          </p:val>
                                        </p:tav>
                                      </p:tavLst>
                                    </p:anim>
                                    <p:anim calcmode="lin" valueType="num">
                                      <p:cBhvr>
                                        <p:cTn id="93" dur="1000" fill="hold"/>
                                        <p:tgtEl>
                                          <p:spTgt spid="51"/>
                                        </p:tgtEl>
                                        <p:attrNameLst>
                                          <p:attrName>style.rotation</p:attrName>
                                        </p:attrNameLst>
                                      </p:cBhvr>
                                      <p:tavLst>
                                        <p:tav tm="0">
                                          <p:val>
                                            <p:fltVal val="90"/>
                                          </p:val>
                                        </p:tav>
                                        <p:tav tm="100000">
                                          <p:val>
                                            <p:fltVal val="0"/>
                                          </p:val>
                                        </p:tav>
                                      </p:tavLst>
                                    </p:anim>
                                    <p:animEffect transition="in" filter="fade">
                                      <p:cBhvr>
                                        <p:cTn id="94" dur="1000"/>
                                        <p:tgtEl>
                                          <p:spTgt spid="51"/>
                                        </p:tgtEl>
                                      </p:cBhvr>
                                    </p:animEffect>
                                  </p:childTnLst>
                                </p:cTn>
                              </p:par>
                              <p:par>
                                <p:cTn id="95" presetID="31" presetClass="entr" presetSubtype="0" fill="hold" nodeType="withEffect">
                                  <p:stCondLst>
                                    <p:cond delay="0"/>
                                  </p:stCondLst>
                                  <p:childTnLst>
                                    <p:set>
                                      <p:cBhvr>
                                        <p:cTn id="96" dur="1" fill="hold">
                                          <p:stCondLst>
                                            <p:cond delay="0"/>
                                          </p:stCondLst>
                                        </p:cTn>
                                        <p:tgtEl>
                                          <p:spTgt spid="52"/>
                                        </p:tgtEl>
                                        <p:attrNameLst>
                                          <p:attrName>style.visibility</p:attrName>
                                        </p:attrNameLst>
                                      </p:cBhvr>
                                      <p:to>
                                        <p:strVal val="visible"/>
                                      </p:to>
                                    </p:set>
                                    <p:anim calcmode="lin" valueType="num">
                                      <p:cBhvr>
                                        <p:cTn id="97" dur="1000" fill="hold"/>
                                        <p:tgtEl>
                                          <p:spTgt spid="52"/>
                                        </p:tgtEl>
                                        <p:attrNameLst>
                                          <p:attrName>ppt_w</p:attrName>
                                        </p:attrNameLst>
                                      </p:cBhvr>
                                      <p:tavLst>
                                        <p:tav tm="0">
                                          <p:val>
                                            <p:fltVal val="0"/>
                                          </p:val>
                                        </p:tav>
                                        <p:tav tm="100000">
                                          <p:val>
                                            <p:strVal val="#ppt_w"/>
                                          </p:val>
                                        </p:tav>
                                      </p:tavLst>
                                    </p:anim>
                                    <p:anim calcmode="lin" valueType="num">
                                      <p:cBhvr>
                                        <p:cTn id="98" dur="1000" fill="hold"/>
                                        <p:tgtEl>
                                          <p:spTgt spid="52"/>
                                        </p:tgtEl>
                                        <p:attrNameLst>
                                          <p:attrName>ppt_h</p:attrName>
                                        </p:attrNameLst>
                                      </p:cBhvr>
                                      <p:tavLst>
                                        <p:tav tm="0">
                                          <p:val>
                                            <p:fltVal val="0"/>
                                          </p:val>
                                        </p:tav>
                                        <p:tav tm="100000">
                                          <p:val>
                                            <p:strVal val="#ppt_h"/>
                                          </p:val>
                                        </p:tav>
                                      </p:tavLst>
                                    </p:anim>
                                    <p:anim calcmode="lin" valueType="num">
                                      <p:cBhvr>
                                        <p:cTn id="99" dur="1000" fill="hold"/>
                                        <p:tgtEl>
                                          <p:spTgt spid="52"/>
                                        </p:tgtEl>
                                        <p:attrNameLst>
                                          <p:attrName>style.rotation</p:attrName>
                                        </p:attrNameLst>
                                      </p:cBhvr>
                                      <p:tavLst>
                                        <p:tav tm="0">
                                          <p:val>
                                            <p:fltVal val="90"/>
                                          </p:val>
                                        </p:tav>
                                        <p:tav tm="100000">
                                          <p:val>
                                            <p:fltVal val="0"/>
                                          </p:val>
                                        </p:tav>
                                      </p:tavLst>
                                    </p:anim>
                                    <p:animEffect transition="in" filter="fade">
                                      <p:cBhvr>
                                        <p:cTn id="100" dur="1000"/>
                                        <p:tgtEl>
                                          <p:spTgt spid="52"/>
                                        </p:tgtEl>
                                      </p:cBhvr>
                                    </p:animEffect>
                                  </p:childTnLst>
                                </p:cTn>
                              </p:par>
                              <p:par>
                                <p:cTn id="101" presetID="31" presetClass="entr" presetSubtype="0" fill="hold" nodeType="with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p:cTn id="103" dur="1000" fill="hold"/>
                                        <p:tgtEl>
                                          <p:spTgt spid="53"/>
                                        </p:tgtEl>
                                        <p:attrNameLst>
                                          <p:attrName>ppt_w</p:attrName>
                                        </p:attrNameLst>
                                      </p:cBhvr>
                                      <p:tavLst>
                                        <p:tav tm="0">
                                          <p:val>
                                            <p:fltVal val="0"/>
                                          </p:val>
                                        </p:tav>
                                        <p:tav tm="100000">
                                          <p:val>
                                            <p:strVal val="#ppt_w"/>
                                          </p:val>
                                        </p:tav>
                                      </p:tavLst>
                                    </p:anim>
                                    <p:anim calcmode="lin" valueType="num">
                                      <p:cBhvr>
                                        <p:cTn id="104" dur="1000" fill="hold"/>
                                        <p:tgtEl>
                                          <p:spTgt spid="53"/>
                                        </p:tgtEl>
                                        <p:attrNameLst>
                                          <p:attrName>ppt_h</p:attrName>
                                        </p:attrNameLst>
                                      </p:cBhvr>
                                      <p:tavLst>
                                        <p:tav tm="0">
                                          <p:val>
                                            <p:fltVal val="0"/>
                                          </p:val>
                                        </p:tav>
                                        <p:tav tm="100000">
                                          <p:val>
                                            <p:strVal val="#ppt_h"/>
                                          </p:val>
                                        </p:tav>
                                      </p:tavLst>
                                    </p:anim>
                                    <p:anim calcmode="lin" valueType="num">
                                      <p:cBhvr>
                                        <p:cTn id="105" dur="1000" fill="hold"/>
                                        <p:tgtEl>
                                          <p:spTgt spid="53"/>
                                        </p:tgtEl>
                                        <p:attrNameLst>
                                          <p:attrName>style.rotation</p:attrName>
                                        </p:attrNameLst>
                                      </p:cBhvr>
                                      <p:tavLst>
                                        <p:tav tm="0">
                                          <p:val>
                                            <p:fltVal val="90"/>
                                          </p:val>
                                        </p:tav>
                                        <p:tav tm="100000">
                                          <p:val>
                                            <p:fltVal val="0"/>
                                          </p:val>
                                        </p:tav>
                                      </p:tavLst>
                                    </p:anim>
                                    <p:animEffect transition="in" filter="fade">
                                      <p:cBhvr>
                                        <p:cTn id="106" dur="1000"/>
                                        <p:tgtEl>
                                          <p:spTgt spid="53"/>
                                        </p:tgtEl>
                                      </p:cBhvr>
                                    </p:animEffect>
                                  </p:childTnLst>
                                </p:cTn>
                              </p:par>
                              <p:par>
                                <p:cTn id="107" presetID="31" presetClass="entr" presetSubtype="0" fill="hold" nodeType="withEffect">
                                  <p:stCondLst>
                                    <p:cond delay="0"/>
                                  </p:stCondLst>
                                  <p:childTnLst>
                                    <p:set>
                                      <p:cBhvr>
                                        <p:cTn id="108" dur="1" fill="hold">
                                          <p:stCondLst>
                                            <p:cond delay="0"/>
                                          </p:stCondLst>
                                        </p:cTn>
                                        <p:tgtEl>
                                          <p:spTgt spid="54"/>
                                        </p:tgtEl>
                                        <p:attrNameLst>
                                          <p:attrName>style.visibility</p:attrName>
                                        </p:attrNameLst>
                                      </p:cBhvr>
                                      <p:to>
                                        <p:strVal val="visible"/>
                                      </p:to>
                                    </p:set>
                                    <p:anim calcmode="lin" valueType="num">
                                      <p:cBhvr>
                                        <p:cTn id="109" dur="1000" fill="hold"/>
                                        <p:tgtEl>
                                          <p:spTgt spid="54"/>
                                        </p:tgtEl>
                                        <p:attrNameLst>
                                          <p:attrName>ppt_w</p:attrName>
                                        </p:attrNameLst>
                                      </p:cBhvr>
                                      <p:tavLst>
                                        <p:tav tm="0">
                                          <p:val>
                                            <p:fltVal val="0"/>
                                          </p:val>
                                        </p:tav>
                                        <p:tav tm="100000">
                                          <p:val>
                                            <p:strVal val="#ppt_w"/>
                                          </p:val>
                                        </p:tav>
                                      </p:tavLst>
                                    </p:anim>
                                    <p:anim calcmode="lin" valueType="num">
                                      <p:cBhvr>
                                        <p:cTn id="110" dur="1000" fill="hold"/>
                                        <p:tgtEl>
                                          <p:spTgt spid="54"/>
                                        </p:tgtEl>
                                        <p:attrNameLst>
                                          <p:attrName>ppt_h</p:attrName>
                                        </p:attrNameLst>
                                      </p:cBhvr>
                                      <p:tavLst>
                                        <p:tav tm="0">
                                          <p:val>
                                            <p:fltVal val="0"/>
                                          </p:val>
                                        </p:tav>
                                        <p:tav tm="100000">
                                          <p:val>
                                            <p:strVal val="#ppt_h"/>
                                          </p:val>
                                        </p:tav>
                                      </p:tavLst>
                                    </p:anim>
                                    <p:anim calcmode="lin" valueType="num">
                                      <p:cBhvr>
                                        <p:cTn id="111" dur="1000" fill="hold"/>
                                        <p:tgtEl>
                                          <p:spTgt spid="54"/>
                                        </p:tgtEl>
                                        <p:attrNameLst>
                                          <p:attrName>style.rotation</p:attrName>
                                        </p:attrNameLst>
                                      </p:cBhvr>
                                      <p:tavLst>
                                        <p:tav tm="0">
                                          <p:val>
                                            <p:fltVal val="90"/>
                                          </p:val>
                                        </p:tav>
                                        <p:tav tm="100000">
                                          <p:val>
                                            <p:fltVal val="0"/>
                                          </p:val>
                                        </p:tav>
                                      </p:tavLst>
                                    </p:anim>
                                    <p:animEffect transition="in" filter="fade">
                                      <p:cBhvr>
                                        <p:cTn id="112" dur="1000"/>
                                        <p:tgtEl>
                                          <p:spTgt spid="54"/>
                                        </p:tgtEl>
                                      </p:cBhvr>
                                    </p:animEffect>
                                  </p:childTnLst>
                                </p:cTn>
                              </p:par>
                              <p:par>
                                <p:cTn id="113" presetID="31" presetClass="entr" presetSubtype="0" fill="hold" nodeType="withEffect">
                                  <p:stCondLst>
                                    <p:cond delay="0"/>
                                  </p:stCondLst>
                                  <p:childTnLst>
                                    <p:set>
                                      <p:cBhvr>
                                        <p:cTn id="114" dur="1" fill="hold">
                                          <p:stCondLst>
                                            <p:cond delay="0"/>
                                          </p:stCondLst>
                                        </p:cTn>
                                        <p:tgtEl>
                                          <p:spTgt spid="55"/>
                                        </p:tgtEl>
                                        <p:attrNameLst>
                                          <p:attrName>style.visibility</p:attrName>
                                        </p:attrNameLst>
                                      </p:cBhvr>
                                      <p:to>
                                        <p:strVal val="visible"/>
                                      </p:to>
                                    </p:set>
                                    <p:anim calcmode="lin" valueType="num">
                                      <p:cBhvr>
                                        <p:cTn id="115" dur="1000" fill="hold"/>
                                        <p:tgtEl>
                                          <p:spTgt spid="55"/>
                                        </p:tgtEl>
                                        <p:attrNameLst>
                                          <p:attrName>ppt_w</p:attrName>
                                        </p:attrNameLst>
                                      </p:cBhvr>
                                      <p:tavLst>
                                        <p:tav tm="0">
                                          <p:val>
                                            <p:fltVal val="0"/>
                                          </p:val>
                                        </p:tav>
                                        <p:tav tm="100000">
                                          <p:val>
                                            <p:strVal val="#ppt_w"/>
                                          </p:val>
                                        </p:tav>
                                      </p:tavLst>
                                    </p:anim>
                                    <p:anim calcmode="lin" valueType="num">
                                      <p:cBhvr>
                                        <p:cTn id="116" dur="1000" fill="hold"/>
                                        <p:tgtEl>
                                          <p:spTgt spid="55"/>
                                        </p:tgtEl>
                                        <p:attrNameLst>
                                          <p:attrName>ppt_h</p:attrName>
                                        </p:attrNameLst>
                                      </p:cBhvr>
                                      <p:tavLst>
                                        <p:tav tm="0">
                                          <p:val>
                                            <p:fltVal val="0"/>
                                          </p:val>
                                        </p:tav>
                                        <p:tav tm="100000">
                                          <p:val>
                                            <p:strVal val="#ppt_h"/>
                                          </p:val>
                                        </p:tav>
                                      </p:tavLst>
                                    </p:anim>
                                    <p:anim calcmode="lin" valueType="num">
                                      <p:cBhvr>
                                        <p:cTn id="117" dur="1000" fill="hold"/>
                                        <p:tgtEl>
                                          <p:spTgt spid="55"/>
                                        </p:tgtEl>
                                        <p:attrNameLst>
                                          <p:attrName>style.rotation</p:attrName>
                                        </p:attrNameLst>
                                      </p:cBhvr>
                                      <p:tavLst>
                                        <p:tav tm="0">
                                          <p:val>
                                            <p:fltVal val="90"/>
                                          </p:val>
                                        </p:tav>
                                        <p:tav tm="100000">
                                          <p:val>
                                            <p:fltVal val="0"/>
                                          </p:val>
                                        </p:tav>
                                      </p:tavLst>
                                    </p:anim>
                                    <p:animEffect transition="in" filter="fade">
                                      <p:cBhvr>
                                        <p:cTn id="118" dur="1000"/>
                                        <p:tgtEl>
                                          <p:spTgt spid="55"/>
                                        </p:tgtEl>
                                      </p:cBhvr>
                                    </p:animEffect>
                                  </p:childTnLst>
                                </p:cTn>
                              </p:par>
                              <p:par>
                                <p:cTn id="119" presetID="31" presetClass="entr" presetSubtype="0" fill="hold" nodeType="withEffect">
                                  <p:stCondLst>
                                    <p:cond delay="0"/>
                                  </p:stCondLst>
                                  <p:childTnLst>
                                    <p:set>
                                      <p:cBhvr>
                                        <p:cTn id="120" dur="1" fill="hold">
                                          <p:stCondLst>
                                            <p:cond delay="0"/>
                                          </p:stCondLst>
                                        </p:cTn>
                                        <p:tgtEl>
                                          <p:spTgt spid="56"/>
                                        </p:tgtEl>
                                        <p:attrNameLst>
                                          <p:attrName>style.visibility</p:attrName>
                                        </p:attrNameLst>
                                      </p:cBhvr>
                                      <p:to>
                                        <p:strVal val="visible"/>
                                      </p:to>
                                    </p:set>
                                    <p:anim calcmode="lin" valueType="num">
                                      <p:cBhvr>
                                        <p:cTn id="121" dur="1000" fill="hold"/>
                                        <p:tgtEl>
                                          <p:spTgt spid="56"/>
                                        </p:tgtEl>
                                        <p:attrNameLst>
                                          <p:attrName>ppt_w</p:attrName>
                                        </p:attrNameLst>
                                      </p:cBhvr>
                                      <p:tavLst>
                                        <p:tav tm="0">
                                          <p:val>
                                            <p:fltVal val="0"/>
                                          </p:val>
                                        </p:tav>
                                        <p:tav tm="100000">
                                          <p:val>
                                            <p:strVal val="#ppt_w"/>
                                          </p:val>
                                        </p:tav>
                                      </p:tavLst>
                                    </p:anim>
                                    <p:anim calcmode="lin" valueType="num">
                                      <p:cBhvr>
                                        <p:cTn id="122" dur="1000" fill="hold"/>
                                        <p:tgtEl>
                                          <p:spTgt spid="56"/>
                                        </p:tgtEl>
                                        <p:attrNameLst>
                                          <p:attrName>ppt_h</p:attrName>
                                        </p:attrNameLst>
                                      </p:cBhvr>
                                      <p:tavLst>
                                        <p:tav tm="0">
                                          <p:val>
                                            <p:fltVal val="0"/>
                                          </p:val>
                                        </p:tav>
                                        <p:tav tm="100000">
                                          <p:val>
                                            <p:strVal val="#ppt_h"/>
                                          </p:val>
                                        </p:tav>
                                      </p:tavLst>
                                    </p:anim>
                                    <p:anim calcmode="lin" valueType="num">
                                      <p:cBhvr>
                                        <p:cTn id="123" dur="1000" fill="hold"/>
                                        <p:tgtEl>
                                          <p:spTgt spid="56"/>
                                        </p:tgtEl>
                                        <p:attrNameLst>
                                          <p:attrName>style.rotation</p:attrName>
                                        </p:attrNameLst>
                                      </p:cBhvr>
                                      <p:tavLst>
                                        <p:tav tm="0">
                                          <p:val>
                                            <p:fltVal val="90"/>
                                          </p:val>
                                        </p:tav>
                                        <p:tav tm="100000">
                                          <p:val>
                                            <p:fltVal val="0"/>
                                          </p:val>
                                        </p:tav>
                                      </p:tavLst>
                                    </p:anim>
                                    <p:animEffect transition="in" filter="fade">
                                      <p:cBhvr>
                                        <p:cTn id="124"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5</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spTree>
    <p:extLst>
      <p:ext uri="{BB962C8B-B14F-4D97-AF65-F5344CB8AC3E}">
        <p14:creationId xmlns:p14="http://schemas.microsoft.com/office/powerpoint/2010/main" val="1179431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6</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44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7</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Tree>
    <p:extLst>
      <p:ext uri="{BB962C8B-B14F-4D97-AF65-F5344CB8AC3E}">
        <p14:creationId xmlns:p14="http://schemas.microsoft.com/office/powerpoint/2010/main" val="2407368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8</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
        <p:nvSpPr>
          <p:cNvPr id="38" name="Rectangle: Rounded Corners 37">
            <a:extLst>
              <a:ext uri="{FF2B5EF4-FFF2-40B4-BE49-F238E27FC236}">
                <a16:creationId xmlns:a16="http://schemas.microsoft.com/office/drawing/2014/main" id="{200A520D-734D-4216-9370-55008ECAF748}"/>
              </a:ext>
            </a:extLst>
          </p:cNvPr>
          <p:cNvSpPr/>
          <p:nvPr/>
        </p:nvSpPr>
        <p:spPr>
          <a:xfrm>
            <a:off x="943769" y="3712812"/>
            <a:ext cx="3225253"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CPU family, implementation of architecture, etc.)</a:t>
            </a:r>
            <a:endParaRPr lang="en-US" dirty="0">
              <a:solidFill>
                <a:srgbClr val="FFFF00"/>
              </a:solidFill>
            </a:endParaRPr>
          </a:p>
        </p:txBody>
      </p:sp>
    </p:spTree>
    <p:extLst>
      <p:ext uri="{BB962C8B-B14F-4D97-AF65-F5344CB8AC3E}">
        <p14:creationId xmlns:p14="http://schemas.microsoft.com/office/powerpoint/2010/main" val="3947663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9</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
        <p:nvSpPr>
          <p:cNvPr id="38" name="Rectangle: Rounded Corners 37">
            <a:extLst>
              <a:ext uri="{FF2B5EF4-FFF2-40B4-BE49-F238E27FC236}">
                <a16:creationId xmlns:a16="http://schemas.microsoft.com/office/drawing/2014/main" id="{200A520D-734D-4216-9370-55008ECAF748}"/>
              </a:ext>
            </a:extLst>
          </p:cNvPr>
          <p:cNvSpPr/>
          <p:nvPr/>
        </p:nvSpPr>
        <p:spPr>
          <a:xfrm>
            <a:off x="943769" y="3712812"/>
            <a:ext cx="3225253"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CPU family, implementation of architecture, etc.)</a:t>
            </a:r>
            <a:endParaRPr lang="en-US" dirty="0">
              <a:solidFill>
                <a:srgbClr val="FFFF00"/>
              </a:solidFill>
            </a:endParaRPr>
          </a:p>
        </p:txBody>
      </p:sp>
      <p:sp>
        <p:nvSpPr>
          <p:cNvPr id="39" name="Text Placeholder 2">
            <a:extLst>
              <a:ext uri="{FF2B5EF4-FFF2-40B4-BE49-F238E27FC236}">
                <a16:creationId xmlns:a16="http://schemas.microsoft.com/office/drawing/2014/main" id="{07C721C6-8457-46B1-95B4-DD687630FDA9}"/>
              </a:ext>
            </a:extLst>
          </p:cNvPr>
          <p:cNvSpPr txBox="1">
            <a:spLocks/>
          </p:cNvSpPr>
          <p:nvPr/>
        </p:nvSpPr>
        <p:spPr>
          <a:xfrm>
            <a:off x="3808218" y="5749006"/>
            <a:ext cx="2397196" cy="95276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ctr">
              <a:buNone/>
            </a:pPr>
            <a:r>
              <a:rPr lang="pl-PL" sz="1600" dirty="0"/>
              <a:t>Mix of HW and SW attacks e.g.:</a:t>
            </a:r>
            <a:br>
              <a:rPr lang="pl-PL" sz="1600" dirty="0"/>
            </a:br>
            <a:r>
              <a:rPr lang="pl-PL" sz="1600" dirty="0"/>
              <a:t> Spectre / Meltdown</a:t>
            </a:r>
            <a:endParaRPr lang="en-US" sz="1600" dirty="0"/>
          </a:p>
        </p:txBody>
      </p:sp>
      <p:sp>
        <p:nvSpPr>
          <p:cNvPr id="16" name="Rectangle 15">
            <a:extLst>
              <a:ext uri="{FF2B5EF4-FFF2-40B4-BE49-F238E27FC236}">
                <a16:creationId xmlns:a16="http://schemas.microsoft.com/office/drawing/2014/main" id="{38A9EF5D-A051-4B0C-BFB8-38B57979E6DA}"/>
              </a:ext>
            </a:extLst>
          </p:cNvPr>
          <p:cNvSpPr/>
          <p:nvPr/>
        </p:nvSpPr>
        <p:spPr>
          <a:xfrm>
            <a:off x="4081304" y="5811515"/>
            <a:ext cx="1915160" cy="8902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0069BDC-AD29-4A20-8C4C-BFDD946E3DD3}"/>
              </a:ext>
            </a:extLst>
          </p:cNvPr>
          <p:cNvCxnSpPr>
            <a:stCxn id="38" idx="3"/>
          </p:cNvCxnSpPr>
          <p:nvPr/>
        </p:nvCxnSpPr>
        <p:spPr>
          <a:xfrm>
            <a:off x="4169022"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C2A4893-CB98-45C3-93E0-BD76A518B942}"/>
              </a:ext>
            </a:extLst>
          </p:cNvPr>
          <p:cNvCxnSpPr>
            <a:cxnSpLocks/>
          </p:cNvCxnSpPr>
          <p:nvPr/>
        </p:nvCxnSpPr>
        <p:spPr>
          <a:xfrm flipH="1">
            <a:off x="4503405"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872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10</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
        <p:nvSpPr>
          <p:cNvPr id="38" name="Rectangle: Rounded Corners 37">
            <a:extLst>
              <a:ext uri="{FF2B5EF4-FFF2-40B4-BE49-F238E27FC236}">
                <a16:creationId xmlns:a16="http://schemas.microsoft.com/office/drawing/2014/main" id="{200A520D-734D-4216-9370-55008ECAF748}"/>
              </a:ext>
            </a:extLst>
          </p:cNvPr>
          <p:cNvSpPr/>
          <p:nvPr/>
        </p:nvSpPr>
        <p:spPr>
          <a:xfrm>
            <a:off x="943769" y="3712812"/>
            <a:ext cx="3225253"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Targetting specific implementation (e.g., CPU family, implementatino of architecture, etc.)</a:t>
            </a:r>
            <a:endParaRPr lang="en-US" dirty="0">
              <a:solidFill>
                <a:srgbClr val="FFFF00"/>
              </a:solidFill>
            </a:endParaRPr>
          </a:p>
        </p:txBody>
      </p:sp>
      <p:sp>
        <p:nvSpPr>
          <p:cNvPr id="39" name="Text Placeholder 2">
            <a:extLst>
              <a:ext uri="{FF2B5EF4-FFF2-40B4-BE49-F238E27FC236}">
                <a16:creationId xmlns:a16="http://schemas.microsoft.com/office/drawing/2014/main" id="{07C721C6-8457-46B1-95B4-DD687630FDA9}"/>
              </a:ext>
            </a:extLst>
          </p:cNvPr>
          <p:cNvSpPr txBox="1">
            <a:spLocks/>
          </p:cNvSpPr>
          <p:nvPr/>
        </p:nvSpPr>
        <p:spPr>
          <a:xfrm>
            <a:off x="3808218" y="5749006"/>
            <a:ext cx="2397196" cy="95276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ctr">
              <a:buNone/>
            </a:pPr>
            <a:r>
              <a:rPr lang="pl-PL" sz="1600" dirty="0"/>
              <a:t>Mix of HW and SW attacks e.g.:</a:t>
            </a:r>
            <a:br>
              <a:rPr lang="pl-PL" sz="1600" dirty="0"/>
            </a:br>
            <a:r>
              <a:rPr lang="pl-PL" sz="1600" dirty="0"/>
              <a:t> Spectre / Meltdown</a:t>
            </a:r>
            <a:endParaRPr lang="en-US" sz="1600" dirty="0"/>
          </a:p>
        </p:txBody>
      </p:sp>
      <p:sp>
        <p:nvSpPr>
          <p:cNvPr id="16" name="Rectangle 15">
            <a:extLst>
              <a:ext uri="{FF2B5EF4-FFF2-40B4-BE49-F238E27FC236}">
                <a16:creationId xmlns:a16="http://schemas.microsoft.com/office/drawing/2014/main" id="{38A9EF5D-A051-4B0C-BFB8-38B57979E6DA}"/>
              </a:ext>
            </a:extLst>
          </p:cNvPr>
          <p:cNvSpPr/>
          <p:nvPr/>
        </p:nvSpPr>
        <p:spPr>
          <a:xfrm>
            <a:off x="4081304" y="5811515"/>
            <a:ext cx="1915160" cy="8902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0069BDC-AD29-4A20-8C4C-BFDD946E3DD3}"/>
              </a:ext>
            </a:extLst>
          </p:cNvPr>
          <p:cNvCxnSpPr>
            <a:stCxn id="38" idx="3"/>
          </p:cNvCxnSpPr>
          <p:nvPr/>
        </p:nvCxnSpPr>
        <p:spPr>
          <a:xfrm>
            <a:off x="4169022"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C2A4893-CB98-45C3-93E0-BD76A518B942}"/>
              </a:ext>
            </a:extLst>
          </p:cNvPr>
          <p:cNvCxnSpPr>
            <a:cxnSpLocks/>
          </p:cNvCxnSpPr>
          <p:nvPr/>
        </p:nvCxnSpPr>
        <p:spPr>
          <a:xfrm flipH="1">
            <a:off x="4503405"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FC999B12-C2CC-4163-9AD7-C15C9D158230}"/>
              </a:ext>
            </a:extLst>
          </p:cNvPr>
          <p:cNvSpPr/>
          <p:nvPr/>
        </p:nvSpPr>
        <p:spPr>
          <a:xfrm>
            <a:off x="933521" y="3712812"/>
            <a:ext cx="3225253" cy="2156140"/>
          </a:xfrm>
          <a:prstGeom prst="roundRect">
            <a:avLst/>
          </a:prstGeom>
          <a:solidFill>
            <a:srgbClr val="FF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What if the bug is in the „reference code” like HW ISA itself?</a:t>
            </a:r>
            <a:endParaRPr lang="en-US" dirty="0">
              <a:solidFill>
                <a:srgbClr val="FFFF00"/>
              </a:solidFill>
            </a:endParaRPr>
          </a:p>
        </p:txBody>
      </p:sp>
    </p:spTree>
    <p:extLst>
      <p:ext uri="{BB962C8B-B14F-4D97-AF65-F5344CB8AC3E}">
        <p14:creationId xmlns:p14="http://schemas.microsoft.com/office/powerpoint/2010/main" val="382758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11</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5"/>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pic>
        <p:nvPicPr>
          <p:cNvPr id="14" name="Picture 13" descr="A person sitting in a chair&#10;&#10;Description automatically generated with low confidence">
            <a:extLst>
              <a:ext uri="{FF2B5EF4-FFF2-40B4-BE49-F238E27FC236}">
                <a16:creationId xmlns:a16="http://schemas.microsoft.com/office/drawing/2014/main" id="{F11A87B0-73CC-49B5-9929-CDC00561F49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
        <p:nvSpPr>
          <p:cNvPr id="38" name="Rectangle: Rounded Corners 37">
            <a:extLst>
              <a:ext uri="{FF2B5EF4-FFF2-40B4-BE49-F238E27FC236}">
                <a16:creationId xmlns:a16="http://schemas.microsoft.com/office/drawing/2014/main" id="{200A520D-734D-4216-9370-55008ECAF748}"/>
              </a:ext>
            </a:extLst>
          </p:cNvPr>
          <p:cNvSpPr/>
          <p:nvPr/>
        </p:nvSpPr>
        <p:spPr>
          <a:xfrm>
            <a:off x="943769" y="3712812"/>
            <a:ext cx="3225253"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Targetting specific implementation (e.g., CPU family, implementatino of architecture, etc.)</a:t>
            </a:r>
            <a:endParaRPr lang="en-US" dirty="0">
              <a:solidFill>
                <a:srgbClr val="FFFF00"/>
              </a:solidFill>
            </a:endParaRPr>
          </a:p>
        </p:txBody>
      </p:sp>
      <p:sp>
        <p:nvSpPr>
          <p:cNvPr id="39" name="Text Placeholder 2">
            <a:extLst>
              <a:ext uri="{FF2B5EF4-FFF2-40B4-BE49-F238E27FC236}">
                <a16:creationId xmlns:a16="http://schemas.microsoft.com/office/drawing/2014/main" id="{07C721C6-8457-46B1-95B4-DD687630FDA9}"/>
              </a:ext>
            </a:extLst>
          </p:cNvPr>
          <p:cNvSpPr txBox="1">
            <a:spLocks/>
          </p:cNvSpPr>
          <p:nvPr/>
        </p:nvSpPr>
        <p:spPr>
          <a:xfrm>
            <a:off x="3808218" y="5749006"/>
            <a:ext cx="2397196" cy="95276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ctr">
              <a:buNone/>
            </a:pPr>
            <a:r>
              <a:rPr lang="pl-PL" sz="1600" dirty="0"/>
              <a:t>Mix of HW and SW attacks e.g.:</a:t>
            </a:r>
            <a:br>
              <a:rPr lang="pl-PL" sz="1600" dirty="0"/>
            </a:br>
            <a:r>
              <a:rPr lang="pl-PL" sz="1600" dirty="0"/>
              <a:t> Spectre / Meltdown</a:t>
            </a:r>
            <a:endParaRPr lang="en-US" sz="1600" dirty="0"/>
          </a:p>
        </p:txBody>
      </p:sp>
      <p:sp>
        <p:nvSpPr>
          <p:cNvPr id="16" name="Rectangle 15">
            <a:extLst>
              <a:ext uri="{FF2B5EF4-FFF2-40B4-BE49-F238E27FC236}">
                <a16:creationId xmlns:a16="http://schemas.microsoft.com/office/drawing/2014/main" id="{38A9EF5D-A051-4B0C-BFB8-38B57979E6DA}"/>
              </a:ext>
            </a:extLst>
          </p:cNvPr>
          <p:cNvSpPr/>
          <p:nvPr/>
        </p:nvSpPr>
        <p:spPr>
          <a:xfrm>
            <a:off x="4081304" y="5811515"/>
            <a:ext cx="1915160" cy="8902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0069BDC-AD29-4A20-8C4C-BFDD946E3DD3}"/>
              </a:ext>
            </a:extLst>
          </p:cNvPr>
          <p:cNvCxnSpPr>
            <a:stCxn id="38" idx="3"/>
          </p:cNvCxnSpPr>
          <p:nvPr/>
        </p:nvCxnSpPr>
        <p:spPr>
          <a:xfrm>
            <a:off x="4169022"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C2A4893-CB98-45C3-93E0-BD76A518B942}"/>
              </a:ext>
            </a:extLst>
          </p:cNvPr>
          <p:cNvCxnSpPr>
            <a:cxnSpLocks/>
          </p:cNvCxnSpPr>
          <p:nvPr/>
        </p:nvCxnSpPr>
        <p:spPr>
          <a:xfrm flipH="1">
            <a:off x="4503405"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FC999B12-C2CC-4163-9AD7-C15C9D158230}"/>
              </a:ext>
            </a:extLst>
          </p:cNvPr>
          <p:cNvSpPr/>
          <p:nvPr/>
        </p:nvSpPr>
        <p:spPr>
          <a:xfrm>
            <a:off x="933521" y="3712812"/>
            <a:ext cx="3225253" cy="2156140"/>
          </a:xfrm>
          <a:prstGeom prst="roundRect">
            <a:avLst/>
          </a:prstGeom>
          <a:solidFill>
            <a:srgbClr val="FF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What if the bug is in the „reference code” like HW ISA itself?</a:t>
            </a:r>
            <a:endParaRPr lang="en-US" dirty="0">
              <a:solidFill>
                <a:srgbClr val="FFFF00"/>
              </a:solidFill>
            </a:endParaRPr>
          </a:p>
        </p:txBody>
      </p:sp>
      <p:sp>
        <p:nvSpPr>
          <p:cNvPr id="45" name="Text Placeholder 2">
            <a:extLst>
              <a:ext uri="{FF2B5EF4-FFF2-40B4-BE49-F238E27FC236}">
                <a16:creationId xmlns:a16="http://schemas.microsoft.com/office/drawing/2014/main" id="{51134BF8-08EB-4526-BF2B-096DF607A9B4}"/>
              </a:ext>
            </a:extLst>
          </p:cNvPr>
          <p:cNvSpPr txBox="1">
            <a:spLocks/>
          </p:cNvSpPr>
          <p:nvPr/>
        </p:nvSpPr>
        <p:spPr>
          <a:xfrm>
            <a:off x="283082" y="6026913"/>
            <a:ext cx="3767370" cy="1093826"/>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r>
              <a:rPr lang="pl-PL" sz="1600" dirty="0"/>
              <a:t>Problem with </a:t>
            </a:r>
            <a:r>
              <a:rPr lang="pl-PL" sz="1600" b="1" u="sng" dirty="0"/>
              <a:t>all implementations</a:t>
            </a:r>
            <a:r>
              <a:rPr lang="pl-PL" sz="1600" dirty="0"/>
              <a:t> not </a:t>
            </a:r>
            <a:r>
              <a:rPr lang="en-US" sz="1600" dirty="0"/>
              <a:t>a </a:t>
            </a:r>
            <a:r>
              <a:rPr lang="pl-PL" sz="1600" dirty="0"/>
              <a:t>specific one!</a:t>
            </a:r>
          </a:p>
          <a:p>
            <a:r>
              <a:rPr lang="pl-PL" sz="1600" dirty="0"/>
              <a:t>SW can’t trust HW at all...</a:t>
            </a:r>
            <a:endParaRPr lang="en-US" sz="1600" dirty="0"/>
          </a:p>
        </p:txBody>
      </p:sp>
      <p:sp>
        <p:nvSpPr>
          <p:cNvPr id="18" name="Rectangle 17">
            <a:extLst>
              <a:ext uri="{FF2B5EF4-FFF2-40B4-BE49-F238E27FC236}">
                <a16:creationId xmlns:a16="http://schemas.microsoft.com/office/drawing/2014/main" id="{7A907EC4-D5C4-492C-9C8A-57AB8DB5C739}"/>
              </a:ext>
            </a:extLst>
          </p:cNvPr>
          <p:cNvSpPr/>
          <p:nvPr/>
        </p:nvSpPr>
        <p:spPr>
          <a:xfrm>
            <a:off x="320040" y="6085840"/>
            <a:ext cx="3688080" cy="10440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F5E36D21-0A6C-4101-8C26-007611F8E24D}"/>
              </a:ext>
            </a:extLst>
          </p:cNvPr>
          <p:cNvCxnSpPr>
            <a:stCxn id="44" idx="1"/>
          </p:cNvCxnSpPr>
          <p:nvPr/>
        </p:nvCxnSpPr>
        <p:spPr>
          <a:xfrm rot="10800000" flipV="1">
            <a:off x="639799" y="4790882"/>
            <a:ext cx="293723" cy="1285584"/>
          </a:xfrm>
          <a:prstGeom prst="bent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53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descr="A person sitting in a chair&#10;&#10;Description automatically generated with low confidence">
            <a:extLst>
              <a:ext uri="{FF2B5EF4-FFF2-40B4-BE49-F238E27FC236}">
                <a16:creationId xmlns:a16="http://schemas.microsoft.com/office/drawing/2014/main" id="{C82F9A7A-9B30-4CD4-8A17-179242EFD5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1765" y="3468418"/>
            <a:ext cx="1607404" cy="1236529"/>
          </a:xfrm>
          <a:prstGeom prst="rect">
            <a:avLst/>
          </a:prstGeom>
        </p:spPr>
      </p:pic>
      <p:sp>
        <p:nvSpPr>
          <p:cNvPr id="2" name="Title 1"/>
          <p:cNvSpPr txBox="1">
            <a:spLocks noGrp="1"/>
          </p:cNvSpPr>
          <p:nvPr>
            <p:ph type="title"/>
          </p:nvPr>
        </p:nvSpPr>
        <p:spPr>
          <a:xfrm>
            <a:off x="144000" y="438936"/>
            <a:ext cx="9756000" cy="611449"/>
          </a:xfrm>
        </p:spPr>
        <p:txBody>
          <a:bodyPr>
            <a:spAutoFit/>
          </a:bodyPr>
          <a:lstStyle/>
          <a:p>
            <a:pPr marR="360000" lvl="0"/>
            <a:r>
              <a:rPr lang="pl-PL" dirty="0">
                <a:solidFill>
                  <a:schemeClr val="accent1"/>
                </a:solidFill>
              </a:rPr>
              <a:t>What is this talk about?</a:t>
            </a:r>
            <a:endParaRPr lang="en-US" dirty="0">
              <a:solidFill>
                <a:schemeClr val="accent1"/>
              </a:solidFill>
            </a:endParaRPr>
          </a:p>
        </p:txBody>
      </p:sp>
      <p:sp>
        <p:nvSpPr>
          <p:cNvPr id="4" name="Slide Number Placeholder 3"/>
          <p:cNvSpPr>
            <a:spLocks noGrp="1"/>
          </p:cNvSpPr>
          <p:nvPr>
            <p:ph type="sldNum" sz="quarter" idx="12"/>
          </p:nvPr>
        </p:nvSpPr>
        <p:spPr/>
        <p:txBody>
          <a:bodyPr/>
          <a:lstStyle/>
          <a:p>
            <a:pPr lvl="0"/>
            <a:fld id="{40395656-0A0C-44A5-BAB8-406A4B9BBCA4}" type="slidenum">
              <a:rPr/>
              <a:t>12</a:t>
            </a:fld>
            <a:endParaRPr lang="en-GB"/>
          </a:p>
        </p:txBody>
      </p:sp>
      <p:pic>
        <p:nvPicPr>
          <p:cNvPr id="13" name="Picture 12" descr="A computer generated image of a circuit board&#10;&#10;Description automatically generated with low confidence">
            <a:extLst>
              <a:ext uri="{FF2B5EF4-FFF2-40B4-BE49-F238E27FC236}">
                <a16:creationId xmlns:a16="http://schemas.microsoft.com/office/drawing/2014/main" id="{574946E5-8DF0-4E54-9BC6-0C9B7C8F12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3024" y="1652163"/>
            <a:ext cx="2702563" cy="1689103"/>
          </a:xfrm>
          <a:prstGeom prst="rect">
            <a:avLst/>
          </a:prstGeom>
        </p:spPr>
      </p:pic>
      <p:pic>
        <p:nvPicPr>
          <p:cNvPr id="6" name="Picture 5" descr="A close-up of a map&#10;&#10;Description automatically generated with medium confidence">
            <a:extLst>
              <a:ext uri="{FF2B5EF4-FFF2-40B4-BE49-F238E27FC236}">
                <a16:creationId xmlns:a16="http://schemas.microsoft.com/office/drawing/2014/main" id="{68098115-2564-41FD-8CC3-8994D345E1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926" y="2134353"/>
            <a:ext cx="529173" cy="369585"/>
          </a:xfrm>
          <a:prstGeom prst="rect">
            <a:avLst/>
          </a:prstGeom>
          <a:ln>
            <a:solidFill>
              <a:srgbClr val="00B0F0"/>
            </a:solidFill>
          </a:ln>
        </p:spPr>
      </p:pic>
      <p:sp>
        <p:nvSpPr>
          <p:cNvPr id="7" name="Rectangle 6">
            <a:extLst>
              <a:ext uri="{FF2B5EF4-FFF2-40B4-BE49-F238E27FC236}">
                <a16:creationId xmlns:a16="http://schemas.microsoft.com/office/drawing/2014/main" id="{F5C2DEFD-6F89-4CBF-AC2B-C19CD5A978EB}"/>
              </a:ext>
            </a:extLst>
          </p:cNvPr>
          <p:cNvSpPr/>
          <p:nvPr/>
        </p:nvSpPr>
        <p:spPr>
          <a:xfrm>
            <a:off x="1912827" y="213435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A62ABF3-C350-450E-B47D-6B000B8AC5C7}"/>
              </a:ext>
            </a:extLst>
          </p:cNvPr>
          <p:cNvCxnSpPr>
            <a:cxnSpLocks/>
          </p:cNvCxnSpPr>
          <p:nvPr/>
        </p:nvCxnSpPr>
        <p:spPr>
          <a:xfrm flipV="1">
            <a:off x="1994415"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49024DB-C46C-4819-8E5F-A49A743018CF}"/>
              </a:ext>
            </a:extLst>
          </p:cNvPr>
          <p:cNvCxnSpPr>
            <a:cxnSpLocks/>
          </p:cNvCxnSpPr>
          <p:nvPr/>
        </p:nvCxnSpPr>
        <p:spPr>
          <a:xfrm flipV="1">
            <a:off x="212241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EA0434-6887-4B07-AD63-E1B1F66B6E9F}"/>
              </a:ext>
            </a:extLst>
          </p:cNvPr>
          <p:cNvCxnSpPr>
            <a:cxnSpLocks/>
          </p:cNvCxnSpPr>
          <p:nvPr/>
        </p:nvCxnSpPr>
        <p:spPr>
          <a:xfrm flipV="1">
            <a:off x="223288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8D6466-6C67-4245-87EF-6719C060D675}"/>
              </a:ext>
            </a:extLst>
          </p:cNvPr>
          <p:cNvCxnSpPr>
            <a:cxnSpLocks/>
          </p:cNvCxnSpPr>
          <p:nvPr/>
        </p:nvCxnSpPr>
        <p:spPr>
          <a:xfrm flipV="1">
            <a:off x="2350066"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7E370C-F6D9-4BF0-89A6-D93734CCAC7C}"/>
              </a:ext>
            </a:extLst>
          </p:cNvPr>
          <p:cNvCxnSpPr>
            <a:cxnSpLocks/>
          </p:cNvCxnSpPr>
          <p:nvPr/>
        </p:nvCxnSpPr>
        <p:spPr>
          <a:xfrm flipV="1">
            <a:off x="2471032" y="192653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8DB8B0-1321-4CE2-B155-0420E34C4FED}"/>
              </a:ext>
            </a:extLst>
          </p:cNvPr>
          <p:cNvCxnSpPr>
            <a:cxnSpLocks/>
          </p:cNvCxnSpPr>
          <p:nvPr/>
        </p:nvCxnSpPr>
        <p:spPr>
          <a:xfrm flipH="1">
            <a:off x="1703828" y="217244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B04FEF-95AC-4CF1-9537-768C0D643732}"/>
              </a:ext>
            </a:extLst>
          </p:cNvPr>
          <p:cNvCxnSpPr>
            <a:cxnSpLocks/>
          </p:cNvCxnSpPr>
          <p:nvPr/>
        </p:nvCxnSpPr>
        <p:spPr>
          <a:xfrm flipH="1">
            <a:off x="1703828" y="227490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7D06DBA-B809-4736-BFCC-9176F029A1F6}"/>
              </a:ext>
            </a:extLst>
          </p:cNvPr>
          <p:cNvCxnSpPr>
            <a:cxnSpLocks/>
          </p:cNvCxnSpPr>
          <p:nvPr/>
        </p:nvCxnSpPr>
        <p:spPr>
          <a:xfrm flipH="1">
            <a:off x="1703828" y="23714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CB7A08-86D2-473B-8FA8-42088C4ECBFD}"/>
              </a:ext>
            </a:extLst>
          </p:cNvPr>
          <p:cNvCxnSpPr>
            <a:cxnSpLocks/>
          </p:cNvCxnSpPr>
          <p:nvPr/>
        </p:nvCxnSpPr>
        <p:spPr>
          <a:xfrm flipH="1">
            <a:off x="1703828" y="247631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938CDB3-866F-4E52-97D9-A7C57E9789A7}"/>
              </a:ext>
            </a:extLst>
          </p:cNvPr>
          <p:cNvCxnSpPr>
            <a:cxnSpLocks/>
          </p:cNvCxnSpPr>
          <p:nvPr/>
        </p:nvCxnSpPr>
        <p:spPr>
          <a:xfrm flipV="1">
            <a:off x="1994415"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BE8261E-8B28-475C-AF3B-86816D8DD842}"/>
              </a:ext>
            </a:extLst>
          </p:cNvPr>
          <p:cNvCxnSpPr>
            <a:cxnSpLocks/>
          </p:cNvCxnSpPr>
          <p:nvPr/>
        </p:nvCxnSpPr>
        <p:spPr>
          <a:xfrm flipV="1">
            <a:off x="212241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BD1595-38A3-4295-A40E-C85419106038}"/>
              </a:ext>
            </a:extLst>
          </p:cNvPr>
          <p:cNvCxnSpPr>
            <a:cxnSpLocks/>
          </p:cNvCxnSpPr>
          <p:nvPr/>
        </p:nvCxnSpPr>
        <p:spPr>
          <a:xfrm flipV="1">
            <a:off x="223288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3DF2E0-6C5A-4D58-86DB-50ACD76BA3E9}"/>
              </a:ext>
            </a:extLst>
          </p:cNvPr>
          <p:cNvCxnSpPr>
            <a:cxnSpLocks/>
          </p:cNvCxnSpPr>
          <p:nvPr/>
        </p:nvCxnSpPr>
        <p:spPr>
          <a:xfrm flipV="1">
            <a:off x="2350066"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CEDC2B-6AFA-48BF-94F2-8D1A5AD303B9}"/>
              </a:ext>
            </a:extLst>
          </p:cNvPr>
          <p:cNvCxnSpPr>
            <a:cxnSpLocks/>
          </p:cNvCxnSpPr>
          <p:nvPr/>
        </p:nvCxnSpPr>
        <p:spPr>
          <a:xfrm flipV="1">
            <a:off x="2471032" y="258058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92754A8-615F-46E9-B591-47423EDA0C28}"/>
              </a:ext>
            </a:extLst>
          </p:cNvPr>
          <p:cNvCxnSpPr>
            <a:cxnSpLocks/>
          </p:cNvCxnSpPr>
          <p:nvPr/>
        </p:nvCxnSpPr>
        <p:spPr>
          <a:xfrm flipH="1">
            <a:off x="2616640" y="215339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B086D5-AD3D-4B28-B5DF-8EDFCEF9838F}"/>
              </a:ext>
            </a:extLst>
          </p:cNvPr>
          <p:cNvCxnSpPr>
            <a:cxnSpLocks/>
          </p:cNvCxnSpPr>
          <p:nvPr/>
        </p:nvCxnSpPr>
        <p:spPr>
          <a:xfrm flipH="1">
            <a:off x="2616640" y="225585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45AB868-A366-4B85-88B6-0B61DA28B708}"/>
              </a:ext>
            </a:extLst>
          </p:cNvPr>
          <p:cNvCxnSpPr>
            <a:cxnSpLocks/>
          </p:cNvCxnSpPr>
          <p:nvPr/>
        </p:nvCxnSpPr>
        <p:spPr>
          <a:xfrm flipH="1">
            <a:off x="2616640" y="23524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774742E-ABB1-4BF6-BFEB-DAED667D633F}"/>
              </a:ext>
            </a:extLst>
          </p:cNvPr>
          <p:cNvCxnSpPr>
            <a:cxnSpLocks/>
          </p:cNvCxnSpPr>
          <p:nvPr/>
        </p:nvCxnSpPr>
        <p:spPr>
          <a:xfrm flipH="1">
            <a:off x="2616640" y="245726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
            <a:extLst>
              <a:ext uri="{FF2B5EF4-FFF2-40B4-BE49-F238E27FC236}">
                <a16:creationId xmlns:a16="http://schemas.microsoft.com/office/drawing/2014/main" id="{49875E44-9B71-4ED4-B902-FE9F404B9738}"/>
              </a:ext>
            </a:extLst>
          </p:cNvPr>
          <p:cNvSpPr txBox="1">
            <a:spLocks/>
          </p:cNvSpPr>
          <p:nvPr/>
        </p:nvSpPr>
        <p:spPr>
          <a:xfrm>
            <a:off x="1113473" y="1060708"/>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Hardware:</a:t>
            </a:r>
            <a:endParaRPr lang="en-US" dirty="0"/>
          </a:p>
        </p:txBody>
      </p:sp>
      <p:sp>
        <p:nvSpPr>
          <p:cNvPr id="26" name="Text Placeholder 2">
            <a:extLst>
              <a:ext uri="{FF2B5EF4-FFF2-40B4-BE49-F238E27FC236}">
                <a16:creationId xmlns:a16="http://schemas.microsoft.com/office/drawing/2014/main" id="{469029D9-FD8D-4761-A7F5-C07CA191D1B8}"/>
              </a:ext>
            </a:extLst>
          </p:cNvPr>
          <p:cNvSpPr txBox="1">
            <a:spLocks/>
          </p:cNvSpPr>
          <p:nvPr/>
        </p:nvSpPr>
        <p:spPr>
          <a:xfrm>
            <a:off x="5898833" y="1050385"/>
            <a:ext cx="1573847"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Software:</a:t>
            </a:r>
            <a:endParaRPr lang="en-US" dirty="0"/>
          </a:p>
        </p:txBody>
      </p:sp>
      <p:pic>
        <p:nvPicPr>
          <p:cNvPr id="5" name="Picture 4">
            <a:extLst>
              <a:ext uri="{FF2B5EF4-FFF2-40B4-BE49-F238E27FC236}">
                <a16:creationId xmlns:a16="http://schemas.microsoft.com/office/drawing/2014/main" id="{C17544B8-379F-46C0-9A9C-1A5730F965BD}"/>
              </a:ext>
            </a:extLst>
          </p:cNvPr>
          <p:cNvPicPr>
            <a:picLocks noChangeAspect="1"/>
          </p:cNvPicPr>
          <p:nvPr/>
        </p:nvPicPr>
        <p:blipFill>
          <a:blip r:embed="rId6"/>
          <a:stretch>
            <a:fillRect/>
          </a:stretch>
        </p:blipFill>
        <p:spPr>
          <a:xfrm>
            <a:off x="4696978" y="1677549"/>
            <a:ext cx="3748087" cy="1559423"/>
          </a:xfrm>
          <a:prstGeom prst="rect">
            <a:avLst/>
          </a:prstGeom>
        </p:spPr>
      </p:pic>
      <p:pic>
        <p:nvPicPr>
          <p:cNvPr id="28" name="Picture 27" descr="Icon&#10;&#10;Description automatically generated">
            <a:extLst>
              <a:ext uri="{FF2B5EF4-FFF2-40B4-BE49-F238E27FC236}">
                <a16:creationId xmlns:a16="http://schemas.microsoft.com/office/drawing/2014/main" id="{51CB5F5B-D858-4FE9-9042-274BD27F570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7535986">
            <a:off x="3032575" y="1016773"/>
            <a:ext cx="2362583" cy="2604743"/>
          </a:xfrm>
          <a:prstGeom prst="rect">
            <a:avLst/>
          </a:prstGeom>
        </p:spPr>
      </p:pic>
      <p:sp>
        <p:nvSpPr>
          <p:cNvPr id="31" name="Text Placeholder 2">
            <a:extLst>
              <a:ext uri="{FF2B5EF4-FFF2-40B4-BE49-F238E27FC236}">
                <a16:creationId xmlns:a16="http://schemas.microsoft.com/office/drawing/2014/main" id="{68696EDA-4733-461A-B792-F3219FF43CC1}"/>
              </a:ext>
            </a:extLst>
          </p:cNvPr>
          <p:cNvSpPr txBox="1">
            <a:spLocks/>
          </p:cNvSpPr>
          <p:nvPr/>
        </p:nvSpPr>
        <p:spPr>
          <a:xfrm>
            <a:off x="4449143" y="3413898"/>
            <a:ext cx="1332505" cy="46378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Hacker</a:t>
            </a:r>
            <a:endParaRPr lang="en-US" dirty="0"/>
          </a:p>
        </p:txBody>
      </p:sp>
      <p:sp>
        <p:nvSpPr>
          <p:cNvPr id="32" name="Text Placeholder 2">
            <a:extLst>
              <a:ext uri="{FF2B5EF4-FFF2-40B4-BE49-F238E27FC236}">
                <a16:creationId xmlns:a16="http://schemas.microsoft.com/office/drawing/2014/main" id="{5F24B231-D248-4D0B-AA08-4BDA3873913F}"/>
              </a:ext>
            </a:extLst>
          </p:cNvPr>
          <p:cNvSpPr txBox="1">
            <a:spLocks/>
          </p:cNvSpPr>
          <p:nvPr/>
        </p:nvSpPr>
        <p:spPr>
          <a:xfrm>
            <a:off x="1033024" y="3698858"/>
            <a:ext cx="3141220" cy="221964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HW attacks, e.g.,:</a:t>
            </a:r>
          </a:p>
          <a:p>
            <a:r>
              <a:rPr lang="pl-PL" sz="1600" dirty="0"/>
              <a:t>Glitching</a:t>
            </a:r>
          </a:p>
          <a:p>
            <a:r>
              <a:rPr lang="pl-PL" sz="1600" dirty="0"/>
              <a:t>Side channel</a:t>
            </a:r>
          </a:p>
          <a:p>
            <a:r>
              <a:rPr lang="pl-PL" sz="1600" dirty="0"/>
              <a:t>Physical probing</a:t>
            </a:r>
          </a:p>
          <a:p>
            <a:r>
              <a:rPr lang="pl-PL" sz="1600" dirty="0"/>
              <a:t>More...</a:t>
            </a:r>
            <a:endParaRPr lang="en-US" sz="1600" dirty="0"/>
          </a:p>
        </p:txBody>
      </p:sp>
      <p:sp>
        <p:nvSpPr>
          <p:cNvPr id="33" name="Text Placeholder 2">
            <a:extLst>
              <a:ext uri="{FF2B5EF4-FFF2-40B4-BE49-F238E27FC236}">
                <a16:creationId xmlns:a16="http://schemas.microsoft.com/office/drawing/2014/main" id="{43D1C6C5-4335-43DA-A7FD-5E6455818ABC}"/>
              </a:ext>
            </a:extLst>
          </p:cNvPr>
          <p:cNvSpPr txBox="1">
            <a:spLocks/>
          </p:cNvSpPr>
          <p:nvPr/>
        </p:nvSpPr>
        <p:spPr>
          <a:xfrm>
            <a:off x="5898832" y="3698858"/>
            <a:ext cx="3930968" cy="275812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buNone/>
            </a:pPr>
            <a:r>
              <a:rPr lang="pl-PL" dirty="0"/>
              <a:t>Pure SW attacks, e.g.,:</a:t>
            </a:r>
          </a:p>
          <a:p>
            <a:r>
              <a:rPr lang="pl-PL" sz="1600" dirty="0"/>
              <a:t>Memory safety (like overflows)</a:t>
            </a:r>
          </a:p>
          <a:p>
            <a:r>
              <a:rPr lang="pl-PL" sz="1600" dirty="0"/>
              <a:t>Injections (like cmd, XSS, SQL, etc.)</a:t>
            </a:r>
          </a:p>
          <a:p>
            <a:r>
              <a:rPr lang="pl-PL" sz="1600" dirty="0"/>
              <a:t>Logical issues (like bad design)</a:t>
            </a:r>
          </a:p>
          <a:p>
            <a:r>
              <a:rPr lang="pl-PL" sz="1600" dirty="0"/>
              <a:t>More...</a:t>
            </a:r>
            <a:endParaRPr lang="en-US" sz="1600" dirty="0"/>
          </a:p>
          <a:p>
            <a:pPr marL="0" indent="0">
              <a:buNone/>
            </a:pPr>
            <a:endParaRPr lang="en-US" dirty="0"/>
          </a:p>
        </p:txBody>
      </p:sp>
      <p:sp>
        <p:nvSpPr>
          <p:cNvPr id="15" name="Rectangle 14">
            <a:extLst>
              <a:ext uri="{FF2B5EF4-FFF2-40B4-BE49-F238E27FC236}">
                <a16:creationId xmlns:a16="http://schemas.microsoft.com/office/drawing/2014/main" id="{B3A69C83-4F34-41C0-BF62-D1B97651AF70}"/>
              </a:ext>
            </a:extLst>
          </p:cNvPr>
          <p:cNvSpPr/>
          <p:nvPr/>
        </p:nvSpPr>
        <p:spPr>
          <a:xfrm>
            <a:off x="1033024" y="3779837"/>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4A11645-8BB2-4105-AC38-4304EAF4B7D1}"/>
              </a:ext>
            </a:extLst>
          </p:cNvPr>
          <p:cNvSpPr/>
          <p:nvPr/>
        </p:nvSpPr>
        <p:spPr>
          <a:xfrm>
            <a:off x="5908758" y="3773835"/>
            <a:ext cx="3017428" cy="3931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Connector: Elbow 16">
            <a:extLst>
              <a:ext uri="{FF2B5EF4-FFF2-40B4-BE49-F238E27FC236}">
                <a16:creationId xmlns:a16="http://schemas.microsoft.com/office/drawing/2014/main" id="{482EB6A7-EA5E-4DCA-93C3-92A03DC5DDD5}"/>
              </a:ext>
            </a:extLst>
          </p:cNvPr>
          <p:cNvCxnSpPr>
            <a:cxnSpLocks/>
            <a:endCxn id="15" idx="0"/>
          </p:cNvCxnSpPr>
          <p:nvPr/>
        </p:nvCxnSpPr>
        <p:spPr>
          <a:xfrm rot="10800000" flipV="1">
            <a:off x="2541739" y="3645787"/>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C6E8FF9-C86B-4CB3-BCD0-ACAAC7FFF5C3}"/>
              </a:ext>
            </a:extLst>
          </p:cNvPr>
          <p:cNvCxnSpPr>
            <a:cxnSpLocks/>
          </p:cNvCxnSpPr>
          <p:nvPr/>
        </p:nvCxnSpPr>
        <p:spPr>
          <a:xfrm rot="10800000" flipH="1" flipV="1">
            <a:off x="5517777" y="3636629"/>
            <a:ext cx="1976435" cy="134049"/>
          </a:xfrm>
          <a:prstGeom prst="bent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F66C3C83-893E-4A50-AC81-D9A4A967F8A8}"/>
              </a:ext>
            </a:extLst>
          </p:cNvPr>
          <p:cNvSpPr/>
          <p:nvPr/>
        </p:nvSpPr>
        <p:spPr>
          <a:xfrm>
            <a:off x="5852160" y="3670620"/>
            <a:ext cx="3794760"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Targeting specific implementation (e.g., programming language, compiler, firmware, etc.)</a:t>
            </a:r>
            <a:endParaRPr lang="en-US" dirty="0">
              <a:solidFill>
                <a:srgbClr val="FFFF00"/>
              </a:solidFill>
            </a:endParaRPr>
          </a:p>
        </p:txBody>
      </p:sp>
      <p:sp>
        <p:nvSpPr>
          <p:cNvPr id="38" name="Rectangle: Rounded Corners 37">
            <a:extLst>
              <a:ext uri="{FF2B5EF4-FFF2-40B4-BE49-F238E27FC236}">
                <a16:creationId xmlns:a16="http://schemas.microsoft.com/office/drawing/2014/main" id="{200A520D-734D-4216-9370-55008ECAF748}"/>
              </a:ext>
            </a:extLst>
          </p:cNvPr>
          <p:cNvSpPr/>
          <p:nvPr/>
        </p:nvSpPr>
        <p:spPr>
          <a:xfrm>
            <a:off x="943769" y="3712812"/>
            <a:ext cx="3225253" cy="2156140"/>
          </a:xfrm>
          <a:prstGeom prst="roundRect">
            <a:avLst/>
          </a:prstGeom>
          <a:solidFill>
            <a:srgbClr val="00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Targetting specific implementation (e.g., CPU family, implementatino of architecture, etc.)</a:t>
            </a:r>
            <a:endParaRPr lang="en-US" dirty="0">
              <a:solidFill>
                <a:srgbClr val="FFFF00"/>
              </a:solidFill>
            </a:endParaRPr>
          </a:p>
        </p:txBody>
      </p:sp>
      <p:sp>
        <p:nvSpPr>
          <p:cNvPr id="39" name="Text Placeholder 2">
            <a:extLst>
              <a:ext uri="{FF2B5EF4-FFF2-40B4-BE49-F238E27FC236}">
                <a16:creationId xmlns:a16="http://schemas.microsoft.com/office/drawing/2014/main" id="{07C721C6-8457-46B1-95B4-DD687630FDA9}"/>
              </a:ext>
            </a:extLst>
          </p:cNvPr>
          <p:cNvSpPr txBox="1">
            <a:spLocks/>
          </p:cNvSpPr>
          <p:nvPr/>
        </p:nvSpPr>
        <p:spPr>
          <a:xfrm>
            <a:off x="3808218" y="5749006"/>
            <a:ext cx="2397196" cy="95276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gn="ctr">
              <a:buNone/>
            </a:pPr>
            <a:r>
              <a:rPr lang="pl-PL" sz="1600" dirty="0"/>
              <a:t>Mix of HW and SW attacks e.g.:</a:t>
            </a:r>
            <a:br>
              <a:rPr lang="pl-PL" sz="1600" dirty="0"/>
            </a:br>
            <a:r>
              <a:rPr lang="pl-PL" sz="1600" dirty="0"/>
              <a:t> Spectre / Meltdown</a:t>
            </a:r>
            <a:endParaRPr lang="en-US" sz="1600" dirty="0"/>
          </a:p>
        </p:txBody>
      </p:sp>
      <p:sp>
        <p:nvSpPr>
          <p:cNvPr id="16" name="Rectangle 15">
            <a:extLst>
              <a:ext uri="{FF2B5EF4-FFF2-40B4-BE49-F238E27FC236}">
                <a16:creationId xmlns:a16="http://schemas.microsoft.com/office/drawing/2014/main" id="{38A9EF5D-A051-4B0C-BFB8-38B57979E6DA}"/>
              </a:ext>
            </a:extLst>
          </p:cNvPr>
          <p:cNvSpPr/>
          <p:nvPr/>
        </p:nvSpPr>
        <p:spPr>
          <a:xfrm>
            <a:off x="4081304" y="5811515"/>
            <a:ext cx="1915160" cy="8902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B0069BDC-AD29-4A20-8C4C-BFDD946E3DD3}"/>
              </a:ext>
            </a:extLst>
          </p:cNvPr>
          <p:cNvCxnSpPr>
            <a:stCxn id="38" idx="3"/>
          </p:cNvCxnSpPr>
          <p:nvPr/>
        </p:nvCxnSpPr>
        <p:spPr>
          <a:xfrm>
            <a:off x="4169022"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C2A4893-CB98-45C3-93E0-BD76A518B942}"/>
              </a:ext>
            </a:extLst>
          </p:cNvPr>
          <p:cNvCxnSpPr>
            <a:cxnSpLocks/>
          </p:cNvCxnSpPr>
          <p:nvPr/>
        </p:nvCxnSpPr>
        <p:spPr>
          <a:xfrm flipH="1">
            <a:off x="4503405" y="4790882"/>
            <a:ext cx="1348755" cy="102063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FC999B12-C2CC-4163-9AD7-C15C9D158230}"/>
              </a:ext>
            </a:extLst>
          </p:cNvPr>
          <p:cNvSpPr/>
          <p:nvPr/>
        </p:nvSpPr>
        <p:spPr>
          <a:xfrm>
            <a:off x="933521" y="3712812"/>
            <a:ext cx="3225253" cy="2156140"/>
          </a:xfrm>
          <a:prstGeom prst="roundRect">
            <a:avLst/>
          </a:prstGeom>
          <a:solidFill>
            <a:srgbClr val="FF00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solidFill>
                  <a:srgbClr val="FFFF00"/>
                </a:solidFill>
              </a:rPr>
              <a:t>What if the bug is in the „reference code” like HW ISA itself?</a:t>
            </a:r>
            <a:endParaRPr lang="en-US" dirty="0">
              <a:solidFill>
                <a:srgbClr val="FFFF00"/>
              </a:solidFill>
            </a:endParaRPr>
          </a:p>
        </p:txBody>
      </p:sp>
      <p:sp>
        <p:nvSpPr>
          <p:cNvPr id="45" name="Text Placeholder 2">
            <a:extLst>
              <a:ext uri="{FF2B5EF4-FFF2-40B4-BE49-F238E27FC236}">
                <a16:creationId xmlns:a16="http://schemas.microsoft.com/office/drawing/2014/main" id="{51134BF8-08EB-4526-BF2B-096DF607A9B4}"/>
              </a:ext>
            </a:extLst>
          </p:cNvPr>
          <p:cNvSpPr txBox="1">
            <a:spLocks/>
          </p:cNvSpPr>
          <p:nvPr/>
        </p:nvSpPr>
        <p:spPr>
          <a:xfrm>
            <a:off x="283082" y="6026913"/>
            <a:ext cx="3767370" cy="1093826"/>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r>
              <a:rPr lang="pl-PL" sz="1600" dirty="0"/>
              <a:t>Problem with </a:t>
            </a:r>
            <a:r>
              <a:rPr lang="pl-PL" sz="1600" b="1" u="sng" dirty="0"/>
              <a:t>all implementations</a:t>
            </a:r>
            <a:r>
              <a:rPr lang="pl-PL" sz="1600" dirty="0"/>
              <a:t> not </a:t>
            </a:r>
            <a:r>
              <a:rPr lang="en-US" sz="1600" dirty="0"/>
              <a:t>a </a:t>
            </a:r>
            <a:r>
              <a:rPr lang="pl-PL" sz="1600" dirty="0"/>
              <a:t>specific one!</a:t>
            </a:r>
          </a:p>
          <a:p>
            <a:r>
              <a:rPr lang="pl-PL" sz="1600" dirty="0"/>
              <a:t>SW can’t trust HW at all...</a:t>
            </a:r>
            <a:endParaRPr lang="en-US" sz="1600" dirty="0"/>
          </a:p>
        </p:txBody>
      </p:sp>
      <p:sp>
        <p:nvSpPr>
          <p:cNvPr id="18" name="Rectangle 17">
            <a:extLst>
              <a:ext uri="{FF2B5EF4-FFF2-40B4-BE49-F238E27FC236}">
                <a16:creationId xmlns:a16="http://schemas.microsoft.com/office/drawing/2014/main" id="{7A907EC4-D5C4-492C-9C8A-57AB8DB5C739}"/>
              </a:ext>
            </a:extLst>
          </p:cNvPr>
          <p:cNvSpPr/>
          <p:nvPr/>
        </p:nvSpPr>
        <p:spPr>
          <a:xfrm>
            <a:off x="320040" y="6085840"/>
            <a:ext cx="3688080" cy="10440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F5E36D21-0A6C-4101-8C26-007611F8E24D}"/>
              </a:ext>
            </a:extLst>
          </p:cNvPr>
          <p:cNvCxnSpPr>
            <a:stCxn id="44" idx="1"/>
          </p:cNvCxnSpPr>
          <p:nvPr/>
        </p:nvCxnSpPr>
        <p:spPr>
          <a:xfrm rot="10800000" flipV="1">
            <a:off x="639799" y="4790882"/>
            <a:ext cx="293723" cy="1285584"/>
          </a:xfrm>
          <a:prstGeom prst="bentConnector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A401F83-A3DE-4FAC-88EA-E49F09172C3E}"/>
              </a:ext>
            </a:extLst>
          </p:cNvPr>
          <p:cNvCxnSpPr>
            <a:cxnSpLocks/>
            <a:stCxn id="2" idx="0"/>
            <a:endCxn id="18" idx="1"/>
          </p:cNvCxnSpPr>
          <p:nvPr/>
        </p:nvCxnSpPr>
        <p:spPr>
          <a:xfrm rot="16200000" flipH="1" flipV="1">
            <a:off x="-413453" y="1172429"/>
            <a:ext cx="6168946" cy="4701960"/>
          </a:xfrm>
          <a:prstGeom prst="bentConnector4">
            <a:avLst>
              <a:gd name="adj1" fmla="val -3706"/>
              <a:gd name="adj2" fmla="val 103636"/>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7097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rgbClr val="C00000"/>
                </a:solidFill>
              </a:rPr>
              <a:t>How</a:t>
            </a:r>
            <a:r>
              <a:rPr lang="pl-PL" dirty="0">
                <a:solidFill>
                  <a:schemeClr val="accent1"/>
                </a:solidFill>
              </a:rPr>
              <a:t> </a:t>
            </a:r>
            <a:r>
              <a:rPr lang="en-US" dirty="0">
                <a:solidFill>
                  <a:schemeClr val="accent1"/>
                </a:solidFill>
              </a:rPr>
              <a:t>did we find it?</a:t>
            </a:r>
          </a:p>
        </p:txBody>
      </p:sp>
      <p:sp>
        <p:nvSpPr>
          <p:cNvPr id="5" name="Text Placeholder 2"/>
          <p:cNvSpPr txBox="1">
            <a:spLocks/>
          </p:cNvSpPr>
          <p:nvPr/>
        </p:nvSpPr>
        <p:spPr>
          <a:xfrm>
            <a:off x="371792" y="1323975"/>
            <a:ext cx="9449358" cy="497258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100" dirty="0">
                <a:effectLst/>
              </a:rPr>
              <a:t>We wanted to analyze Boot-SW where specific microcode runs but…</a:t>
            </a:r>
          </a:p>
          <a:p>
            <a:pPr marL="961171" lvl="1" indent="-457200">
              <a:buFont typeface="Wingdings" panose="05000000000000000000" pitchFamily="2" charset="2"/>
              <a:buChar char="v"/>
            </a:pPr>
            <a:r>
              <a:rPr lang="en-US" sz="1800" dirty="0">
                <a:effectLst/>
              </a:rPr>
              <a:t>It was running on the RISC-V chip (which we had 0 experience with)</a:t>
            </a:r>
          </a:p>
          <a:p>
            <a:pPr marL="1465143" lvl="2" indent="-457200">
              <a:buFont typeface="Wingdings" panose="05000000000000000000" pitchFamily="2" charset="2"/>
              <a:buChar char="v"/>
            </a:pPr>
            <a:r>
              <a:rPr lang="en-US" sz="1600" dirty="0">
                <a:effectLst/>
              </a:rPr>
              <a:t>Moreover, it was a custom implementation of RISC-V with custom extensions and functionalities!</a:t>
            </a:r>
          </a:p>
          <a:p>
            <a:pPr marL="961171" lvl="1" indent="-457200">
              <a:buFont typeface="Wingdings" panose="05000000000000000000" pitchFamily="2" charset="2"/>
              <a:buChar char="v"/>
            </a:pPr>
            <a:endParaRPr lang="en-US" sz="1579" dirty="0">
              <a:effectLst/>
            </a:endParaRPr>
          </a:p>
          <a:p>
            <a:pPr marL="961171" lvl="1" indent="-457200">
              <a:buFont typeface="Wingdings" panose="05000000000000000000" pitchFamily="2" charset="2"/>
              <a:buChar char="v"/>
            </a:pPr>
            <a:r>
              <a:rPr lang="en-US" sz="1800" dirty="0">
                <a:effectLst/>
              </a:rPr>
              <a:t>Boot-SW was written in </a:t>
            </a:r>
            <a:r>
              <a:rPr lang="en-US" sz="1800" dirty="0" err="1">
                <a:effectLst/>
              </a:rPr>
              <a:t>AdaCore</a:t>
            </a:r>
            <a:r>
              <a:rPr lang="en-US" sz="1800" dirty="0">
                <a:effectLst/>
              </a:rPr>
              <a:t>/SPARK language (which we had 0 experience with):</a:t>
            </a:r>
          </a:p>
          <a:p>
            <a:pPr marL="1465143" lvl="2" indent="-457200">
              <a:buFont typeface="Wingdings" panose="05000000000000000000" pitchFamily="2" charset="2"/>
              <a:buChar char="v"/>
            </a:pPr>
            <a:r>
              <a:rPr lang="en-US" sz="1580" dirty="0">
                <a:effectLst/>
              </a:rPr>
              <a:t>Is there any public offensive research on that language?</a:t>
            </a:r>
          </a:p>
          <a:p>
            <a:pPr marL="1465143" lvl="2" indent="-457200">
              <a:buFont typeface="Wingdings" panose="05000000000000000000" pitchFamily="2" charset="2"/>
              <a:buChar char="v"/>
            </a:pPr>
            <a:r>
              <a:rPr lang="en-US" sz="1580" dirty="0">
                <a:effectLst/>
              </a:rPr>
              <a:t>Did anyone ever hear about it before?</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At that time none of the Reverse Engineering tools natively supported RISC-V</a:t>
            </a:r>
          </a:p>
          <a:p>
            <a:pPr marL="1465143" lvl="2" indent="-457200">
              <a:buFont typeface="Wingdings" panose="05000000000000000000" pitchFamily="2" charset="2"/>
              <a:buChar char="v"/>
            </a:pPr>
            <a:r>
              <a:rPr lang="en-US" sz="1580" dirty="0">
                <a:effectLst/>
              </a:rPr>
              <a:t>Including IDA Pro and </a:t>
            </a:r>
            <a:r>
              <a:rPr lang="en-US" sz="1580" dirty="0" err="1">
                <a:effectLst/>
              </a:rPr>
              <a:t>Ghidra</a:t>
            </a:r>
            <a:endParaRPr lang="en-US" sz="1580" dirty="0">
              <a:effectLst/>
            </a:endParaRPr>
          </a:p>
          <a:p>
            <a:pPr marL="961171" lvl="1" indent="-457200">
              <a:buFont typeface="Wingdings" panose="05000000000000000000" pitchFamily="2" charset="2"/>
              <a:buChar char="v"/>
            </a:pPr>
            <a:endParaRPr lang="en-US" sz="1800" dirty="0">
              <a:effectLst/>
            </a:endParaRPr>
          </a:p>
        </p:txBody>
      </p:sp>
    </p:spTree>
    <p:extLst>
      <p:ext uri="{BB962C8B-B14F-4D97-AF65-F5344CB8AC3E}">
        <p14:creationId xmlns:p14="http://schemas.microsoft.com/office/powerpoint/2010/main" val="23824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rgbClr val="C00000"/>
                </a:solidFill>
              </a:rPr>
              <a:t>How</a:t>
            </a:r>
            <a:r>
              <a:rPr lang="pl-PL" dirty="0">
                <a:solidFill>
                  <a:schemeClr val="accent1"/>
                </a:solidFill>
              </a:rPr>
              <a:t> </a:t>
            </a:r>
            <a:r>
              <a:rPr lang="en-US" dirty="0">
                <a:solidFill>
                  <a:schemeClr val="accent1"/>
                </a:solidFill>
              </a:rPr>
              <a:t>did we find it?</a:t>
            </a:r>
          </a:p>
        </p:txBody>
      </p:sp>
      <p:sp>
        <p:nvSpPr>
          <p:cNvPr id="5" name="Text Placeholder 2"/>
          <p:cNvSpPr txBox="1">
            <a:spLocks/>
          </p:cNvSpPr>
          <p:nvPr/>
        </p:nvSpPr>
        <p:spPr>
          <a:xfrm>
            <a:off x="371792" y="1323975"/>
            <a:ext cx="9449358" cy="6123664"/>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100" dirty="0">
                <a:effectLst/>
              </a:rPr>
              <a:t>We wanted to analyze Boot-SW where specific microcode runs but…</a:t>
            </a:r>
          </a:p>
          <a:p>
            <a:pPr marL="961171" lvl="1" indent="-457200">
              <a:buFont typeface="Wingdings" panose="05000000000000000000" pitchFamily="2" charset="2"/>
              <a:buChar char="v"/>
            </a:pPr>
            <a:r>
              <a:rPr lang="en-US" sz="1800" dirty="0">
                <a:effectLst/>
              </a:rPr>
              <a:t>It was running on the RISC-V chip (which we had 0 experience with)</a:t>
            </a:r>
          </a:p>
          <a:p>
            <a:pPr marL="1465143" lvl="2" indent="-457200">
              <a:buFont typeface="Wingdings" panose="05000000000000000000" pitchFamily="2" charset="2"/>
              <a:buChar char="v"/>
            </a:pPr>
            <a:r>
              <a:rPr lang="en-US" sz="1600" dirty="0">
                <a:effectLst/>
              </a:rPr>
              <a:t>Moreover, it was a custom implementation of RISC-V with custom extensions and functionalities!</a:t>
            </a:r>
          </a:p>
          <a:p>
            <a:pPr marL="961171" lvl="1" indent="-457200">
              <a:buFont typeface="Wingdings" panose="05000000000000000000" pitchFamily="2" charset="2"/>
              <a:buChar char="v"/>
            </a:pPr>
            <a:endParaRPr lang="en-US" sz="1579" dirty="0">
              <a:effectLst/>
            </a:endParaRPr>
          </a:p>
          <a:p>
            <a:pPr marL="961171" lvl="1" indent="-457200">
              <a:buFont typeface="Wingdings" panose="05000000000000000000" pitchFamily="2" charset="2"/>
              <a:buChar char="v"/>
            </a:pPr>
            <a:r>
              <a:rPr lang="en-US" sz="1800" dirty="0">
                <a:effectLst/>
              </a:rPr>
              <a:t>Boot-SW was written in </a:t>
            </a:r>
            <a:r>
              <a:rPr lang="en-US" sz="1800" dirty="0" err="1">
                <a:effectLst/>
              </a:rPr>
              <a:t>AdaCore</a:t>
            </a:r>
            <a:r>
              <a:rPr lang="en-US" sz="1800" dirty="0">
                <a:effectLst/>
              </a:rPr>
              <a:t>/SPARK language (which we had 0 experience with):</a:t>
            </a:r>
          </a:p>
          <a:p>
            <a:pPr marL="1465143" lvl="2" indent="-457200">
              <a:buFont typeface="Wingdings" panose="05000000000000000000" pitchFamily="2" charset="2"/>
              <a:buChar char="v"/>
            </a:pPr>
            <a:r>
              <a:rPr lang="en-US" sz="1580" dirty="0">
                <a:effectLst/>
              </a:rPr>
              <a:t>Is there any public offensive research on that language?</a:t>
            </a:r>
          </a:p>
          <a:p>
            <a:pPr marL="1465143" lvl="2" indent="-457200">
              <a:buFont typeface="Wingdings" panose="05000000000000000000" pitchFamily="2" charset="2"/>
              <a:buChar char="v"/>
            </a:pPr>
            <a:r>
              <a:rPr lang="en-US" sz="1580" dirty="0">
                <a:effectLst/>
              </a:rPr>
              <a:t>Did anyone ever hear about it before?</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At that time none of the Reverse Engineering tools natively supported RISC-V</a:t>
            </a:r>
          </a:p>
          <a:p>
            <a:pPr marL="1465143" lvl="2" indent="-457200">
              <a:buFont typeface="Wingdings" panose="05000000000000000000" pitchFamily="2" charset="2"/>
              <a:buChar char="v"/>
            </a:pPr>
            <a:r>
              <a:rPr lang="en-US" sz="1580" dirty="0">
                <a:effectLst/>
              </a:rPr>
              <a:t>Including IDA Pro and </a:t>
            </a:r>
            <a:r>
              <a:rPr lang="en-US" sz="1580" dirty="0" err="1">
                <a:effectLst/>
              </a:rPr>
              <a:t>Ghidra</a:t>
            </a:r>
            <a:endParaRPr lang="en-US" sz="1580" dirty="0">
              <a:effectLst/>
            </a:endParaRP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During this talk we will describe our journey through all of the problems which resulted in a discovery of the ambiguity of the RISC-V specification</a:t>
            </a:r>
          </a:p>
          <a:p>
            <a:pPr marL="1465143" lvl="2" indent="-457200">
              <a:buFont typeface="Wingdings" panose="05000000000000000000" pitchFamily="2" charset="2"/>
              <a:buChar char="v"/>
            </a:pPr>
            <a:r>
              <a:rPr lang="en-US" sz="1580" dirty="0">
                <a:effectLst/>
              </a:rPr>
              <a:t>And one additional problem as well ;-)</a:t>
            </a:r>
          </a:p>
        </p:txBody>
      </p:sp>
    </p:spTree>
    <p:extLst>
      <p:ext uri="{BB962C8B-B14F-4D97-AF65-F5344CB8AC3E}">
        <p14:creationId xmlns:p14="http://schemas.microsoft.com/office/powerpoint/2010/main" val="1543620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in a nutshell</a:t>
            </a:r>
            <a:endParaRPr lang="en-US" dirty="0">
              <a:solidFill>
                <a:schemeClr val="accent1"/>
              </a:solidFill>
            </a:endParaRPr>
          </a:p>
        </p:txBody>
      </p:sp>
      <p:sp>
        <p:nvSpPr>
          <p:cNvPr id="5" name="Text Placeholder 2"/>
          <p:cNvSpPr txBox="1">
            <a:spLocks/>
          </p:cNvSpPr>
          <p:nvPr/>
        </p:nvSpPr>
        <p:spPr>
          <a:xfrm>
            <a:off x="371792" y="1323975"/>
            <a:ext cx="9137225" cy="574394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RISC-V is an open standard instruction set architecture (ISA) based on established RISC principles</a:t>
            </a:r>
            <a:endParaRPr lang="pl-PL" sz="1800" dirty="0">
              <a:effectLst/>
            </a:endParaRPr>
          </a:p>
          <a:p>
            <a:pPr marL="457200" indent="-457200">
              <a:buFont typeface="Wingdings" panose="05000000000000000000" pitchFamily="2" charset="2"/>
              <a:buChar char="v"/>
            </a:pPr>
            <a:endParaRPr lang="pl-PL" sz="1800" dirty="0">
              <a:effectLst/>
            </a:endParaRPr>
          </a:p>
          <a:p>
            <a:pPr marL="457200" indent="-457200">
              <a:buFont typeface="Wingdings" panose="05000000000000000000" pitchFamily="2" charset="2"/>
              <a:buChar char="v"/>
            </a:pPr>
            <a:r>
              <a:rPr lang="pl-PL" sz="1800" dirty="0">
                <a:effectLst/>
              </a:rPr>
              <a:t>Unlike </a:t>
            </a:r>
            <a:r>
              <a:rPr lang="en-US" sz="1800" dirty="0">
                <a:effectLst/>
              </a:rPr>
              <a:t>most other ISA</a:t>
            </a:r>
            <a:r>
              <a:rPr lang="pl-PL" sz="1800" dirty="0">
                <a:effectLst/>
              </a:rPr>
              <a:t>s</a:t>
            </a:r>
            <a:r>
              <a:rPr lang="en-US" sz="1800" dirty="0">
                <a:effectLst/>
              </a:rPr>
              <a:t>, the RISC-V ISA is provided under </a:t>
            </a:r>
            <a:r>
              <a:rPr lang="en-US" sz="1800" b="1" dirty="0">
                <a:solidFill>
                  <a:srgbClr val="C00000"/>
                </a:solidFill>
                <a:effectLst/>
              </a:rPr>
              <a:t>open</a:t>
            </a:r>
            <a:r>
              <a:rPr lang="pl-PL" sz="1800" b="1" dirty="0">
                <a:solidFill>
                  <a:srgbClr val="C00000"/>
                </a:solidFill>
                <a:effectLst/>
              </a:rPr>
              <a:t>-</a:t>
            </a:r>
            <a:r>
              <a:rPr lang="en-US" sz="1800" b="1" dirty="0">
                <a:solidFill>
                  <a:srgbClr val="C00000"/>
                </a:solidFill>
                <a:effectLst/>
              </a:rPr>
              <a:t>source licenses </a:t>
            </a:r>
            <a:r>
              <a:rPr lang="en-US" sz="1800" dirty="0">
                <a:effectLst/>
              </a:rPr>
              <a:t>that do not require fees to use</a:t>
            </a:r>
            <a:endParaRPr lang="pl-PL" sz="1800" dirty="0">
              <a:effectLst/>
            </a:endParaRPr>
          </a:p>
          <a:p>
            <a:pPr marL="961171" lvl="1" indent="-457200">
              <a:buFont typeface="Wingdings" panose="05000000000000000000" pitchFamily="2" charset="2"/>
              <a:buChar char="v"/>
            </a:pPr>
            <a:r>
              <a:rPr lang="pl-PL" sz="1579" dirty="0">
                <a:effectLst/>
              </a:rPr>
              <a:t>The same RISC-V chip might have tons of different implementations</a:t>
            </a:r>
          </a:p>
          <a:p>
            <a:pPr marL="503971" lvl="1" indent="0">
              <a:buNone/>
            </a:pPr>
            <a:endParaRPr lang="pl-PL" sz="1579" dirty="0">
              <a:effectLst/>
            </a:endParaRPr>
          </a:p>
          <a:p>
            <a:pPr marL="457200" indent="-457200">
              <a:buFont typeface="Wingdings" panose="05000000000000000000" pitchFamily="2" charset="2"/>
              <a:buChar char="v"/>
            </a:pPr>
            <a:r>
              <a:rPr lang="en-US" sz="1800" dirty="0">
                <a:effectLst/>
              </a:rPr>
              <a:t>RISC-V has a small standard base ISA, with multiple standard extensions</a:t>
            </a:r>
            <a:r>
              <a:rPr lang="pl-PL" sz="1800" dirty="0">
                <a:effectLst/>
              </a:rPr>
              <a:t>:</a:t>
            </a:r>
          </a:p>
          <a:p>
            <a:pPr marL="961171" lvl="1" indent="-457200">
              <a:buFont typeface="Wingdings" panose="05000000000000000000" pitchFamily="2" charset="2"/>
              <a:buChar char="v"/>
            </a:pPr>
            <a:r>
              <a:rPr lang="en-US" sz="1579" dirty="0">
                <a:effectLst/>
              </a:rPr>
              <a:t>Potential h</a:t>
            </a:r>
            <a:r>
              <a:rPr lang="pl-PL" sz="1579" dirty="0">
                <a:effectLst/>
              </a:rPr>
              <a:t>uge fragmentation of the silicons</a:t>
            </a:r>
          </a:p>
          <a:p>
            <a:pPr marL="961171" lvl="1" indent="-457200">
              <a:buFont typeface="Wingdings" panose="05000000000000000000" pitchFamily="2" charset="2"/>
              <a:buChar char="v"/>
            </a:pPr>
            <a:endParaRPr lang="pl-PL" sz="1579" dirty="0">
              <a:effectLst/>
            </a:endParaRPr>
          </a:p>
          <a:p>
            <a:pPr marL="457200" indent="-457200">
              <a:buFont typeface="Wingdings" panose="05000000000000000000" pitchFamily="2" charset="2"/>
              <a:buChar char="v"/>
            </a:pPr>
            <a:r>
              <a:rPr lang="pl-PL" sz="1800" dirty="0">
                <a:effectLst/>
              </a:rPr>
              <a:t>Everyone can easily add</a:t>
            </a:r>
            <a:r>
              <a:rPr lang="en-US" sz="1800" dirty="0">
                <a:effectLst/>
              </a:rPr>
              <a:t> their</a:t>
            </a:r>
            <a:r>
              <a:rPr lang="pl-PL" sz="1800" dirty="0">
                <a:effectLst/>
              </a:rPr>
              <a:t> own custom RISC-V extension (it’s open source!)</a:t>
            </a:r>
          </a:p>
          <a:p>
            <a:pPr marL="961171" lvl="1" indent="-457200">
              <a:buFont typeface="Wingdings" panose="05000000000000000000" pitchFamily="2" charset="2"/>
              <a:buChar char="v"/>
            </a:pPr>
            <a:r>
              <a:rPr lang="pl-PL" sz="1579" dirty="0">
                <a:effectLst/>
              </a:rPr>
              <a:t>Even bigger fragmentation!</a:t>
            </a:r>
            <a:endParaRPr lang="en-US" sz="1579" dirty="0">
              <a:effectLst/>
            </a:endParaRPr>
          </a:p>
          <a:p>
            <a:pPr marL="457200" indent="-457200">
              <a:buFont typeface="Wingdings" panose="05000000000000000000" pitchFamily="2" charset="2"/>
              <a:buChar char="v"/>
            </a:pPr>
            <a:endParaRPr lang="pl-PL" sz="1800" dirty="0">
              <a:effectLst/>
            </a:endParaRPr>
          </a:p>
          <a:p>
            <a:pPr marL="457200" indent="-457200">
              <a:buFont typeface="Wingdings" panose="05000000000000000000" pitchFamily="2" charset="2"/>
              <a:buChar char="v"/>
            </a:pPr>
            <a:r>
              <a:rPr lang="pl-PL" sz="1800" dirty="0">
                <a:effectLst/>
              </a:rPr>
              <a:t>There are more than 500+ members of the RISC-V </a:t>
            </a:r>
            <a:r>
              <a:rPr lang="en-US" sz="1800" dirty="0">
                <a:effectLst/>
              </a:rPr>
              <a:t>Foundation</a:t>
            </a:r>
            <a:endParaRPr lang="en-US" dirty="0"/>
          </a:p>
        </p:txBody>
      </p:sp>
    </p:spTree>
    <p:extLst>
      <p:ext uri="{BB962C8B-B14F-4D97-AF65-F5344CB8AC3E}">
        <p14:creationId xmlns:p14="http://schemas.microsoft.com/office/powerpoint/2010/main" val="232989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in a nutshell</a:t>
            </a:r>
            <a:endParaRPr lang="en-US" dirty="0">
              <a:solidFill>
                <a:schemeClr val="accent1"/>
              </a:solidFill>
            </a:endParaRPr>
          </a:p>
        </p:txBody>
      </p:sp>
      <p:sp>
        <p:nvSpPr>
          <p:cNvPr id="5" name="Text Placeholder 2"/>
          <p:cNvSpPr txBox="1">
            <a:spLocks/>
          </p:cNvSpPr>
          <p:nvPr/>
        </p:nvSpPr>
        <p:spPr>
          <a:xfrm>
            <a:off x="371792" y="1323975"/>
            <a:ext cx="9137225" cy="5338706"/>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RISC-V is an open standard instruction set architecture (ISA) based on established RISC principles</a:t>
            </a:r>
            <a:endParaRPr lang="pl-PL" sz="1800" dirty="0">
              <a:effectLst/>
            </a:endParaRPr>
          </a:p>
          <a:p>
            <a:pPr marL="457200" indent="-457200">
              <a:buFont typeface="Wingdings" panose="05000000000000000000" pitchFamily="2" charset="2"/>
              <a:buChar char="v"/>
            </a:pPr>
            <a:endParaRPr lang="pl-PL" sz="1800" dirty="0">
              <a:effectLst/>
            </a:endParaRPr>
          </a:p>
          <a:p>
            <a:pPr marL="457200" indent="-457200">
              <a:buFont typeface="Wingdings" panose="05000000000000000000" pitchFamily="2" charset="2"/>
              <a:buChar char="v"/>
            </a:pPr>
            <a:r>
              <a:rPr lang="pl-PL" sz="1800" dirty="0">
                <a:effectLst/>
              </a:rPr>
              <a:t>Unlike </a:t>
            </a:r>
            <a:r>
              <a:rPr lang="en-US" sz="1800" dirty="0">
                <a:effectLst/>
              </a:rPr>
              <a:t>most other ISA</a:t>
            </a:r>
            <a:r>
              <a:rPr lang="pl-PL" sz="1800" dirty="0">
                <a:effectLst/>
              </a:rPr>
              <a:t>s</a:t>
            </a:r>
            <a:r>
              <a:rPr lang="en-US" sz="1800" dirty="0">
                <a:effectLst/>
              </a:rPr>
              <a:t>, the RISC-V ISA is provided under </a:t>
            </a:r>
            <a:r>
              <a:rPr lang="en-US" sz="1800" b="1" dirty="0">
                <a:solidFill>
                  <a:srgbClr val="C00000"/>
                </a:solidFill>
                <a:effectLst/>
              </a:rPr>
              <a:t>open</a:t>
            </a:r>
            <a:r>
              <a:rPr lang="pl-PL" sz="1800" b="1" dirty="0">
                <a:solidFill>
                  <a:srgbClr val="C00000"/>
                </a:solidFill>
                <a:effectLst/>
              </a:rPr>
              <a:t>-</a:t>
            </a:r>
            <a:r>
              <a:rPr lang="en-US" sz="1800" b="1" dirty="0">
                <a:solidFill>
                  <a:srgbClr val="C00000"/>
                </a:solidFill>
                <a:effectLst/>
              </a:rPr>
              <a:t>source licenses </a:t>
            </a:r>
            <a:r>
              <a:rPr lang="en-US" sz="1800" dirty="0">
                <a:effectLst/>
              </a:rPr>
              <a:t>that do not require fees to use</a:t>
            </a:r>
            <a:endParaRPr lang="pl-PL" sz="1800" dirty="0">
              <a:effectLst/>
            </a:endParaRPr>
          </a:p>
          <a:p>
            <a:pPr marL="961171" lvl="1" indent="-457200">
              <a:buFont typeface="Wingdings" panose="05000000000000000000" pitchFamily="2" charset="2"/>
              <a:buChar char="v"/>
            </a:pPr>
            <a:r>
              <a:rPr lang="pl-PL" sz="1579" dirty="0">
                <a:effectLst/>
              </a:rPr>
              <a:t>The same RISC-V chip might have tons of different implementations</a:t>
            </a:r>
          </a:p>
          <a:p>
            <a:pPr marL="503971" lvl="1" indent="0">
              <a:buNone/>
            </a:pPr>
            <a:endParaRPr lang="pl-PL" sz="1579" dirty="0">
              <a:effectLst/>
            </a:endParaRPr>
          </a:p>
          <a:p>
            <a:pPr marL="457200" indent="-457200">
              <a:buFont typeface="Wingdings" panose="05000000000000000000" pitchFamily="2" charset="2"/>
              <a:buChar char="v"/>
            </a:pPr>
            <a:r>
              <a:rPr lang="en-US" sz="1800" dirty="0">
                <a:effectLst/>
              </a:rPr>
              <a:t>RISC-V has a small standard base ISA, with multiple standard extensions</a:t>
            </a:r>
            <a:r>
              <a:rPr lang="pl-PL" sz="1800" dirty="0">
                <a:effectLst/>
              </a:rPr>
              <a:t>:</a:t>
            </a:r>
          </a:p>
          <a:p>
            <a:pPr marL="961171" lvl="1" indent="-457200">
              <a:buFont typeface="Wingdings" panose="05000000000000000000" pitchFamily="2" charset="2"/>
              <a:buChar char="v"/>
            </a:pPr>
            <a:r>
              <a:rPr lang="pl-PL" sz="1579" dirty="0">
                <a:effectLst/>
              </a:rPr>
              <a:t>Huge fragmentation of the silicons</a:t>
            </a:r>
          </a:p>
          <a:p>
            <a:pPr marL="961171" lvl="1" indent="-457200">
              <a:buFont typeface="Wingdings" panose="05000000000000000000" pitchFamily="2" charset="2"/>
              <a:buChar char="v"/>
            </a:pPr>
            <a:endParaRPr lang="pl-PL" sz="1579" dirty="0">
              <a:effectLst/>
            </a:endParaRPr>
          </a:p>
          <a:p>
            <a:pPr marL="457200" indent="-457200">
              <a:buFont typeface="Wingdings" panose="05000000000000000000" pitchFamily="2" charset="2"/>
              <a:buChar char="v"/>
            </a:pPr>
            <a:r>
              <a:rPr lang="pl-PL" sz="1800" dirty="0">
                <a:effectLst/>
              </a:rPr>
              <a:t>Everyone can easily add own custom RISC-V extension (it’s open source!)</a:t>
            </a:r>
          </a:p>
          <a:p>
            <a:pPr marL="961171" lvl="1" indent="-457200">
              <a:buFont typeface="Wingdings" panose="05000000000000000000" pitchFamily="2" charset="2"/>
              <a:buChar char="v"/>
            </a:pPr>
            <a:r>
              <a:rPr lang="pl-PL" sz="1579" dirty="0">
                <a:effectLst/>
              </a:rPr>
              <a:t>Even bigger fragmentation!</a:t>
            </a:r>
            <a:endParaRPr lang="en-US" sz="1579" dirty="0">
              <a:effectLst/>
            </a:endParaRPr>
          </a:p>
          <a:p>
            <a:pPr marL="0" indent="0">
              <a:buNone/>
            </a:pPr>
            <a:endParaRPr lang="en-US" dirty="0"/>
          </a:p>
        </p:txBody>
      </p:sp>
      <p:pic>
        <p:nvPicPr>
          <p:cNvPr id="2050" name="Picture 2" descr="RISC-V opens up processor design | ZDNet">
            <a:extLst>
              <a:ext uri="{FF2B5EF4-FFF2-40B4-BE49-F238E27FC236}">
                <a16:creationId xmlns:a16="http://schemas.microsoft.com/office/drawing/2014/main" id="{02F279B3-09D6-428D-BA3D-981808B6B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8" y="1430020"/>
            <a:ext cx="9726612" cy="5545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539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graphicFrame>
        <p:nvGraphicFramePr>
          <p:cNvPr id="3" name="Table 5">
            <a:extLst>
              <a:ext uri="{FF2B5EF4-FFF2-40B4-BE49-F238E27FC236}">
                <a16:creationId xmlns:a16="http://schemas.microsoft.com/office/drawing/2014/main" id="{A51C0838-8C36-455B-9DFA-AF536E147D56}"/>
              </a:ext>
            </a:extLst>
          </p:cNvPr>
          <p:cNvGraphicFramePr>
            <a:graphicFrameLocks noGrp="1"/>
          </p:cNvGraphicFramePr>
          <p:nvPr>
            <p:extLst>
              <p:ext uri="{D42A27DB-BD31-4B8C-83A1-F6EECF244321}">
                <p14:modId xmlns:p14="http://schemas.microsoft.com/office/powerpoint/2010/main" val="1077293810"/>
              </p:ext>
            </p:extLst>
          </p:nvPr>
        </p:nvGraphicFramePr>
        <p:xfrm>
          <a:off x="152400" y="1539698"/>
          <a:ext cx="9865360" cy="4346610"/>
        </p:xfrm>
        <a:graphic>
          <a:graphicData uri="http://schemas.openxmlformats.org/drawingml/2006/table">
            <a:tbl>
              <a:tblPr firstRow="1" bandRow="1">
                <a:tableStyleId>{073A0DAA-6AF3-43AB-8588-CEC1D06C72B9}</a:tableStyleId>
              </a:tblPr>
              <a:tblGrid>
                <a:gridCol w="2363436">
                  <a:extLst>
                    <a:ext uri="{9D8B030D-6E8A-4147-A177-3AD203B41FA5}">
                      <a16:colId xmlns:a16="http://schemas.microsoft.com/office/drawing/2014/main" val="3557441403"/>
                    </a:ext>
                  </a:extLst>
                </a:gridCol>
                <a:gridCol w="3702084">
                  <a:extLst>
                    <a:ext uri="{9D8B030D-6E8A-4147-A177-3AD203B41FA5}">
                      <a16:colId xmlns:a16="http://schemas.microsoft.com/office/drawing/2014/main" val="1858572373"/>
                    </a:ext>
                  </a:extLst>
                </a:gridCol>
                <a:gridCol w="3799840">
                  <a:extLst>
                    <a:ext uri="{9D8B030D-6E8A-4147-A177-3AD203B41FA5}">
                      <a16:colId xmlns:a16="http://schemas.microsoft.com/office/drawing/2014/main" val="2689948658"/>
                    </a:ext>
                  </a:extLst>
                </a:gridCol>
              </a:tblGrid>
              <a:tr h="641914">
                <a:tc>
                  <a:txBody>
                    <a:bodyPr/>
                    <a:lstStyle/>
                    <a:p>
                      <a:endParaRPr lang="en-US"/>
                    </a:p>
                  </a:txBody>
                  <a:tcPr/>
                </a:tc>
                <a:tc>
                  <a:txBody>
                    <a:bodyPr/>
                    <a:lstStyle/>
                    <a:p>
                      <a:r>
                        <a:rPr lang="pl-PL" dirty="0"/>
                        <a:t>x86(-64)</a:t>
                      </a:r>
                      <a:endParaRPr lang="en-US" dirty="0"/>
                    </a:p>
                  </a:txBody>
                  <a:tcPr/>
                </a:tc>
                <a:tc>
                  <a:txBody>
                    <a:bodyPr/>
                    <a:lstStyle/>
                    <a:p>
                      <a:r>
                        <a:rPr lang="pl-PL" dirty="0"/>
                        <a:t>RISC-V</a:t>
                      </a:r>
                      <a:endParaRPr lang="en-US" dirty="0"/>
                    </a:p>
                  </a:txBody>
                  <a:tcPr/>
                </a:tc>
                <a:extLst>
                  <a:ext uri="{0D108BD9-81ED-4DB2-BD59-A6C34878D82A}">
                    <a16:rowId xmlns:a16="http://schemas.microsoft.com/office/drawing/2014/main" val="1730099758"/>
                  </a:ext>
                </a:extLst>
              </a:tr>
              <a:tr h="399028">
                <a:tc>
                  <a:txBody>
                    <a:bodyPr/>
                    <a:lstStyle/>
                    <a:p>
                      <a:r>
                        <a:rPr lang="pl-PL" sz="1600" dirty="0"/>
                        <a:t>License</a:t>
                      </a:r>
                      <a:endParaRPr lang="en-US" sz="1600" dirty="0"/>
                    </a:p>
                  </a:txBody>
                  <a:tcPr/>
                </a:tc>
                <a:tc>
                  <a:txBody>
                    <a:bodyPr/>
                    <a:lstStyle/>
                    <a:p>
                      <a:r>
                        <a:rPr lang="pl-PL" sz="1600" dirty="0"/>
                        <a:t>Fees for ISA and microarchitecture</a:t>
                      </a:r>
                      <a:endParaRPr lang="en-US" sz="1600" dirty="0"/>
                    </a:p>
                  </a:txBody>
                  <a:tcPr/>
                </a:tc>
                <a:tc>
                  <a:txBody>
                    <a:bodyPr/>
                    <a:lstStyle/>
                    <a:p>
                      <a:r>
                        <a:rPr lang="pl-PL" sz="1600" dirty="0"/>
                        <a:t>No </a:t>
                      </a:r>
                      <a:r>
                        <a:rPr lang="en-US" sz="1600" dirty="0"/>
                        <a:t>f</a:t>
                      </a:r>
                      <a:r>
                        <a:rPr lang="pl-PL" sz="1600" dirty="0"/>
                        <a:t>ee for ISA &amp; microarchitecture</a:t>
                      </a:r>
                      <a:endParaRPr lang="en-US" sz="1600" dirty="0"/>
                    </a:p>
                  </a:txBody>
                  <a:tcPr/>
                </a:tc>
                <a:extLst>
                  <a:ext uri="{0D108BD9-81ED-4DB2-BD59-A6C34878D82A}">
                    <a16:rowId xmlns:a16="http://schemas.microsoft.com/office/drawing/2014/main" val="1187932683"/>
                  </a:ext>
                </a:extLst>
              </a:tr>
              <a:tr h="350520">
                <a:tc>
                  <a:txBody>
                    <a:bodyPr/>
                    <a:lstStyle/>
                    <a:p>
                      <a:r>
                        <a:rPr lang="pl-PL" sz="1600" dirty="0"/>
                        <a:t>Instruction Set</a:t>
                      </a:r>
                      <a:endParaRPr lang="en-US" sz="1600" dirty="0"/>
                    </a:p>
                  </a:txBody>
                  <a:tcPr/>
                </a:tc>
                <a:tc>
                  <a:txBody>
                    <a:bodyPr/>
                    <a:lstStyle/>
                    <a:p>
                      <a:r>
                        <a:rPr lang="pl-PL" sz="1600" dirty="0"/>
                        <a:t>CISC* </a:t>
                      </a:r>
                      <a:endParaRPr lang="en-US" sz="1600" dirty="0"/>
                    </a:p>
                  </a:txBody>
                  <a:tcPr/>
                </a:tc>
                <a:tc>
                  <a:txBody>
                    <a:bodyPr/>
                    <a:lstStyle/>
                    <a:p>
                      <a:r>
                        <a:rPr lang="pl-PL" sz="1600" dirty="0"/>
                        <a:t>RISC</a:t>
                      </a:r>
                      <a:endParaRPr lang="en-US" sz="1600" dirty="0"/>
                    </a:p>
                  </a:txBody>
                  <a:tcPr/>
                </a:tc>
                <a:extLst>
                  <a:ext uri="{0D108BD9-81ED-4DB2-BD59-A6C34878D82A}">
                    <a16:rowId xmlns:a16="http://schemas.microsoft.com/office/drawing/2014/main" val="259565773"/>
                  </a:ext>
                </a:extLst>
              </a:tr>
              <a:tr h="350520">
                <a:tc>
                  <a:txBody>
                    <a:bodyPr/>
                    <a:lstStyle/>
                    <a:p>
                      <a:r>
                        <a:rPr lang="pl-PL" sz="1600" dirty="0"/>
                        <a:t>ISA variants</a:t>
                      </a:r>
                      <a:endParaRPr lang="en-US" sz="1600" dirty="0"/>
                    </a:p>
                  </a:txBody>
                  <a:tcPr/>
                </a:tc>
                <a:tc>
                  <a:txBody>
                    <a:bodyPr/>
                    <a:lstStyle/>
                    <a:p>
                      <a:r>
                        <a:rPr lang="pl-PL" sz="1600" dirty="0"/>
                        <a:t>16 / 32 / 64 bits</a:t>
                      </a:r>
                      <a:endParaRPr lang="en-US" sz="1600" dirty="0"/>
                    </a:p>
                  </a:txBody>
                  <a:tcPr/>
                </a:tc>
                <a:tc>
                  <a:txBody>
                    <a:bodyPr/>
                    <a:lstStyle/>
                    <a:p>
                      <a:r>
                        <a:rPr lang="pl-PL" sz="1600" dirty="0"/>
                        <a:t>32 / 64 / 128 bits</a:t>
                      </a:r>
                      <a:endParaRPr lang="en-US" sz="1600" dirty="0"/>
                    </a:p>
                  </a:txBody>
                  <a:tcPr/>
                </a:tc>
                <a:extLst>
                  <a:ext uri="{0D108BD9-81ED-4DB2-BD59-A6C34878D82A}">
                    <a16:rowId xmlns:a16="http://schemas.microsoft.com/office/drawing/2014/main" val="4272413638"/>
                  </a:ext>
                </a:extLst>
              </a:tr>
              <a:tr h="375920">
                <a:tc>
                  <a:txBody>
                    <a:bodyPr/>
                    <a:lstStyle/>
                    <a:p>
                      <a:r>
                        <a:rPr lang="pl-PL" sz="1600" dirty="0"/>
                        <a:t>Memory model</a:t>
                      </a:r>
                      <a:endParaRPr lang="en-US" sz="1600" dirty="0"/>
                    </a:p>
                  </a:txBody>
                  <a:tcPr/>
                </a:tc>
                <a:tc>
                  <a:txBody>
                    <a:bodyPr/>
                    <a:lstStyle/>
                    <a:p>
                      <a:r>
                        <a:rPr lang="pl-PL" sz="1600" dirty="0"/>
                        <a:t>Register-memory architecture</a:t>
                      </a:r>
                      <a:endParaRPr lang="en-US" sz="1600" dirty="0"/>
                    </a:p>
                  </a:txBody>
                  <a:tcPr/>
                </a:tc>
                <a:tc>
                  <a:txBody>
                    <a:bodyPr/>
                    <a:lstStyle/>
                    <a:p>
                      <a:r>
                        <a:rPr lang="pl-PL" sz="1600" dirty="0"/>
                        <a:t>Load-store architecture</a:t>
                      </a:r>
                      <a:endParaRPr lang="en-US" sz="1600" dirty="0"/>
                    </a:p>
                  </a:txBody>
                  <a:tcPr/>
                </a:tc>
                <a:extLst>
                  <a:ext uri="{0D108BD9-81ED-4DB2-BD59-A6C34878D82A}">
                    <a16:rowId xmlns:a16="http://schemas.microsoft.com/office/drawing/2014/main" val="821811049"/>
                  </a:ext>
                </a:extLst>
              </a:tr>
              <a:tr h="320040">
                <a:tc>
                  <a:txBody>
                    <a:bodyPr/>
                    <a:lstStyle/>
                    <a:p>
                      <a:r>
                        <a:rPr lang="pl-PL" sz="1600" dirty="0"/>
                        <a:t>Registers</a:t>
                      </a:r>
                      <a:endParaRPr lang="en-US" sz="1600" dirty="0"/>
                    </a:p>
                  </a:txBody>
                  <a:tcPr/>
                </a:tc>
                <a:tc>
                  <a:txBody>
                    <a:bodyPr/>
                    <a:lstStyle/>
                    <a:p>
                      <a:r>
                        <a:rPr lang="en-US" sz="1400" dirty="0"/>
                        <a:t>16-bit: 6 semi-dedicated registers, BP and SP are not general-purpose</a:t>
                      </a:r>
                    </a:p>
                    <a:p>
                      <a:r>
                        <a:rPr lang="en-US" sz="1400" dirty="0"/>
                        <a:t>32-bit: 8 GPRs, including EBP and ESP</a:t>
                      </a:r>
                    </a:p>
                    <a:p>
                      <a:r>
                        <a:rPr lang="en-US" sz="1400" dirty="0"/>
                        <a:t>64-bit: 16 GPRs, including RBP and RSP</a:t>
                      </a:r>
                    </a:p>
                  </a:txBody>
                  <a:tcPr/>
                </a:tc>
                <a:tc>
                  <a:txBody>
                    <a:bodyPr/>
                    <a:lstStyle/>
                    <a:p>
                      <a:r>
                        <a:rPr lang="en-US" sz="1600" dirty="0"/>
                        <a:t>32 (16 in the embedded variant)</a:t>
                      </a:r>
                      <a:r>
                        <a:rPr lang="pl-PL" sz="1600" dirty="0"/>
                        <a:t> – including one always-zero register</a:t>
                      </a:r>
                      <a:endParaRPr lang="en-US" sz="1600" dirty="0"/>
                    </a:p>
                  </a:txBody>
                  <a:tcPr/>
                </a:tc>
                <a:extLst>
                  <a:ext uri="{0D108BD9-81ED-4DB2-BD59-A6C34878D82A}">
                    <a16:rowId xmlns:a16="http://schemas.microsoft.com/office/drawing/2014/main" val="187141179"/>
                  </a:ext>
                </a:extLst>
              </a:tr>
              <a:tr h="641914">
                <a:tc>
                  <a:txBody>
                    <a:bodyPr/>
                    <a:lstStyle/>
                    <a:p>
                      <a:r>
                        <a:rPr lang="en-US" sz="1600" dirty="0"/>
                        <a:t>XOM</a:t>
                      </a:r>
                    </a:p>
                  </a:txBody>
                  <a:tcPr/>
                </a:tc>
                <a:tc>
                  <a:txBody>
                    <a:bodyPr/>
                    <a:lstStyle/>
                    <a:p>
                      <a:r>
                        <a:rPr lang="en-US" sz="1600" dirty="0"/>
                        <a:t>Only using SLAT – requires hypervisor</a:t>
                      </a:r>
                    </a:p>
                  </a:txBody>
                  <a:tcPr/>
                </a:tc>
                <a:tc>
                  <a:txBody>
                    <a:bodyPr/>
                    <a:lstStyle/>
                    <a:p>
                      <a:r>
                        <a:rPr lang="en-US" sz="1600" dirty="0"/>
                        <a:t>Everywhere</a:t>
                      </a:r>
                    </a:p>
                  </a:txBody>
                  <a:tcPr/>
                </a:tc>
                <a:extLst>
                  <a:ext uri="{0D108BD9-81ED-4DB2-BD59-A6C34878D82A}">
                    <a16:rowId xmlns:a16="http://schemas.microsoft.com/office/drawing/2014/main" val="216934717"/>
                  </a:ext>
                </a:extLst>
              </a:tr>
              <a:tr h="641914">
                <a:tc>
                  <a:txBody>
                    <a:bodyPr/>
                    <a:lstStyle/>
                    <a:p>
                      <a:r>
                        <a:rPr lang="pl-PL" sz="1600" dirty="0"/>
                        <a:t>SW ecosystem support</a:t>
                      </a:r>
                      <a:endParaRPr lang="en-US" sz="1600" dirty="0"/>
                    </a:p>
                  </a:txBody>
                  <a:tcPr/>
                </a:tc>
                <a:tc>
                  <a:txBody>
                    <a:bodyPr/>
                    <a:lstStyle/>
                    <a:p>
                      <a:r>
                        <a:rPr lang="pl-PL" sz="1600" dirty="0"/>
                        <a:t>Linux, Windows, MacOS, more...</a:t>
                      </a:r>
                      <a:endParaRPr lang="en-US" sz="1600" dirty="0"/>
                    </a:p>
                  </a:txBody>
                  <a:tcPr/>
                </a:tc>
                <a:tc>
                  <a:txBody>
                    <a:bodyPr/>
                    <a:lstStyle/>
                    <a:p>
                      <a:r>
                        <a:rPr lang="pl-PL" sz="1600" dirty="0"/>
                        <a:t>Linux only...</a:t>
                      </a:r>
                      <a:endParaRPr lang="en-US" sz="1600" dirty="0"/>
                    </a:p>
                  </a:txBody>
                  <a:tcPr/>
                </a:tc>
                <a:extLst>
                  <a:ext uri="{0D108BD9-81ED-4DB2-BD59-A6C34878D82A}">
                    <a16:rowId xmlns:a16="http://schemas.microsoft.com/office/drawing/2014/main" val="3798389527"/>
                  </a:ext>
                </a:extLst>
              </a:tr>
            </a:tbl>
          </a:graphicData>
        </a:graphic>
      </p:graphicFrame>
      <p:sp>
        <p:nvSpPr>
          <p:cNvPr id="6" name="TextBox 5">
            <a:extLst>
              <a:ext uri="{FF2B5EF4-FFF2-40B4-BE49-F238E27FC236}">
                <a16:creationId xmlns:a16="http://schemas.microsoft.com/office/drawing/2014/main" id="{FA03E6B3-7A96-4D87-B257-FBB1FBD4F1F9}"/>
              </a:ext>
            </a:extLst>
          </p:cNvPr>
          <p:cNvSpPr txBox="1"/>
          <p:nvPr/>
        </p:nvSpPr>
        <p:spPr>
          <a:xfrm>
            <a:off x="152400" y="6751530"/>
            <a:ext cx="8687828" cy="369332"/>
          </a:xfrm>
          <a:prstGeom prst="rect">
            <a:avLst/>
          </a:prstGeom>
          <a:noFill/>
        </p:spPr>
        <p:txBody>
          <a:bodyPr wrap="none" rtlCol="0">
            <a:spAutoFit/>
          </a:bodyPr>
          <a:lstStyle/>
          <a:p>
            <a:r>
              <a:rPr lang="pl-PL" dirty="0"/>
              <a:t>* Since Pentium Pro, x86 instructions are turned into micro ops (kind of like RISC)</a:t>
            </a:r>
            <a:endParaRPr lang="en-US" dirty="0"/>
          </a:p>
        </p:txBody>
      </p:sp>
    </p:spTree>
    <p:extLst>
      <p:ext uri="{BB962C8B-B14F-4D97-AF65-F5344CB8AC3E}">
        <p14:creationId xmlns:p14="http://schemas.microsoft.com/office/powerpoint/2010/main" val="2511645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sp>
        <p:nvSpPr>
          <p:cNvPr id="5" name="Text Placeholder 2"/>
          <p:cNvSpPr txBox="1">
            <a:spLocks/>
          </p:cNvSpPr>
          <p:nvPr/>
        </p:nvSpPr>
        <p:spPr>
          <a:xfrm>
            <a:off x="326072" y="1105647"/>
            <a:ext cx="9137225" cy="86902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1800" dirty="0">
                <a:effectLst/>
              </a:rPr>
              <a:t>Privilege modes / levels</a:t>
            </a:r>
          </a:p>
          <a:p>
            <a:pPr marL="457200" indent="-457200">
              <a:buFont typeface="Wingdings" panose="05000000000000000000" pitchFamily="2" charset="2"/>
              <a:buChar char="v"/>
            </a:pPr>
            <a:endParaRPr lang="pl-PL" sz="1800" dirty="0">
              <a:effectLst/>
            </a:endParaRPr>
          </a:p>
        </p:txBody>
      </p:sp>
    </p:spTree>
    <p:extLst>
      <p:ext uri="{BB962C8B-B14F-4D97-AF65-F5344CB8AC3E}">
        <p14:creationId xmlns:p14="http://schemas.microsoft.com/office/powerpoint/2010/main" val="2626076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19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sp>
        <p:nvSpPr>
          <p:cNvPr id="5" name="Text Placeholder 2"/>
          <p:cNvSpPr txBox="1">
            <a:spLocks/>
          </p:cNvSpPr>
          <p:nvPr/>
        </p:nvSpPr>
        <p:spPr>
          <a:xfrm>
            <a:off x="326072" y="1105647"/>
            <a:ext cx="9137225" cy="86902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1800" dirty="0">
                <a:effectLst/>
              </a:rPr>
              <a:t>Privilege modes / levels</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D0FD55D8-9532-44E0-90EC-4EA45989E3AC}"/>
              </a:ext>
            </a:extLst>
          </p:cNvPr>
          <p:cNvPicPr>
            <a:picLocks noChangeAspect="1"/>
          </p:cNvPicPr>
          <p:nvPr/>
        </p:nvPicPr>
        <p:blipFill>
          <a:blip r:embed="rId3"/>
          <a:stretch>
            <a:fillRect/>
          </a:stretch>
        </p:blipFill>
        <p:spPr>
          <a:xfrm>
            <a:off x="326072" y="2097258"/>
            <a:ext cx="4483702" cy="4483702"/>
          </a:xfrm>
          <a:prstGeom prst="rect">
            <a:avLst/>
          </a:prstGeom>
        </p:spPr>
      </p:pic>
      <p:sp>
        <p:nvSpPr>
          <p:cNvPr id="9" name="TextBox 8">
            <a:extLst>
              <a:ext uri="{FF2B5EF4-FFF2-40B4-BE49-F238E27FC236}">
                <a16:creationId xmlns:a16="http://schemas.microsoft.com/office/drawing/2014/main" id="{54785F29-EB54-4C9E-9001-7F30C8264379}"/>
              </a:ext>
            </a:extLst>
          </p:cNvPr>
          <p:cNvSpPr txBox="1"/>
          <p:nvPr/>
        </p:nvSpPr>
        <p:spPr>
          <a:xfrm>
            <a:off x="185772" y="6636345"/>
            <a:ext cx="5039360" cy="923330"/>
          </a:xfrm>
          <a:prstGeom prst="rect">
            <a:avLst/>
          </a:prstGeom>
          <a:noFill/>
        </p:spPr>
        <p:txBody>
          <a:bodyPr wrap="square">
            <a:spAutoFit/>
          </a:bodyPr>
          <a:lstStyle/>
          <a:p>
            <a:r>
              <a:rPr lang="en-US" dirty="0">
                <a:hlinkClick r:id="rId4"/>
              </a:rPr>
              <a:t>https://medium.com/swlh/negative-rings-in-intel-architecture-the-security-threats-youve-probably-never-heard-of-d725a4b6f831</a:t>
            </a:r>
            <a:endParaRPr lang="en-US" dirty="0"/>
          </a:p>
        </p:txBody>
      </p:sp>
      <p:sp>
        <p:nvSpPr>
          <p:cNvPr id="11" name="TextBox 10">
            <a:extLst>
              <a:ext uri="{FF2B5EF4-FFF2-40B4-BE49-F238E27FC236}">
                <a16:creationId xmlns:a16="http://schemas.microsoft.com/office/drawing/2014/main" id="{ED66A128-9C6D-4111-8492-B41B6AA038FB}"/>
              </a:ext>
            </a:extLst>
          </p:cNvPr>
          <p:cNvSpPr txBox="1"/>
          <p:nvPr/>
        </p:nvSpPr>
        <p:spPr>
          <a:xfrm>
            <a:off x="2006599" y="1660720"/>
            <a:ext cx="1176501" cy="369332"/>
          </a:xfrm>
          <a:prstGeom prst="rect">
            <a:avLst/>
          </a:prstGeom>
          <a:noFill/>
        </p:spPr>
        <p:txBody>
          <a:bodyPr wrap="square">
            <a:spAutoFit/>
          </a:bodyPr>
          <a:lstStyle/>
          <a:p>
            <a:r>
              <a:rPr lang="pl-PL" dirty="0"/>
              <a:t>X86(-64)</a:t>
            </a:r>
            <a:r>
              <a:rPr lang="en-US" dirty="0"/>
              <a:t>:</a:t>
            </a:r>
          </a:p>
        </p:txBody>
      </p:sp>
    </p:spTree>
    <p:extLst>
      <p:ext uri="{BB962C8B-B14F-4D97-AF65-F5344CB8AC3E}">
        <p14:creationId xmlns:p14="http://schemas.microsoft.com/office/powerpoint/2010/main" val="1057481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sp>
        <p:nvSpPr>
          <p:cNvPr id="5" name="Text Placeholder 2"/>
          <p:cNvSpPr txBox="1">
            <a:spLocks/>
          </p:cNvSpPr>
          <p:nvPr/>
        </p:nvSpPr>
        <p:spPr>
          <a:xfrm>
            <a:off x="326072" y="1105647"/>
            <a:ext cx="9137225" cy="86902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1800" dirty="0">
                <a:effectLst/>
              </a:rPr>
              <a:t>Privilege modes / levels</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D0FD55D8-9532-44E0-90EC-4EA45989E3AC}"/>
              </a:ext>
            </a:extLst>
          </p:cNvPr>
          <p:cNvPicPr>
            <a:picLocks noChangeAspect="1"/>
          </p:cNvPicPr>
          <p:nvPr/>
        </p:nvPicPr>
        <p:blipFill>
          <a:blip r:embed="rId3"/>
          <a:stretch>
            <a:fillRect/>
          </a:stretch>
        </p:blipFill>
        <p:spPr>
          <a:xfrm>
            <a:off x="326072" y="2097258"/>
            <a:ext cx="4483702" cy="4483702"/>
          </a:xfrm>
          <a:prstGeom prst="rect">
            <a:avLst/>
          </a:prstGeom>
        </p:spPr>
      </p:pic>
      <p:sp>
        <p:nvSpPr>
          <p:cNvPr id="9" name="TextBox 8">
            <a:extLst>
              <a:ext uri="{FF2B5EF4-FFF2-40B4-BE49-F238E27FC236}">
                <a16:creationId xmlns:a16="http://schemas.microsoft.com/office/drawing/2014/main" id="{54785F29-EB54-4C9E-9001-7F30C8264379}"/>
              </a:ext>
            </a:extLst>
          </p:cNvPr>
          <p:cNvSpPr txBox="1"/>
          <p:nvPr/>
        </p:nvSpPr>
        <p:spPr>
          <a:xfrm>
            <a:off x="185772" y="6636345"/>
            <a:ext cx="5039360" cy="923330"/>
          </a:xfrm>
          <a:prstGeom prst="rect">
            <a:avLst/>
          </a:prstGeom>
          <a:noFill/>
        </p:spPr>
        <p:txBody>
          <a:bodyPr wrap="square">
            <a:spAutoFit/>
          </a:bodyPr>
          <a:lstStyle/>
          <a:p>
            <a:r>
              <a:rPr lang="en-US" dirty="0">
                <a:hlinkClick r:id="rId4"/>
              </a:rPr>
              <a:t>https://medium.com/swlh/negative-rings-in-intel-architecture-the-security-threats-youve-probably-never-heard-of-d725a4b6f831</a:t>
            </a:r>
            <a:endParaRPr lang="en-US" dirty="0"/>
          </a:p>
        </p:txBody>
      </p:sp>
      <p:sp>
        <p:nvSpPr>
          <p:cNvPr id="11" name="TextBox 10">
            <a:extLst>
              <a:ext uri="{FF2B5EF4-FFF2-40B4-BE49-F238E27FC236}">
                <a16:creationId xmlns:a16="http://schemas.microsoft.com/office/drawing/2014/main" id="{ED66A128-9C6D-4111-8492-B41B6AA038FB}"/>
              </a:ext>
            </a:extLst>
          </p:cNvPr>
          <p:cNvSpPr txBox="1"/>
          <p:nvPr/>
        </p:nvSpPr>
        <p:spPr>
          <a:xfrm>
            <a:off x="2006599" y="1660720"/>
            <a:ext cx="1191329" cy="369332"/>
          </a:xfrm>
          <a:prstGeom prst="rect">
            <a:avLst/>
          </a:prstGeom>
          <a:noFill/>
        </p:spPr>
        <p:txBody>
          <a:bodyPr wrap="square">
            <a:spAutoFit/>
          </a:bodyPr>
          <a:lstStyle/>
          <a:p>
            <a:r>
              <a:rPr lang="pl-PL" dirty="0"/>
              <a:t>X86(-64)</a:t>
            </a:r>
            <a:r>
              <a:rPr lang="en-US" dirty="0"/>
              <a:t>:</a:t>
            </a:r>
          </a:p>
        </p:txBody>
      </p:sp>
      <p:sp>
        <p:nvSpPr>
          <p:cNvPr id="8" name="TextBox 7">
            <a:extLst>
              <a:ext uri="{FF2B5EF4-FFF2-40B4-BE49-F238E27FC236}">
                <a16:creationId xmlns:a16="http://schemas.microsoft.com/office/drawing/2014/main" id="{2C3DFD43-2093-4A21-9CF1-BA0AC6F06B3F}"/>
              </a:ext>
            </a:extLst>
          </p:cNvPr>
          <p:cNvSpPr txBox="1"/>
          <p:nvPr/>
        </p:nvSpPr>
        <p:spPr>
          <a:xfrm>
            <a:off x="7180786" y="1660720"/>
            <a:ext cx="1117600" cy="369332"/>
          </a:xfrm>
          <a:prstGeom prst="rect">
            <a:avLst/>
          </a:prstGeom>
          <a:noFill/>
        </p:spPr>
        <p:txBody>
          <a:bodyPr wrap="square">
            <a:spAutoFit/>
          </a:bodyPr>
          <a:lstStyle/>
          <a:p>
            <a:r>
              <a:rPr lang="en-US" dirty="0"/>
              <a:t>RISC-V:</a:t>
            </a:r>
          </a:p>
        </p:txBody>
      </p:sp>
      <p:sp>
        <p:nvSpPr>
          <p:cNvPr id="3" name="Rectangle: Rounded Corners 2">
            <a:extLst>
              <a:ext uri="{FF2B5EF4-FFF2-40B4-BE49-F238E27FC236}">
                <a16:creationId xmlns:a16="http://schemas.microsoft.com/office/drawing/2014/main" id="{5A3CCF5B-E6D4-45B5-85CA-626A1586D572}"/>
              </a:ext>
            </a:extLst>
          </p:cNvPr>
          <p:cNvSpPr/>
          <p:nvPr/>
        </p:nvSpPr>
        <p:spPr>
          <a:xfrm>
            <a:off x="7957160" y="3743125"/>
            <a:ext cx="1176363" cy="402483"/>
          </a:xfrm>
          <a:prstGeom prst="round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U-mode</a:t>
            </a:r>
          </a:p>
        </p:txBody>
      </p:sp>
      <p:sp>
        <p:nvSpPr>
          <p:cNvPr id="10" name="Rectangle: Rounded Corners 9">
            <a:extLst>
              <a:ext uri="{FF2B5EF4-FFF2-40B4-BE49-F238E27FC236}">
                <a16:creationId xmlns:a16="http://schemas.microsoft.com/office/drawing/2014/main" id="{098819C7-1B58-46C5-BEEF-C1173D871C35}"/>
              </a:ext>
            </a:extLst>
          </p:cNvPr>
          <p:cNvSpPr/>
          <p:nvPr/>
        </p:nvSpPr>
        <p:spPr>
          <a:xfrm>
            <a:off x="7957160" y="2846534"/>
            <a:ext cx="1176363" cy="4024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S-mode</a:t>
            </a:r>
          </a:p>
        </p:txBody>
      </p:sp>
      <p:sp>
        <p:nvSpPr>
          <p:cNvPr id="12" name="Rectangle: Rounded Corners 11">
            <a:extLst>
              <a:ext uri="{FF2B5EF4-FFF2-40B4-BE49-F238E27FC236}">
                <a16:creationId xmlns:a16="http://schemas.microsoft.com/office/drawing/2014/main" id="{C571A554-60DB-4730-86AE-678FF9EA756D}"/>
              </a:ext>
            </a:extLst>
          </p:cNvPr>
          <p:cNvSpPr/>
          <p:nvPr/>
        </p:nvSpPr>
        <p:spPr>
          <a:xfrm>
            <a:off x="7957160" y="2034812"/>
            <a:ext cx="1176363" cy="402483"/>
          </a:xfrm>
          <a:prstGeom prst="roundRect">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M-mode</a:t>
            </a:r>
          </a:p>
        </p:txBody>
      </p:sp>
      <p:cxnSp>
        <p:nvCxnSpPr>
          <p:cNvPr id="13" name="Straight Arrow Connector 12">
            <a:extLst>
              <a:ext uri="{FF2B5EF4-FFF2-40B4-BE49-F238E27FC236}">
                <a16:creationId xmlns:a16="http://schemas.microsoft.com/office/drawing/2014/main" id="{99EE3158-D0A9-49CC-AC85-F9EFE9D04ED8}"/>
              </a:ext>
            </a:extLst>
          </p:cNvPr>
          <p:cNvCxnSpPr>
            <a:cxnSpLocks/>
            <a:stCxn id="12" idx="2"/>
            <a:endCxn id="10" idx="0"/>
          </p:cNvCxnSpPr>
          <p:nvPr/>
        </p:nvCxnSpPr>
        <p:spPr>
          <a:xfrm>
            <a:off x="8545342" y="2437295"/>
            <a:ext cx="0" cy="409239"/>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593D4A-F29C-4B7D-A009-6F81F2C5D6DF}"/>
              </a:ext>
            </a:extLst>
          </p:cNvPr>
          <p:cNvCxnSpPr>
            <a:cxnSpLocks/>
            <a:stCxn id="10" idx="2"/>
            <a:endCxn id="3" idx="0"/>
          </p:cNvCxnSpPr>
          <p:nvPr/>
        </p:nvCxnSpPr>
        <p:spPr>
          <a:xfrm>
            <a:off x="8545342" y="3249017"/>
            <a:ext cx="0" cy="49410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5E95874-2A37-4759-96A5-DBFCF75C51C0}"/>
              </a:ext>
            </a:extLst>
          </p:cNvPr>
          <p:cNvSpPr txBox="1"/>
          <p:nvPr/>
        </p:nvSpPr>
        <p:spPr>
          <a:xfrm>
            <a:off x="9289518" y="3289838"/>
            <a:ext cx="612895" cy="307777"/>
          </a:xfrm>
          <a:prstGeom prst="rect">
            <a:avLst/>
          </a:prstGeom>
          <a:noFill/>
        </p:spPr>
        <p:txBody>
          <a:bodyPr wrap="square" rtlCol="0">
            <a:spAutoFit/>
          </a:bodyPr>
          <a:lstStyle/>
          <a:p>
            <a:r>
              <a:rPr lang="en-US" sz="1400" dirty="0">
                <a:solidFill>
                  <a:srgbClr val="00FF00"/>
                </a:solidFill>
              </a:rPr>
              <a:t>User</a:t>
            </a:r>
          </a:p>
        </p:txBody>
      </p:sp>
      <p:cxnSp>
        <p:nvCxnSpPr>
          <p:cNvPr id="18" name="Straight Arrow Connector 17">
            <a:extLst>
              <a:ext uri="{FF2B5EF4-FFF2-40B4-BE49-F238E27FC236}">
                <a16:creationId xmlns:a16="http://schemas.microsoft.com/office/drawing/2014/main" id="{CD933379-1193-4435-9D8B-C1E8663E2D8B}"/>
              </a:ext>
            </a:extLst>
          </p:cNvPr>
          <p:cNvCxnSpPr>
            <a:cxnSpLocks/>
            <a:stCxn id="16" idx="1"/>
          </p:cNvCxnSpPr>
          <p:nvPr/>
        </p:nvCxnSpPr>
        <p:spPr>
          <a:xfrm flipH="1">
            <a:off x="8804396" y="3443727"/>
            <a:ext cx="485122" cy="299398"/>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8898D4A-1CF6-4829-BECE-3B8D2A2C49A7}"/>
              </a:ext>
            </a:extLst>
          </p:cNvPr>
          <p:cNvSpPr txBox="1"/>
          <p:nvPr/>
        </p:nvSpPr>
        <p:spPr>
          <a:xfrm>
            <a:off x="9074760" y="2492289"/>
            <a:ext cx="1176362" cy="307777"/>
          </a:xfrm>
          <a:prstGeom prst="rect">
            <a:avLst/>
          </a:prstGeom>
          <a:noFill/>
        </p:spPr>
        <p:txBody>
          <a:bodyPr wrap="square" rtlCol="0">
            <a:spAutoFit/>
          </a:bodyPr>
          <a:lstStyle/>
          <a:p>
            <a:r>
              <a:rPr lang="en-US" sz="1400" dirty="0">
                <a:solidFill>
                  <a:srgbClr val="C00000"/>
                </a:solidFill>
              </a:rPr>
              <a:t>Supervisor</a:t>
            </a:r>
          </a:p>
        </p:txBody>
      </p:sp>
      <p:cxnSp>
        <p:nvCxnSpPr>
          <p:cNvPr id="21" name="Straight Arrow Connector 20">
            <a:extLst>
              <a:ext uri="{FF2B5EF4-FFF2-40B4-BE49-F238E27FC236}">
                <a16:creationId xmlns:a16="http://schemas.microsoft.com/office/drawing/2014/main" id="{E1A496BC-3D68-4338-8CD1-56D5F31DF419}"/>
              </a:ext>
            </a:extLst>
          </p:cNvPr>
          <p:cNvCxnSpPr>
            <a:cxnSpLocks/>
          </p:cNvCxnSpPr>
          <p:nvPr/>
        </p:nvCxnSpPr>
        <p:spPr>
          <a:xfrm flipH="1">
            <a:off x="8763369" y="2701659"/>
            <a:ext cx="382770" cy="14308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702B39-096D-437C-AFF0-8360FD1F77E3}"/>
              </a:ext>
            </a:extLst>
          </p:cNvPr>
          <p:cNvSpPr txBox="1"/>
          <p:nvPr/>
        </p:nvSpPr>
        <p:spPr>
          <a:xfrm>
            <a:off x="9074760" y="1727035"/>
            <a:ext cx="939112" cy="307777"/>
          </a:xfrm>
          <a:prstGeom prst="rect">
            <a:avLst/>
          </a:prstGeom>
          <a:noFill/>
        </p:spPr>
        <p:txBody>
          <a:bodyPr wrap="square" rtlCol="0">
            <a:spAutoFit/>
          </a:bodyPr>
          <a:lstStyle/>
          <a:p>
            <a:r>
              <a:rPr lang="en-US" sz="1400" dirty="0">
                <a:solidFill>
                  <a:schemeClr val="tx1">
                    <a:lumMod val="50000"/>
                  </a:schemeClr>
                </a:solidFill>
              </a:rPr>
              <a:t>Machine</a:t>
            </a:r>
          </a:p>
        </p:txBody>
      </p:sp>
      <p:cxnSp>
        <p:nvCxnSpPr>
          <p:cNvPr id="26" name="Straight Arrow Connector 25">
            <a:extLst>
              <a:ext uri="{FF2B5EF4-FFF2-40B4-BE49-F238E27FC236}">
                <a16:creationId xmlns:a16="http://schemas.microsoft.com/office/drawing/2014/main" id="{AD9BA2A5-56F6-4DBE-B3BD-80BD01FB1F64}"/>
              </a:ext>
            </a:extLst>
          </p:cNvPr>
          <p:cNvCxnSpPr>
            <a:stCxn id="24" idx="1"/>
          </p:cNvCxnSpPr>
          <p:nvPr/>
        </p:nvCxnSpPr>
        <p:spPr>
          <a:xfrm flipH="1">
            <a:off x="8552216" y="1880924"/>
            <a:ext cx="522544" cy="153888"/>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830939D-E867-4947-8730-E9037E0F6DAC}"/>
              </a:ext>
            </a:extLst>
          </p:cNvPr>
          <p:cNvSpPr txBox="1"/>
          <p:nvPr/>
        </p:nvSpPr>
        <p:spPr>
          <a:xfrm>
            <a:off x="5857104" y="2061904"/>
            <a:ext cx="1640908" cy="1169551"/>
          </a:xfrm>
          <a:prstGeom prst="rect">
            <a:avLst/>
          </a:prstGeom>
          <a:noFill/>
        </p:spPr>
        <p:txBody>
          <a:bodyPr wrap="square">
            <a:spAutoFit/>
          </a:bodyPr>
          <a:lstStyle/>
          <a:p>
            <a:r>
              <a:rPr lang="en-US" sz="1400" dirty="0"/>
              <a:t>Supported combinations:</a:t>
            </a:r>
          </a:p>
          <a:p>
            <a:pPr marL="285750" indent="-285750">
              <a:buFont typeface="Arial" panose="020B0604020202020204" pitchFamily="34" charset="0"/>
              <a:buChar char="•"/>
            </a:pPr>
            <a:r>
              <a:rPr lang="en-US" sz="1400" dirty="0"/>
              <a:t>M</a:t>
            </a:r>
          </a:p>
          <a:p>
            <a:pPr marL="285750" indent="-285750">
              <a:buFont typeface="Arial" panose="020B0604020202020204" pitchFamily="34" charset="0"/>
              <a:buChar char="•"/>
            </a:pPr>
            <a:r>
              <a:rPr lang="en-US" sz="1400" dirty="0"/>
              <a:t>M + U</a:t>
            </a:r>
          </a:p>
          <a:p>
            <a:pPr marL="285750" indent="-285750">
              <a:buFont typeface="Arial" panose="020B0604020202020204" pitchFamily="34" charset="0"/>
              <a:buChar char="•"/>
            </a:pPr>
            <a:r>
              <a:rPr lang="en-US" sz="1400" dirty="0"/>
              <a:t>M + S + U</a:t>
            </a:r>
          </a:p>
        </p:txBody>
      </p:sp>
    </p:spTree>
    <p:extLst>
      <p:ext uri="{BB962C8B-B14F-4D97-AF65-F5344CB8AC3E}">
        <p14:creationId xmlns:p14="http://schemas.microsoft.com/office/powerpoint/2010/main" val="367857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sp>
        <p:nvSpPr>
          <p:cNvPr id="5" name="Text Placeholder 2"/>
          <p:cNvSpPr txBox="1">
            <a:spLocks/>
          </p:cNvSpPr>
          <p:nvPr/>
        </p:nvSpPr>
        <p:spPr>
          <a:xfrm>
            <a:off x="326072" y="1105647"/>
            <a:ext cx="9137225" cy="86902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1800" dirty="0">
                <a:effectLst/>
              </a:rPr>
              <a:t>Privilege modes / levels</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D0FD55D8-9532-44E0-90EC-4EA45989E3AC}"/>
              </a:ext>
            </a:extLst>
          </p:cNvPr>
          <p:cNvPicPr>
            <a:picLocks noChangeAspect="1"/>
          </p:cNvPicPr>
          <p:nvPr/>
        </p:nvPicPr>
        <p:blipFill>
          <a:blip r:embed="rId3"/>
          <a:stretch>
            <a:fillRect/>
          </a:stretch>
        </p:blipFill>
        <p:spPr>
          <a:xfrm>
            <a:off x="326072" y="2097258"/>
            <a:ext cx="4483702" cy="4483702"/>
          </a:xfrm>
          <a:prstGeom prst="rect">
            <a:avLst/>
          </a:prstGeom>
        </p:spPr>
      </p:pic>
      <p:sp>
        <p:nvSpPr>
          <p:cNvPr id="9" name="TextBox 8">
            <a:extLst>
              <a:ext uri="{FF2B5EF4-FFF2-40B4-BE49-F238E27FC236}">
                <a16:creationId xmlns:a16="http://schemas.microsoft.com/office/drawing/2014/main" id="{54785F29-EB54-4C9E-9001-7F30C8264379}"/>
              </a:ext>
            </a:extLst>
          </p:cNvPr>
          <p:cNvSpPr txBox="1"/>
          <p:nvPr/>
        </p:nvSpPr>
        <p:spPr>
          <a:xfrm>
            <a:off x="185772" y="6636345"/>
            <a:ext cx="5039360" cy="923330"/>
          </a:xfrm>
          <a:prstGeom prst="rect">
            <a:avLst/>
          </a:prstGeom>
          <a:noFill/>
        </p:spPr>
        <p:txBody>
          <a:bodyPr wrap="square">
            <a:spAutoFit/>
          </a:bodyPr>
          <a:lstStyle/>
          <a:p>
            <a:r>
              <a:rPr lang="en-US" dirty="0">
                <a:hlinkClick r:id="rId4"/>
              </a:rPr>
              <a:t>https://medium.com/swlh/negative-rings-in-intel-architecture-the-security-threats-youve-probably-never-heard-of-d725a4b6f831</a:t>
            </a:r>
            <a:endParaRPr lang="en-US" dirty="0"/>
          </a:p>
        </p:txBody>
      </p:sp>
      <p:sp>
        <p:nvSpPr>
          <p:cNvPr id="11" name="TextBox 10">
            <a:extLst>
              <a:ext uri="{FF2B5EF4-FFF2-40B4-BE49-F238E27FC236}">
                <a16:creationId xmlns:a16="http://schemas.microsoft.com/office/drawing/2014/main" id="{ED66A128-9C6D-4111-8492-B41B6AA038FB}"/>
              </a:ext>
            </a:extLst>
          </p:cNvPr>
          <p:cNvSpPr txBox="1"/>
          <p:nvPr/>
        </p:nvSpPr>
        <p:spPr>
          <a:xfrm>
            <a:off x="2006599" y="1660720"/>
            <a:ext cx="1191329" cy="369332"/>
          </a:xfrm>
          <a:prstGeom prst="rect">
            <a:avLst/>
          </a:prstGeom>
          <a:noFill/>
        </p:spPr>
        <p:txBody>
          <a:bodyPr wrap="square">
            <a:spAutoFit/>
          </a:bodyPr>
          <a:lstStyle/>
          <a:p>
            <a:r>
              <a:rPr lang="pl-PL" dirty="0"/>
              <a:t>X86(-64)</a:t>
            </a:r>
            <a:r>
              <a:rPr lang="en-US" dirty="0"/>
              <a:t>:</a:t>
            </a:r>
          </a:p>
        </p:txBody>
      </p:sp>
      <p:sp>
        <p:nvSpPr>
          <p:cNvPr id="8" name="TextBox 7">
            <a:extLst>
              <a:ext uri="{FF2B5EF4-FFF2-40B4-BE49-F238E27FC236}">
                <a16:creationId xmlns:a16="http://schemas.microsoft.com/office/drawing/2014/main" id="{2C3DFD43-2093-4A21-9CF1-BA0AC6F06B3F}"/>
              </a:ext>
            </a:extLst>
          </p:cNvPr>
          <p:cNvSpPr txBox="1"/>
          <p:nvPr/>
        </p:nvSpPr>
        <p:spPr>
          <a:xfrm>
            <a:off x="7180786" y="1660720"/>
            <a:ext cx="1117600" cy="369332"/>
          </a:xfrm>
          <a:prstGeom prst="rect">
            <a:avLst/>
          </a:prstGeom>
          <a:noFill/>
        </p:spPr>
        <p:txBody>
          <a:bodyPr wrap="square">
            <a:spAutoFit/>
          </a:bodyPr>
          <a:lstStyle/>
          <a:p>
            <a:r>
              <a:rPr lang="en-US" dirty="0"/>
              <a:t>RISC-V:</a:t>
            </a:r>
          </a:p>
        </p:txBody>
      </p:sp>
      <p:sp>
        <p:nvSpPr>
          <p:cNvPr id="3" name="Rectangle: Rounded Corners 2">
            <a:extLst>
              <a:ext uri="{FF2B5EF4-FFF2-40B4-BE49-F238E27FC236}">
                <a16:creationId xmlns:a16="http://schemas.microsoft.com/office/drawing/2014/main" id="{5A3CCF5B-E6D4-45B5-85CA-626A1586D572}"/>
              </a:ext>
            </a:extLst>
          </p:cNvPr>
          <p:cNvSpPr/>
          <p:nvPr/>
        </p:nvSpPr>
        <p:spPr>
          <a:xfrm>
            <a:off x="7957160" y="4543843"/>
            <a:ext cx="1176363" cy="402483"/>
          </a:xfrm>
          <a:prstGeom prst="round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U-mode</a:t>
            </a:r>
          </a:p>
        </p:txBody>
      </p:sp>
      <p:sp>
        <p:nvSpPr>
          <p:cNvPr id="10" name="Rectangle: Rounded Corners 9">
            <a:extLst>
              <a:ext uri="{FF2B5EF4-FFF2-40B4-BE49-F238E27FC236}">
                <a16:creationId xmlns:a16="http://schemas.microsoft.com/office/drawing/2014/main" id="{098819C7-1B58-46C5-BEEF-C1173D871C35}"/>
              </a:ext>
            </a:extLst>
          </p:cNvPr>
          <p:cNvSpPr/>
          <p:nvPr/>
        </p:nvSpPr>
        <p:spPr>
          <a:xfrm>
            <a:off x="7957160" y="2846534"/>
            <a:ext cx="1176363" cy="4024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HS-mode</a:t>
            </a:r>
          </a:p>
        </p:txBody>
      </p:sp>
      <p:sp>
        <p:nvSpPr>
          <p:cNvPr id="12" name="Rectangle: Rounded Corners 11">
            <a:extLst>
              <a:ext uri="{FF2B5EF4-FFF2-40B4-BE49-F238E27FC236}">
                <a16:creationId xmlns:a16="http://schemas.microsoft.com/office/drawing/2014/main" id="{C571A554-60DB-4730-86AE-678FF9EA756D}"/>
              </a:ext>
            </a:extLst>
          </p:cNvPr>
          <p:cNvSpPr/>
          <p:nvPr/>
        </p:nvSpPr>
        <p:spPr>
          <a:xfrm>
            <a:off x="7957160" y="2034812"/>
            <a:ext cx="1176363" cy="402483"/>
          </a:xfrm>
          <a:prstGeom prst="roundRect">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M-mode</a:t>
            </a:r>
          </a:p>
        </p:txBody>
      </p:sp>
      <p:cxnSp>
        <p:nvCxnSpPr>
          <p:cNvPr id="13" name="Straight Arrow Connector 12">
            <a:extLst>
              <a:ext uri="{FF2B5EF4-FFF2-40B4-BE49-F238E27FC236}">
                <a16:creationId xmlns:a16="http://schemas.microsoft.com/office/drawing/2014/main" id="{99EE3158-D0A9-49CC-AC85-F9EFE9D04ED8}"/>
              </a:ext>
            </a:extLst>
          </p:cNvPr>
          <p:cNvCxnSpPr>
            <a:cxnSpLocks/>
            <a:stCxn id="12" idx="2"/>
            <a:endCxn id="10" idx="0"/>
          </p:cNvCxnSpPr>
          <p:nvPr/>
        </p:nvCxnSpPr>
        <p:spPr>
          <a:xfrm>
            <a:off x="8545342" y="2437295"/>
            <a:ext cx="0" cy="409239"/>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593D4A-F29C-4B7D-A009-6F81F2C5D6DF}"/>
              </a:ext>
            </a:extLst>
          </p:cNvPr>
          <p:cNvCxnSpPr>
            <a:cxnSpLocks/>
            <a:stCxn id="10" idx="2"/>
            <a:endCxn id="3" idx="0"/>
          </p:cNvCxnSpPr>
          <p:nvPr/>
        </p:nvCxnSpPr>
        <p:spPr>
          <a:xfrm>
            <a:off x="8545342" y="3249017"/>
            <a:ext cx="0" cy="129482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5E95874-2A37-4759-96A5-DBFCF75C51C0}"/>
              </a:ext>
            </a:extLst>
          </p:cNvPr>
          <p:cNvSpPr txBox="1"/>
          <p:nvPr/>
        </p:nvSpPr>
        <p:spPr>
          <a:xfrm>
            <a:off x="9289518" y="4090556"/>
            <a:ext cx="612895" cy="307777"/>
          </a:xfrm>
          <a:prstGeom prst="rect">
            <a:avLst/>
          </a:prstGeom>
          <a:noFill/>
        </p:spPr>
        <p:txBody>
          <a:bodyPr wrap="square" rtlCol="0">
            <a:spAutoFit/>
          </a:bodyPr>
          <a:lstStyle/>
          <a:p>
            <a:r>
              <a:rPr lang="en-US" sz="1400" dirty="0">
                <a:solidFill>
                  <a:srgbClr val="00FF00"/>
                </a:solidFill>
              </a:rPr>
              <a:t>User</a:t>
            </a:r>
          </a:p>
        </p:txBody>
      </p:sp>
      <p:cxnSp>
        <p:nvCxnSpPr>
          <p:cNvPr id="18" name="Straight Arrow Connector 17">
            <a:extLst>
              <a:ext uri="{FF2B5EF4-FFF2-40B4-BE49-F238E27FC236}">
                <a16:creationId xmlns:a16="http://schemas.microsoft.com/office/drawing/2014/main" id="{CD933379-1193-4435-9D8B-C1E8663E2D8B}"/>
              </a:ext>
            </a:extLst>
          </p:cNvPr>
          <p:cNvCxnSpPr>
            <a:cxnSpLocks/>
            <a:stCxn id="16" idx="1"/>
          </p:cNvCxnSpPr>
          <p:nvPr/>
        </p:nvCxnSpPr>
        <p:spPr>
          <a:xfrm flipH="1">
            <a:off x="8804396" y="4244445"/>
            <a:ext cx="485122" cy="299398"/>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8898D4A-1CF6-4829-BECE-3B8D2A2C49A7}"/>
              </a:ext>
            </a:extLst>
          </p:cNvPr>
          <p:cNvSpPr txBox="1"/>
          <p:nvPr/>
        </p:nvSpPr>
        <p:spPr>
          <a:xfrm>
            <a:off x="9074760" y="2492289"/>
            <a:ext cx="1176362" cy="738664"/>
          </a:xfrm>
          <a:prstGeom prst="rect">
            <a:avLst/>
          </a:prstGeom>
          <a:noFill/>
        </p:spPr>
        <p:txBody>
          <a:bodyPr wrap="square" rtlCol="0">
            <a:spAutoFit/>
          </a:bodyPr>
          <a:lstStyle/>
          <a:p>
            <a:r>
              <a:rPr lang="en-US" sz="1400" dirty="0">
                <a:solidFill>
                  <a:srgbClr val="C00000"/>
                </a:solidFill>
              </a:rPr>
              <a:t>Hypervisor Extended Supervisor</a:t>
            </a:r>
          </a:p>
        </p:txBody>
      </p:sp>
      <p:cxnSp>
        <p:nvCxnSpPr>
          <p:cNvPr id="21" name="Straight Arrow Connector 20">
            <a:extLst>
              <a:ext uri="{FF2B5EF4-FFF2-40B4-BE49-F238E27FC236}">
                <a16:creationId xmlns:a16="http://schemas.microsoft.com/office/drawing/2014/main" id="{E1A496BC-3D68-4338-8CD1-56D5F31DF419}"/>
              </a:ext>
            </a:extLst>
          </p:cNvPr>
          <p:cNvCxnSpPr>
            <a:cxnSpLocks/>
          </p:cNvCxnSpPr>
          <p:nvPr/>
        </p:nvCxnSpPr>
        <p:spPr>
          <a:xfrm flipH="1">
            <a:off x="8763369" y="2701659"/>
            <a:ext cx="382770" cy="14308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702B39-096D-437C-AFF0-8360FD1F77E3}"/>
              </a:ext>
            </a:extLst>
          </p:cNvPr>
          <p:cNvSpPr txBox="1"/>
          <p:nvPr/>
        </p:nvSpPr>
        <p:spPr>
          <a:xfrm>
            <a:off x="9074760" y="1727035"/>
            <a:ext cx="939112" cy="307777"/>
          </a:xfrm>
          <a:prstGeom prst="rect">
            <a:avLst/>
          </a:prstGeom>
          <a:noFill/>
        </p:spPr>
        <p:txBody>
          <a:bodyPr wrap="square" rtlCol="0">
            <a:spAutoFit/>
          </a:bodyPr>
          <a:lstStyle/>
          <a:p>
            <a:r>
              <a:rPr lang="en-US" sz="1400" dirty="0">
                <a:solidFill>
                  <a:schemeClr val="tx1">
                    <a:lumMod val="50000"/>
                  </a:schemeClr>
                </a:solidFill>
              </a:rPr>
              <a:t>Machine</a:t>
            </a:r>
          </a:p>
        </p:txBody>
      </p:sp>
      <p:cxnSp>
        <p:nvCxnSpPr>
          <p:cNvPr id="26" name="Straight Arrow Connector 25">
            <a:extLst>
              <a:ext uri="{FF2B5EF4-FFF2-40B4-BE49-F238E27FC236}">
                <a16:creationId xmlns:a16="http://schemas.microsoft.com/office/drawing/2014/main" id="{AD9BA2A5-56F6-4DBE-B3BD-80BD01FB1F64}"/>
              </a:ext>
            </a:extLst>
          </p:cNvPr>
          <p:cNvCxnSpPr>
            <a:stCxn id="24" idx="1"/>
          </p:cNvCxnSpPr>
          <p:nvPr/>
        </p:nvCxnSpPr>
        <p:spPr>
          <a:xfrm flipH="1">
            <a:off x="8552216" y="1880924"/>
            <a:ext cx="522544" cy="153888"/>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830939D-E867-4947-8730-E9037E0F6DAC}"/>
              </a:ext>
            </a:extLst>
          </p:cNvPr>
          <p:cNvSpPr txBox="1"/>
          <p:nvPr/>
        </p:nvSpPr>
        <p:spPr>
          <a:xfrm>
            <a:off x="5857103" y="2061904"/>
            <a:ext cx="1801281" cy="1384995"/>
          </a:xfrm>
          <a:prstGeom prst="rect">
            <a:avLst/>
          </a:prstGeom>
          <a:noFill/>
        </p:spPr>
        <p:txBody>
          <a:bodyPr wrap="square">
            <a:spAutoFit/>
          </a:bodyPr>
          <a:lstStyle/>
          <a:p>
            <a:r>
              <a:rPr lang="en-US" sz="1400" dirty="0"/>
              <a:t>Supported combinations:</a:t>
            </a:r>
          </a:p>
          <a:p>
            <a:pPr marL="285750" indent="-285750">
              <a:buFont typeface="Arial" panose="020B0604020202020204" pitchFamily="34" charset="0"/>
              <a:buChar char="•"/>
            </a:pPr>
            <a:r>
              <a:rPr lang="en-US" sz="1400" dirty="0"/>
              <a:t>M</a:t>
            </a:r>
          </a:p>
          <a:p>
            <a:pPr marL="285750" indent="-285750">
              <a:buFont typeface="Arial" panose="020B0604020202020204" pitchFamily="34" charset="0"/>
              <a:buChar char="•"/>
            </a:pPr>
            <a:r>
              <a:rPr lang="en-US" sz="1400" dirty="0"/>
              <a:t>M + U</a:t>
            </a:r>
          </a:p>
          <a:p>
            <a:pPr marL="285750" indent="-285750">
              <a:buFont typeface="Arial" panose="020B0604020202020204" pitchFamily="34" charset="0"/>
              <a:buChar char="•"/>
            </a:pPr>
            <a:r>
              <a:rPr lang="en-US" sz="1400" dirty="0"/>
              <a:t>M + S + U</a:t>
            </a:r>
          </a:p>
          <a:p>
            <a:pPr marL="285750" indent="-285750">
              <a:buFont typeface="Arial" panose="020B0604020202020204" pitchFamily="34" charset="0"/>
              <a:buChar char="•"/>
            </a:pPr>
            <a:r>
              <a:rPr lang="en-US" sz="1400" dirty="0"/>
              <a:t>M + </a:t>
            </a:r>
            <a:r>
              <a:rPr lang="en-US" sz="1400" dirty="0">
                <a:solidFill>
                  <a:srgbClr val="C00000"/>
                </a:solidFill>
              </a:rPr>
              <a:t>(V)</a:t>
            </a:r>
            <a:r>
              <a:rPr lang="en-US" sz="1400" dirty="0"/>
              <a:t>S + </a:t>
            </a:r>
            <a:r>
              <a:rPr lang="en-US" sz="1400" dirty="0">
                <a:solidFill>
                  <a:srgbClr val="C00000"/>
                </a:solidFill>
              </a:rPr>
              <a:t>(V)</a:t>
            </a:r>
            <a:r>
              <a:rPr lang="en-US" sz="1400" dirty="0"/>
              <a:t>U</a:t>
            </a:r>
          </a:p>
        </p:txBody>
      </p:sp>
      <p:sp>
        <p:nvSpPr>
          <p:cNvPr id="23" name="Rectangle: Rounded Corners 22">
            <a:extLst>
              <a:ext uri="{FF2B5EF4-FFF2-40B4-BE49-F238E27FC236}">
                <a16:creationId xmlns:a16="http://schemas.microsoft.com/office/drawing/2014/main" id="{420AF96A-C2EC-499B-90CE-D47BC75745FE}"/>
              </a:ext>
            </a:extLst>
          </p:cNvPr>
          <p:cNvSpPr/>
          <p:nvPr/>
        </p:nvSpPr>
        <p:spPr>
          <a:xfrm>
            <a:off x="6089376" y="3889314"/>
            <a:ext cx="1176363" cy="4024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VS-mode</a:t>
            </a:r>
          </a:p>
        </p:txBody>
      </p:sp>
      <p:cxnSp>
        <p:nvCxnSpPr>
          <p:cNvPr id="25" name="Straight Arrow Connector 24">
            <a:extLst>
              <a:ext uri="{FF2B5EF4-FFF2-40B4-BE49-F238E27FC236}">
                <a16:creationId xmlns:a16="http://schemas.microsoft.com/office/drawing/2014/main" id="{F83783A7-2125-4B15-BB06-599C4F86FD52}"/>
              </a:ext>
            </a:extLst>
          </p:cNvPr>
          <p:cNvCxnSpPr>
            <a:cxnSpLocks/>
            <a:endCxn id="23" idx="0"/>
          </p:cNvCxnSpPr>
          <p:nvPr/>
        </p:nvCxnSpPr>
        <p:spPr>
          <a:xfrm flipH="1">
            <a:off x="6677558" y="3241901"/>
            <a:ext cx="1708794" cy="64741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5C7BCA62-7EA0-4CA0-B571-8CB770854DBD}"/>
              </a:ext>
            </a:extLst>
          </p:cNvPr>
          <p:cNvSpPr/>
          <p:nvPr/>
        </p:nvSpPr>
        <p:spPr>
          <a:xfrm>
            <a:off x="6089375" y="4536727"/>
            <a:ext cx="1176363" cy="402483"/>
          </a:xfrm>
          <a:prstGeom prst="round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VU-mode</a:t>
            </a:r>
          </a:p>
        </p:txBody>
      </p:sp>
      <p:sp>
        <p:nvSpPr>
          <p:cNvPr id="29" name="TextBox 28">
            <a:extLst>
              <a:ext uri="{FF2B5EF4-FFF2-40B4-BE49-F238E27FC236}">
                <a16:creationId xmlns:a16="http://schemas.microsoft.com/office/drawing/2014/main" id="{D3A95063-E65D-441D-9705-1BBBBD861395}"/>
              </a:ext>
            </a:extLst>
          </p:cNvPr>
          <p:cNvSpPr txBox="1"/>
          <p:nvPr/>
        </p:nvSpPr>
        <p:spPr>
          <a:xfrm>
            <a:off x="7339279" y="5194586"/>
            <a:ext cx="1102857" cy="523220"/>
          </a:xfrm>
          <a:prstGeom prst="rect">
            <a:avLst/>
          </a:prstGeom>
          <a:noFill/>
        </p:spPr>
        <p:txBody>
          <a:bodyPr wrap="square" rtlCol="0">
            <a:spAutoFit/>
          </a:bodyPr>
          <a:lstStyle/>
          <a:p>
            <a:r>
              <a:rPr lang="en-US" sz="1400" dirty="0">
                <a:solidFill>
                  <a:srgbClr val="00FF00"/>
                </a:solidFill>
              </a:rPr>
              <a:t>Virtualized User</a:t>
            </a:r>
          </a:p>
        </p:txBody>
      </p:sp>
      <p:cxnSp>
        <p:nvCxnSpPr>
          <p:cNvPr id="30" name="Straight Arrow Connector 29">
            <a:extLst>
              <a:ext uri="{FF2B5EF4-FFF2-40B4-BE49-F238E27FC236}">
                <a16:creationId xmlns:a16="http://schemas.microsoft.com/office/drawing/2014/main" id="{D30329F1-E038-4072-81DD-6BD260A7118D}"/>
              </a:ext>
            </a:extLst>
          </p:cNvPr>
          <p:cNvCxnSpPr>
            <a:cxnSpLocks/>
            <a:stCxn id="29" idx="1"/>
            <a:endCxn id="28" idx="2"/>
          </p:cNvCxnSpPr>
          <p:nvPr/>
        </p:nvCxnSpPr>
        <p:spPr>
          <a:xfrm flipH="1" flipV="1">
            <a:off x="6677557" y="4939210"/>
            <a:ext cx="661722" cy="516986"/>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C46762F-F0E6-4CE8-A31D-16EA6E7B89E9}"/>
              </a:ext>
            </a:extLst>
          </p:cNvPr>
          <p:cNvSpPr txBox="1"/>
          <p:nvPr/>
        </p:nvSpPr>
        <p:spPr>
          <a:xfrm>
            <a:off x="7489360" y="3933519"/>
            <a:ext cx="1102857" cy="523220"/>
          </a:xfrm>
          <a:prstGeom prst="rect">
            <a:avLst/>
          </a:prstGeom>
          <a:noFill/>
        </p:spPr>
        <p:txBody>
          <a:bodyPr wrap="square" rtlCol="0">
            <a:spAutoFit/>
          </a:bodyPr>
          <a:lstStyle/>
          <a:p>
            <a:r>
              <a:rPr lang="en-US" sz="1400" dirty="0">
                <a:solidFill>
                  <a:srgbClr val="C00000"/>
                </a:solidFill>
              </a:rPr>
              <a:t>Virtualized Supervisor</a:t>
            </a:r>
          </a:p>
        </p:txBody>
      </p:sp>
      <p:cxnSp>
        <p:nvCxnSpPr>
          <p:cNvPr id="33" name="Straight Arrow Connector 32">
            <a:extLst>
              <a:ext uri="{FF2B5EF4-FFF2-40B4-BE49-F238E27FC236}">
                <a16:creationId xmlns:a16="http://schemas.microsoft.com/office/drawing/2014/main" id="{ED816C35-CFA4-4C78-91A7-7BDE45E5B696}"/>
              </a:ext>
            </a:extLst>
          </p:cNvPr>
          <p:cNvCxnSpPr>
            <a:cxnSpLocks/>
            <a:stCxn id="32" idx="1"/>
            <a:endCxn id="23" idx="3"/>
          </p:cNvCxnSpPr>
          <p:nvPr/>
        </p:nvCxnSpPr>
        <p:spPr>
          <a:xfrm flipH="1" flipV="1">
            <a:off x="7265739" y="4090556"/>
            <a:ext cx="223621" cy="10457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99F5DE2-7033-4FC4-8B23-1C87328FDF0B}"/>
              </a:ext>
            </a:extLst>
          </p:cNvPr>
          <p:cNvCxnSpPr>
            <a:cxnSpLocks/>
            <a:stCxn id="23" idx="2"/>
          </p:cNvCxnSpPr>
          <p:nvPr/>
        </p:nvCxnSpPr>
        <p:spPr>
          <a:xfrm>
            <a:off x="6677558" y="4291797"/>
            <a:ext cx="0" cy="24350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326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rgbClr val="C00000"/>
                </a:solidFill>
              </a:rPr>
              <a:t>RISC-V</a:t>
            </a:r>
            <a:r>
              <a:rPr lang="pl-PL" dirty="0">
                <a:solidFill>
                  <a:schemeClr val="accent1"/>
                </a:solidFill>
              </a:rPr>
              <a:t> vs x86</a:t>
            </a:r>
            <a:endParaRPr lang="en-US" dirty="0">
              <a:solidFill>
                <a:schemeClr val="accent1"/>
              </a:solidFill>
            </a:endParaRPr>
          </a:p>
        </p:txBody>
      </p:sp>
      <p:sp>
        <p:nvSpPr>
          <p:cNvPr id="5" name="Text Placeholder 2"/>
          <p:cNvSpPr txBox="1">
            <a:spLocks/>
          </p:cNvSpPr>
          <p:nvPr/>
        </p:nvSpPr>
        <p:spPr>
          <a:xfrm>
            <a:off x="326072" y="1105647"/>
            <a:ext cx="9137225" cy="86902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1800" dirty="0">
                <a:effectLst/>
              </a:rPr>
              <a:t>Privilege modes / levels</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D0FD55D8-9532-44E0-90EC-4EA45989E3AC}"/>
              </a:ext>
            </a:extLst>
          </p:cNvPr>
          <p:cNvPicPr>
            <a:picLocks noChangeAspect="1"/>
          </p:cNvPicPr>
          <p:nvPr/>
        </p:nvPicPr>
        <p:blipFill>
          <a:blip r:embed="rId3"/>
          <a:stretch>
            <a:fillRect/>
          </a:stretch>
        </p:blipFill>
        <p:spPr>
          <a:xfrm>
            <a:off x="326072" y="2097258"/>
            <a:ext cx="4483702" cy="4483702"/>
          </a:xfrm>
          <a:prstGeom prst="rect">
            <a:avLst/>
          </a:prstGeom>
        </p:spPr>
      </p:pic>
      <p:sp>
        <p:nvSpPr>
          <p:cNvPr id="9" name="TextBox 8">
            <a:extLst>
              <a:ext uri="{FF2B5EF4-FFF2-40B4-BE49-F238E27FC236}">
                <a16:creationId xmlns:a16="http://schemas.microsoft.com/office/drawing/2014/main" id="{54785F29-EB54-4C9E-9001-7F30C8264379}"/>
              </a:ext>
            </a:extLst>
          </p:cNvPr>
          <p:cNvSpPr txBox="1"/>
          <p:nvPr/>
        </p:nvSpPr>
        <p:spPr>
          <a:xfrm>
            <a:off x="185772" y="6636345"/>
            <a:ext cx="5039360" cy="923330"/>
          </a:xfrm>
          <a:prstGeom prst="rect">
            <a:avLst/>
          </a:prstGeom>
          <a:noFill/>
        </p:spPr>
        <p:txBody>
          <a:bodyPr wrap="square">
            <a:spAutoFit/>
          </a:bodyPr>
          <a:lstStyle/>
          <a:p>
            <a:r>
              <a:rPr lang="en-US" dirty="0">
                <a:hlinkClick r:id="rId4"/>
              </a:rPr>
              <a:t>https://medium.com/swlh/negative-rings-in-intel-architecture-the-security-threats-youve-probably-never-heard-of-d725a4b6f831</a:t>
            </a:r>
            <a:endParaRPr lang="en-US" dirty="0"/>
          </a:p>
        </p:txBody>
      </p:sp>
      <p:sp>
        <p:nvSpPr>
          <p:cNvPr id="11" name="TextBox 10">
            <a:extLst>
              <a:ext uri="{FF2B5EF4-FFF2-40B4-BE49-F238E27FC236}">
                <a16:creationId xmlns:a16="http://schemas.microsoft.com/office/drawing/2014/main" id="{ED66A128-9C6D-4111-8492-B41B6AA038FB}"/>
              </a:ext>
            </a:extLst>
          </p:cNvPr>
          <p:cNvSpPr txBox="1"/>
          <p:nvPr/>
        </p:nvSpPr>
        <p:spPr>
          <a:xfrm>
            <a:off x="2006599" y="1660720"/>
            <a:ext cx="1191329" cy="369332"/>
          </a:xfrm>
          <a:prstGeom prst="rect">
            <a:avLst/>
          </a:prstGeom>
          <a:noFill/>
        </p:spPr>
        <p:txBody>
          <a:bodyPr wrap="square">
            <a:spAutoFit/>
          </a:bodyPr>
          <a:lstStyle/>
          <a:p>
            <a:r>
              <a:rPr lang="pl-PL" dirty="0"/>
              <a:t>X86(-64)</a:t>
            </a:r>
            <a:r>
              <a:rPr lang="en-US" dirty="0"/>
              <a:t>:</a:t>
            </a:r>
          </a:p>
        </p:txBody>
      </p:sp>
      <p:sp>
        <p:nvSpPr>
          <p:cNvPr id="8" name="TextBox 7">
            <a:extLst>
              <a:ext uri="{FF2B5EF4-FFF2-40B4-BE49-F238E27FC236}">
                <a16:creationId xmlns:a16="http://schemas.microsoft.com/office/drawing/2014/main" id="{2C3DFD43-2093-4A21-9CF1-BA0AC6F06B3F}"/>
              </a:ext>
            </a:extLst>
          </p:cNvPr>
          <p:cNvSpPr txBox="1"/>
          <p:nvPr/>
        </p:nvSpPr>
        <p:spPr>
          <a:xfrm>
            <a:off x="7180786" y="1660720"/>
            <a:ext cx="1117600" cy="369332"/>
          </a:xfrm>
          <a:prstGeom prst="rect">
            <a:avLst/>
          </a:prstGeom>
          <a:noFill/>
        </p:spPr>
        <p:txBody>
          <a:bodyPr wrap="square">
            <a:spAutoFit/>
          </a:bodyPr>
          <a:lstStyle/>
          <a:p>
            <a:r>
              <a:rPr lang="en-US" dirty="0"/>
              <a:t>RISC-V:</a:t>
            </a:r>
          </a:p>
        </p:txBody>
      </p:sp>
      <p:sp>
        <p:nvSpPr>
          <p:cNvPr id="3" name="Rectangle: Rounded Corners 2">
            <a:extLst>
              <a:ext uri="{FF2B5EF4-FFF2-40B4-BE49-F238E27FC236}">
                <a16:creationId xmlns:a16="http://schemas.microsoft.com/office/drawing/2014/main" id="{5A3CCF5B-E6D4-45B5-85CA-626A1586D572}"/>
              </a:ext>
            </a:extLst>
          </p:cNvPr>
          <p:cNvSpPr/>
          <p:nvPr/>
        </p:nvSpPr>
        <p:spPr>
          <a:xfrm>
            <a:off x="7957160" y="4543843"/>
            <a:ext cx="1176363" cy="402483"/>
          </a:xfrm>
          <a:prstGeom prst="round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U-mode</a:t>
            </a:r>
          </a:p>
        </p:txBody>
      </p:sp>
      <p:sp>
        <p:nvSpPr>
          <p:cNvPr id="10" name="Rectangle: Rounded Corners 9">
            <a:extLst>
              <a:ext uri="{FF2B5EF4-FFF2-40B4-BE49-F238E27FC236}">
                <a16:creationId xmlns:a16="http://schemas.microsoft.com/office/drawing/2014/main" id="{098819C7-1B58-46C5-BEEF-C1173D871C35}"/>
              </a:ext>
            </a:extLst>
          </p:cNvPr>
          <p:cNvSpPr/>
          <p:nvPr/>
        </p:nvSpPr>
        <p:spPr>
          <a:xfrm>
            <a:off x="7957160" y="2846534"/>
            <a:ext cx="1176363" cy="4024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HS-mode</a:t>
            </a:r>
          </a:p>
        </p:txBody>
      </p:sp>
      <p:sp>
        <p:nvSpPr>
          <p:cNvPr id="12" name="Rectangle: Rounded Corners 11">
            <a:extLst>
              <a:ext uri="{FF2B5EF4-FFF2-40B4-BE49-F238E27FC236}">
                <a16:creationId xmlns:a16="http://schemas.microsoft.com/office/drawing/2014/main" id="{C571A554-60DB-4730-86AE-678FF9EA756D}"/>
              </a:ext>
            </a:extLst>
          </p:cNvPr>
          <p:cNvSpPr/>
          <p:nvPr/>
        </p:nvSpPr>
        <p:spPr>
          <a:xfrm>
            <a:off x="7957160" y="2034812"/>
            <a:ext cx="1176363" cy="402483"/>
          </a:xfrm>
          <a:prstGeom prst="roundRect">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M-mode</a:t>
            </a:r>
          </a:p>
        </p:txBody>
      </p:sp>
      <p:cxnSp>
        <p:nvCxnSpPr>
          <p:cNvPr id="13" name="Straight Arrow Connector 12">
            <a:extLst>
              <a:ext uri="{FF2B5EF4-FFF2-40B4-BE49-F238E27FC236}">
                <a16:creationId xmlns:a16="http://schemas.microsoft.com/office/drawing/2014/main" id="{99EE3158-D0A9-49CC-AC85-F9EFE9D04ED8}"/>
              </a:ext>
            </a:extLst>
          </p:cNvPr>
          <p:cNvCxnSpPr>
            <a:cxnSpLocks/>
            <a:stCxn id="12" idx="2"/>
            <a:endCxn id="10" idx="0"/>
          </p:cNvCxnSpPr>
          <p:nvPr/>
        </p:nvCxnSpPr>
        <p:spPr>
          <a:xfrm>
            <a:off x="8545342" y="2437295"/>
            <a:ext cx="0" cy="409239"/>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D593D4A-F29C-4B7D-A009-6F81F2C5D6DF}"/>
              </a:ext>
            </a:extLst>
          </p:cNvPr>
          <p:cNvCxnSpPr>
            <a:cxnSpLocks/>
            <a:stCxn id="10" idx="2"/>
            <a:endCxn id="3" idx="0"/>
          </p:cNvCxnSpPr>
          <p:nvPr/>
        </p:nvCxnSpPr>
        <p:spPr>
          <a:xfrm>
            <a:off x="8545342" y="3249017"/>
            <a:ext cx="0" cy="129482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5E95874-2A37-4759-96A5-DBFCF75C51C0}"/>
              </a:ext>
            </a:extLst>
          </p:cNvPr>
          <p:cNvSpPr txBox="1"/>
          <p:nvPr/>
        </p:nvSpPr>
        <p:spPr>
          <a:xfrm>
            <a:off x="9289518" y="4090556"/>
            <a:ext cx="612895" cy="307777"/>
          </a:xfrm>
          <a:prstGeom prst="rect">
            <a:avLst/>
          </a:prstGeom>
          <a:noFill/>
        </p:spPr>
        <p:txBody>
          <a:bodyPr wrap="square" rtlCol="0">
            <a:spAutoFit/>
          </a:bodyPr>
          <a:lstStyle/>
          <a:p>
            <a:r>
              <a:rPr lang="en-US" sz="1400" dirty="0">
                <a:solidFill>
                  <a:srgbClr val="00FF00"/>
                </a:solidFill>
              </a:rPr>
              <a:t>User</a:t>
            </a:r>
          </a:p>
        </p:txBody>
      </p:sp>
      <p:cxnSp>
        <p:nvCxnSpPr>
          <p:cNvPr id="18" name="Straight Arrow Connector 17">
            <a:extLst>
              <a:ext uri="{FF2B5EF4-FFF2-40B4-BE49-F238E27FC236}">
                <a16:creationId xmlns:a16="http://schemas.microsoft.com/office/drawing/2014/main" id="{CD933379-1193-4435-9D8B-C1E8663E2D8B}"/>
              </a:ext>
            </a:extLst>
          </p:cNvPr>
          <p:cNvCxnSpPr>
            <a:cxnSpLocks/>
            <a:stCxn id="16" idx="1"/>
          </p:cNvCxnSpPr>
          <p:nvPr/>
        </p:nvCxnSpPr>
        <p:spPr>
          <a:xfrm flipH="1">
            <a:off x="8804396" y="4244445"/>
            <a:ext cx="485122" cy="299398"/>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8898D4A-1CF6-4829-BECE-3B8D2A2C49A7}"/>
              </a:ext>
            </a:extLst>
          </p:cNvPr>
          <p:cNvSpPr txBox="1"/>
          <p:nvPr/>
        </p:nvSpPr>
        <p:spPr>
          <a:xfrm>
            <a:off x="9074760" y="2492289"/>
            <a:ext cx="1176362" cy="738664"/>
          </a:xfrm>
          <a:prstGeom prst="rect">
            <a:avLst/>
          </a:prstGeom>
          <a:noFill/>
        </p:spPr>
        <p:txBody>
          <a:bodyPr wrap="square" rtlCol="0">
            <a:spAutoFit/>
          </a:bodyPr>
          <a:lstStyle/>
          <a:p>
            <a:r>
              <a:rPr lang="en-US" sz="1400" dirty="0">
                <a:solidFill>
                  <a:srgbClr val="C00000"/>
                </a:solidFill>
              </a:rPr>
              <a:t>Hypervisor Extended Supervisor</a:t>
            </a:r>
          </a:p>
        </p:txBody>
      </p:sp>
      <p:cxnSp>
        <p:nvCxnSpPr>
          <p:cNvPr id="21" name="Straight Arrow Connector 20">
            <a:extLst>
              <a:ext uri="{FF2B5EF4-FFF2-40B4-BE49-F238E27FC236}">
                <a16:creationId xmlns:a16="http://schemas.microsoft.com/office/drawing/2014/main" id="{E1A496BC-3D68-4338-8CD1-56D5F31DF419}"/>
              </a:ext>
            </a:extLst>
          </p:cNvPr>
          <p:cNvCxnSpPr>
            <a:cxnSpLocks/>
          </p:cNvCxnSpPr>
          <p:nvPr/>
        </p:nvCxnSpPr>
        <p:spPr>
          <a:xfrm flipH="1">
            <a:off x="8763369" y="2701659"/>
            <a:ext cx="382770" cy="14308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702B39-096D-437C-AFF0-8360FD1F77E3}"/>
              </a:ext>
            </a:extLst>
          </p:cNvPr>
          <p:cNvSpPr txBox="1"/>
          <p:nvPr/>
        </p:nvSpPr>
        <p:spPr>
          <a:xfrm>
            <a:off x="9074760" y="1727035"/>
            <a:ext cx="939112" cy="307777"/>
          </a:xfrm>
          <a:prstGeom prst="rect">
            <a:avLst/>
          </a:prstGeom>
          <a:noFill/>
        </p:spPr>
        <p:txBody>
          <a:bodyPr wrap="square" rtlCol="0">
            <a:spAutoFit/>
          </a:bodyPr>
          <a:lstStyle/>
          <a:p>
            <a:r>
              <a:rPr lang="en-US" sz="1400" dirty="0">
                <a:solidFill>
                  <a:schemeClr val="tx1">
                    <a:lumMod val="50000"/>
                  </a:schemeClr>
                </a:solidFill>
              </a:rPr>
              <a:t>Machine</a:t>
            </a:r>
          </a:p>
        </p:txBody>
      </p:sp>
      <p:cxnSp>
        <p:nvCxnSpPr>
          <p:cNvPr id="26" name="Straight Arrow Connector 25">
            <a:extLst>
              <a:ext uri="{FF2B5EF4-FFF2-40B4-BE49-F238E27FC236}">
                <a16:creationId xmlns:a16="http://schemas.microsoft.com/office/drawing/2014/main" id="{AD9BA2A5-56F6-4DBE-B3BD-80BD01FB1F64}"/>
              </a:ext>
            </a:extLst>
          </p:cNvPr>
          <p:cNvCxnSpPr>
            <a:stCxn id="24" idx="1"/>
          </p:cNvCxnSpPr>
          <p:nvPr/>
        </p:nvCxnSpPr>
        <p:spPr>
          <a:xfrm flipH="1">
            <a:off x="8552216" y="1880924"/>
            <a:ext cx="522544" cy="153888"/>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830939D-E867-4947-8730-E9037E0F6DAC}"/>
              </a:ext>
            </a:extLst>
          </p:cNvPr>
          <p:cNvSpPr txBox="1"/>
          <p:nvPr/>
        </p:nvSpPr>
        <p:spPr>
          <a:xfrm>
            <a:off x="5857103" y="2061904"/>
            <a:ext cx="1801281" cy="1384995"/>
          </a:xfrm>
          <a:prstGeom prst="rect">
            <a:avLst/>
          </a:prstGeom>
          <a:noFill/>
        </p:spPr>
        <p:txBody>
          <a:bodyPr wrap="square">
            <a:spAutoFit/>
          </a:bodyPr>
          <a:lstStyle/>
          <a:p>
            <a:r>
              <a:rPr lang="en-US" sz="1400" dirty="0"/>
              <a:t>Supported combinations:</a:t>
            </a:r>
          </a:p>
          <a:p>
            <a:pPr marL="285750" indent="-285750">
              <a:buFont typeface="Arial" panose="020B0604020202020204" pitchFamily="34" charset="0"/>
              <a:buChar char="•"/>
            </a:pPr>
            <a:r>
              <a:rPr lang="en-US" sz="1400" dirty="0"/>
              <a:t>M</a:t>
            </a:r>
          </a:p>
          <a:p>
            <a:pPr marL="285750" indent="-285750">
              <a:buFont typeface="Arial" panose="020B0604020202020204" pitchFamily="34" charset="0"/>
              <a:buChar char="•"/>
            </a:pPr>
            <a:r>
              <a:rPr lang="en-US" sz="1400" dirty="0"/>
              <a:t>M + U</a:t>
            </a:r>
          </a:p>
          <a:p>
            <a:pPr marL="285750" indent="-285750">
              <a:buFont typeface="Arial" panose="020B0604020202020204" pitchFamily="34" charset="0"/>
              <a:buChar char="•"/>
            </a:pPr>
            <a:r>
              <a:rPr lang="en-US" sz="1400" dirty="0"/>
              <a:t>M + S + U</a:t>
            </a:r>
          </a:p>
          <a:p>
            <a:pPr marL="285750" indent="-285750">
              <a:buFont typeface="Arial" panose="020B0604020202020204" pitchFamily="34" charset="0"/>
              <a:buChar char="•"/>
            </a:pPr>
            <a:r>
              <a:rPr lang="en-US" sz="1400" dirty="0"/>
              <a:t>M + </a:t>
            </a:r>
            <a:r>
              <a:rPr lang="en-US" sz="1400" dirty="0">
                <a:solidFill>
                  <a:srgbClr val="C00000"/>
                </a:solidFill>
              </a:rPr>
              <a:t>(V)</a:t>
            </a:r>
            <a:r>
              <a:rPr lang="en-US" sz="1400" dirty="0"/>
              <a:t>S + </a:t>
            </a:r>
            <a:r>
              <a:rPr lang="en-US" sz="1400" dirty="0">
                <a:solidFill>
                  <a:srgbClr val="C00000"/>
                </a:solidFill>
              </a:rPr>
              <a:t>(V)</a:t>
            </a:r>
            <a:r>
              <a:rPr lang="en-US" sz="1400" dirty="0"/>
              <a:t>U</a:t>
            </a:r>
          </a:p>
        </p:txBody>
      </p:sp>
      <p:sp>
        <p:nvSpPr>
          <p:cNvPr id="23" name="Rectangle: Rounded Corners 22">
            <a:extLst>
              <a:ext uri="{FF2B5EF4-FFF2-40B4-BE49-F238E27FC236}">
                <a16:creationId xmlns:a16="http://schemas.microsoft.com/office/drawing/2014/main" id="{420AF96A-C2EC-499B-90CE-D47BC75745FE}"/>
              </a:ext>
            </a:extLst>
          </p:cNvPr>
          <p:cNvSpPr/>
          <p:nvPr/>
        </p:nvSpPr>
        <p:spPr>
          <a:xfrm>
            <a:off x="6089376" y="3889314"/>
            <a:ext cx="1176363" cy="402483"/>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VS-mode</a:t>
            </a:r>
          </a:p>
        </p:txBody>
      </p:sp>
      <p:cxnSp>
        <p:nvCxnSpPr>
          <p:cNvPr id="25" name="Straight Arrow Connector 24">
            <a:extLst>
              <a:ext uri="{FF2B5EF4-FFF2-40B4-BE49-F238E27FC236}">
                <a16:creationId xmlns:a16="http://schemas.microsoft.com/office/drawing/2014/main" id="{F83783A7-2125-4B15-BB06-599C4F86FD52}"/>
              </a:ext>
            </a:extLst>
          </p:cNvPr>
          <p:cNvCxnSpPr>
            <a:cxnSpLocks/>
            <a:endCxn id="23" idx="0"/>
          </p:cNvCxnSpPr>
          <p:nvPr/>
        </p:nvCxnSpPr>
        <p:spPr>
          <a:xfrm flipH="1">
            <a:off x="6677558" y="3241901"/>
            <a:ext cx="1708794" cy="64741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5C7BCA62-7EA0-4CA0-B571-8CB770854DBD}"/>
              </a:ext>
            </a:extLst>
          </p:cNvPr>
          <p:cNvSpPr/>
          <p:nvPr/>
        </p:nvSpPr>
        <p:spPr>
          <a:xfrm>
            <a:off x="6089375" y="4536727"/>
            <a:ext cx="1176363" cy="402483"/>
          </a:xfrm>
          <a:prstGeom prst="roundRect">
            <a:avLst/>
          </a:prstGeom>
          <a:no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VU-mode</a:t>
            </a:r>
          </a:p>
        </p:txBody>
      </p:sp>
      <p:sp>
        <p:nvSpPr>
          <p:cNvPr id="29" name="TextBox 28">
            <a:extLst>
              <a:ext uri="{FF2B5EF4-FFF2-40B4-BE49-F238E27FC236}">
                <a16:creationId xmlns:a16="http://schemas.microsoft.com/office/drawing/2014/main" id="{D3A95063-E65D-441D-9705-1BBBBD861395}"/>
              </a:ext>
            </a:extLst>
          </p:cNvPr>
          <p:cNvSpPr txBox="1"/>
          <p:nvPr/>
        </p:nvSpPr>
        <p:spPr>
          <a:xfrm>
            <a:off x="7339279" y="5194586"/>
            <a:ext cx="1102857" cy="523220"/>
          </a:xfrm>
          <a:prstGeom prst="rect">
            <a:avLst/>
          </a:prstGeom>
          <a:noFill/>
        </p:spPr>
        <p:txBody>
          <a:bodyPr wrap="square" rtlCol="0">
            <a:spAutoFit/>
          </a:bodyPr>
          <a:lstStyle/>
          <a:p>
            <a:r>
              <a:rPr lang="en-US" sz="1400" dirty="0">
                <a:solidFill>
                  <a:srgbClr val="00FF00"/>
                </a:solidFill>
              </a:rPr>
              <a:t>Virtualized User</a:t>
            </a:r>
          </a:p>
        </p:txBody>
      </p:sp>
      <p:cxnSp>
        <p:nvCxnSpPr>
          <p:cNvPr id="30" name="Straight Arrow Connector 29">
            <a:extLst>
              <a:ext uri="{FF2B5EF4-FFF2-40B4-BE49-F238E27FC236}">
                <a16:creationId xmlns:a16="http://schemas.microsoft.com/office/drawing/2014/main" id="{D30329F1-E038-4072-81DD-6BD260A7118D}"/>
              </a:ext>
            </a:extLst>
          </p:cNvPr>
          <p:cNvCxnSpPr>
            <a:cxnSpLocks/>
            <a:stCxn id="29" idx="1"/>
            <a:endCxn id="28" idx="2"/>
          </p:cNvCxnSpPr>
          <p:nvPr/>
        </p:nvCxnSpPr>
        <p:spPr>
          <a:xfrm flipH="1" flipV="1">
            <a:off x="6677557" y="4939210"/>
            <a:ext cx="661722" cy="516986"/>
          </a:xfrm>
          <a:prstGeom prst="straightConnector1">
            <a:avLst/>
          </a:prstGeom>
          <a:ln w="1905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C46762F-F0E6-4CE8-A31D-16EA6E7B89E9}"/>
              </a:ext>
            </a:extLst>
          </p:cNvPr>
          <p:cNvSpPr txBox="1"/>
          <p:nvPr/>
        </p:nvSpPr>
        <p:spPr>
          <a:xfrm>
            <a:off x="7489360" y="3933519"/>
            <a:ext cx="1102857" cy="523220"/>
          </a:xfrm>
          <a:prstGeom prst="rect">
            <a:avLst/>
          </a:prstGeom>
          <a:noFill/>
        </p:spPr>
        <p:txBody>
          <a:bodyPr wrap="square" rtlCol="0">
            <a:spAutoFit/>
          </a:bodyPr>
          <a:lstStyle/>
          <a:p>
            <a:r>
              <a:rPr lang="en-US" sz="1400" dirty="0">
                <a:solidFill>
                  <a:srgbClr val="C00000"/>
                </a:solidFill>
              </a:rPr>
              <a:t>Virtualized Supervisor</a:t>
            </a:r>
          </a:p>
        </p:txBody>
      </p:sp>
      <p:cxnSp>
        <p:nvCxnSpPr>
          <p:cNvPr id="33" name="Straight Arrow Connector 32">
            <a:extLst>
              <a:ext uri="{FF2B5EF4-FFF2-40B4-BE49-F238E27FC236}">
                <a16:creationId xmlns:a16="http://schemas.microsoft.com/office/drawing/2014/main" id="{ED816C35-CFA4-4C78-91A7-7BDE45E5B696}"/>
              </a:ext>
            </a:extLst>
          </p:cNvPr>
          <p:cNvCxnSpPr>
            <a:cxnSpLocks/>
            <a:stCxn id="32" idx="1"/>
            <a:endCxn id="23" idx="3"/>
          </p:cNvCxnSpPr>
          <p:nvPr/>
        </p:nvCxnSpPr>
        <p:spPr>
          <a:xfrm flipH="1" flipV="1">
            <a:off x="7265739" y="4090556"/>
            <a:ext cx="223621" cy="10457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99F5DE2-7033-4FC4-8B23-1C87328FDF0B}"/>
              </a:ext>
            </a:extLst>
          </p:cNvPr>
          <p:cNvCxnSpPr>
            <a:cxnSpLocks/>
            <a:stCxn id="23" idx="2"/>
          </p:cNvCxnSpPr>
          <p:nvPr/>
        </p:nvCxnSpPr>
        <p:spPr>
          <a:xfrm>
            <a:off x="6677558" y="4291797"/>
            <a:ext cx="0" cy="24350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Arrow: Down 6">
            <a:extLst>
              <a:ext uri="{FF2B5EF4-FFF2-40B4-BE49-F238E27FC236}">
                <a16:creationId xmlns:a16="http://schemas.microsoft.com/office/drawing/2014/main" id="{1469977D-DF90-4DB2-A335-A57186981A91}"/>
              </a:ext>
            </a:extLst>
          </p:cNvPr>
          <p:cNvSpPr/>
          <p:nvPr/>
        </p:nvSpPr>
        <p:spPr>
          <a:xfrm rot="19113937">
            <a:off x="7875046" y="1213358"/>
            <a:ext cx="447024" cy="1102099"/>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4AC7F3A-6DE6-4B5F-B251-BD01B117731F}"/>
              </a:ext>
            </a:extLst>
          </p:cNvPr>
          <p:cNvSpPr txBox="1"/>
          <p:nvPr/>
        </p:nvSpPr>
        <p:spPr>
          <a:xfrm>
            <a:off x="6566520" y="879574"/>
            <a:ext cx="2438230" cy="461665"/>
          </a:xfrm>
          <a:prstGeom prst="rect">
            <a:avLst/>
          </a:prstGeom>
          <a:noFill/>
        </p:spPr>
        <p:txBody>
          <a:bodyPr wrap="square" rtlCol="0">
            <a:spAutoFit/>
          </a:bodyPr>
          <a:lstStyle/>
          <a:p>
            <a:r>
              <a:rPr lang="en-US" sz="2400" b="1" dirty="0">
                <a:solidFill>
                  <a:srgbClr val="FF0000"/>
                </a:solidFill>
              </a:rPr>
              <a:t>“GOD” MODE</a:t>
            </a:r>
          </a:p>
        </p:txBody>
      </p:sp>
    </p:spTree>
    <p:extLst>
      <p:ext uri="{BB962C8B-B14F-4D97-AF65-F5344CB8AC3E}">
        <p14:creationId xmlns:p14="http://schemas.microsoft.com/office/powerpoint/2010/main" val="1727107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23</a:t>
            </a:fld>
            <a:endParaRPr lang="en-GB" dirty="0"/>
          </a:p>
        </p:txBody>
      </p:sp>
      <p:sp>
        <p:nvSpPr>
          <p:cNvPr id="2" name="Title 1"/>
          <p:cNvSpPr txBox="1">
            <a:spLocks noGrp="1"/>
          </p:cNvSpPr>
          <p:nvPr>
            <p:ph type="title" idx="4294967295"/>
          </p:nvPr>
        </p:nvSpPr>
        <p:spPr>
          <a:xfrm>
            <a:off x="247544" y="438813"/>
            <a:ext cx="9795699" cy="611449"/>
          </a:xfrm>
        </p:spPr>
        <p:txBody>
          <a:bodyPr wrap="square">
            <a:spAutoFit/>
          </a:bodyPr>
          <a:lstStyle/>
          <a:p>
            <a:pPr marR="360000" lvl="0"/>
            <a:r>
              <a:rPr lang="en-US" dirty="0" err="1">
                <a:solidFill>
                  <a:schemeClr val="accent1"/>
                </a:solidFill>
              </a:rPr>
              <a:t>Adacore</a:t>
            </a:r>
            <a:r>
              <a:rPr lang="en-US" dirty="0">
                <a:solidFill>
                  <a:schemeClr val="accent1"/>
                </a:solidFill>
              </a:rPr>
              <a:t> / </a:t>
            </a:r>
            <a:r>
              <a:rPr lang="en-US" dirty="0">
                <a:solidFill>
                  <a:srgbClr val="FF0000"/>
                </a:solidFill>
              </a:rPr>
              <a:t>SPARK</a:t>
            </a:r>
          </a:p>
        </p:txBody>
      </p:sp>
      <p:pic>
        <p:nvPicPr>
          <p:cNvPr id="1026" name="Picture 2" descr="About SPARK | AdaCore">
            <a:extLst>
              <a:ext uri="{FF2B5EF4-FFF2-40B4-BE49-F238E27FC236}">
                <a16:creationId xmlns:a16="http://schemas.microsoft.com/office/drawing/2014/main" id="{B88F9FFF-5EA7-40C5-9E6A-E134092F8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98613"/>
            <a:ext cx="10080625" cy="436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924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24</a:t>
            </a:fld>
            <a:endParaRPr lang="en-GB" dirty="0"/>
          </a:p>
        </p:txBody>
      </p:sp>
      <p:sp>
        <p:nvSpPr>
          <p:cNvPr id="2" name="Title 1"/>
          <p:cNvSpPr txBox="1">
            <a:spLocks noGrp="1"/>
          </p:cNvSpPr>
          <p:nvPr>
            <p:ph type="title" idx="4294967295"/>
          </p:nvPr>
        </p:nvSpPr>
        <p:spPr>
          <a:xfrm>
            <a:off x="247544" y="438813"/>
            <a:ext cx="9795699" cy="611449"/>
          </a:xfrm>
        </p:spPr>
        <p:txBody>
          <a:bodyPr wrap="square">
            <a:spAutoFit/>
          </a:bodyPr>
          <a:lstStyle/>
          <a:p>
            <a:pPr marR="360000" lvl="0"/>
            <a:r>
              <a:rPr lang="en-US" dirty="0" err="1">
                <a:solidFill>
                  <a:schemeClr val="accent1"/>
                </a:solidFill>
              </a:rPr>
              <a:t>Adacore</a:t>
            </a:r>
            <a:r>
              <a:rPr lang="en-US" dirty="0">
                <a:solidFill>
                  <a:schemeClr val="accent1"/>
                </a:solidFill>
              </a:rPr>
              <a:t> / </a:t>
            </a:r>
            <a:r>
              <a:rPr lang="en-US" dirty="0">
                <a:solidFill>
                  <a:srgbClr val="FF0000"/>
                </a:solidFill>
              </a:rPr>
              <a:t>SPARK</a:t>
            </a:r>
          </a:p>
        </p:txBody>
      </p:sp>
      <p:pic>
        <p:nvPicPr>
          <p:cNvPr id="1026" name="Picture 2" descr="About SPARK | AdaCore">
            <a:extLst>
              <a:ext uri="{FF2B5EF4-FFF2-40B4-BE49-F238E27FC236}">
                <a16:creationId xmlns:a16="http://schemas.microsoft.com/office/drawing/2014/main" id="{B88F9FFF-5EA7-40C5-9E6A-E134092F8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98613"/>
            <a:ext cx="10080625" cy="43624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14A408A-1460-4245-905F-00F6755CC4A1}"/>
              </a:ext>
            </a:extLst>
          </p:cNvPr>
          <p:cNvSpPr txBox="1"/>
          <p:nvPr/>
        </p:nvSpPr>
        <p:spPr>
          <a:xfrm>
            <a:off x="1390999" y="5802733"/>
            <a:ext cx="7613751" cy="1569660"/>
          </a:xfrm>
          <a:prstGeom prst="rect">
            <a:avLst/>
          </a:prstGeom>
          <a:noFill/>
        </p:spPr>
        <p:txBody>
          <a:bodyPr wrap="none" rtlCol="0">
            <a:spAutoFit/>
          </a:bodyPr>
          <a:lstStyle/>
          <a:p>
            <a:r>
              <a:rPr lang="en-US" sz="9600" dirty="0">
                <a:solidFill>
                  <a:srgbClr val="FF0000"/>
                </a:solidFill>
              </a:rPr>
              <a:t>What the…. ?</a:t>
            </a:r>
          </a:p>
        </p:txBody>
      </p:sp>
    </p:spTree>
    <p:extLst>
      <p:ext uri="{BB962C8B-B14F-4D97-AF65-F5344CB8AC3E}">
        <p14:creationId xmlns:p14="http://schemas.microsoft.com/office/powerpoint/2010/main" val="3963745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1897764"/>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spTree>
    <p:extLst>
      <p:ext uri="{BB962C8B-B14F-4D97-AF65-F5344CB8AC3E}">
        <p14:creationId xmlns:p14="http://schemas.microsoft.com/office/powerpoint/2010/main" val="3134062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348076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spTree>
    <p:extLst>
      <p:ext uri="{BB962C8B-B14F-4D97-AF65-F5344CB8AC3E}">
        <p14:creationId xmlns:p14="http://schemas.microsoft.com/office/powerpoint/2010/main" val="1206646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3954224"/>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spTree>
    <p:extLst>
      <p:ext uri="{BB962C8B-B14F-4D97-AF65-F5344CB8AC3E}">
        <p14:creationId xmlns:p14="http://schemas.microsoft.com/office/powerpoint/2010/main" val="2525405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479624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spTree>
    <p:extLst>
      <p:ext uri="{BB962C8B-B14F-4D97-AF65-F5344CB8AC3E}">
        <p14:creationId xmlns:p14="http://schemas.microsoft.com/office/powerpoint/2010/main" val="147396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29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spTree>
    <p:extLst>
      <p:ext uri="{BB962C8B-B14F-4D97-AF65-F5344CB8AC3E}">
        <p14:creationId xmlns:p14="http://schemas.microsoft.com/office/powerpoint/2010/main" val="3879532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pic>
        <p:nvPicPr>
          <p:cNvPr id="8" name="Picture 7">
            <a:extLst>
              <a:ext uri="{FF2B5EF4-FFF2-40B4-BE49-F238E27FC236}">
                <a16:creationId xmlns:a16="http://schemas.microsoft.com/office/drawing/2014/main" id="{B736710D-0F2B-4AA5-83B8-717826219504}"/>
              </a:ext>
            </a:extLst>
          </p:cNvPr>
          <p:cNvPicPr>
            <a:picLocks noChangeAspect="1"/>
          </p:cNvPicPr>
          <p:nvPr/>
        </p:nvPicPr>
        <p:blipFill>
          <a:blip r:embed="rId4"/>
          <a:stretch>
            <a:fillRect/>
          </a:stretch>
        </p:blipFill>
        <p:spPr>
          <a:xfrm>
            <a:off x="0" y="1065541"/>
            <a:ext cx="10080625" cy="5428592"/>
          </a:xfrm>
          <a:prstGeom prst="rect">
            <a:avLst/>
          </a:prstGeom>
        </p:spPr>
      </p:pic>
    </p:spTree>
    <p:extLst>
      <p:ext uri="{BB962C8B-B14F-4D97-AF65-F5344CB8AC3E}">
        <p14:creationId xmlns:p14="http://schemas.microsoft.com/office/powerpoint/2010/main" val="674346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pic>
        <p:nvPicPr>
          <p:cNvPr id="8" name="Picture 7">
            <a:extLst>
              <a:ext uri="{FF2B5EF4-FFF2-40B4-BE49-F238E27FC236}">
                <a16:creationId xmlns:a16="http://schemas.microsoft.com/office/drawing/2014/main" id="{B736710D-0F2B-4AA5-83B8-717826219504}"/>
              </a:ext>
            </a:extLst>
          </p:cNvPr>
          <p:cNvPicPr>
            <a:picLocks noChangeAspect="1"/>
          </p:cNvPicPr>
          <p:nvPr/>
        </p:nvPicPr>
        <p:blipFill>
          <a:blip r:embed="rId4"/>
          <a:stretch>
            <a:fillRect/>
          </a:stretch>
        </p:blipFill>
        <p:spPr>
          <a:xfrm>
            <a:off x="0" y="1065541"/>
            <a:ext cx="10080625" cy="5428592"/>
          </a:xfrm>
          <a:prstGeom prst="rect">
            <a:avLst/>
          </a:prstGeom>
        </p:spPr>
      </p:pic>
      <p:sp>
        <p:nvSpPr>
          <p:cNvPr id="7" name="Content Placeholder 2">
            <a:extLst>
              <a:ext uri="{FF2B5EF4-FFF2-40B4-BE49-F238E27FC236}">
                <a16:creationId xmlns:a16="http://schemas.microsoft.com/office/drawing/2014/main" id="{708BC666-E1D0-4502-AC90-33161D8F334E}"/>
              </a:ext>
            </a:extLst>
          </p:cNvPr>
          <p:cNvSpPr txBox="1">
            <a:spLocks/>
          </p:cNvSpPr>
          <p:nvPr/>
        </p:nvSpPr>
        <p:spPr bwMode="auto">
          <a:xfrm>
            <a:off x="196244" y="2445537"/>
            <a:ext cx="9688136" cy="1882154"/>
          </a:xfrm>
          <a:prstGeom prst="rect">
            <a:avLst/>
          </a:prstGeom>
          <a:solidFill>
            <a:schemeClr val="tx1">
              <a:lumMod val="95000"/>
            </a:schemeClr>
          </a:solidFill>
          <a:ln w="9525">
            <a:noFill/>
            <a:miter lim="800000"/>
            <a:headEnd/>
            <a:tailEnd/>
          </a:ln>
        </p:spPr>
        <p:txBody>
          <a:bodyPr vert="horz" wrap="square" lIns="152400" tIns="76200" rIns="152400" bIns="762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4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a:spcBef>
                <a:spcPts val="0"/>
              </a:spcBef>
              <a:spcAft>
                <a:spcPts val="0"/>
              </a:spcAft>
            </a:pPr>
            <a:r>
              <a:rPr lang="en-US" sz="1667" dirty="0">
                <a:latin typeface="Courier New" panose="02070309020205020404" pitchFamily="49" charset="0"/>
                <a:cs typeface="Courier New" panose="02070309020205020404" pitchFamily="49" charset="0"/>
              </a:rPr>
              <a:t>test.adb:28:25: medium: divide by zero might fail (e.g. when b = 42)</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test.adb:30:31: medium: array index check might fail (e.g. when </a:t>
            </a:r>
            <a:r>
              <a:rPr lang="en-US" sz="1667" dirty="0" err="1">
                <a:latin typeface="Courier New" panose="02070309020205020404" pitchFamily="49" charset="0"/>
                <a:cs typeface="Courier New" panose="02070309020205020404" pitchFamily="49" charset="0"/>
              </a:rPr>
              <a:t>MyIndex</a:t>
            </a:r>
            <a:r>
              <a:rPr lang="en-US" sz="1667" dirty="0">
                <a:latin typeface="Courier New" panose="02070309020205020404" pitchFamily="49" charset="0"/>
                <a:cs typeface="Courier New" panose="02070309020205020404" pitchFamily="49" charset="0"/>
              </a:rPr>
              <a:t> = 36)</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test.adb:37:30: value not in range of type "</a:t>
            </a:r>
            <a:r>
              <a:rPr lang="en-US" sz="1667" dirty="0" err="1">
                <a:latin typeface="Courier New" panose="02070309020205020404" pitchFamily="49" charset="0"/>
                <a:cs typeface="Courier New" panose="02070309020205020404" pitchFamily="49" charset="0"/>
              </a:rPr>
              <a:t>MyType</a:t>
            </a:r>
            <a:r>
              <a:rPr lang="en-US" sz="1667" dirty="0">
                <a:latin typeface="Courier New" panose="02070309020205020404" pitchFamily="49" charset="0"/>
                <a:cs typeface="Courier New" panose="02070309020205020404" pitchFamily="49" charset="0"/>
              </a:rPr>
              <a:t>" defined at test.ads:6</a:t>
            </a:r>
          </a:p>
          <a:p>
            <a:pPr>
              <a:spcBef>
                <a:spcPts val="0"/>
              </a:spcBef>
              <a:spcAft>
                <a:spcPts val="0"/>
              </a:spcAft>
            </a:pPr>
            <a:r>
              <a:rPr lang="en-US" sz="1667" dirty="0">
                <a:latin typeface="Courier New" panose="02070309020205020404" pitchFamily="49" charset="0"/>
                <a:cs typeface="Courier New" panose="02070309020205020404" pitchFamily="49" charset="0"/>
              </a:rPr>
              <a:t>test.adb:37:30: "</a:t>
            </a:r>
            <a:r>
              <a:rPr lang="en-US" sz="1667" dirty="0" err="1">
                <a:latin typeface="Courier New" panose="02070309020205020404" pitchFamily="49" charset="0"/>
                <a:cs typeface="Courier New" panose="02070309020205020404" pitchFamily="49" charset="0"/>
              </a:rPr>
              <a:t>Constraint_Error</a:t>
            </a:r>
            <a:r>
              <a:rPr lang="en-US" sz="1667" dirty="0">
                <a:latin typeface="Courier New" panose="02070309020205020404" pitchFamily="49" charset="0"/>
                <a:cs typeface="Courier New" panose="02070309020205020404" pitchFamily="49" charset="0"/>
              </a:rPr>
              <a:t>" would have been raised at run time</a:t>
            </a:r>
          </a:p>
        </p:txBody>
      </p:sp>
    </p:spTree>
    <p:extLst>
      <p:ext uri="{BB962C8B-B14F-4D97-AF65-F5344CB8AC3E}">
        <p14:creationId xmlns:p14="http://schemas.microsoft.com/office/powerpoint/2010/main" val="1688180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pic>
        <p:nvPicPr>
          <p:cNvPr id="8" name="Picture 7">
            <a:extLst>
              <a:ext uri="{FF2B5EF4-FFF2-40B4-BE49-F238E27FC236}">
                <a16:creationId xmlns:a16="http://schemas.microsoft.com/office/drawing/2014/main" id="{B736710D-0F2B-4AA5-83B8-717826219504}"/>
              </a:ext>
            </a:extLst>
          </p:cNvPr>
          <p:cNvPicPr>
            <a:picLocks noChangeAspect="1"/>
          </p:cNvPicPr>
          <p:nvPr/>
        </p:nvPicPr>
        <p:blipFill>
          <a:blip r:embed="rId4"/>
          <a:stretch>
            <a:fillRect/>
          </a:stretch>
        </p:blipFill>
        <p:spPr>
          <a:xfrm>
            <a:off x="0" y="1065541"/>
            <a:ext cx="10080625" cy="5428592"/>
          </a:xfrm>
          <a:prstGeom prst="rect">
            <a:avLst/>
          </a:prstGeom>
        </p:spPr>
      </p:pic>
      <p:sp>
        <p:nvSpPr>
          <p:cNvPr id="7" name="Content Placeholder 2">
            <a:extLst>
              <a:ext uri="{FF2B5EF4-FFF2-40B4-BE49-F238E27FC236}">
                <a16:creationId xmlns:a16="http://schemas.microsoft.com/office/drawing/2014/main" id="{708BC666-E1D0-4502-AC90-33161D8F334E}"/>
              </a:ext>
            </a:extLst>
          </p:cNvPr>
          <p:cNvSpPr txBox="1">
            <a:spLocks/>
          </p:cNvSpPr>
          <p:nvPr/>
        </p:nvSpPr>
        <p:spPr bwMode="auto">
          <a:xfrm>
            <a:off x="196244" y="2445537"/>
            <a:ext cx="9688136" cy="1882154"/>
          </a:xfrm>
          <a:prstGeom prst="rect">
            <a:avLst/>
          </a:prstGeom>
          <a:solidFill>
            <a:schemeClr val="tx1">
              <a:lumMod val="95000"/>
            </a:schemeClr>
          </a:solidFill>
          <a:ln w="9525">
            <a:noFill/>
            <a:miter lim="800000"/>
            <a:headEnd/>
            <a:tailEnd/>
          </a:ln>
        </p:spPr>
        <p:txBody>
          <a:bodyPr vert="horz" wrap="square" lIns="152400" tIns="76200" rIns="152400" bIns="762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4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a:spcBef>
                <a:spcPts val="0"/>
              </a:spcBef>
              <a:spcAft>
                <a:spcPts val="0"/>
              </a:spcAft>
            </a:pPr>
            <a:r>
              <a:rPr lang="en-US" sz="1667" dirty="0">
                <a:latin typeface="Courier New" panose="02070309020205020404" pitchFamily="49" charset="0"/>
                <a:cs typeface="Courier New" panose="02070309020205020404" pitchFamily="49" charset="0"/>
              </a:rPr>
              <a:t>test.adb:28:25: medium: divide by zero might fail (e.g. when b = 42)</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test.adb:30:31: medium: array index check might fail (e.g. when </a:t>
            </a:r>
            <a:r>
              <a:rPr lang="en-US" sz="1667" dirty="0" err="1">
                <a:latin typeface="Courier New" panose="02070309020205020404" pitchFamily="49" charset="0"/>
                <a:cs typeface="Courier New" panose="02070309020205020404" pitchFamily="49" charset="0"/>
              </a:rPr>
              <a:t>MyIndex</a:t>
            </a:r>
            <a:r>
              <a:rPr lang="en-US" sz="1667" dirty="0">
                <a:latin typeface="Courier New" panose="02070309020205020404" pitchFamily="49" charset="0"/>
                <a:cs typeface="Courier New" panose="02070309020205020404" pitchFamily="49" charset="0"/>
              </a:rPr>
              <a:t> = 36)</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test.adb:37:30: value not in range of type "</a:t>
            </a:r>
            <a:r>
              <a:rPr lang="en-US" sz="1667" dirty="0" err="1">
                <a:latin typeface="Courier New" panose="02070309020205020404" pitchFamily="49" charset="0"/>
                <a:cs typeface="Courier New" panose="02070309020205020404" pitchFamily="49" charset="0"/>
              </a:rPr>
              <a:t>MyType</a:t>
            </a:r>
            <a:r>
              <a:rPr lang="en-US" sz="1667" dirty="0">
                <a:latin typeface="Courier New" panose="02070309020205020404" pitchFamily="49" charset="0"/>
                <a:cs typeface="Courier New" panose="02070309020205020404" pitchFamily="49" charset="0"/>
              </a:rPr>
              <a:t>" defined at test.ads:6</a:t>
            </a:r>
          </a:p>
          <a:p>
            <a:pPr>
              <a:spcBef>
                <a:spcPts val="0"/>
              </a:spcBef>
              <a:spcAft>
                <a:spcPts val="0"/>
              </a:spcAft>
            </a:pPr>
            <a:r>
              <a:rPr lang="en-US" sz="1667" dirty="0">
                <a:latin typeface="Courier New" panose="02070309020205020404" pitchFamily="49" charset="0"/>
                <a:cs typeface="Courier New" panose="02070309020205020404" pitchFamily="49" charset="0"/>
              </a:rPr>
              <a:t>test.adb:37:30: "</a:t>
            </a:r>
            <a:r>
              <a:rPr lang="en-US" sz="1667" dirty="0" err="1">
                <a:latin typeface="Courier New" panose="02070309020205020404" pitchFamily="49" charset="0"/>
                <a:cs typeface="Courier New" panose="02070309020205020404" pitchFamily="49" charset="0"/>
              </a:rPr>
              <a:t>Constraint_Error</a:t>
            </a:r>
            <a:r>
              <a:rPr lang="en-US" sz="1667" dirty="0">
                <a:latin typeface="Courier New" panose="02070309020205020404" pitchFamily="49" charset="0"/>
                <a:cs typeface="Courier New" panose="02070309020205020404" pitchFamily="49" charset="0"/>
              </a:rPr>
              <a:t>" would have been raised at run time</a:t>
            </a:r>
          </a:p>
        </p:txBody>
      </p:sp>
      <p:pic>
        <p:nvPicPr>
          <p:cNvPr id="9" name="Picture 8">
            <a:extLst>
              <a:ext uri="{FF2B5EF4-FFF2-40B4-BE49-F238E27FC236}">
                <a16:creationId xmlns:a16="http://schemas.microsoft.com/office/drawing/2014/main" id="{9691E741-65EF-4A73-862F-D495C58A7056}"/>
              </a:ext>
            </a:extLst>
          </p:cNvPr>
          <p:cNvPicPr>
            <a:picLocks noChangeAspect="1"/>
          </p:cNvPicPr>
          <p:nvPr/>
        </p:nvPicPr>
        <p:blipFill>
          <a:blip r:embed="rId5"/>
          <a:stretch>
            <a:fillRect/>
          </a:stretch>
        </p:blipFill>
        <p:spPr>
          <a:xfrm>
            <a:off x="1398670" y="0"/>
            <a:ext cx="7283284" cy="7559675"/>
          </a:xfrm>
          <a:prstGeom prst="rect">
            <a:avLst/>
          </a:prstGeom>
        </p:spPr>
      </p:pic>
    </p:spTree>
    <p:extLst>
      <p:ext uri="{BB962C8B-B14F-4D97-AF65-F5344CB8AC3E}">
        <p14:creationId xmlns:p14="http://schemas.microsoft.com/office/powerpoint/2010/main" val="231622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pic>
        <p:nvPicPr>
          <p:cNvPr id="8" name="Picture 7">
            <a:extLst>
              <a:ext uri="{FF2B5EF4-FFF2-40B4-BE49-F238E27FC236}">
                <a16:creationId xmlns:a16="http://schemas.microsoft.com/office/drawing/2014/main" id="{B736710D-0F2B-4AA5-83B8-717826219504}"/>
              </a:ext>
            </a:extLst>
          </p:cNvPr>
          <p:cNvPicPr>
            <a:picLocks noChangeAspect="1"/>
          </p:cNvPicPr>
          <p:nvPr/>
        </p:nvPicPr>
        <p:blipFill>
          <a:blip r:embed="rId4"/>
          <a:stretch>
            <a:fillRect/>
          </a:stretch>
        </p:blipFill>
        <p:spPr>
          <a:xfrm>
            <a:off x="0" y="1065541"/>
            <a:ext cx="10080625" cy="5428592"/>
          </a:xfrm>
          <a:prstGeom prst="rect">
            <a:avLst/>
          </a:prstGeom>
        </p:spPr>
      </p:pic>
      <p:sp>
        <p:nvSpPr>
          <p:cNvPr id="7" name="Content Placeholder 2">
            <a:extLst>
              <a:ext uri="{FF2B5EF4-FFF2-40B4-BE49-F238E27FC236}">
                <a16:creationId xmlns:a16="http://schemas.microsoft.com/office/drawing/2014/main" id="{708BC666-E1D0-4502-AC90-33161D8F334E}"/>
              </a:ext>
            </a:extLst>
          </p:cNvPr>
          <p:cNvSpPr txBox="1">
            <a:spLocks/>
          </p:cNvSpPr>
          <p:nvPr/>
        </p:nvSpPr>
        <p:spPr bwMode="auto">
          <a:xfrm>
            <a:off x="196244" y="2445537"/>
            <a:ext cx="9688136" cy="1882154"/>
          </a:xfrm>
          <a:prstGeom prst="rect">
            <a:avLst/>
          </a:prstGeom>
          <a:solidFill>
            <a:schemeClr val="tx1">
              <a:lumMod val="95000"/>
            </a:schemeClr>
          </a:solidFill>
          <a:ln w="9525">
            <a:noFill/>
            <a:miter lim="800000"/>
            <a:headEnd/>
            <a:tailEnd/>
          </a:ln>
        </p:spPr>
        <p:txBody>
          <a:bodyPr vert="horz" wrap="square" lIns="152400" tIns="76200" rIns="152400" bIns="762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4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a:spcBef>
                <a:spcPts val="0"/>
              </a:spcBef>
              <a:spcAft>
                <a:spcPts val="0"/>
              </a:spcAft>
            </a:pPr>
            <a:r>
              <a:rPr lang="en-US" sz="1667" dirty="0">
                <a:latin typeface="Courier New" panose="02070309020205020404" pitchFamily="49" charset="0"/>
                <a:cs typeface="Courier New" panose="02070309020205020404" pitchFamily="49" charset="0"/>
              </a:rPr>
              <a:t>test.adb:28:25: medium: divide by zero might fail (e.g. when b = 42)</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test.adb:30:31: medium: array index check might fail (e.g. when </a:t>
            </a:r>
            <a:r>
              <a:rPr lang="en-US" sz="1667" dirty="0" err="1">
                <a:latin typeface="Courier New" panose="02070309020205020404" pitchFamily="49" charset="0"/>
                <a:cs typeface="Courier New" panose="02070309020205020404" pitchFamily="49" charset="0"/>
              </a:rPr>
              <a:t>MyIndex</a:t>
            </a:r>
            <a:r>
              <a:rPr lang="en-US" sz="1667" dirty="0">
                <a:latin typeface="Courier New" panose="02070309020205020404" pitchFamily="49" charset="0"/>
                <a:cs typeface="Courier New" panose="02070309020205020404" pitchFamily="49" charset="0"/>
              </a:rPr>
              <a:t> = 36)</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test.adb:37:30: value not in range of type "</a:t>
            </a:r>
            <a:r>
              <a:rPr lang="en-US" sz="1667" dirty="0" err="1">
                <a:latin typeface="Courier New" panose="02070309020205020404" pitchFamily="49" charset="0"/>
                <a:cs typeface="Courier New" panose="02070309020205020404" pitchFamily="49" charset="0"/>
              </a:rPr>
              <a:t>MyType</a:t>
            </a:r>
            <a:r>
              <a:rPr lang="en-US" sz="1667" dirty="0">
                <a:latin typeface="Courier New" panose="02070309020205020404" pitchFamily="49" charset="0"/>
                <a:cs typeface="Courier New" panose="02070309020205020404" pitchFamily="49" charset="0"/>
              </a:rPr>
              <a:t>" defined at test.ads:6</a:t>
            </a:r>
          </a:p>
          <a:p>
            <a:pPr>
              <a:spcBef>
                <a:spcPts val="0"/>
              </a:spcBef>
              <a:spcAft>
                <a:spcPts val="0"/>
              </a:spcAft>
            </a:pPr>
            <a:r>
              <a:rPr lang="en-US" sz="1667" dirty="0">
                <a:latin typeface="Courier New" panose="02070309020205020404" pitchFamily="49" charset="0"/>
                <a:cs typeface="Courier New" panose="02070309020205020404" pitchFamily="49" charset="0"/>
              </a:rPr>
              <a:t>test.adb:37:30: "</a:t>
            </a:r>
            <a:r>
              <a:rPr lang="en-US" sz="1667" dirty="0" err="1">
                <a:latin typeface="Courier New" panose="02070309020205020404" pitchFamily="49" charset="0"/>
                <a:cs typeface="Courier New" panose="02070309020205020404" pitchFamily="49" charset="0"/>
              </a:rPr>
              <a:t>Constraint_Error</a:t>
            </a:r>
            <a:r>
              <a:rPr lang="en-US" sz="1667" dirty="0">
                <a:latin typeface="Courier New" panose="02070309020205020404" pitchFamily="49" charset="0"/>
                <a:cs typeface="Courier New" panose="02070309020205020404" pitchFamily="49" charset="0"/>
              </a:rPr>
              <a:t>" would have been raised at run time</a:t>
            </a:r>
          </a:p>
        </p:txBody>
      </p:sp>
      <p:pic>
        <p:nvPicPr>
          <p:cNvPr id="9" name="Picture 8">
            <a:extLst>
              <a:ext uri="{FF2B5EF4-FFF2-40B4-BE49-F238E27FC236}">
                <a16:creationId xmlns:a16="http://schemas.microsoft.com/office/drawing/2014/main" id="{9691E741-65EF-4A73-862F-D495C58A7056}"/>
              </a:ext>
            </a:extLst>
          </p:cNvPr>
          <p:cNvPicPr>
            <a:picLocks noChangeAspect="1"/>
          </p:cNvPicPr>
          <p:nvPr/>
        </p:nvPicPr>
        <p:blipFill>
          <a:blip r:embed="rId5"/>
          <a:stretch>
            <a:fillRect/>
          </a:stretch>
        </p:blipFill>
        <p:spPr>
          <a:xfrm>
            <a:off x="1398670" y="0"/>
            <a:ext cx="7283284" cy="7559675"/>
          </a:xfrm>
          <a:prstGeom prst="rect">
            <a:avLst/>
          </a:prstGeom>
        </p:spPr>
      </p:pic>
      <p:sp>
        <p:nvSpPr>
          <p:cNvPr id="10" name="Rectangle: Rounded Corners 9">
            <a:extLst>
              <a:ext uri="{FF2B5EF4-FFF2-40B4-BE49-F238E27FC236}">
                <a16:creationId xmlns:a16="http://schemas.microsoft.com/office/drawing/2014/main" id="{E994661A-7A64-47A6-A3C5-4709CF590A79}"/>
              </a:ext>
            </a:extLst>
          </p:cNvPr>
          <p:cNvSpPr/>
          <p:nvPr/>
        </p:nvSpPr>
        <p:spPr>
          <a:xfrm>
            <a:off x="88969" y="88969"/>
            <a:ext cx="9939775" cy="7260830"/>
          </a:xfrm>
          <a:prstGeom prst="roundRect">
            <a:avLst/>
          </a:prstGeom>
          <a:solidFill>
            <a:srgbClr val="FF0000">
              <a:alpha val="8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3"/>
            <a:r>
              <a:rPr lang="en-US" sz="3000" dirty="0">
                <a:solidFill>
                  <a:srgbClr val="FFFF00"/>
                </a:solidFill>
              </a:rPr>
              <a:t>Lessons learned:</a:t>
            </a:r>
          </a:p>
          <a:p>
            <a:pPr marL="1714500" lvl="3" indent="-342900">
              <a:buFont typeface="Arial" panose="020B0604020202020204" pitchFamily="34" charset="0"/>
              <a:buChar char="•"/>
            </a:pPr>
            <a:r>
              <a:rPr lang="en-US" sz="2500" dirty="0"/>
              <a:t>You </a:t>
            </a:r>
            <a:r>
              <a:rPr lang="en-US" sz="2500" dirty="0">
                <a:solidFill>
                  <a:srgbClr val="FFFF00"/>
                </a:solidFill>
              </a:rPr>
              <a:t>can</a:t>
            </a:r>
            <a:r>
              <a:rPr lang="en-US" sz="2500" dirty="0"/>
              <a:t> compile buggy code – problems are detected by the tools and </a:t>
            </a:r>
            <a:r>
              <a:rPr lang="en-US" sz="2500" dirty="0">
                <a:solidFill>
                  <a:srgbClr val="FFFF00"/>
                </a:solidFill>
              </a:rPr>
              <a:t>developers might not run them at all</a:t>
            </a:r>
            <a:r>
              <a:rPr lang="en-US" sz="2500" dirty="0"/>
              <a:t>!</a:t>
            </a:r>
          </a:p>
          <a:p>
            <a:pPr marL="1714500" lvl="3" indent="-342900">
              <a:buFont typeface="Arial" panose="020B0604020202020204" pitchFamily="34" charset="0"/>
              <a:buChar char="•"/>
            </a:pPr>
            <a:r>
              <a:rPr lang="en-US" sz="2500" dirty="0"/>
              <a:t>Tools are orthogonal and detect different classes of problems – to be fully protected </a:t>
            </a:r>
            <a:r>
              <a:rPr lang="en-US" sz="2500" dirty="0">
                <a:solidFill>
                  <a:srgbClr val="FFFF00"/>
                </a:solidFill>
              </a:rPr>
              <a:t>you must run all of them</a:t>
            </a:r>
            <a:r>
              <a:rPr lang="en-US" sz="2500" dirty="0"/>
              <a:t>!</a:t>
            </a:r>
          </a:p>
          <a:p>
            <a:pPr marL="1714500" lvl="3" indent="-342900">
              <a:buFont typeface="Arial" panose="020B0604020202020204" pitchFamily="34" charset="0"/>
              <a:buChar char="•"/>
            </a:pPr>
            <a:r>
              <a:rPr lang="en-US" sz="2500" dirty="0"/>
              <a:t>What are the classes of problems which can or cannot be detected? – very limited public information :(</a:t>
            </a:r>
          </a:p>
        </p:txBody>
      </p:sp>
    </p:spTree>
    <p:extLst>
      <p:ext uri="{BB962C8B-B14F-4D97-AF65-F5344CB8AC3E}">
        <p14:creationId xmlns:p14="http://schemas.microsoft.com/office/powerpoint/2010/main" val="2407455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What is </a:t>
            </a:r>
            <a:r>
              <a:rPr lang="en-US" dirty="0" err="1">
                <a:solidFill>
                  <a:schemeClr val="accent1"/>
                </a:solidFill>
              </a:rPr>
              <a:t>adacore</a:t>
            </a:r>
            <a:r>
              <a:rPr lang="en-US" dirty="0">
                <a:solidFill>
                  <a:schemeClr val="accent1"/>
                </a:solidFill>
              </a:rPr>
              <a:t>/</a:t>
            </a:r>
            <a:r>
              <a:rPr lang="en-US" dirty="0">
                <a:solidFill>
                  <a:srgbClr val="FF0000"/>
                </a:solidFill>
              </a:rPr>
              <a:t>SPARK?</a:t>
            </a:r>
            <a:endParaRPr lang="en-US" dirty="0">
              <a:solidFill>
                <a:schemeClr val="accent1"/>
              </a:solidFill>
            </a:endParaRPr>
          </a:p>
        </p:txBody>
      </p:sp>
      <p:sp>
        <p:nvSpPr>
          <p:cNvPr id="5" name="Text Placeholder 2"/>
          <p:cNvSpPr txBox="1">
            <a:spLocks/>
          </p:cNvSpPr>
          <p:nvPr/>
        </p:nvSpPr>
        <p:spPr>
          <a:xfrm>
            <a:off x="326072" y="1105647"/>
            <a:ext cx="9137225" cy="563827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Programming language + set of analysis tools</a:t>
            </a:r>
          </a:p>
          <a:p>
            <a:pPr marL="961171" lvl="1" indent="-457200">
              <a:buFont typeface="Wingdings" panose="05000000000000000000" pitchFamily="2" charset="2"/>
              <a:buChar char="v"/>
            </a:pPr>
            <a:r>
              <a:rPr lang="en-US" sz="1579" dirty="0">
                <a:effectLst/>
              </a:rPr>
              <a:t>The strength is in the analysis tools…</a:t>
            </a:r>
          </a:p>
          <a:p>
            <a:pPr marL="961171" lvl="1" indent="-457200">
              <a:buFont typeface="Wingdings" panose="05000000000000000000" pitchFamily="2" charset="2"/>
              <a:buChar char="v"/>
            </a:pPr>
            <a:r>
              <a:rPr lang="en-US" sz="1579" dirty="0" err="1">
                <a:effectLst/>
              </a:rPr>
              <a:t>GNATProve</a:t>
            </a:r>
            <a:r>
              <a:rPr lang="en-US" sz="1579" dirty="0">
                <a:effectLst/>
              </a:rPr>
              <a:t>, </a:t>
            </a:r>
            <a:r>
              <a:rPr lang="en-US" sz="1579" dirty="0" err="1">
                <a:effectLst/>
              </a:rPr>
              <a:t>GNATStack</a:t>
            </a:r>
            <a:r>
              <a:rPr lang="en-US" sz="1579" dirty="0">
                <a:effectLst/>
              </a:rPr>
              <a:t>, </a:t>
            </a:r>
            <a:br>
              <a:rPr lang="en-US" sz="1579" dirty="0">
                <a:effectLst/>
              </a:rPr>
            </a:br>
            <a:r>
              <a:rPr lang="en-US" sz="1579" dirty="0" err="1">
                <a:effectLst/>
              </a:rPr>
              <a:t>GNATTest</a:t>
            </a:r>
            <a:r>
              <a:rPr lang="en-US" sz="1579" dirty="0">
                <a:effectLst/>
              </a:rPr>
              <a:t>, </a:t>
            </a:r>
            <a:r>
              <a:rPr lang="en-US" sz="1579" dirty="0" err="1">
                <a:effectLst/>
              </a:rPr>
              <a:t>GNATEmulator</a:t>
            </a:r>
            <a:endParaRPr lang="en-US" sz="1579" dirty="0">
              <a:effectLst/>
            </a:endParaRPr>
          </a:p>
          <a:p>
            <a:pPr marL="457200" indent="-457200">
              <a:buFont typeface="Wingdings" panose="05000000000000000000" pitchFamily="2" charset="2"/>
              <a:buChar char="v"/>
            </a:pPr>
            <a:r>
              <a:rPr lang="en-US" sz="1800" dirty="0">
                <a:effectLst/>
              </a:rPr>
              <a:t> Statically provable</a:t>
            </a:r>
          </a:p>
          <a:p>
            <a:pPr marL="961171" lvl="1" indent="-457200">
              <a:buFont typeface="Wingdings" panose="05000000000000000000" pitchFamily="2" charset="2"/>
              <a:buChar char="v"/>
            </a:pPr>
            <a:r>
              <a:rPr lang="en-US" sz="1579" dirty="0">
                <a:effectLst/>
              </a:rPr>
              <a:t>Proves that dynamic checks cannot fail</a:t>
            </a:r>
          </a:p>
          <a:p>
            <a:pPr marL="961171" lvl="1" indent="-457200">
              <a:buFont typeface="Wingdings" panose="05000000000000000000" pitchFamily="2" charset="2"/>
              <a:buChar char="v"/>
            </a:pPr>
            <a:r>
              <a:rPr lang="en-US" sz="1579" dirty="0">
                <a:effectLst/>
              </a:rPr>
              <a:t>Absence of Run-Time Errors</a:t>
            </a:r>
          </a:p>
          <a:p>
            <a:pPr marL="961171" lvl="1" indent="-457200">
              <a:buFont typeface="Wingdings" panose="05000000000000000000" pitchFamily="2" charset="2"/>
              <a:buChar char="v"/>
            </a:pPr>
            <a:r>
              <a:rPr lang="en-US" sz="1600" dirty="0"/>
              <a:t>Formal verification (Proofs)</a:t>
            </a:r>
          </a:p>
          <a:p>
            <a:pPr marL="457200" indent="-457200">
              <a:buFont typeface="Wingdings" panose="05000000000000000000" pitchFamily="2" charset="2"/>
              <a:buChar char="v"/>
            </a:pPr>
            <a:r>
              <a:rPr lang="en-US" sz="1800" dirty="0">
                <a:effectLst/>
              </a:rPr>
              <a:t>Memory safe language (like RUST)</a:t>
            </a:r>
          </a:p>
          <a:p>
            <a:pPr marL="457200" indent="-457200">
              <a:buFont typeface="Wingdings" panose="05000000000000000000" pitchFamily="2" charset="2"/>
              <a:buChar char="v"/>
            </a:pPr>
            <a:r>
              <a:rPr lang="en-US" sz="1800" dirty="0"/>
              <a:t>Very strong typing system (much stronger than RUST)</a:t>
            </a:r>
          </a:p>
          <a:p>
            <a:pPr marL="961171" lvl="1" indent="-457200">
              <a:buFont typeface="Wingdings" panose="05000000000000000000" pitchFamily="2" charset="2"/>
              <a:buChar char="v"/>
            </a:pPr>
            <a:r>
              <a:rPr lang="en-US" sz="1579" dirty="0"/>
              <a:t>No arithmetic overflows, integer overflows, etc.</a:t>
            </a:r>
          </a:p>
          <a:p>
            <a:pPr marL="457200" indent="-457200">
              <a:buFont typeface="Wingdings" panose="05000000000000000000" pitchFamily="2" charset="2"/>
              <a:buChar char="v"/>
            </a:pPr>
            <a:r>
              <a:rPr lang="en-US" sz="1800" dirty="0">
                <a:effectLst/>
              </a:rPr>
              <a:t>Traditionally used in industries such as:</a:t>
            </a:r>
          </a:p>
          <a:p>
            <a:pPr marL="961171" lvl="1" indent="-457200">
              <a:buFont typeface="Wingdings" panose="05000000000000000000" pitchFamily="2" charset="2"/>
              <a:buChar char="v"/>
            </a:pPr>
            <a:r>
              <a:rPr lang="en-US" sz="1579" dirty="0">
                <a:effectLst/>
              </a:rPr>
              <a:t>Avionics, Railways, Defense, Auto, IoT</a:t>
            </a:r>
          </a:p>
          <a:p>
            <a:pPr marL="457200" indent="-457200">
              <a:buFont typeface="Wingdings" panose="05000000000000000000" pitchFamily="2" charset="2"/>
              <a:buChar char="v"/>
            </a:pPr>
            <a:endParaRPr lang="pl-PL" sz="1800" dirty="0">
              <a:effectLst/>
            </a:endParaRPr>
          </a:p>
        </p:txBody>
      </p:sp>
      <p:pic>
        <p:nvPicPr>
          <p:cNvPr id="6" name="Picture 5">
            <a:extLst>
              <a:ext uri="{FF2B5EF4-FFF2-40B4-BE49-F238E27FC236}">
                <a16:creationId xmlns:a16="http://schemas.microsoft.com/office/drawing/2014/main" id="{51C05A40-74EB-45B5-89C9-52D8323C07AA}"/>
              </a:ext>
            </a:extLst>
          </p:cNvPr>
          <p:cNvPicPr>
            <a:picLocks noChangeAspect="1"/>
          </p:cNvPicPr>
          <p:nvPr/>
        </p:nvPicPr>
        <p:blipFill>
          <a:blip r:embed="rId3"/>
          <a:stretch>
            <a:fillRect/>
          </a:stretch>
        </p:blipFill>
        <p:spPr>
          <a:xfrm>
            <a:off x="5374088" y="1485461"/>
            <a:ext cx="4565257" cy="2335247"/>
          </a:xfrm>
          <a:prstGeom prst="rect">
            <a:avLst/>
          </a:prstGeom>
        </p:spPr>
      </p:pic>
      <p:pic>
        <p:nvPicPr>
          <p:cNvPr id="8" name="Picture 7">
            <a:extLst>
              <a:ext uri="{FF2B5EF4-FFF2-40B4-BE49-F238E27FC236}">
                <a16:creationId xmlns:a16="http://schemas.microsoft.com/office/drawing/2014/main" id="{B736710D-0F2B-4AA5-83B8-717826219504}"/>
              </a:ext>
            </a:extLst>
          </p:cNvPr>
          <p:cNvPicPr>
            <a:picLocks noChangeAspect="1"/>
          </p:cNvPicPr>
          <p:nvPr/>
        </p:nvPicPr>
        <p:blipFill>
          <a:blip r:embed="rId4"/>
          <a:stretch>
            <a:fillRect/>
          </a:stretch>
        </p:blipFill>
        <p:spPr>
          <a:xfrm>
            <a:off x="0" y="1065541"/>
            <a:ext cx="10080625" cy="5428592"/>
          </a:xfrm>
          <a:prstGeom prst="rect">
            <a:avLst/>
          </a:prstGeom>
        </p:spPr>
      </p:pic>
      <p:sp>
        <p:nvSpPr>
          <p:cNvPr id="7" name="Content Placeholder 2">
            <a:extLst>
              <a:ext uri="{FF2B5EF4-FFF2-40B4-BE49-F238E27FC236}">
                <a16:creationId xmlns:a16="http://schemas.microsoft.com/office/drawing/2014/main" id="{708BC666-E1D0-4502-AC90-33161D8F334E}"/>
              </a:ext>
            </a:extLst>
          </p:cNvPr>
          <p:cNvSpPr txBox="1">
            <a:spLocks/>
          </p:cNvSpPr>
          <p:nvPr/>
        </p:nvSpPr>
        <p:spPr bwMode="auto">
          <a:xfrm>
            <a:off x="196244" y="2445537"/>
            <a:ext cx="9688136" cy="1882154"/>
          </a:xfrm>
          <a:prstGeom prst="rect">
            <a:avLst/>
          </a:prstGeom>
          <a:solidFill>
            <a:schemeClr val="tx1">
              <a:lumMod val="95000"/>
            </a:schemeClr>
          </a:solidFill>
          <a:ln w="9525">
            <a:noFill/>
            <a:miter lim="800000"/>
            <a:headEnd/>
            <a:tailEnd/>
          </a:ln>
        </p:spPr>
        <p:txBody>
          <a:bodyPr vert="horz" wrap="square" lIns="152400" tIns="76200" rIns="152400" bIns="7620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4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a:spcBef>
                <a:spcPts val="0"/>
              </a:spcBef>
              <a:spcAft>
                <a:spcPts val="0"/>
              </a:spcAft>
            </a:pPr>
            <a:r>
              <a:rPr lang="en-US" sz="1667" dirty="0">
                <a:latin typeface="Courier New" panose="02070309020205020404" pitchFamily="49" charset="0"/>
                <a:cs typeface="Courier New" panose="02070309020205020404" pitchFamily="49" charset="0"/>
              </a:rPr>
              <a:t>test.adb:28:25: medium: divide by zero might fail (e.g. when b = 42)</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test.adb:30:31: medium: array index check might fail (e.g. when </a:t>
            </a:r>
            <a:r>
              <a:rPr lang="en-US" sz="1667" dirty="0" err="1">
                <a:latin typeface="Courier New" panose="02070309020205020404" pitchFamily="49" charset="0"/>
                <a:cs typeface="Courier New" panose="02070309020205020404" pitchFamily="49" charset="0"/>
              </a:rPr>
              <a:t>MyIndex</a:t>
            </a:r>
            <a:r>
              <a:rPr lang="en-US" sz="1667" dirty="0">
                <a:latin typeface="Courier New" panose="02070309020205020404" pitchFamily="49" charset="0"/>
                <a:cs typeface="Courier New" panose="02070309020205020404" pitchFamily="49" charset="0"/>
              </a:rPr>
              <a:t> = 36)</a:t>
            </a:r>
          </a:p>
          <a:p>
            <a:pPr>
              <a:spcBef>
                <a:spcPts val="0"/>
              </a:spcBef>
              <a:spcAft>
                <a:spcPts val="0"/>
              </a:spcAft>
            </a:pPr>
            <a:endParaRPr lang="en-US" sz="1667" dirty="0">
              <a:latin typeface="Courier New" panose="02070309020205020404" pitchFamily="49" charset="0"/>
              <a:cs typeface="Courier New" panose="02070309020205020404" pitchFamily="49" charset="0"/>
            </a:endParaRPr>
          </a:p>
          <a:p>
            <a:pPr>
              <a:spcBef>
                <a:spcPts val="0"/>
              </a:spcBef>
              <a:spcAft>
                <a:spcPts val="0"/>
              </a:spcAft>
            </a:pPr>
            <a:r>
              <a:rPr lang="en-US" sz="1667" dirty="0">
                <a:latin typeface="Courier New" panose="02070309020205020404" pitchFamily="49" charset="0"/>
                <a:cs typeface="Courier New" panose="02070309020205020404" pitchFamily="49" charset="0"/>
              </a:rPr>
              <a:t>test.adb:37:30: value not in range of type "</a:t>
            </a:r>
            <a:r>
              <a:rPr lang="en-US" sz="1667" dirty="0" err="1">
                <a:latin typeface="Courier New" panose="02070309020205020404" pitchFamily="49" charset="0"/>
                <a:cs typeface="Courier New" panose="02070309020205020404" pitchFamily="49" charset="0"/>
              </a:rPr>
              <a:t>MyType</a:t>
            </a:r>
            <a:r>
              <a:rPr lang="en-US" sz="1667" dirty="0">
                <a:latin typeface="Courier New" panose="02070309020205020404" pitchFamily="49" charset="0"/>
                <a:cs typeface="Courier New" panose="02070309020205020404" pitchFamily="49" charset="0"/>
              </a:rPr>
              <a:t>" defined at test.ads:6</a:t>
            </a:r>
          </a:p>
          <a:p>
            <a:pPr>
              <a:spcBef>
                <a:spcPts val="0"/>
              </a:spcBef>
              <a:spcAft>
                <a:spcPts val="0"/>
              </a:spcAft>
            </a:pPr>
            <a:r>
              <a:rPr lang="en-US" sz="1667" dirty="0">
                <a:latin typeface="Courier New" panose="02070309020205020404" pitchFamily="49" charset="0"/>
                <a:cs typeface="Courier New" panose="02070309020205020404" pitchFamily="49" charset="0"/>
              </a:rPr>
              <a:t>test.adb:37:30: "</a:t>
            </a:r>
            <a:r>
              <a:rPr lang="en-US" sz="1667" dirty="0" err="1">
                <a:latin typeface="Courier New" panose="02070309020205020404" pitchFamily="49" charset="0"/>
                <a:cs typeface="Courier New" panose="02070309020205020404" pitchFamily="49" charset="0"/>
              </a:rPr>
              <a:t>Constraint_Error</a:t>
            </a:r>
            <a:r>
              <a:rPr lang="en-US" sz="1667" dirty="0">
                <a:latin typeface="Courier New" panose="02070309020205020404" pitchFamily="49" charset="0"/>
                <a:cs typeface="Courier New" panose="02070309020205020404" pitchFamily="49" charset="0"/>
              </a:rPr>
              <a:t>" would have been raised at run time</a:t>
            </a:r>
          </a:p>
        </p:txBody>
      </p:sp>
      <p:pic>
        <p:nvPicPr>
          <p:cNvPr id="9" name="Picture 8">
            <a:extLst>
              <a:ext uri="{FF2B5EF4-FFF2-40B4-BE49-F238E27FC236}">
                <a16:creationId xmlns:a16="http://schemas.microsoft.com/office/drawing/2014/main" id="{9691E741-65EF-4A73-862F-D495C58A7056}"/>
              </a:ext>
            </a:extLst>
          </p:cNvPr>
          <p:cNvPicPr>
            <a:picLocks noChangeAspect="1"/>
          </p:cNvPicPr>
          <p:nvPr/>
        </p:nvPicPr>
        <p:blipFill>
          <a:blip r:embed="rId5"/>
          <a:stretch>
            <a:fillRect/>
          </a:stretch>
        </p:blipFill>
        <p:spPr>
          <a:xfrm>
            <a:off x="1398670" y="0"/>
            <a:ext cx="7283284" cy="7559675"/>
          </a:xfrm>
          <a:prstGeom prst="rect">
            <a:avLst/>
          </a:prstGeom>
        </p:spPr>
      </p:pic>
      <p:sp>
        <p:nvSpPr>
          <p:cNvPr id="10" name="Rectangle: Rounded Corners 9">
            <a:extLst>
              <a:ext uri="{FF2B5EF4-FFF2-40B4-BE49-F238E27FC236}">
                <a16:creationId xmlns:a16="http://schemas.microsoft.com/office/drawing/2014/main" id="{E994661A-7A64-47A6-A3C5-4709CF590A79}"/>
              </a:ext>
            </a:extLst>
          </p:cNvPr>
          <p:cNvSpPr/>
          <p:nvPr/>
        </p:nvSpPr>
        <p:spPr>
          <a:xfrm>
            <a:off x="88969" y="88969"/>
            <a:ext cx="9939775" cy="7260830"/>
          </a:xfrm>
          <a:prstGeom prst="roundRect">
            <a:avLst/>
          </a:prstGeom>
          <a:solidFill>
            <a:srgbClr val="FF0000">
              <a:alpha val="8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3"/>
            <a:r>
              <a:rPr lang="en-US" sz="3000" dirty="0">
                <a:solidFill>
                  <a:srgbClr val="FFFF00"/>
                </a:solidFill>
              </a:rPr>
              <a:t>Lessons learned:</a:t>
            </a:r>
          </a:p>
          <a:p>
            <a:pPr marL="1714500" lvl="3" indent="-342900">
              <a:buFont typeface="Arial" panose="020B0604020202020204" pitchFamily="34" charset="0"/>
              <a:buChar char="•"/>
            </a:pPr>
            <a:r>
              <a:rPr lang="en-US" sz="2500" dirty="0"/>
              <a:t>You </a:t>
            </a:r>
            <a:r>
              <a:rPr lang="en-US" sz="2500" dirty="0">
                <a:solidFill>
                  <a:srgbClr val="FFFF00"/>
                </a:solidFill>
              </a:rPr>
              <a:t>can</a:t>
            </a:r>
            <a:r>
              <a:rPr lang="en-US" sz="2500" dirty="0"/>
              <a:t> compile buggy code – problems are detected by the tools and </a:t>
            </a:r>
            <a:r>
              <a:rPr lang="en-US" sz="2500" dirty="0">
                <a:solidFill>
                  <a:srgbClr val="FFFF00"/>
                </a:solidFill>
              </a:rPr>
              <a:t>developers might not run them at all</a:t>
            </a:r>
            <a:r>
              <a:rPr lang="en-US" sz="2500" dirty="0"/>
              <a:t>!</a:t>
            </a:r>
          </a:p>
          <a:p>
            <a:pPr marL="1714500" lvl="3" indent="-342900">
              <a:buFont typeface="Arial" panose="020B0604020202020204" pitchFamily="34" charset="0"/>
              <a:buChar char="•"/>
            </a:pPr>
            <a:r>
              <a:rPr lang="en-US" sz="2500" dirty="0"/>
              <a:t>Tools are orthogonal and detect different classes of problems – to be fully protected </a:t>
            </a:r>
            <a:r>
              <a:rPr lang="en-US" sz="2500" dirty="0">
                <a:solidFill>
                  <a:srgbClr val="FFFF00"/>
                </a:solidFill>
              </a:rPr>
              <a:t>you must run all of them</a:t>
            </a:r>
            <a:r>
              <a:rPr lang="en-US" sz="2500" dirty="0"/>
              <a:t>!</a:t>
            </a:r>
          </a:p>
          <a:p>
            <a:pPr marL="1714500" lvl="3" indent="-342900">
              <a:buFont typeface="Arial" panose="020B0604020202020204" pitchFamily="34" charset="0"/>
              <a:buChar char="•"/>
            </a:pPr>
            <a:r>
              <a:rPr lang="en-US" sz="2500" dirty="0"/>
              <a:t>What are the classes of problems which can or cannot be detected? – very limited public information :( - </a:t>
            </a:r>
            <a:r>
              <a:rPr lang="en-US" sz="2500" dirty="0">
                <a:solidFill>
                  <a:srgbClr val="FFFF00"/>
                </a:solidFill>
              </a:rPr>
              <a:t>time for more research</a:t>
            </a:r>
            <a:r>
              <a:rPr lang="en-US" sz="2500" dirty="0"/>
              <a:t>!</a:t>
            </a:r>
          </a:p>
        </p:txBody>
      </p:sp>
    </p:spTree>
    <p:extLst>
      <p:ext uri="{BB962C8B-B14F-4D97-AF65-F5344CB8AC3E}">
        <p14:creationId xmlns:p14="http://schemas.microsoft.com/office/powerpoint/2010/main" val="3192528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Tree>
    <p:extLst>
      <p:ext uri="{BB962C8B-B14F-4D97-AF65-F5344CB8AC3E}">
        <p14:creationId xmlns:p14="http://schemas.microsoft.com/office/powerpoint/2010/main" val="2841303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8" name="Picture 7">
            <a:extLst>
              <a:ext uri="{FF2B5EF4-FFF2-40B4-BE49-F238E27FC236}">
                <a16:creationId xmlns:a16="http://schemas.microsoft.com/office/drawing/2014/main" id="{B0717642-A017-4375-9B31-D36A6D0B7735}"/>
              </a:ext>
            </a:extLst>
          </p:cNvPr>
          <p:cNvPicPr>
            <a:picLocks noChangeAspect="1"/>
          </p:cNvPicPr>
          <p:nvPr/>
        </p:nvPicPr>
        <p:blipFill>
          <a:blip r:embed="rId3"/>
          <a:stretch>
            <a:fillRect/>
          </a:stretch>
        </p:blipFill>
        <p:spPr>
          <a:xfrm>
            <a:off x="128509" y="1294988"/>
            <a:ext cx="5014045" cy="5095927"/>
          </a:xfrm>
          <a:prstGeom prst="rect">
            <a:avLst/>
          </a:prstGeom>
        </p:spPr>
      </p:pic>
    </p:spTree>
    <p:extLst>
      <p:ext uri="{BB962C8B-B14F-4D97-AF65-F5344CB8AC3E}">
        <p14:creationId xmlns:p14="http://schemas.microsoft.com/office/powerpoint/2010/main" val="2328989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8" name="Picture 7">
            <a:extLst>
              <a:ext uri="{FF2B5EF4-FFF2-40B4-BE49-F238E27FC236}">
                <a16:creationId xmlns:a16="http://schemas.microsoft.com/office/drawing/2014/main" id="{B0717642-A017-4375-9B31-D36A6D0B7735}"/>
              </a:ext>
            </a:extLst>
          </p:cNvPr>
          <p:cNvPicPr>
            <a:picLocks noChangeAspect="1"/>
          </p:cNvPicPr>
          <p:nvPr/>
        </p:nvPicPr>
        <p:blipFill>
          <a:blip r:embed="rId3"/>
          <a:stretch>
            <a:fillRect/>
          </a:stretch>
        </p:blipFill>
        <p:spPr>
          <a:xfrm>
            <a:off x="128509" y="1294988"/>
            <a:ext cx="5014045" cy="5095927"/>
          </a:xfrm>
          <a:prstGeom prst="rect">
            <a:avLst/>
          </a:prstGeom>
        </p:spPr>
      </p:pic>
      <p:pic>
        <p:nvPicPr>
          <p:cNvPr id="5" name="Picture 4">
            <a:extLst>
              <a:ext uri="{FF2B5EF4-FFF2-40B4-BE49-F238E27FC236}">
                <a16:creationId xmlns:a16="http://schemas.microsoft.com/office/drawing/2014/main" id="{0F1933E3-16C5-4096-A61B-5C22D4F170C5}"/>
              </a:ext>
            </a:extLst>
          </p:cNvPr>
          <p:cNvPicPr>
            <a:picLocks noChangeAspect="1"/>
          </p:cNvPicPr>
          <p:nvPr/>
        </p:nvPicPr>
        <p:blipFill>
          <a:blip r:embed="rId4"/>
          <a:stretch>
            <a:fillRect/>
          </a:stretch>
        </p:blipFill>
        <p:spPr>
          <a:xfrm>
            <a:off x="5277046" y="1294988"/>
            <a:ext cx="4630584" cy="4782994"/>
          </a:xfrm>
          <a:prstGeom prst="rect">
            <a:avLst/>
          </a:prstGeom>
        </p:spPr>
      </p:pic>
    </p:spTree>
    <p:extLst>
      <p:ext uri="{BB962C8B-B14F-4D97-AF65-F5344CB8AC3E}">
        <p14:creationId xmlns:p14="http://schemas.microsoft.com/office/powerpoint/2010/main" val="740491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6" name="Picture 5">
            <a:extLst>
              <a:ext uri="{FF2B5EF4-FFF2-40B4-BE49-F238E27FC236}">
                <a16:creationId xmlns:a16="http://schemas.microsoft.com/office/drawing/2014/main" id="{59F5AE7C-769D-43C5-9D63-78523648E3BB}"/>
              </a:ext>
            </a:extLst>
          </p:cNvPr>
          <p:cNvPicPr>
            <a:picLocks noChangeAspect="1"/>
          </p:cNvPicPr>
          <p:nvPr/>
        </p:nvPicPr>
        <p:blipFill>
          <a:blip r:embed="rId3"/>
          <a:stretch>
            <a:fillRect/>
          </a:stretch>
        </p:blipFill>
        <p:spPr>
          <a:xfrm>
            <a:off x="321276" y="1366989"/>
            <a:ext cx="4607928" cy="1806415"/>
          </a:xfrm>
          <a:prstGeom prst="rect">
            <a:avLst/>
          </a:prstGeom>
        </p:spPr>
      </p:pic>
    </p:spTree>
    <p:extLst>
      <p:ext uri="{BB962C8B-B14F-4D97-AF65-F5344CB8AC3E}">
        <p14:creationId xmlns:p14="http://schemas.microsoft.com/office/powerpoint/2010/main" val="1821088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39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6" name="Picture 5">
            <a:extLst>
              <a:ext uri="{FF2B5EF4-FFF2-40B4-BE49-F238E27FC236}">
                <a16:creationId xmlns:a16="http://schemas.microsoft.com/office/drawing/2014/main" id="{59F5AE7C-769D-43C5-9D63-78523648E3BB}"/>
              </a:ext>
            </a:extLst>
          </p:cNvPr>
          <p:cNvPicPr>
            <a:picLocks noChangeAspect="1"/>
          </p:cNvPicPr>
          <p:nvPr/>
        </p:nvPicPr>
        <p:blipFill>
          <a:blip r:embed="rId3"/>
          <a:stretch>
            <a:fillRect/>
          </a:stretch>
        </p:blipFill>
        <p:spPr>
          <a:xfrm>
            <a:off x="321276" y="1366989"/>
            <a:ext cx="4607928" cy="1806415"/>
          </a:xfrm>
          <a:prstGeom prst="rect">
            <a:avLst/>
          </a:prstGeom>
        </p:spPr>
      </p:pic>
      <p:pic>
        <p:nvPicPr>
          <p:cNvPr id="11" name="Picture 10">
            <a:extLst>
              <a:ext uri="{FF2B5EF4-FFF2-40B4-BE49-F238E27FC236}">
                <a16:creationId xmlns:a16="http://schemas.microsoft.com/office/drawing/2014/main" id="{F1EED0FA-F961-4ED2-85BF-8987A2CBC76D}"/>
              </a:ext>
            </a:extLst>
          </p:cNvPr>
          <p:cNvPicPr>
            <a:picLocks noChangeAspect="1"/>
          </p:cNvPicPr>
          <p:nvPr/>
        </p:nvPicPr>
        <p:blipFill>
          <a:blip r:embed="rId4"/>
          <a:stretch>
            <a:fillRect/>
          </a:stretch>
        </p:blipFill>
        <p:spPr>
          <a:xfrm>
            <a:off x="321275" y="3306550"/>
            <a:ext cx="4628319" cy="1675694"/>
          </a:xfrm>
          <a:prstGeom prst="rect">
            <a:avLst/>
          </a:prstGeom>
        </p:spPr>
      </p:pic>
    </p:spTree>
    <p:extLst>
      <p:ext uri="{BB962C8B-B14F-4D97-AF65-F5344CB8AC3E}">
        <p14:creationId xmlns:p14="http://schemas.microsoft.com/office/powerpoint/2010/main" val="4292023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6" name="Picture 5">
            <a:extLst>
              <a:ext uri="{FF2B5EF4-FFF2-40B4-BE49-F238E27FC236}">
                <a16:creationId xmlns:a16="http://schemas.microsoft.com/office/drawing/2014/main" id="{59F5AE7C-769D-43C5-9D63-78523648E3BB}"/>
              </a:ext>
            </a:extLst>
          </p:cNvPr>
          <p:cNvPicPr>
            <a:picLocks noChangeAspect="1"/>
          </p:cNvPicPr>
          <p:nvPr/>
        </p:nvPicPr>
        <p:blipFill>
          <a:blip r:embed="rId3"/>
          <a:stretch>
            <a:fillRect/>
          </a:stretch>
        </p:blipFill>
        <p:spPr>
          <a:xfrm>
            <a:off x="321276" y="1366989"/>
            <a:ext cx="4607928" cy="1806415"/>
          </a:xfrm>
          <a:prstGeom prst="rect">
            <a:avLst/>
          </a:prstGeom>
        </p:spPr>
      </p:pic>
      <p:pic>
        <p:nvPicPr>
          <p:cNvPr id="9" name="Picture 8">
            <a:extLst>
              <a:ext uri="{FF2B5EF4-FFF2-40B4-BE49-F238E27FC236}">
                <a16:creationId xmlns:a16="http://schemas.microsoft.com/office/drawing/2014/main" id="{C8732CDC-D4EF-4D54-9992-45E0CAD5A109}"/>
              </a:ext>
            </a:extLst>
          </p:cNvPr>
          <p:cNvPicPr>
            <a:picLocks noChangeAspect="1"/>
          </p:cNvPicPr>
          <p:nvPr/>
        </p:nvPicPr>
        <p:blipFill>
          <a:blip r:embed="rId4"/>
          <a:stretch>
            <a:fillRect/>
          </a:stretch>
        </p:blipFill>
        <p:spPr>
          <a:xfrm>
            <a:off x="5040312" y="1699409"/>
            <a:ext cx="4972630" cy="2947990"/>
          </a:xfrm>
          <a:prstGeom prst="rect">
            <a:avLst/>
          </a:prstGeom>
        </p:spPr>
      </p:pic>
      <p:pic>
        <p:nvPicPr>
          <p:cNvPr id="11" name="Picture 10">
            <a:extLst>
              <a:ext uri="{FF2B5EF4-FFF2-40B4-BE49-F238E27FC236}">
                <a16:creationId xmlns:a16="http://schemas.microsoft.com/office/drawing/2014/main" id="{F1EED0FA-F961-4ED2-85BF-8987A2CBC76D}"/>
              </a:ext>
            </a:extLst>
          </p:cNvPr>
          <p:cNvPicPr>
            <a:picLocks noChangeAspect="1"/>
          </p:cNvPicPr>
          <p:nvPr/>
        </p:nvPicPr>
        <p:blipFill>
          <a:blip r:embed="rId5"/>
          <a:stretch>
            <a:fillRect/>
          </a:stretch>
        </p:blipFill>
        <p:spPr>
          <a:xfrm>
            <a:off x="321275" y="3306550"/>
            <a:ext cx="4628319" cy="1675694"/>
          </a:xfrm>
          <a:prstGeom prst="rect">
            <a:avLst/>
          </a:prstGeom>
        </p:spPr>
      </p:pic>
    </p:spTree>
    <p:extLst>
      <p:ext uri="{BB962C8B-B14F-4D97-AF65-F5344CB8AC3E}">
        <p14:creationId xmlns:p14="http://schemas.microsoft.com/office/powerpoint/2010/main" val="3789969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pic>
        <p:nvPicPr>
          <p:cNvPr id="6" name="Picture 5">
            <a:extLst>
              <a:ext uri="{FF2B5EF4-FFF2-40B4-BE49-F238E27FC236}">
                <a16:creationId xmlns:a16="http://schemas.microsoft.com/office/drawing/2014/main" id="{59F5AE7C-769D-43C5-9D63-78523648E3BB}"/>
              </a:ext>
            </a:extLst>
          </p:cNvPr>
          <p:cNvPicPr>
            <a:picLocks noChangeAspect="1"/>
          </p:cNvPicPr>
          <p:nvPr/>
        </p:nvPicPr>
        <p:blipFill>
          <a:blip r:embed="rId3"/>
          <a:stretch>
            <a:fillRect/>
          </a:stretch>
        </p:blipFill>
        <p:spPr>
          <a:xfrm>
            <a:off x="321276" y="1366989"/>
            <a:ext cx="4607928" cy="1806415"/>
          </a:xfrm>
          <a:prstGeom prst="rect">
            <a:avLst/>
          </a:prstGeom>
        </p:spPr>
      </p:pic>
      <p:pic>
        <p:nvPicPr>
          <p:cNvPr id="9" name="Picture 8">
            <a:extLst>
              <a:ext uri="{FF2B5EF4-FFF2-40B4-BE49-F238E27FC236}">
                <a16:creationId xmlns:a16="http://schemas.microsoft.com/office/drawing/2014/main" id="{C8732CDC-D4EF-4D54-9992-45E0CAD5A109}"/>
              </a:ext>
            </a:extLst>
          </p:cNvPr>
          <p:cNvPicPr>
            <a:picLocks noChangeAspect="1"/>
          </p:cNvPicPr>
          <p:nvPr/>
        </p:nvPicPr>
        <p:blipFill>
          <a:blip r:embed="rId4"/>
          <a:stretch>
            <a:fillRect/>
          </a:stretch>
        </p:blipFill>
        <p:spPr>
          <a:xfrm>
            <a:off x="5040312" y="1699409"/>
            <a:ext cx="4972630" cy="2947990"/>
          </a:xfrm>
          <a:prstGeom prst="rect">
            <a:avLst/>
          </a:prstGeom>
        </p:spPr>
      </p:pic>
      <p:pic>
        <p:nvPicPr>
          <p:cNvPr id="11" name="Picture 10">
            <a:extLst>
              <a:ext uri="{FF2B5EF4-FFF2-40B4-BE49-F238E27FC236}">
                <a16:creationId xmlns:a16="http://schemas.microsoft.com/office/drawing/2014/main" id="{F1EED0FA-F961-4ED2-85BF-8987A2CBC76D}"/>
              </a:ext>
            </a:extLst>
          </p:cNvPr>
          <p:cNvPicPr>
            <a:picLocks noChangeAspect="1"/>
          </p:cNvPicPr>
          <p:nvPr/>
        </p:nvPicPr>
        <p:blipFill>
          <a:blip r:embed="rId5"/>
          <a:stretch>
            <a:fillRect/>
          </a:stretch>
        </p:blipFill>
        <p:spPr>
          <a:xfrm>
            <a:off x="321275" y="3306550"/>
            <a:ext cx="4628319" cy="1675694"/>
          </a:xfrm>
          <a:prstGeom prst="rect">
            <a:avLst/>
          </a:prstGeom>
        </p:spPr>
      </p:pic>
      <p:pic>
        <p:nvPicPr>
          <p:cNvPr id="13" name="Picture 12">
            <a:extLst>
              <a:ext uri="{FF2B5EF4-FFF2-40B4-BE49-F238E27FC236}">
                <a16:creationId xmlns:a16="http://schemas.microsoft.com/office/drawing/2014/main" id="{7BA89858-E337-492F-BA65-A994CC4C473E}"/>
              </a:ext>
            </a:extLst>
          </p:cNvPr>
          <p:cNvPicPr>
            <a:picLocks noChangeAspect="1"/>
          </p:cNvPicPr>
          <p:nvPr/>
        </p:nvPicPr>
        <p:blipFill>
          <a:blip r:embed="rId6"/>
          <a:stretch>
            <a:fillRect/>
          </a:stretch>
        </p:blipFill>
        <p:spPr>
          <a:xfrm>
            <a:off x="2575177" y="5097743"/>
            <a:ext cx="5383238" cy="2260018"/>
          </a:xfrm>
          <a:prstGeom prst="rect">
            <a:avLst/>
          </a:prstGeom>
        </p:spPr>
      </p:pic>
    </p:spTree>
    <p:extLst>
      <p:ext uri="{BB962C8B-B14F-4D97-AF65-F5344CB8AC3E}">
        <p14:creationId xmlns:p14="http://schemas.microsoft.com/office/powerpoint/2010/main" val="24330214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328198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pl-PL" sz="1800" dirty="0">
              <a:effectLst/>
            </a:endParaRPr>
          </a:p>
        </p:txBody>
      </p:sp>
    </p:spTree>
    <p:extLst>
      <p:ext uri="{BB962C8B-B14F-4D97-AF65-F5344CB8AC3E}">
        <p14:creationId xmlns:p14="http://schemas.microsoft.com/office/powerpoint/2010/main" val="2831060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451001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Most of the potential security issues might be:</a:t>
            </a:r>
          </a:p>
          <a:p>
            <a:pPr marL="1465143" lvl="2" indent="-457200">
              <a:buFont typeface="Wingdings" panose="05000000000000000000" pitchFamily="2" charset="2"/>
              <a:buChar char="v"/>
            </a:pPr>
            <a:r>
              <a:rPr lang="en-US" sz="1580" dirty="0">
                <a:effectLst/>
              </a:rPr>
              <a:t>In the design</a:t>
            </a:r>
          </a:p>
          <a:p>
            <a:pPr marL="1465143" lvl="2" indent="-457200">
              <a:buFont typeface="Wingdings" panose="05000000000000000000" pitchFamily="2" charset="2"/>
              <a:buChar char="v"/>
            </a:pPr>
            <a:r>
              <a:rPr lang="en-US" sz="1580" dirty="0">
                <a:effectLst/>
              </a:rPr>
              <a:t>Logical errors</a:t>
            </a: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pl-PL" sz="1800" dirty="0">
              <a:effectLst/>
            </a:endParaRPr>
          </a:p>
        </p:txBody>
      </p:sp>
    </p:spTree>
    <p:extLst>
      <p:ext uri="{BB962C8B-B14F-4D97-AF65-F5344CB8AC3E}">
        <p14:creationId xmlns:p14="http://schemas.microsoft.com/office/powerpoint/2010/main" val="4119639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43274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Most of the potential security issues might be:</a:t>
            </a:r>
          </a:p>
          <a:p>
            <a:pPr marL="1465143" lvl="2" indent="-457200">
              <a:buFont typeface="Wingdings" panose="05000000000000000000" pitchFamily="2" charset="2"/>
              <a:buChar char="v"/>
            </a:pPr>
            <a:r>
              <a:rPr lang="en-US" sz="1580" dirty="0">
                <a:effectLst/>
              </a:rPr>
              <a:t>In the design</a:t>
            </a:r>
          </a:p>
          <a:p>
            <a:pPr marL="1465143" lvl="2" indent="-457200">
              <a:buFont typeface="Wingdings" panose="05000000000000000000" pitchFamily="2" charset="2"/>
              <a:buChar char="v"/>
            </a:pPr>
            <a:r>
              <a:rPr lang="en-US" sz="1580" dirty="0">
                <a:effectLst/>
              </a:rPr>
              <a:t>Logical errors</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579" dirty="0">
                <a:effectLst/>
              </a:rPr>
              <a:t>Bugs can be introduced by the compiler itself as well</a:t>
            </a:r>
            <a:endParaRPr lang="pl-PL" sz="1579" dirty="0">
              <a:effectLst/>
            </a:endParaRPr>
          </a:p>
        </p:txBody>
      </p:sp>
    </p:spTree>
    <p:extLst>
      <p:ext uri="{BB962C8B-B14F-4D97-AF65-F5344CB8AC3E}">
        <p14:creationId xmlns:p14="http://schemas.microsoft.com/office/powerpoint/2010/main" val="3828182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43274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Most of the potential security issues might be:</a:t>
            </a:r>
          </a:p>
          <a:p>
            <a:pPr marL="1465143" lvl="2" indent="-457200">
              <a:buFont typeface="Wingdings" panose="05000000000000000000" pitchFamily="2" charset="2"/>
              <a:buChar char="v"/>
            </a:pPr>
            <a:r>
              <a:rPr lang="en-US" sz="1580" dirty="0">
                <a:effectLst/>
              </a:rPr>
              <a:t>In the design</a:t>
            </a:r>
          </a:p>
          <a:p>
            <a:pPr marL="1465143" lvl="2" indent="-457200">
              <a:buFont typeface="Wingdings" panose="05000000000000000000" pitchFamily="2" charset="2"/>
              <a:buChar char="v"/>
            </a:pPr>
            <a:r>
              <a:rPr lang="en-US" sz="1580" dirty="0">
                <a:effectLst/>
              </a:rPr>
              <a:t>Logical errors</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579" dirty="0">
                <a:effectLst/>
              </a:rPr>
              <a:t>Bugs can be introduced by the compiler itself as well</a:t>
            </a:r>
            <a:endParaRPr lang="pl-PL" sz="1579" dirty="0">
              <a:effectLst/>
            </a:endParaRPr>
          </a:p>
        </p:txBody>
      </p:sp>
      <p:sp>
        <p:nvSpPr>
          <p:cNvPr id="3" name="Arrow: Down 2">
            <a:extLst>
              <a:ext uri="{FF2B5EF4-FFF2-40B4-BE49-F238E27FC236}">
                <a16:creationId xmlns:a16="http://schemas.microsoft.com/office/drawing/2014/main" id="{48328693-4FE8-4D16-BDFD-A2729781E89D}"/>
              </a:ext>
            </a:extLst>
          </p:cNvPr>
          <p:cNvSpPr/>
          <p:nvPr/>
        </p:nvSpPr>
        <p:spPr>
          <a:xfrm rot="9157217">
            <a:off x="7158107" y="1926058"/>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213B3C07-2D99-4A89-88A7-3077095841D9}"/>
              </a:ext>
            </a:extLst>
          </p:cNvPr>
          <p:cNvSpPr/>
          <p:nvPr/>
        </p:nvSpPr>
        <p:spPr>
          <a:xfrm rot="7229321">
            <a:off x="5649405" y="2503162"/>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E780860-D401-4994-96E8-F6153B0BEB81}"/>
              </a:ext>
            </a:extLst>
          </p:cNvPr>
          <p:cNvSpPr/>
          <p:nvPr/>
        </p:nvSpPr>
        <p:spPr>
          <a:xfrm rot="4315829">
            <a:off x="5693064" y="3800656"/>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36F590-0EAD-4A5E-B1D9-E230AEBA225E}"/>
              </a:ext>
            </a:extLst>
          </p:cNvPr>
          <p:cNvSpPr txBox="1"/>
          <p:nvPr/>
        </p:nvSpPr>
        <p:spPr>
          <a:xfrm>
            <a:off x="7147146" y="3847058"/>
            <a:ext cx="2688831" cy="769441"/>
          </a:xfrm>
          <a:prstGeom prst="rect">
            <a:avLst/>
          </a:prstGeom>
          <a:noFill/>
        </p:spPr>
        <p:txBody>
          <a:bodyPr wrap="square" rtlCol="0">
            <a:spAutoFit/>
          </a:bodyPr>
          <a:lstStyle/>
          <a:p>
            <a:r>
              <a:rPr lang="en-US" sz="2200" dirty="0"/>
              <a:t>We need to analyze the binary!</a:t>
            </a:r>
          </a:p>
        </p:txBody>
      </p:sp>
      <p:sp>
        <p:nvSpPr>
          <p:cNvPr id="9" name="Rectangle 8">
            <a:extLst>
              <a:ext uri="{FF2B5EF4-FFF2-40B4-BE49-F238E27FC236}">
                <a16:creationId xmlns:a16="http://schemas.microsoft.com/office/drawing/2014/main" id="{BC439342-F829-463A-8744-52CB26A2305E}"/>
              </a:ext>
            </a:extLst>
          </p:cNvPr>
          <p:cNvSpPr/>
          <p:nvPr/>
        </p:nvSpPr>
        <p:spPr>
          <a:xfrm>
            <a:off x="7147146" y="3847058"/>
            <a:ext cx="2688831" cy="83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2325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43274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Most of the potential security issues might be:</a:t>
            </a:r>
          </a:p>
          <a:p>
            <a:pPr marL="1465143" lvl="2" indent="-457200">
              <a:buFont typeface="Wingdings" panose="05000000000000000000" pitchFamily="2" charset="2"/>
              <a:buChar char="v"/>
            </a:pPr>
            <a:r>
              <a:rPr lang="en-US" sz="1580" dirty="0">
                <a:effectLst/>
              </a:rPr>
              <a:t>In the design</a:t>
            </a:r>
          </a:p>
          <a:p>
            <a:pPr marL="1465143" lvl="2" indent="-457200">
              <a:buFont typeface="Wingdings" panose="05000000000000000000" pitchFamily="2" charset="2"/>
              <a:buChar char="v"/>
            </a:pPr>
            <a:r>
              <a:rPr lang="en-US" sz="1580" dirty="0">
                <a:effectLst/>
              </a:rPr>
              <a:t>Logical errors</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579" dirty="0">
                <a:effectLst/>
              </a:rPr>
              <a:t>Bugs can be introduced by the compiler itself as well</a:t>
            </a:r>
            <a:endParaRPr lang="pl-PL" sz="1579" dirty="0">
              <a:effectLst/>
            </a:endParaRPr>
          </a:p>
        </p:txBody>
      </p:sp>
      <p:sp>
        <p:nvSpPr>
          <p:cNvPr id="3" name="Arrow: Down 2">
            <a:extLst>
              <a:ext uri="{FF2B5EF4-FFF2-40B4-BE49-F238E27FC236}">
                <a16:creationId xmlns:a16="http://schemas.microsoft.com/office/drawing/2014/main" id="{48328693-4FE8-4D16-BDFD-A2729781E89D}"/>
              </a:ext>
            </a:extLst>
          </p:cNvPr>
          <p:cNvSpPr/>
          <p:nvPr/>
        </p:nvSpPr>
        <p:spPr>
          <a:xfrm rot="9157217">
            <a:off x="7158107" y="1926058"/>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213B3C07-2D99-4A89-88A7-3077095841D9}"/>
              </a:ext>
            </a:extLst>
          </p:cNvPr>
          <p:cNvSpPr/>
          <p:nvPr/>
        </p:nvSpPr>
        <p:spPr>
          <a:xfrm rot="7229321">
            <a:off x="5649405" y="2503162"/>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E780860-D401-4994-96E8-F6153B0BEB81}"/>
              </a:ext>
            </a:extLst>
          </p:cNvPr>
          <p:cNvSpPr/>
          <p:nvPr/>
        </p:nvSpPr>
        <p:spPr>
          <a:xfrm rot="4315829">
            <a:off x="5693064" y="3800656"/>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36F590-0EAD-4A5E-B1D9-E230AEBA225E}"/>
              </a:ext>
            </a:extLst>
          </p:cNvPr>
          <p:cNvSpPr txBox="1"/>
          <p:nvPr/>
        </p:nvSpPr>
        <p:spPr>
          <a:xfrm>
            <a:off x="7147146" y="3847058"/>
            <a:ext cx="2688831" cy="769441"/>
          </a:xfrm>
          <a:prstGeom prst="rect">
            <a:avLst/>
          </a:prstGeom>
          <a:noFill/>
        </p:spPr>
        <p:txBody>
          <a:bodyPr wrap="square" rtlCol="0">
            <a:spAutoFit/>
          </a:bodyPr>
          <a:lstStyle/>
          <a:p>
            <a:r>
              <a:rPr lang="en-US" sz="2200" dirty="0"/>
              <a:t>We need to analyze the binary!</a:t>
            </a:r>
          </a:p>
        </p:txBody>
      </p:sp>
      <p:sp>
        <p:nvSpPr>
          <p:cNvPr id="9" name="Rectangle 8">
            <a:extLst>
              <a:ext uri="{FF2B5EF4-FFF2-40B4-BE49-F238E27FC236}">
                <a16:creationId xmlns:a16="http://schemas.microsoft.com/office/drawing/2014/main" id="{BC439342-F829-463A-8744-52CB26A2305E}"/>
              </a:ext>
            </a:extLst>
          </p:cNvPr>
          <p:cNvSpPr/>
          <p:nvPr/>
        </p:nvSpPr>
        <p:spPr>
          <a:xfrm>
            <a:off x="7147146" y="3847058"/>
            <a:ext cx="2688831" cy="83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7856AB3-8842-4673-BFFF-ABC184BEC7A5}"/>
              </a:ext>
            </a:extLst>
          </p:cNvPr>
          <p:cNvSpPr txBox="1"/>
          <p:nvPr/>
        </p:nvSpPr>
        <p:spPr>
          <a:xfrm>
            <a:off x="474499" y="6052356"/>
            <a:ext cx="9361477" cy="430887"/>
          </a:xfrm>
          <a:prstGeom prst="rect">
            <a:avLst/>
          </a:prstGeom>
          <a:noFill/>
        </p:spPr>
        <p:txBody>
          <a:bodyPr wrap="square" rtlCol="0">
            <a:spAutoFit/>
          </a:bodyPr>
          <a:lstStyle/>
          <a:p>
            <a:r>
              <a:rPr lang="en-US" sz="2200" dirty="0"/>
              <a:t>During this research, neither IDA Pro nor </a:t>
            </a:r>
            <a:r>
              <a:rPr lang="en-US" sz="2200" dirty="0" err="1"/>
              <a:t>Ghidra</a:t>
            </a:r>
            <a:r>
              <a:rPr lang="en-US" sz="2200" dirty="0"/>
              <a:t> supported RISC-V  ; (</a:t>
            </a:r>
          </a:p>
        </p:txBody>
      </p:sp>
      <p:sp>
        <p:nvSpPr>
          <p:cNvPr id="11" name="Rectangle 10">
            <a:extLst>
              <a:ext uri="{FF2B5EF4-FFF2-40B4-BE49-F238E27FC236}">
                <a16:creationId xmlns:a16="http://schemas.microsoft.com/office/drawing/2014/main" id="{06C97A77-67D4-4056-B4E5-1A78629EC4EF}"/>
              </a:ext>
            </a:extLst>
          </p:cNvPr>
          <p:cNvSpPr/>
          <p:nvPr/>
        </p:nvSpPr>
        <p:spPr>
          <a:xfrm>
            <a:off x="474499" y="6066402"/>
            <a:ext cx="9131627" cy="4678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16090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err="1">
                <a:solidFill>
                  <a:schemeClr val="accent1"/>
                </a:solidFill>
              </a:rPr>
              <a:t>adacore</a:t>
            </a:r>
            <a:r>
              <a:rPr lang="en-US" dirty="0">
                <a:solidFill>
                  <a:schemeClr val="accent1"/>
                </a:solidFill>
              </a:rPr>
              <a:t>/</a:t>
            </a:r>
            <a:r>
              <a:rPr lang="en-US" dirty="0">
                <a:solidFill>
                  <a:srgbClr val="FF0000"/>
                </a:solidFill>
              </a:rPr>
              <a:t>SPARK </a:t>
            </a:r>
            <a:r>
              <a:rPr lang="en-US" dirty="0">
                <a:solidFill>
                  <a:schemeClr val="accent1"/>
                </a:solidFill>
              </a:rPr>
              <a:t>- Evaluation</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43274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400" dirty="0">
                <a:effectLst/>
              </a:rPr>
              <a:t>Lesson learned:</a:t>
            </a:r>
          </a:p>
          <a:p>
            <a:pPr marL="961171" lvl="1" indent="-457200">
              <a:buFont typeface="Wingdings" panose="05000000000000000000" pitchFamily="2" charset="2"/>
              <a:buChar char="v"/>
            </a:pPr>
            <a:r>
              <a:rPr lang="en-US" sz="1800" dirty="0">
                <a:effectLst/>
              </a:rPr>
              <a:t>You </a:t>
            </a:r>
            <a:r>
              <a:rPr lang="en-US" sz="1800" dirty="0">
                <a:solidFill>
                  <a:srgbClr val="FFFF00"/>
                </a:solidFill>
                <a:effectLst/>
              </a:rPr>
              <a:t>can</a:t>
            </a:r>
            <a:r>
              <a:rPr lang="en-US" sz="1800" dirty="0">
                <a:effectLst/>
              </a:rPr>
              <a:t> compile buggy code – problems are detected by the tools and developers </a:t>
            </a:r>
            <a:r>
              <a:rPr lang="en-US" sz="1800" dirty="0">
                <a:solidFill>
                  <a:srgbClr val="FFFF00"/>
                </a:solidFill>
                <a:effectLst/>
              </a:rPr>
              <a:t>might not run them at all</a:t>
            </a:r>
            <a:r>
              <a:rPr lang="en-US" sz="1800" dirty="0">
                <a:effectLst/>
              </a:rPr>
              <a:t>!</a:t>
            </a:r>
          </a:p>
          <a:p>
            <a:pPr marL="961171" lvl="1" indent="-457200">
              <a:buFont typeface="Wingdings" panose="05000000000000000000" pitchFamily="2" charset="2"/>
              <a:buChar char="v"/>
            </a:pPr>
            <a:r>
              <a:rPr lang="en-US" sz="1800" dirty="0">
                <a:effectLst/>
              </a:rPr>
              <a:t>Tools are orthogonal and detect different classes of problems – to be fully protected </a:t>
            </a:r>
            <a:r>
              <a:rPr lang="en-US" sz="1800" dirty="0">
                <a:solidFill>
                  <a:srgbClr val="FFFF00"/>
                </a:solidFill>
                <a:effectLst/>
              </a:rPr>
              <a:t>you must run all of them</a:t>
            </a:r>
            <a:r>
              <a:rPr lang="en-US" sz="1800" dirty="0">
                <a:effectLst/>
              </a:rPr>
              <a:t>!</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800" dirty="0">
                <a:effectLst/>
              </a:rPr>
              <a:t>Most of the potential security issues might be:</a:t>
            </a:r>
          </a:p>
          <a:p>
            <a:pPr marL="1465143" lvl="2" indent="-457200">
              <a:buFont typeface="Wingdings" panose="05000000000000000000" pitchFamily="2" charset="2"/>
              <a:buChar char="v"/>
            </a:pPr>
            <a:r>
              <a:rPr lang="en-US" sz="1580" dirty="0">
                <a:effectLst/>
              </a:rPr>
              <a:t>In the design</a:t>
            </a:r>
          </a:p>
          <a:p>
            <a:pPr marL="1465143" lvl="2" indent="-457200">
              <a:buFont typeface="Wingdings" panose="05000000000000000000" pitchFamily="2" charset="2"/>
              <a:buChar char="v"/>
            </a:pPr>
            <a:r>
              <a:rPr lang="en-US" sz="1580" dirty="0">
                <a:effectLst/>
              </a:rPr>
              <a:t>Logical errors</a:t>
            </a:r>
          </a:p>
          <a:p>
            <a:pPr marL="961171" lvl="1" indent="-457200">
              <a:buFont typeface="Wingdings" panose="05000000000000000000" pitchFamily="2" charset="2"/>
              <a:buChar char="v"/>
            </a:pPr>
            <a:endParaRPr lang="en-US" sz="1800" dirty="0">
              <a:effectLst/>
            </a:endParaRPr>
          </a:p>
          <a:p>
            <a:pPr marL="961171" lvl="1" indent="-457200">
              <a:buFont typeface="Wingdings" panose="05000000000000000000" pitchFamily="2" charset="2"/>
              <a:buChar char="v"/>
            </a:pPr>
            <a:r>
              <a:rPr lang="en-US" sz="1579" dirty="0">
                <a:effectLst/>
              </a:rPr>
              <a:t>Bugs can be introduced by the compiler itself as well</a:t>
            </a:r>
            <a:endParaRPr lang="pl-PL" sz="1579" dirty="0">
              <a:effectLst/>
            </a:endParaRPr>
          </a:p>
        </p:txBody>
      </p:sp>
      <p:sp>
        <p:nvSpPr>
          <p:cNvPr id="3" name="Arrow: Down 2">
            <a:extLst>
              <a:ext uri="{FF2B5EF4-FFF2-40B4-BE49-F238E27FC236}">
                <a16:creationId xmlns:a16="http://schemas.microsoft.com/office/drawing/2014/main" id="{48328693-4FE8-4D16-BDFD-A2729781E89D}"/>
              </a:ext>
            </a:extLst>
          </p:cNvPr>
          <p:cNvSpPr/>
          <p:nvPr/>
        </p:nvSpPr>
        <p:spPr>
          <a:xfrm rot="9157217">
            <a:off x="7158107" y="1926058"/>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213B3C07-2D99-4A89-88A7-3077095841D9}"/>
              </a:ext>
            </a:extLst>
          </p:cNvPr>
          <p:cNvSpPr/>
          <p:nvPr/>
        </p:nvSpPr>
        <p:spPr>
          <a:xfrm rot="7229321">
            <a:off x="5649405" y="2503162"/>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5E780860-D401-4994-96E8-F6153B0BEB81}"/>
              </a:ext>
            </a:extLst>
          </p:cNvPr>
          <p:cNvSpPr/>
          <p:nvPr/>
        </p:nvSpPr>
        <p:spPr>
          <a:xfrm rot="4315829">
            <a:off x="5693064" y="3800656"/>
            <a:ext cx="794303" cy="169174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36F590-0EAD-4A5E-B1D9-E230AEBA225E}"/>
              </a:ext>
            </a:extLst>
          </p:cNvPr>
          <p:cNvSpPr txBox="1"/>
          <p:nvPr/>
        </p:nvSpPr>
        <p:spPr>
          <a:xfrm>
            <a:off x="7147146" y="3847058"/>
            <a:ext cx="2688831" cy="769441"/>
          </a:xfrm>
          <a:prstGeom prst="rect">
            <a:avLst/>
          </a:prstGeom>
          <a:noFill/>
        </p:spPr>
        <p:txBody>
          <a:bodyPr wrap="square" rtlCol="0">
            <a:spAutoFit/>
          </a:bodyPr>
          <a:lstStyle/>
          <a:p>
            <a:r>
              <a:rPr lang="en-US" sz="2200" dirty="0"/>
              <a:t>We need to analyze the binary!</a:t>
            </a:r>
          </a:p>
        </p:txBody>
      </p:sp>
      <p:sp>
        <p:nvSpPr>
          <p:cNvPr id="9" name="Rectangle 8">
            <a:extLst>
              <a:ext uri="{FF2B5EF4-FFF2-40B4-BE49-F238E27FC236}">
                <a16:creationId xmlns:a16="http://schemas.microsoft.com/office/drawing/2014/main" id="{BC439342-F829-463A-8744-52CB26A2305E}"/>
              </a:ext>
            </a:extLst>
          </p:cNvPr>
          <p:cNvSpPr/>
          <p:nvPr/>
        </p:nvSpPr>
        <p:spPr>
          <a:xfrm>
            <a:off x="7147146" y="3847058"/>
            <a:ext cx="2688831" cy="8336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7856AB3-8842-4673-BFFF-ABC184BEC7A5}"/>
              </a:ext>
            </a:extLst>
          </p:cNvPr>
          <p:cNvSpPr txBox="1"/>
          <p:nvPr/>
        </p:nvSpPr>
        <p:spPr>
          <a:xfrm>
            <a:off x="474499" y="6052356"/>
            <a:ext cx="9361477" cy="430887"/>
          </a:xfrm>
          <a:prstGeom prst="rect">
            <a:avLst/>
          </a:prstGeom>
          <a:noFill/>
        </p:spPr>
        <p:txBody>
          <a:bodyPr wrap="square" rtlCol="0">
            <a:spAutoFit/>
          </a:bodyPr>
          <a:lstStyle/>
          <a:p>
            <a:r>
              <a:rPr lang="en-US" sz="2200" dirty="0"/>
              <a:t>During this research, neither IDA Pro nor </a:t>
            </a:r>
            <a:r>
              <a:rPr lang="en-US" sz="2200" dirty="0" err="1">
                <a:solidFill>
                  <a:srgbClr val="FFC000"/>
                </a:solidFill>
              </a:rPr>
              <a:t>Ghidra</a:t>
            </a:r>
            <a:r>
              <a:rPr lang="en-US" sz="2200" dirty="0"/>
              <a:t> supported RISC-V  ; (</a:t>
            </a:r>
          </a:p>
        </p:txBody>
      </p:sp>
      <p:sp>
        <p:nvSpPr>
          <p:cNvPr id="11" name="Rectangle 10">
            <a:extLst>
              <a:ext uri="{FF2B5EF4-FFF2-40B4-BE49-F238E27FC236}">
                <a16:creationId xmlns:a16="http://schemas.microsoft.com/office/drawing/2014/main" id="{06C97A77-67D4-4056-B4E5-1A78629EC4EF}"/>
              </a:ext>
            </a:extLst>
          </p:cNvPr>
          <p:cNvSpPr/>
          <p:nvPr/>
        </p:nvSpPr>
        <p:spPr>
          <a:xfrm>
            <a:off x="474499" y="6066402"/>
            <a:ext cx="9131627" cy="4678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935C5302-F4E2-4627-9258-6B84F81C0939}"/>
              </a:ext>
            </a:extLst>
          </p:cNvPr>
          <p:cNvSpPr/>
          <p:nvPr/>
        </p:nvSpPr>
        <p:spPr>
          <a:xfrm rot="18457797">
            <a:off x="5114524" y="5156297"/>
            <a:ext cx="794303" cy="1176638"/>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642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1714765"/>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200" dirty="0" err="1">
                <a:effectLst/>
              </a:rPr>
              <a:t>Ghidra</a:t>
            </a:r>
            <a:r>
              <a:rPr lang="en-US" sz="2200" dirty="0">
                <a:effectLst/>
              </a:rPr>
              <a:t> 9.0 didn’t support RISC-V…</a:t>
            </a:r>
          </a:p>
          <a:p>
            <a:pPr marL="961171" lvl="1" indent="-457200">
              <a:buFont typeface="Wingdings" panose="05000000000000000000" pitchFamily="2" charset="2"/>
              <a:buChar char="v"/>
            </a:pPr>
            <a:r>
              <a:rPr lang="en-US" sz="1800" dirty="0">
                <a:effectLst/>
              </a:rPr>
              <a:t>Moreover, we were dealing with the custom RISC-V with the custom extensions…</a:t>
            </a: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40936123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49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3080780"/>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200" dirty="0" err="1">
                <a:effectLst/>
              </a:rPr>
              <a:t>Ghidra</a:t>
            </a:r>
            <a:r>
              <a:rPr lang="en-US" sz="2200" dirty="0">
                <a:effectLst/>
              </a:rPr>
              <a:t> 9.0 didn’t support RISC-V…</a:t>
            </a:r>
          </a:p>
          <a:p>
            <a:pPr marL="961171" lvl="1" indent="-457200">
              <a:buFont typeface="Wingdings" panose="05000000000000000000" pitchFamily="2" charset="2"/>
              <a:buChar char="v"/>
            </a:pPr>
            <a:r>
              <a:rPr lang="en-US" sz="1800" dirty="0">
                <a:effectLst/>
              </a:rPr>
              <a:t>Moreover, we were dealing with the custom RISC-V with the custom extensions…</a:t>
            </a:r>
          </a:p>
          <a:p>
            <a:pPr marL="457200" indent="-457200">
              <a:buFont typeface="Wingdings" panose="05000000000000000000" pitchFamily="2" charset="2"/>
              <a:buChar char="v"/>
            </a:pPr>
            <a:r>
              <a:rPr lang="en-US" sz="2200" dirty="0">
                <a:effectLst/>
              </a:rPr>
              <a:t>RISC-V is huge!</a:t>
            </a:r>
          </a:p>
          <a:p>
            <a:pPr marL="961171" lvl="1" indent="-457200">
              <a:buFont typeface="Wingdings" panose="05000000000000000000" pitchFamily="2" charset="2"/>
              <a:buChar char="v"/>
            </a:pPr>
            <a:r>
              <a:rPr lang="en-US" sz="1800" dirty="0">
                <a:effectLst/>
              </a:rPr>
              <a:t>Implementing entire RISC-V base would take TONS of time…</a:t>
            </a:r>
          </a:p>
          <a:p>
            <a:pPr marL="961171" lvl="1" indent="-457200">
              <a:buFont typeface="Wingdings" panose="05000000000000000000" pitchFamily="2" charset="2"/>
              <a:buChar char="v"/>
            </a:pPr>
            <a:r>
              <a:rPr lang="en-US" sz="1800" dirty="0">
                <a:effectLst/>
              </a:rPr>
              <a:t>… additionally, we needed custom RISC-V extension support</a:t>
            </a: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3009378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137225" cy="518545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200" dirty="0" err="1">
                <a:effectLst/>
              </a:rPr>
              <a:t>Ghidra</a:t>
            </a:r>
            <a:r>
              <a:rPr lang="en-US" sz="2200" dirty="0">
                <a:effectLst/>
              </a:rPr>
              <a:t> 9.0 didn’t support RISC-V…</a:t>
            </a:r>
          </a:p>
          <a:p>
            <a:pPr marL="961171" lvl="1" indent="-457200">
              <a:buFont typeface="Wingdings" panose="05000000000000000000" pitchFamily="2" charset="2"/>
              <a:buChar char="v"/>
            </a:pPr>
            <a:r>
              <a:rPr lang="en-US" sz="1800" dirty="0">
                <a:effectLst/>
              </a:rPr>
              <a:t>Moreover, we were dealing with the custom RISC-V with the custom extensions…</a:t>
            </a:r>
          </a:p>
          <a:p>
            <a:pPr marL="457200" indent="-457200">
              <a:buFont typeface="Wingdings" panose="05000000000000000000" pitchFamily="2" charset="2"/>
              <a:buChar char="v"/>
            </a:pPr>
            <a:r>
              <a:rPr lang="en-US" sz="2200" dirty="0">
                <a:effectLst/>
              </a:rPr>
              <a:t>RISC-V is huge!</a:t>
            </a:r>
          </a:p>
          <a:p>
            <a:pPr marL="961171" lvl="1" indent="-457200">
              <a:buFont typeface="Wingdings" panose="05000000000000000000" pitchFamily="2" charset="2"/>
              <a:buChar char="v"/>
            </a:pPr>
            <a:r>
              <a:rPr lang="en-US" sz="1800" dirty="0">
                <a:effectLst/>
              </a:rPr>
              <a:t>Implementing entire RISC-V base would take TONS of time…</a:t>
            </a:r>
          </a:p>
          <a:p>
            <a:pPr marL="961171" lvl="1" indent="-457200">
              <a:buFont typeface="Wingdings" panose="05000000000000000000" pitchFamily="2" charset="2"/>
              <a:buChar char="v"/>
            </a:pPr>
            <a:r>
              <a:rPr lang="en-US" sz="1800" dirty="0">
                <a:effectLst/>
              </a:rPr>
              <a:t>… additionally, we needed custom RISC-V extension support</a:t>
            </a:r>
          </a:p>
          <a:p>
            <a:pPr marL="457200" indent="-457200">
              <a:buFont typeface="Wingdings" panose="05000000000000000000" pitchFamily="2" charset="2"/>
              <a:buChar char="v"/>
            </a:pPr>
            <a:r>
              <a:rPr lang="en-US" sz="2200" dirty="0">
                <a:effectLst/>
              </a:rPr>
              <a:t>We found on the </a:t>
            </a:r>
            <a:r>
              <a:rPr lang="en-US" sz="2200" dirty="0" err="1">
                <a:effectLst/>
              </a:rPr>
              <a:t>github</a:t>
            </a:r>
            <a:r>
              <a:rPr lang="en-US" sz="2200" dirty="0">
                <a:effectLst/>
              </a:rPr>
              <a:t> a few RISC-V base plugins – different implementations:</a:t>
            </a:r>
          </a:p>
          <a:p>
            <a:pPr marL="961171" lvl="1" indent="-457200">
              <a:buFont typeface="Wingdings" panose="05000000000000000000" pitchFamily="2" charset="2"/>
              <a:buChar char="v"/>
            </a:pPr>
            <a:r>
              <a:rPr lang="en-US" sz="1800" dirty="0">
                <a:effectLst/>
              </a:rPr>
              <a:t>We decided to “integrate” one of the plugin to </a:t>
            </a:r>
            <a:r>
              <a:rPr lang="en-US" sz="1800" dirty="0" err="1">
                <a:effectLst/>
              </a:rPr>
              <a:t>Ghidra</a:t>
            </a:r>
            <a:r>
              <a:rPr lang="en-US" sz="1800" dirty="0">
                <a:effectLst/>
              </a:rPr>
              <a:t> TOT</a:t>
            </a:r>
          </a:p>
          <a:p>
            <a:pPr marL="961171" lvl="1" indent="-457200">
              <a:buFont typeface="Wingdings" panose="05000000000000000000" pitchFamily="2" charset="2"/>
              <a:buChar char="v"/>
            </a:pPr>
            <a:r>
              <a:rPr lang="en-US" sz="1800" dirty="0">
                <a:effectLst/>
              </a:rPr>
              <a:t>… Few months after our research </a:t>
            </a:r>
            <a:r>
              <a:rPr lang="en-US" sz="1800" dirty="0" err="1">
                <a:effectLst/>
              </a:rPr>
              <a:t>Ghidra</a:t>
            </a:r>
            <a:r>
              <a:rPr lang="en-US" sz="1800" dirty="0">
                <a:effectLst/>
              </a:rPr>
              <a:t> 9.2 brought RISC-V support using exactly the same plugin ;-)</a:t>
            </a: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24012519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2500843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9" name="Picture 8">
            <a:extLst>
              <a:ext uri="{FF2B5EF4-FFF2-40B4-BE49-F238E27FC236}">
                <a16:creationId xmlns:a16="http://schemas.microsoft.com/office/drawing/2014/main" id="{7E427FAB-5265-49EA-970E-9273F0026A1F}"/>
              </a:ext>
            </a:extLst>
          </p:cNvPr>
          <p:cNvPicPr>
            <a:picLocks noChangeAspect="1"/>
          </p:cNvPicPr>
          <p:nvPr/>
        </p:nvPicPr>
        <p:blipFill>
          <a:blip r:embed="rId4"/>
          <a:stretch>
            <a:fillRect/>
          </a:stretch>
        </p:blipFill>
        <p:spPr>
          <a:xfrm>
            <a:off x="387985" y="1049735"/>
            <a:ext cx="1932274" cy="4128899"/>
          </a:xfrm>
          <a:prstGeom prst="rect">
            <a:avLst/>
          </a:prstGeom>
        </p:spPr>
      </p:pic>
      <p:sp>
        <p:nvSpPr>
          <p:cNvPr id="10" name="Rectangle 9">
            <a:extLst>
              <a:ext uri="{FF2B5EF4-FFF2-40B4-BE49-F238E27FC236}">
                <a16:creationId xmlns:a16="http://schemas.microsoft.com/office/drawing/2014/main" id="{29AF2FDD-55AD-4DA4-885D-CC0CFE569EDD}"/>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2797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5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082F231-560C-4E50-8D02-0504CD10F124}"/>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D057C71B-22DC-4088-9BBB-71625F23ED2D}"/>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4606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3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2CCA501-BDE6-4D1C-BE27-C6F802CFC2E5}"/>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7D955D8A-89A2-409A-9DC3-AD700D4F31DA}"/>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38CBAF-1A56-4444-AB5C-DD83E175C054}"/>
              </a:ext>
            </a:extLst>
          </p:cNvPr>
          <p:cNvPicPr>
            <a:picLocks noChangeAspect="1"/>
          </p:cNvPicPr>
          <p:nvPr/>
        </p:nvPicPr>
        <p:blipFill>
          <a:blip r:embed="rId6"/>
          <a:stretch>
            <a:fillRect/>
          </a:stretch>
        </p:blipFill>
        <p:spPr>
          <a:xfrm>
            <a:off x="2748143" y="2482480"/>
            <a:ext cx="6391704" cy="1561739"/>
          </a:xfrm>
          <a:prstGeom prst="rect">
            <a:avLst/>
          </a:prstGeom>
        </p:spPr>
      </p:pic>
      <p:sp>
        <p:nvSpPr>
          <p:cNvPr id="15" name="Rectangle 14">
            <a:extLst>
              <a:ext uri="{FF2B5EF4-FFF2-40B4-BE49-F238E27FC236}">
                <a16:creationId xmlns:a16="http://schemas.microsoft.com/office/drawing/2014/main" id="{E0DA2923-5720-4C84-A1D0-908A34BE5154}"/>
              </a:ext>
            </a:extLst>
          </p:cNvPr>
          <p:cNvSpPr/>
          <p:nvPr/>
        </p:nvSpPr>
        <p:spPr>
          <a:xfrm>
            <a:off x="2743200" y="2494391"/>
            <a:ext cx="6395857" cy="15437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4128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3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2CCA501-BDE6-4D1C-BE27-C6F802CFC2E5}"/>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7D955D8A-89A2-409A-9DC3-AD700D4F31DA}"/>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38CBAF-1A56-4444-AB5C-DD83E175C054}"/>
              </a:ext>
            </a:extLst>
          </p:cNvPr>
          <p:cNvPicPr>
            <a:picLocks noChangeAspect="1"/>
          </p:cNvPicPr>
          <p:nvPr/>
        </p:nvPicPr>
        <p:blipFill>
          <a:blip r:embed="rId6"/>
          <a:stretch>
            <a:fillRect/>
          </a:stretch>
        </p:blipFill>
        <p:spPr>
          <a:xfrm>
            <a:off x="2748143" y="2482480"/>
            <a:ext cx="6391704" cy="1561739"/>
          </a:xfrm>
          <a:prstGeom prst="rect">
            <a:avLst/>
          </a:prstGeom>
        </p:spPr>
      </p:pic>
      <p:sp>
        <p:nvSpPr>
          <p:cNvPr id="15" name="Rectangle 14">
            <a:extLst>
              <a:ext uri="{FF2B5EF4-FFF2-40B4-BE49-F238E27FC236}">
                <a16:creationId xmlns:a16="http://schemas.microsoft.com/office/drawing/2014/main" id="{E0DA2923-5720-4C84-A1D0-908A34BE5154}"/>
              </a:ext>
            </a:extLst>
          </p:cNvPr>
          <p:cNvSpPr/>
          <p:nvPr/>
        </p:nvSpPr>
        <p:spPr>
          <a:xfrm>
            <a:off x="2743200" y="2494391"/>
            <a:ext cx="6395857" cy="15437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241C95D-2CCD-4EE4-903D-F64883310C60}"/>
              </a:ext>
            </a:extLst>
          </p:cNvPr>
          <p:cNvPicPr>
            <a:picLocks noChangeAspect="1"/>
          </p:cNvPicPr>
          <p:nvPr/>
        </p:nvPicPr>
        <p:blipFill>
          <a:blip r:embed="rId7"/>
          <a:stretch>
            <a:fillRect/>
          </a:stretch>
        </p:blipFill>
        <p:spPr>
          <a:xfrm>
            <a:off x="-1" y="5324379"/>
            <a:ext cx="10080625" cy="904560"/>
          </a:xfrm>
          <a:prstGeom prst="rect">
            <a:avLst/>
          </a:prstGeom>
        </p:spPr>
      </p:pic>
      <p:sp>
        <p:nvSpPr>
          <p:cNvPr id="6" name="Rectangle 5">
            <a:extLst>
              <a:ext uri="{FF2B5EF4-FFF2-40B4-BE49-F238E27FC236}">
                <a16:creationId xmlns:a16="http://schemas.microsoft.com/office/drawing/2014/main" id="{F82BD3B5-F500-4659-98E8-A9BEE9E14855}"/>
              </a:ext>
            </a:extLst>
          </p:cNvPr>
          <p:cNvSpPr/>
          <p:nvPr/>
        </p:nvSpPr>
        <p:spPr>
          <a:xfrm>
            <a:off x="0" y="5318348"/>
            <a:ext cx="10080625" cy="9292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9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3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2CCA501-BDE6-4D1C-BE27-C6F802CFC2E5}"/>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7D955D8A-89A2-409A-9DC3-AD700D4F31DA}"/>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38CBAF-1A56-4444-AB5C-DD83E175C054}"/>
              </a:ext>
            </a:extLst>
          </p:cNvPr>
          <p:cNvPicPr>
            <a:picLocks noChangeAspect="1"/>
          </p:cNvPicPr>
          <p:nvPr/>
        </p:nvPicPr>
        <p:blipFill>
          <a:blip r:embed="rId6"/>
          <a:stretch>
            <a:fillRect/>
          </a:stretch>
        </p:blipFill>
        <p:spPr>
          <a:xfrm>
            <a:off x="2748143" y="2482480"/>
            <a:ext cx="6391704" cy="1561739"/>
          </a:xfrm>
          <a:prstGeom prst="rect">
            <a:avLst/>
          </a:prstGeom>
        </p:spPr>
      </p:pic>
      <p:sp>
        <p:nvSpPr>
          <p:cNvPr id="15" name="Rectangle 14">
            <a:extLst>
              <a:ext uri="{FF2B5EF4-FFF2-40B4-BE49-F238E27FC236}">
                <a16:creationId xmlns:a16="http://schemas.microsoft.com/office/drawing/2014/main" id="{E0DA2923-5720-4C84-A1D0-908A34BE5154}"/>
              </a:ext>
            </a:extLst>
          </p:cNvPr>
          <p:cNvSpPr/>
          <p:nvPr/>
        </p:nvSpPr>
        <p:spPr>
          <a:xfrm>
            <a:off x="2743200" y="2494391"/>
            <a:ext cx="6395857" cy="15437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241C95D-2CCD-4EE4-903D-F64883310C60}"/>
              </a:ext>
            </a:extLst>
          </p:cNvPr>
          <p:cNvPicPr>
            <a:picLocks noChangeAspect="1"/>
          </p:cNvPicPr>
          <p:nvPr/>
        </p:nvPicPr>
        <p:blipFill>
          <a:blip r:embed="rId7"/>
          <a:stretch>
            <a:fillRect/>
          </a:stretch>
        </p:blipFill>
        <p:spPr>
          <a:xfrm>
            <a:off x="0" y="5324379"/>
            <a:ext cx="10080625" cy="904560"/>
          </a:xfrm>
          <a:prstGeom prst="rect">
            <a:avLst/>
          </a:prstGeom>
        </p:spPr>
      </p:pic>
      <p:sp>
        <p:nvSpPr>
          <p:cNvPr id="6" name="Rectangle 5">
            <a:extLst>
              <a:ext uri="{FF2B5EF4-FFF2-40B4-BE49-F238E27FC236}">
                <a16:creationId xmlns:a16="http://schemas.microsoft.com/office/drawing/2014/main" id="{F82BD3B5-F500-4659-98E8-A9BEE9E14855}"/>
              </a:ext>
            </a:extLst>
          </p:cNvPr>
          <p:cNvSpPr/>
          <p:nvPr/>
        </p:nvSpPr>
        <p:spPr>
          <a:xfrm>
            <a:off x="0" y="5318348"/>
            <a:ext cx="10080625" cy="9292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4A51541-65B1-4F04-9112-C4F2E3002F8B}"/>
              </a:ext>
            </a:extLst>
          </p:cNvPr>
          <p:cNvPicPr>
            <a:picLocks noChangeAspect="1"/>
          </p:cNvPicPr>
          <p:nvPr/>
        </p:nvPicPr>
        <p:blipFill>
          <a:blip r:embed="rId8"/>
          <a:stretch>
            <a:fillRect/>
          </a:stretch>
        </p:blipFill>
        <p:spPr>
          <a:xfrm>
            <a:off x="764350" y="6029239"/>
            <a:ext cx="8943975" cy="1314450"/>
          </a:xfrm>
          <a:prstGeom prst="rect">
            <a:avLst/>
          </a:prstGeom>
        </p:spPr>
      </p:pic>
      <p:sp>
        <p:nvSpPr>
          <p:cNvPr id="11" name="Rectangle 10">
            <a:extLst>
              <a:ext uri="{FF2B5EF4-FFF2-40B4-BE49-F238E27FC236}">
                <a16:creationId xmlns:a16="http://schemas.microsoft.com/office/drawing/2014/main" id="{00CBA945-0E6D-4F9A-BD71-A00A7CAE578D}"/>
              </a:ext>
            </a:extLst>
          </p:cNvPr>
          <p:cNvSpPr/>
          <p:nvPr/>
        </p:nvSpPr>
        <p:spPr>
          <a:xfrm>
            <a:off x="764350" y="6029239"/>
            <a:ext cx="8943975" cy="1314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98138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3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2CCA501-BDE6-4D1C-BE27-C6F802CFC2E5}"/>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7D955D8A-89A2-409A-9DC3-AD700D4F31DA}"/>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38CBAF-1A56-4444-AB5C-DD83E175C054}"/>
              </a:ext>
            </a:extLst>
          </p:cNvPr>
          <p:cNvPicPr>
            <a:picLocks noChangeAspect="1"/>
          </p:cNvPicPr>
          <p:nvPr/>
        </p:nvPicPr>
        <p:blipFill>
          <a:blip r:embed="rId6"/>
          <a:stretch>
            <a:fillRect/>
          </a:stretch>
        </p:blipFill>
        <p:spPr>
          <a:xfrm>
            <a:off x="2748143" y="2482480"/>
            <a:ext cx="6391704" cy="1561739"/>
          </a:xfrm>
          <a:prstGeom prst="rect">
            <a:avLst/>
          </a:prstGeom>
        </p:spPr>
      </p:pic>
      <p:sp>
        <p:nvSpPr>
          <p:cNvPr id="15" name="Rectangle 14">
            <a:extLst>
              <a:ext uri="{FF2B5EF4-FFF2-40B4-BE49-F238E27FC236}">
                <a16:creationId xmlns:a16="http://schemas.microsoft.com/office/drawing/2014/main" id="{E0DA2923-5720-4C84-A1D0-908A34BE5154}"/>
              </a:ext>
            </a:extLst>
          </p:cNvPr>
          <p:cNvSpPr/>
          <p:nvPr/>
        </p:nvSpPr>
        <p:spPr>
          <a:xfrm>
            <a:off x="2743200" y="2494391"/>
            <a:ext cx="6395857" cy="15437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241C95D-2CCD-4EE4-903D-F64883310C60}"/>
              </a:ext>
            </a:extLst>
          </p:cNvPr>
          <p:cNvPicPr>
            <a:picLocks noChangeAspect="1"/>
          </p:cNvPicPr>
          <p:nvPr/>
        </p:nvPicPr>
        <p:blipFill>
          <a:blip r:embed="rId7"/>
          <a:stretch>
            <a:fillRect/>
          </a:stretch>
        </p:blipFill>
        <p:spPr>
          <a:xfrm>
            <a:off x="-1" y="5334543"/>
            <a:ext cx="10080625" cy="904560"/>
          </a:xfrm>
          <a:prstGeom prst="rect">
            <a:avLst/>
          </a:prstGeom>
        </p:spPr>
      </p:pic>
      <p:sp>
        <p:nvSpPr>
          <p:cNvPr id="6" name="Rectangle 5">
            <a:extLst>
              <a:ext uri="{FF2B5EF4-FFF2-40B4-BE49-F238E27FC236}">
                <a16:creationId xmlns:a16="http://schemas.microsoft.com/office/drawing/2014/main" id="{F82BD3B5-F500-4659-98E8-A9BEE9E14855}"/>
              </a:ext>
            </a:extLst>
          </p:cNvPr>
          <p:cNvSpPr/>
          <p:nvPr/>
        </p:nvSpPr>
        <p:spPr>
          <a:xfrm>
            <a:off x="0" y="5318348"/>
            <a:ext cx="10080625" cy="9292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4A51541-65B1-4F04-9112-C4F2E3002F8B}"/>
              </a:ext>
            </a:extLst>
          </p:cNvPr>
          <p:cNvPicPr>
            <a:picLocks noChangeAspect="1"/>
          </p:cNvPicPr>
          <p:nvPr/>
        </p:nvPicPr>
        <p:blipFill>
          <a:blip r:embed="rId8"/>
          <a:stretch>
            <a:fillRect/>
          </a:stretch>
        </p:blipFill>
        <p:spPr>
          <a:xfrm>
            <a:off x="764350" y="6029239"/>
            <a:ext cx="8943975" cy="1314450"/>
          </a:xfrm>
          <a:prstGeom prst="rect">
            <a:avLst/>
          </a:prstGeom>
        </p:spPr>
      </p:pic>
      <p:sp>
        <p:nvSpPr>
          <p:cNvPr id="11" name="Rectangle 10">
            <a:extLst>
              <a:ext uri="{FF2B5EF4-FFF2-40B4-BE49-F238E27FC236}">
                <a16:creationId xmlns:a16="http://schemas.microsoft.com/office/drawing/2014/main" id="{00CBA945-0E6D-4F9A-BD71-A00A7CAE578D}"/>
              </a:ext>
            </a:extLst>
          </p:cNvPr>
          <p:cNvSpPr/>
          <p:nvPr/>
        </p:nvSpPr>
        <p:spPr>
          <a:xfrm>
            <a:off x="764350" y="6029239"/>
            <a:ext cx="8943975" cy="1314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60C5D482-77CF-4CA7-B4E5-4B603A890178}"/>
              </a:ext>
            </a:extLst>
          </p:cNvPr>
          <p:cNvPicPr>
            <a:picLocks noChangeAspect="1"/>
          </p:cNvPicPr>
          <p:nvPr/>
        </p:nvPicPr>
        <p:blipFill>
          <a:blip r:embed="rId9"/>
          <a:stretch>
            <a:fillRect/>
          </a:stretch>
        </p:blipFill>
        <p:spPr>
          <a:xfrm>
            <a:off x="0" y="1350572"/>
            <a:ext cx="10080625" cy="4858531"/>
          </a:xfrm>
          <a:prstGeom prst="rect">
            <a:avLst/>
          </a:prstGeom>
        </p:spPr>
      </p:pic>
      <p:sp>
        <p:nvSpPr>
          <p:cNvPr id="17" name="Rectangle 16">
            <a:extLst>
              <a:ext uri="{FF2B5EF4-FFF2-40B4-BE49-F238E27FC236}">
                <a16:creationId xmlns:a16="http://schemas.microsoft.com/office/drawing/2014/main" id="{16D3A774-C7F1-47D6-B1F3-54086A7BC9C7}"/>
              </a:ext>
            </a:extLst>
          </p:cNvPr>
          <p:cNvSpPr/>
          <p:nvPr/>
        </p:nvSpPr>
        <p:spPr>
          <a:xfrm>
            <a:off x="-1" y="1350571"/>
            <a:ext cx="10080626" cy="4822865"/>
          </a:xfrm>
          <a:prstGeom prst="rect">
            <a:avLst/>
          </a:prstGeom>
          <a:noFill/>
          <a:ln w="5715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2001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Bringing </a:t>
            </a:r>
            <a:r>
              <a:rPr lang="en-US" dirty="0">
                <a:solidFill>
                  <a:srgbClr val="C00000"/>
                </a:solidFill>
              </a:rPr>
              <a:t>RISC-V</a:t>
            </a:r>
            <a:r>
              <a:rPr lang="en-US" dirty="0">
                <a:solidFill>
                  <a:schemeClr val="accent1"/>
                </a:solidFill>
              </a:rPr>
              <a:t> to </a:t>
            </a:r>
            <a:r>
              <a:rPr lang="en-US" dirty="0" err="1">
                <a:solidFill>
                  <a:srgbClr val="FFC000"/>
                </a:solidFill>
              </a:rPr>
              <a:t>Ghidra</a:t>
            </a:r>
            <a:endParaRPr lang="en-US" dirty="0">
              <a:solidFill>
                <a:srgbClr val="FFC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271849" y="1105647"/>
            <a:ext cx="9549301" cy="7902997"/>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2000" dirty="0">
                <a:effectLst/>
              </a:rPr>
              <a:t>Where to start?</a:t>
            </a:r>
          </a:p>
          <a:p>
            <a:pPr marL="961171" lvl="1" indent="-457200">
              <a:buFont typeface="Wingdings" panose="05000000000000000000" pitchFamily="2" charset="2"/>
              <a:buChar char="v"/>
            </a:pPr>
            <a:r>
              <a:rPr lang="en-US" sz="1600" dirty="0">
                <a:effectLst/>
              </a:rPr>
              <a:t>We successfully integrated RISC-V plugin, but we needed to modify it…</a:t>
            </a:r>
          </a:p>
          <a:p>
            <a:pPr marL="457200" indent="-457200">
              <a:buFont typeface="Wingdings" panose="05000000000000000000" pitchFamily="2" charset="2"/>
              <a:buChar char="v"/>
            </a:pPr>
            <a:r>
              <a:rPr lang="en-US" sz="2000" dirty="0" err="1">
                <a:effectLst/>
              </a:rPr>
              <a:t>Ghidra</a:t>
            </a:r>
            <a:r>
              <a:rPr lang="en-US" sz="2000" dirty="0">
                <a:effectLst/>
              </a:rPr>
              <a:t> is using SLEIGH language to describe the CPU</a:t>
            </a:r>
          </a:p>
          <a:p>
            <a:pPr marL="961171" lvl="1" indent="-457200">
              <a:buFont typeface="Wingdings" panose="05000000000000000000" pitchFamily="2" charset="2"/>
              <a:buChar char="v"/>
            </a:pPr>
            <a:r>
              <a:rPr lang="en-US" sz="1600" dirty="0">
                <a:effectLst/>
              </a:rPr>
              <a:t>SLEIGH is a processor specification language developed for </a:t>
            </a:r>
            <a:r>
              <a:rPr lang="en-US" sz="1600" dirty="0" err="1">
                <a:effectLst/>
              </a:rPr>
              <a:t>Ghidra</a:t>
            </a:r>
            <a:r>
              <a:rPr lang="en-US" sz="1600" dirty="0">
                <a:effectLst/>
              </a:rPr>
              <a:t> (heritage from the SLED)</a:t>
            </a:r>
          </a:p>
          <a:p>
            <a:pPr marL="961171" lvl="1" indent="-457200">
              <a:buFont typeface="Wingdings" panose="05000000000000000000" pitchFamily="2" charset="2"/>
              <a:buChar char="v"/>
            </a:pPr>
            <a:r>
              <a:rPr lang="en-US" sz="1600" dirty="0">
                <a:effectLst/>
              </a:rPr>
              <a:t>Very little documentation about it</a:t>
            </a:r>
          </a:p>
          <a:p>
            <a:pPr marL="961171" lvl="1" indent="-457200">
              <a:buFont typeface="Wingdings" panose="05000000000000000000" pitchFamily="2" charset="2"/>
              <a:buChar char="v"/>
            </a:pPr>
            <a:r>
              <a:rPr lang="en-US" sz="1600" dirty="0">
                <a:effectLst/>
              </a:rPr>
              <a:t>If you want to model a simple CPU, it’s fine, but a more complex one could be very painful (at least it was for me </a:t>
            </a:r>
            <a:r>
              <a:rPr lang="en-US" sz="1600" dirty="0">
                <a:effectLst/>
                <a:sym typeface="Wingdings" panose="05000000000000000000" pitchFamily="2" charset="2"/>
              </a:rPr>
              <a:t>;-))</a:t>
            </a:r>
          </a:p>
          <a:p>
            <a:pPr marL="961171" lvl="1" indent="-457200">
              <a:buFont typeface="Wingdings" panose="05000000000000000000" pitchFamily="2" charset="2"/>
              <a:buChar char="v"/>
            </a:pPr>
            <a:r>
              <a:rPr lang="en-US" sz="1600" dirty="0">
                <a:effectLst/>
                <a:sym typeface="Wingdings" panose="05000000000000000000" pitchFamily="2" charset="2"/>
              </a:rPr>
              <a:t>We used already supported CPUs as a “source of knowledge” </a:t>
            </a:r>
          </a:p>
          <a:p>
            <a:pPr marL="961171" lvl="1" indent="-457200">
              <a:buFont typeface="Wingdings" panose="05000000000000000000" pitchFamily="2" charset="2"/>
              <a:buChar char="v"/>
            </a:pPr>
            <a:r>
              <a:rPr lang="en-US" sz="1600" dirty="0">
                <a:effectLst/>
                <a:sym typeface="Wingdings" panose="05000000000000000000" pitchFamily="2" charset="2"/>
              </a:rPr>
              <a:t>Additionally, we found only one really useful resource - Guillaume Valadon presentation:</a:t>
            </a:r>
            <a:br>
              <a:rPr lang="en-US" sz="1600" dirty="0">
                <a:effectLst/>
                <a:sym typeface="Wingdings" panose="05000000000000000000" pitchFamily="2" charset="2"/>
              </a:rPr>
            </a:br>
            <a:r>
              <a:rPr lang="en-US" sz="1600" dirty="0">
                <a:effectLst/>
                <a:hlinkClick r:id="rId3"/>
              </a:rPr>
              <a:t>https://guedou.github.io/talks/2019_BeeRump/slides.pdf</a:t>
            </a:r>
            <a:endParaRPr lang="en-US" sz="1600" dirty="0">
              <a:effectLst/>
            </a:endParaRPr>
          </a:p>
          <a:p>
            <a:pPr marL="457200" indent="-457200">
              <a:buFont typeface="Wingdings" panose="05000000000000000000" pitchFamily="2" charset="2"/>
              <a:buChar char="v"/>
            </a:pPr>
            <a:r>
              <a:rPr lang="en-US" sz="2000" dirty="0">
                <a:effectLst/>
              </a:rPr>
              <a:t>You need to create a </a:t>
            </a:r>
            <a:r>
              <a:rPr lang="en-US" sz="2000" dirty="0" err="1">
                <a:effectLst/>
              </a:rPr>
              <a:t>cspec</a:t>
            </a:r>
            <a:r>
              <a:rPr lang="en-US" sz="2000" dirty="0">
                <a:effectLst/>
              </a:rPr>
              <a:t>, </a:t>
            </a:r>
            <a:r>
              <a:rPr lang="en-US" sz="2000" dirty="0" err="1">
                <a:effectLst/>
              </a:rPr>
              <a:t>ldefs</a:t>
            </a:r>
            <a:r>
              <a:rPr lang="en-US" sz="2000" dirty="0">
                <a:effectLst/>
              </a:rPr>
              <a:t>, </a:t>
            </a:r>
            <a:r>
              <a:rPr lang="en-US" sz="2000" dirty="0" err="1">
                <a:effectLst/>
              </a:rPr>
              <a:t>pspec</a:t>
            </a:r>
            <a:r>
              <a:rPr lang="en-US" sz="2000" dirty="0">
                <a:effectLst/>
              </a:rPr>
              <a:t>, </a:t>
            </a:r>
            <a:r>
              <a:rPr lang="en-US" sz="2000" dirty="0" err="1">
                <a:effectLst/>
              </a:rPr>
              <a:t>slaspec</a:t>
            </a:r>
            <a:r>
              <a:rPr lang="en-US" sz="2000" dirty="0">
                <a:effectLst/>
              </a:rPr>
              <a:t>, and a </a:t>
            </a:r>
            <a:r>
              <a:rPr lang="en-US" sz="2000" dirty="0" err="1">
                <a:effectLst/>
              </a:rPr>
              <a:t>Module.manifest</a:t>
            </a:r>
            <a:r>
              <a:rPr lang="en-US" sz="2000" dirty="0">
                <a:effectLst/>
              </a:rPr>
              <a:t> file:</a:t>
            </a:r>
          </a:p>
          <a:p>
            <a:pPr marL="961171" lvl="1" indent="-457200">
              <a:buFont typeface="Wingdings" panose="05000000000000000000" pitchFamily="2" charset="2"/>
              <a:buChar char="v"/>
            </a:pPr>
            <a:r>
              <a:rPr lang="en-US" sz="1779" dirty="0">
                <a:effectLst/>
              </a:rPr>
              <a:t>We already had it, but we needed to modify </a:t>
            </a:r>
            <a:r>
              <a:rPr lang="en-US" sz="1779" dirty="0" err="1">
                <a:effectLst/>
              </a:rPr>
              <a:t>slaspec</a:t>
            </a:r>
            <a:endParaRPr lang="en-US" sz="1779" dirty="0">
              <a:effectLst/>
            </a:endParaRPr>
          </a:p>
          <a:p>
            <a:pPr marL="1465143" lvl="2" indent="-457200">
              <a:buFont typeface="Wingdings" panose="05000000000000000000" pitchFamily="2" charset="2"/>
              <a:buChar char="v"/>
            </a:pPr>
            <a:r>
              <a:rPr lang="en-US" sz="1559" dirty="0">
                <a:effectLst/>
              </a:rPr>
              <a:t>You define there the register definitions, aliases, instructions etc.</a:t>
            </a:r>
          </a:p>
          <a:p>
            <a:pPr marL="961171" lvl="1" indent="-457200">
              <a:buFont typeface="Wingdings" panose="05000000000000000000" pitchFamily="2" charset="2"/>
              <a:buChar char="v"/>
            </a:pPr>
            <a:r>
              <a:rPr lang="en-US" sz="1779" dirty="0" err="1">
                <a:effectLst/>
              </a:rPr>
              <a:t>Ghidra</a:t>
            </a:r>
            <a:r>
              <a:rPr lang="en-US" sz="1779" dirty="0">
                <a:effectLst/>
              </a:rPr>
              <a:t> can be compiled with </a:t>
            </a:r>
            <a:r>
              <a:rPr lang="pl-PL" sz="1779" dirty="0">
                <a:effectLst/>
              </a:rPr>
              <a:t>a </a:t>
            </a:r>
            <a:r>
              <a:rPr lang="en-US" sz="1779" dirty="0">
                <a:effectLst/>
              </a:rPr>
              <a:t>bad SLASPEC </a:t>
            </a:r>
            <a:r>
              <a:rPr lang="pl-PL" sz="1779" dirty="0">
                <a:effectLst/>
              </a:rPr>
              <a:t>if</a:t>
            </a:r>
            <a:r>
              <a:rPr lang="en-US" sz="1779" dirty="0">
                <a:effectLst/>
              </a:rPr>
              <a:t> its syntax is correct:</a:t>
            </a:r>
          </a:p>
          <a:p>
            <a:pPr marL="1465143" lvl="2" indent="-457200">
              <a:buFont typeface="Wingdings" panose="05000000000000000000" pitchFamily="2" charset="2"/>
              <a:buChar char="v"/>
            </a:pPr>
            <a:r>
              <a:rPr lang="en-US" sz="1559" dirty="0">
                <a:effectLst/>
              </a:rPr>
              <a:t>Then you will see on runtime if it works, or you will see tons of JAVA exceptions </a:t>
            </a:r>
          </a:p>
          <a:p>
            <a:pPr marL="1465143" lvl="2" indent="-457200">
              <a:buFont typeface="Wingdings" panose="05000000000000000000" pitchFamily="2" charset="2"/>
              <a:buChar char="v"/>
            </a:pPr>
            <a:r>
              <a:rPr lang="en-US" sz="1559" dirty="0">
                <a:effectLst/>
              </a:rPr>
              <a:t>We used “check &amp; try” + “calm down” technique to achieve what we wanted :)</a:t>
            </a:r>
          </a:p>
          <a:p>
            <a:pPr marL="457200" indent="-457200">
              <a:buFont typeface="Wingdings" panose="05000000000000000000" pitchFamily="2" charset="2"/>
              <a:buChar char="v"/>
            </a:pPr>
            <a:endParaRPr lang="en-US" sz="2000" dirty="0">
              <a:effectLst/>
            </a:endParaRPr>
          </a:p>
          <a:p>
            <a:pPr marL="961171" lvl="1" indent="-457200">
              <a:buFont typeface="Wingdings" panose="05000000000000000000" pitchFamily="2" charset="2"/>
              <a:buChar char="v"/>
            </a:pPr>
            <a:endParaRPr lang="en-US" sz="1800" dirty="0">
              <a:effectLst/>
            </a:endParaRPr>
          </a:p>
          <a:p>
            <a:pPr marL="457200" indent="-457200">
              <a:buFont typeface="Wingdings" panose="05000000000000000000" pitchFamily="2" charset="2"/>
              <a:buChar char="v"/>
            </a:pPr>
            <a:endParaRPr lang="en-US" sz="1979" dirty="0">
              <a:effectLst/>
            </a:endParaRPr>
          </a:p>
        </p:txBody>
      </p:sp>
      <p:pic>
        <p:nvPicPr>
          <p:cNvPr id="7" name="Picture 6">
            <a:extLst>
              <a:ext uri="{FF2B5EF4-FFF2-40B4-BE49-F238E27FC236}">
                <a16:creationId xmlns:a16="http://schemas.microsoft.com/office/drawing/2014/main" id="{9677D7DA-8A34-43C8-A5D5-817968FFF5E2}"/>
              </a:ext>
            </a:extLst>
          </p:cNvPr>
          <p:cNvPicPr>
            <a:picLocks noChangeAspect="1"/>
          </p:cNvPicPr>
          <p:nvPr/>
        </p:nvPicPr>
        <p:blipFill>
          <a:blip r:embed="rId4"/>
          <a:stretch>
            <a:fillRect/>
          </a:stretch>
        </p:blipFill>
        <p:spPr>
          <a:xfrm>
            <a:off x="3164615" y="1185418"/>
            <a:ext cx="5750104" cy="849808"/>
          </a:xfrm>
          <a:prstGeom prst="rect">
            <a:avLst/>
          </a:prstGeom>
        </p:spPr>
      </p:pic>
      <p:sp>
        <p:nvSpPr>
          <p:cNvPr id="9" name="Rectangle 8">
            <a:extLst>
              <a:ext uri="{FF2B5EF4-FFF2-40B4-BE49-F238E27FC236}">
                <a16:creationId xmlns:a16="http://schemas.microsoft.com/office/drawing/2014/main" id="{BBE4C6A3-C1FB-474B-99A8-DC5ED3E3C794}"/>
              </a:ext>
            </a:extLst>
          </p:cNvPr>
          <p:cNvSpPr/>
          <p:nvPr/>
        </p:nvSpPr>
        <p:spPr>
          <a:xfrm>
            <a:off x="3163330" y="1181306"/>
            <a:ext cx="5751389" cy="8539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2CCA501-BDE6-4D1C-BE27-C6F802CFC2E5}"/>
              </a:ext>
            </a:extLst>
          </p:cNvPr>
          <p:cNvPicPr>
            <a:picLocks noChangeAspect="1"/>
          </p:cNvPicPr>
          <p:nvPr/>
        </p:nvPicPr>
        <p:blipFill>
          <a:blip r:embed="rId5"/>
          <a:stretch>
            <a:fillRect/>
          </a:stretch>
        </p:blipFill>
        <p:spPr>
          <a:xfrm>
            <a:off x="387985" y="1049735"/>
            <a:ext cx="1932274" cy="4128899"/>
          </a:xfrm>
          <a:prstGeom prst="rect">
            <a:avLst/>
          </a:prstGeom>
        </p:spPr>
      </p:pic>
      <p:sp>
        <p:nvSpPr>
          <p:cNvPr id="13" name="Rectangle 12">
            <a:extLst>
              <a:ext uri="{FF2B5EF4-FFF2-40B4-BE49-F238E27FC236}">
                <a16:creationId xmlns:a16="http://schemas.microsoft.com/office/drawing/2014/main" id="{7D955D8A-89A2-409A-9DC3-AD700D4F31DA}"/>
              </a:ext>
            </a:extLst>
          </p:cNvPr>
          <p:cNvSpPr/>
          <p:nvPr/>
        </p:nvSpPr>
        <p:spPr>
          <a:xfrm>
            <a:off x="387984" y="1049735"/>
            <a:ext cx="1932275" cy="41288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E38CBAF-1A56-4444-AB5C-DD83E175C054}"/>
              </a:ext>
            </a:extLst>
          </p:cNvPr>
          <p:cNvPicPr>
            <a:picLocks noChangeAspect="1"/>
          </p:cNvPicPr>
          <p:nvPr/>
        </p:nvPicPr>
        <p:blipFill>
          <a:blip r:embed="rId6"/>
          <a:stretch>
            <a:fillRect/>
          </a:stretch>
        </p:blipFill>
        <p:spPr>
          <a:xfrm>
            <a:off x="2748143" y="2482480"/>
            <a:ext cx="6391704" cy="1561739"/>
          </a:xfrm>
          <a:prstGeom prst="rect">
            <a:avLst/>
          </a:prstGeom>
        </p:spPr>
      </p:pic>
      <p:sp>
        <p:nvSpPr>
          <p:cNvPr id="15" name="Rectangle 14">
            <a:extLst>
              <a:ext uri="{FF2B5EF4-FFF2-40B4-BE49-F238E27FC236}">
                <a16:creationId xmlns:a16="http://schemas.microsoft.com/office/drawing/2014/main" id="{E0DA2923-5720-4C84-A1D0-908A34BE5154}"/>
              </a:ext>
            </a:extLst>
          </p:cNvPr>
          <p:cNvSpPr/>
          <p:nvPr/>
        </p:nvSpPr>
        <p:spPr>
          <a:xfrm>
            <a:off x="2743200" y="2494391"/>
            <a:ext cx="6395857" cy="15437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241C95D-2CCD-4EE4-903D-F64883310C60}"/>
              </a:ext>
            </a:extLst>
          </p:cNvPr>
          <p:cNvPicPr>
            <a:picLocks noChangeAspect="1"/>
          </p:cNvPicPr>
          <p:nvPr/>
        </p:nvPicPr>
        <p:blipFill>
          <a:blip r:embed="rId7"/>
          <a:stretch>
            <a:fillRect/>
          </a:stretch>
        </p:blipFill>
        <p:spPr>
          <a:xfrm>
            <a:off x="-1" y="5334543"/>
            <a:ext cx="10080625" cy="904560"/>
          </a:xfrm>
          <a:prstGeom prst="rect">
            <a:avLst/>
          </a:prstGeom>
        </p:spPr>
      </p:pic>
      <p:sp>
        <p:nvSpPr>
          <p:cNvPr id="6" name="Rectangle 5">
            <a:extLst>
              <a:ext uri="{FF2B5EF4-FFF2-40B4-BE49-F238E27FC236}">
                <a16:creationId xmlns:a16="http://schemas.microsoft.com/office/drawing/2014/main" id="{F82BD3B5-F500-4659-98E8-A9BEE9E14855}"/>
              </a:ext>
            </a:extLst>
          </p:cNvPr>
          <p:cNvSpPr/>
          <p:nvPr/>
        </p:nvSpPr>
        <p:spPr>
          <a:xfrm>
            <a:off x="0" y="5318348"/>
            <a:ext cx="10080625" cy="9292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4A51541-65B1-4F04-9112-C4F2E3002F8B}"/>
              </a:ext>
            </a:extLst>
          </p:cNvPr>
          <p:cNvPicPr>
            <a:picLocks noChangeAspect="1"/>
          </p:cNvPicPr>
          <p:nvPr/>
        </p:nvPicPr>
        <p:blipFill>
          <a:blip r:embed="rId8"/>
          <a:stretch>
            <a:fillRect/>
          </a:stretch>
        </p:blipFill>
        <p:spPr>
          <a:xfrm>
            <a:off x="764350" y="6029239"/>
            <a:ext cx="8943975" cy="1314450"/>
          </a:xfrm>
          <a:prstGeom prst="rect">
            <a:avLst/>
          </a:prstGeom>
        </p:spPr>
      </p:pic>
      <p:sp>
        <p:nvSpPr>
          <p:cNvPr id="11" name="Rectangle 10">
            <a:extLst>
              <a:ext uri="{FF2B5EF4-FFF2-40B4-BE49-F238E27FC236}">
                <a16:creationId xmlns:a16="http://schemas.microsoft.com/office/drawing/2014/main" id="{00CBA945-0E6D-4F9A-BD71-A00A7CAE578D}"/>
              </a:ext>
            </a:extLst>
          </p:cNvPr>
          <p:cNvSpPr/>
          <p:nvPr/>
        </p:nvSpPr>
        <p:spPr>
          <a:xfrm>
            <a:off x="764350" y="6029239"/>
            <a:ext cx="8943975" cy="1314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60C5D482-77CF-4CA7-B4E5-4B603A890178}"/>
              </a:ext>
            </a:extLst>
          </p:cNvPr>
          <p:cNvPicPr>
            <a:picLocks noChangeAspect="1"/>
          </p:cNvPicPr>
          <p:nvPr/>
        </p:nvPicPr>
        <p:blipFill>
          <a:blip r:embed="rId9"/>
          <a:stretch>
            <a:fillRect/>
          </a:stretch>
        </p:blipFill>
        <p:spPr>
          <a:xfrm>
            <a:off x="0" y="1350572"/>
            <a:ext cx="10080625" cy="4858531"/>
          </a:xfrm>
          <a:prstGeom prst="rect">
            <a:avLst/>
          </a:prstGeom>
        </p:spPr>
      </p:pic>
      <p:sp>
        <p:nvSpPr>
          <p:cNvPr id="17" name="Rectangle 16">
            <a:extLst>
              <a:ext uri="{FF2B5EF4-FFF2-40B4-BE49-F238E27FC236}">
                <a16:creationId xmlns:a16="http://schemas.microsoft.com/office/drawing/2014/main" id="{16D3A774-C7F1-47D6-B1F3-54086A7BC9C7}"/>
              </a:ext>
            </a:extLst>
          </p:cNvPr>
          <p:cNvSpPr/>
          <p:nvPr/>
        </p:nvSpPr>
        <p:spPr>
          <a:xfrm>
            <a:off x="-1" y="1350571"/>
            <a:ext cx="10080626" cy="4822865"/>
          </a:xfrm>
          <a:prstGeom prst="rect">
            <a:avLst/>
          </a:prstGeom>
          <a:noFill/>
          <a:ln w="5715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91411631-8D28-4277-8D68-ED8ED1244BE5}"/>
              </a:ext>
            </a:extLst>
          </p:cNvPr>
          <p:cNvSpPr/>
          <p:nvPr/>
        </p:nvSpPr>
        <p:spPr>
          <a:xfrm>
            <a:off x="5768134" y="3815766"/>
            <a:ext cx="652437" cy="27780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7593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59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4336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2200" dirty="0">
                <a:effectLst/>
              </a:rPr>
              <a:t>What to look for?</a:t>
            </a:r>
            <a:endParaRPr lang="en-US" sz="2200" dirty="0">
              <a:effectLst/>
            </a:endParaRPr>
          </a:p>
          <a:p>
            <a:pPr marL="961171" lvl="1" indent="-457200">
              <a:buFont typeface="Wingdings" panose="05000000000000000000" pitchFamily="2" charset="2"/>
              <a:buChar char="v"/>
            </a:pPr>
            <a:r>
              <a:rPr lang="pl-PL" sz="1800" dirty="0">
                <a:effectLst/>
              </a:rPr>
              <a:t>SPARK limits what we could hunt for...</a:t>
            </a:r>
          </a:p>
          <a:p>
            <a:pPr marL="961171" lvl="1" indent="-457200">
              <a:buFont typeface="Wingdings" panose="05000000000000000000" pitchFamily="2" charset="2"/>
              <a:buChar char="v"/>
            </a:pPr>
            <a:r>
              <a:rPr lang="pl-PL" sz="1800" dirty="0">
                <a:effectLst/>
              </a:rPr>
              <a:t>We focused on the design and how HW </a:t>
            </a:r>
            <a:r>
              <a:rPr lang="en-US" sz="1800" dirty="0">
                <a:effectLst/>
              </a:rPr>
              <a:t>is </a:t>
            </a:r>
            <a:r>
              <a:rPr lang="pl-PL" sz="1800" dirty="0">
                <a:effectLst/>
              </a:rPr>
              <a:t>modeled</a:t>
            </a:r>
            <a:endParaRPr lang="en-US" sz="1800" dirty="0">
              <a:effectLst/>
            </a:endParaRPr>
          </a:p>
          <a:p>
            <a:pPr marL="457200" indent="-457200">
              <a:buFont typeface="Wingdings" panose="05000000000000000000" pitchFamily="2" charset="2"/>
              <a:buChar char="v"/>
            </a:pPr>
            <a:r>
              <a:rPr lang="pl-PL" sz="2200" dirty="0">
                <a:effectLst/>
              </a:rPr>
              <a:t>We saw the very first instructions configuring the HW...</a:t>
            </a:r>
            <a:endParaRPr lang="en-US" sz="2200" dirty="0">
              <a:effectLst/>
            </a:endParaRPr>
          </a:p>
          <a:p>
            <a:pPr marL="961171" lvl="1" indent="-457200">
              <a:buFont typeface="Wingdings" panose="05000000000000000000" pitchFamily="2" charset="2"/>
              <a:buChar char="v"/>
            </a:pPr>
            <a:r>
              <a:rPr lang="pl-PL" sz="1800" dirty="0">
                <a:effectLst/>
              </a:rPr>
              <a:t>... and later setting up the MTVEC value</a:t>
            </a:r>
            <a:endParaRPr lang="en-US" sz="1800" dirty="0">
              <a:effectLst/>
            </a:endParaRPr>
          </a:p>
          <a:p>
            <a:pPr marL="457200" indent="-457200">
              <a:buFont typeface="Wingdings" panose="05000000000000000000" pitchFamily="2" charset="2"/>
              <a:buChar char="v"/>
            </a:pPr>
            <a:r>
              <a:rPr lang="pl-PL" sz="1979" dirty="0">
                <a:effectLst/>
              </a:rPr>
              <a:t>What is MTVEC?</a:t>
            </a:r>
          </a:p>
          <a:p>
            <a:pPr marL="961171" lvl="1" indent="-457200">
              <a:buFont typeface="Wingdings" panose="05000000000000000000" pitchFamily="2" charset="2"/>
              <a:buChar char="v"/>
            </a:pPr>
            <a:r>
              <a:rPr lang="pl-PL" sz="1758" dirty="0">
                <a:effectLst/>
              </a:rPr>
              <a:t>Official RISC-V documentation </a:t>
            </a:r>
            <a:r>
              <a:rPr lang="en-US" sz="1758" dirty="0">
                <a:effectLst/>
              </a:rPr>
              <a:t>defines MTVEC register as a read-only or read/write register that holds the BASE address of the M-mode trap vector</a:t>
            </a:r>
            <a:endParaRPr lang="pl-PL" sz="1758" dirty="0">
              <a:effectLst/>
            </a:endParaRPr>
          </a:p>
          <a:p>
            <a:pPr marL="961171" lvl="1" indent="-457200">
              <a:buFont typeface="Wingdings" panose="05000000000000000000" pitchFamily="2" charset="2"/>
              <a:buChar char="v"/>
            </a:pPr>
            <a:r>
              <a:rPr lang="en-US" sz="1758" dirty="0">
                <a:effectLst/>
              </a:rPr>
              <a:t>By default, RISC-V handles all traps at any privilege level in machine mode (though a machine-mode handler might redirect traps back to the appropriate level</a:t>
            </a:r>
            <a:r>
              <a:rPr lang="pl-PL" sz="1758" dirty="0">
                <a:effectLst/>
              </a:rPr>
              <a:t>)</a:t>
            </a:r>
          </a:p>
          <a:p>
            <a:pPr marL="961171" lvl="1" indent="-457200">
              <a:buFont typeface="Wingdings" panose="05000000000000000000" pitchFamily="2" charset="2"/>
              <a:buChar char="v"/>
            </a:pPr>
            <a:r>
              <a:rPr lang="en-US" sz="1758" dirty="0">
                <a:effectLst/>
              </a:rPr>
              <a:t>When trap arrives, RISC-V switches to the machine mode and sets the instruction pointer counter (pc) register to the value configured in MTVEC. </a:t>
            </a:r>
            <a:endParaRPr lang="pl-PL" sz="1758" dirty="0">
              <a:effectLst/>
            </a:endParaRP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214310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43360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2200" dirty="0">
                <a:effectLst/>
              </a:rPr>
              <a:t>What to look for?</a:t>
            </a:r>
            <a:endParaRPr lang="en-US" sz="2200" dirty="0">
              <a:effectLst/>
            </a:endParaRPr>
          </a:p>
          <a:p>
            <a:pPr marL="961171" lvl="1" indent="-457200">
              <a:buFont typeface="Wingdings" panose="05000000000000000000" pitchFamily="2" charset="2"/>
              <a:buChar char="v"/>
            </a:pPr>
            <a:r>
              <a:rPr lang="pl-PL" sz="1800" dirty="0">
                <a:effectLst/>
              </a:rPr>
              <a:t>SPARK limits what we could hunt for...</a:t>
            </a:r>
          </a:p>
          <a:p>
            <a:pPr marL="961171" lvl="1" indent="-457200">
              <a:buFont typeface="Wingdings" panose="05000000000000000000" pitchFamily="2" charset="2"/>
              <a:buChar char="v"/>
            </a:pPr>
            <a:r>
              <a:rPr lang="pl-PL" sz="1800" dirty="0">
                <a:effectLst/>
              </a:rPr>
              <a:t>We focused on the design and how is HW modeled</a:t>
            </a:r>
            <a:endParaRPr lang="en-US" sz="1800" dirty="0">
              <a:effectLst/>
            </a:endParaRPr>
          </a:p>
          <a:p>
            <a:pPr marL="457200" indent="-457200">
              <a:buFont typeface="Wingdings" panose="05000000000000000000" pitchFamily="2" charset="2"/>
              <a:buChar char="v"/>
            </a:pPr>
            <a:r>
              <a:rPr lang="pl-PL" sz="2200" dirty="0">
                <a:effectLst/>
              </a:rPr>
              <a:t>We saw the very first instructions configuring the HW...</a:t>
            </a:r>
            <a:endParaRPr lang="en-US" sz="2200" dirty="0">
              <a:effectLst/>
            </a:endParaRPr>
          </a:p>
          <a:p>
            <a:pPr marL="961171" lvl="1" indent="-457200">
              <a:buFont typeface="Wingdings" panose="05000000000000000000" pitchFamily="2" charset="2"/>
              <a:buChar char="v"/>
            </a:pPr>
            <a:r>
              <a:rPr lang="pl-PL" sz="1800" dirty="0">
                <a:effectLst/>
              </a:rPr>
              <a:t>... and later setting up the MTVEC value</a:t>
            </a:r>
            <a:endParaRPr lang="en-US" sz="1800" dirty="0">
              <a:effectLst/>
            </a:endParaRPr>
          </a:p>
          <a:p>
            <a:pPr marL="457200" indent="-457200">
              <a:buFont typeface="Wingdings" panose="05000000000000000000" pitchFamily="2" charset="2"/>
              <a:buChar char="v"/>
            </a:pPr>
            <a:r>
              <a:rPr lang="pl-PL" sz="1979" dirty="0">
                <a:effectLst/>
              </a:rPr>
              <a:t>What is MTVEC?</a:t>
            </a:r>
          </a:p>
          <a:p>
            <a:pPr marL="961171" lvl="1" indent="-457200">
              <a:buFont typeface="Wingdings" panose="05000000000000000000" pitchFamily="2" charset="2"/>
              <a:buChar char="v"/>
            </a:pPr>
            <a:r>
              <a:rPr lang="pl-PL" sz="1758" dirty="0">
                <a:effectLst/>
              </a:rPr>
              <a:t>Official RISC-V documentation </a:t>
            </a:r>
            <a:r>
              <a:rPr lang="en-US" sz="1758" dirty="0">
                <a:effectLst/>
              </a:rPr>
              <a:t>defines MTVEC register as a read-only or read/write register that holds the BASE address of the M-mode trap vector</a:t>
            </a:r>
            <a:endParaRPr lang="pl-PL" sz="1758" dirty="0">
              <a:effectLst/>
            </a:endParaRPr>
          </a:p>
          <a:p>
            <a:pPr marL="961171" lvl="1" indent="-457200">
              <a:buFont typeface="Wingdings" panose="05000000000000000000" pitchFamily="2" charset="2"/>
              <a:buChar char="v"/>
            </a:pPr>
            <a:r>
              <a:rPr lang="en-US" sz="1758" dirty="0">
                <a:effectLst/>
              </a:rPr>
              <a:t>By default, RISC-V handles all traps at any privilege level in machine mode (though a machine-mode handler might redirect traps back to the appropriate level</a:t>
            </a:r>
            <a:r>
              <a:rPr lang="pl-PL" sz="1758" dirty="0">
                <a:effectLst/>
              </a:rPr>
              <a:t>)</a:t>
            </a:r>
          </a:p>
          <a:p>
            <a:pPr marL="961171" lvl="1" indent="-457200">
              <a:buFont typeface="Wingdings" panose="05000000000000000000" pitchFamily="2" charset="2"/>
              <a:buChar char="v"/>
            </a:pPr>
            <a:r>
              <a:rPr lang="en-US" sz="1758" dirty="0">
                <a:effectLst/>
              </a:rPr>
              <a:t>When trap arrives, RISC-V switches to the machine mode and sets the instruction pointer counter (pc) register to the value configured in MTVEC. </a:t>
            </a:r>
            <a:endParaRPr lang="pl-PL" sz="1758" dirty="0">
              <a:effectLst/>
            </a:endParaRPr>
          </a:p>
          <a:p>
            <a:pPr marL="457200" indent="-457200">
              <a:buFont typeface="Wingdings" panose="05000000000000000000" pitchFamily="2" charset="2"/>
              <a:buChar char="v"/>
            </a:pPr>
            <a:endParaRPr lang="en-US" sz="1979" dirty="0">
              <a:effectLst/>
            </a:endParaRPr>
          </a:p>
        </p:txBody>
      </p:sp>
      <p:pic>
        <p:nvPicPr>
          <p:cNvPr id="5" name="Picture 4">
            <a:extLst>
              <a:ext uri="{FF2B5EF4-FFF2-40B4-BE49-F238E27FC236}">
                <a16:creationId xmlns:a16="http://schemas.microsoft.com/office/drawing/2014/main" id="{78C8A997-5D4B-4681-9D58-77130CDFC22F}"/>
              </a:ext>
            </a:extLst>
          </p:cNvPr>
          <p:cNvPicPr>
            <a:picLocks noChangeAspect="1"/>
          </p:cNvPicPr>
          <p:nvPr/>
        </p:nvPicPr>
        <p:blipFill>
          <a:blip r:embed="rId3"/>
          <a:stretch>
            <a:fillRect/>
          </a:stretch>
        </p:blipFill>
        <p:spPr>
          <a:xfrm>
            <a:off x="1280161" y="0"/>
            <a:ext cx="7117580" cy="6117469"/>
          </a:xfrm>
          <a:prstGeom prst="rect">
            <a:avLst/>
          </a:prstGeom>
        </p:spPr>
      </p:pic>
      <p:sp>
        <p:nvSpPr>
          <p:cNvPr id="6" name="Rectangle 5">
            <a:extLst>
              <a:ext uri="{FF2B5EF4-FFF2-40B4-BE49-F238E27FC236}">
                <a16:creationId xmlns:a16="http://schemas.microsoft.com/office/drawing/2014/main" id="{C6AFF659-4E09-434D-8407-DBAA37A6628A}"/>
              </a:ext>
            </a:extLst>
          </p:cNvPr>
          <p:cNvSpPr/>
          <p:nvPr/>
        </p:nvSpPr>
        <p:spPr>
          <a:xfrm>
            <a:off x="1280161" y="0"/>
            <a:ext cx="7117580" cy="611746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6565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9401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2200" dirty="0">
                <a:effectLst/>
              </a:rPr>
              <a:t>What to look for?</a:t>
            </a:r>
            <a:endParaRPr lang="en-US" sz="2200" dirty="0">
              <a:effectLst/>
            </a:endParaRPr>
          </a:p>
          <a:p>
            <a:pPr marL="961171" lvl="1" indent="-457200">
              <a:buFont typeface="Wingdings" panose="05000000000000000000" pitchFamily="2" charset="2"/>
              <a:buChar char="v"/>
            </a:pPr>
            <a:r>
              <a:rPr lang="pl-PL" sz="1800" dirty="0">
                <a:effectLst/>
              </a:rPr>
              <a:t>SPARK limits what we could hunt for...</a:t>
            </a:r>
          </a:p>
          <a:p>
            <a:pPr marL="961171" lvl="1" indent="-457200">
              <a:buFont typeface="Wingdings" panose="05000000000000000000" pitchFamily="2" charset="2"/>
              <a:buChar char="v"/>
            </a:pPr>
            <a:r>
              <a:rPr lang="pl-PL" sz="1800" dirty="0">
                <a:effectLst/>
              </a:rPr>
              <a:t>We focused on the design and how is HW modeled</a:t>
            </a:r>
            <a:endParaRPr lang="en-US" sz="1800" dirty="0">
              <a:effectLst/>
            </a:endParaRPr>
          </a:p>
          <a:p>
            <a:pPr marL="457200" indent="-457200">
              <a:buFont typeface="Wingdings" panose="05000000000000000000" pitchFamily="2" charset="2"/>
              <a:buChar char="v"/>
            </a:pPr>
            <a:r>
              <a:rPr lang="pl-PL" sz="2200" dirty="0">
                <a:effectLst/>
              </a:rPr>
              <a:t>We saw the very first instructions configuring the HW...</a:t>
            </a:r>
            <a:endParaRPr lang="en-US" sz="2200" dirty="0">
              <a:effectLst/>
            </a:endParaRPr>
          </a:p>
          <a:p>
            <a:pPr marL="961171" lvl="1" indent="-457200">
              <a:buFont typeface="Wingdings" panose="05000000000000000000" pitchFamily="2" charset="2"/>
              <a:buChar char="v"/>
            </a:pPr>
            <a:r>
              <a:rPr lang="pl-PL" sz="1800" dirty="0">
                <a:effectLst/>
              </a:rPr>
              <a:t>... and later setting up the MTVEC value</a:t>
            </a:r>
            <a:endParaRPr lang="en-US" sz="1800" dirty="0">
              <a:effectLst/>
            </a:endParaRPr>
          </a:p>
          <a:p>
            <a:pPr marL="457200" indent="-457200">
              <a:buFont typeface="Wingdings" panose="05000000000000000000" pitchFamily="2" charset="2"/>
              <a:buChar char="v"/>
            </a:pPr>
            <a:r>
              <a:rPr lang="pl-PL" sz="1979" dirty="0">
                <a:effectLst/>
              </a:rPr>
              <a:t>What is MTVEC?</a:t>
            </a:r>
          </a:p>
          <a:p>
            <a:pPr marL="961171" lvl="1" indent="-457200">
              <a:buFont typeface="Wingdings" panose="05000000000000000000" pitchFamily="2" charset="2"/>
              <a:buChar char="v"/>
            </a:pPr>
            <a:r>
              <a:rPr lang="pl-PL" sz="1758" dirty="0">
                <a:effectLst/>
              </a:rPr>
              <a:t>Official RISC-V documentation </a:t>
            </a:r>
            <a:r>
              <a:rPr lang="en-US" sz="1758" dirty="0">
                <a:effectLst/>
              </a:rPr>
              <a:t>defines MTVEC register as a read-only or read/write register that holds the BASE address of the M-mode trap vector</a:t>
            </a:r>
            <a:endParaRPr lang="pl-PL" sz="1758" dirty="0">
              <a:effectLst/>
            </a:endParaRPr>
          </a:p>
          <a:p>
            <a:pPr marL="961171" lvl="1" indent="-457200">
              <a:buFont typeface="Wingdings" panose="05000000000000000000" pitchFamily="2" charset="2"/>
              <a:buChar char="v"/>
            </a:pPr>
            <a:r>
              <a:rPr lang="en-US" sz="1758" dirty="0">
                <a:effectLst/>
              </a:rPr>
              <a:t>By default, RISC-V handles all traps at any privilege level in machine mode (though a machine-mode handler might redirect traps back to the appropriate level</a:t>
            </a:r>
            <a:r>
              <a:rPr lang="pl-PL" sz="1758" dirty="0">
                <a:effectLst/>
              </a:rPr>
              <a:t>)</a:t>
            </a:r>
          </a:p>
          <a:p>
            <a:pPr marL="961171" lvl="1" indent="-457200">
              <a:buFont typeface="Wingdings" panose="05000000000000000000" pitchFamily="2" charset="2"/>
              <a:buChar char="v"/>
            </a:pPr>
            <a:r>
              <a:rPr lang="en-US" sz="1758" dirty="0">
                <a:effectLst/>
              </a:rPr>
              <a:t>When trap arrives, RISC-V switches to the machine mode and sets the instruction pointer counter (pc) register to the value configured in MTVEC. </a:t>
            </a:r>
            <a:endParaRPr lang="pl-PL" sz="1758" dirty="0">
              <a:effectLst/>
            </a:endParaRPr>
          </a:p>
          <a:p>
            <a:pPr marL="457200" indent="-457200">
              <a:buFont typeface="Wingdings" panose="05000000000000000000" pitchFamily="2" charset="2"/>
              <a:buChar char="v"/>
            </a:pPr>
            <a:endParaRPr lang="pl-PL" sz="1979" dirty="0">
              <a:solidFill>
                <a:srgbClr val="FFC000"/>
              </a:solidFill>
              <a:effectLst/>
            </a:endParaRPr>
          </a:p>
          <a:p>
            <a:pPr marL="457200" indent="-457200">
              <a:buFont typeface="Wingdings" panose="05000000000000000000" pitchFamily="2" charset="2"/>
              <a:buChar char="v"/>
            </a:pPr>
            <a:r>
              <a:rPr lang="pl-PL" sz="1979" dirty="0">
                <a:solidFill>
                  <a:srgbClr val="FFC000"/>
                </a:solidFill>
                <a:effectLst/>
              </a:rPr>
              <a:t>What will happen if any interrupt arrives </a:t>
            </a:r>
            <a:r>
              <a:rPr lang="pl-PL" sz="1979" dirty="0">
                <a:solidFill>
                  <a:srgbClr val="FF0000"/>
                </a:solidFill>
                <a:effectLst/>
              </a:rPr>
              <a:t>before</a:t>
            </a:r>
            <a:r>
              <a:rPr lang="pl-PL" sz="1979" dirty="0">
                <a:solidFill>
                  <a:srgbClr val="FFC000"/>
                </a:solidFill>
                <a:effectLst/>
              </a:rPr>
              <a:t> MTVEC is </a:t>
            </a:r>
            <a:r>
              <a:rPr lang="pl-PL" sz="1979" dirty="0">
                <a:solidFill>
                  <a:srgbClr val="FF0000"/>
                </a:solidFill>
                <a:effectLst/>
              </a:rPr>
              <a:t>initialized</a:t>
            </a:r>
            <a:r>
              <a:rPr lang="pl-PL" sz="1979" dirty="0">
                <a:solidFill>
                  <a:srgbClr val="FFC000"/>
                </a:solidFill>
                <a:effectLst/>
              </a:rPr>
              <a:t>?</a:t>
            </a:r>
            <a:endParaRPr lang="en-US" sz="1979" dirty="0">
              <a:solidFill>
                <a:srgbClr val="FFC000"/>
              </a:solidFill>
              <a:effectLst/>
            </a:endParaRPr>
          </a:p>
        </p:txBody>
      </p:sp>
      <p:pic>
        <p:nvPicPr>
          <p:cNvPr id="5" name="Picture 4">
            <a:extLst>
              <a:ext uri="{FF2B5EF4-FFF2-40B4-BE49-F238E27FC236}">
                <a16:creationId xmlns:a16="http://schemas.microsoft.com/office/drawing/2014/main" id="{78C8A997-5D4B-4681-9D58-77130CDFC22F}"/>
              </a:ext>
            </a:extLst>
          </p:cNvPr>
          <p:cNvPicPr>
            <a:picLocks noChangeAspect="1"/>
          </p:cNvPicPr>
          <p:nvPr/>
        </p:nvPicPr>
        <p:blipFill>
          <a:blip r:embed="rId3"/>
          <a:stretch>
            <a:fillRect/>
          </a:stretch>
        </p:blipFill>
        <p:spPr>
          <a:xfrm>
            <a:off x="1280161" y="0"/>
            <a:ext cx="7117580" cy="6117469"/>
          </a:xfrm>
          <a:prstGeom prst="rect">
            <a:avLst/>
          </a:prstGeom>
        </p:spPr>
      </p:pic>
      <p:sp>
        <p:nvSpPr>
          <p:cNvPr id="6" name="Rectangle 5">
            <a:extLst>
              <a:ext uri="{FF2B5EF4-FFF2-40B4-BE49-F238E27FC236}">
                <a16:creationId xmlns:a16="http://schemas.microsoft.com/office/drawing/2014/main" id="{C6AFF659-4E09-434D-8407-DBAA37A6628A}"/>
              </a:ext>
            </a:extLst>
          </p:cNvPr>
          <p:cNvSpPr/>
          <p:nvPr/>
        </p:nvSpPr>
        <p:spPr>
          <a:xfrm>
            <a:off x="1280161" y="0"/>
            <a:ext cx="7117580" cy="611746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1433645-832D-416E-8411-7DB4421B9FAF}"/>
              </a:ext>
            </a:extLst>
          </p:cNvPr>
          <p:cNvPicPr>
            <a:picLocks/>
          </p:cNvPicPr>
          <p:nvPr/>
        </p:nvPicPr>
        <p:blipFill>
          <a:blip r:embed="rId4"/>
          <a:stretch>
            <a:fillRect/>
          </a:stretch>
        </p:blipFill>
        <p:spPr>
          <a:xfrm>
            <a:off x="2471351" y="627638"/>
            <a:ext cx="4954089" cy="4954089"/>
          </a:xfrm>
          <a:prstGeom prst="rect">
            <a:avLst/>
          </a:prstGeom>
        </p:spPr>
      </p:pic>
      <p:cxnSp>
        <p:nvCxnSpPr>
          <p:cNvPr id="9" name="Connector: Elbow 8">
            <a:extLst>
              <a:ext uri="{FF2B5EF4-FFF2-40B4-BE49-F238E27FC236}">
                <a16:creationId xmlns:a16="http://schemas.microsoft.com/office/drawing/2014/main" id="{8310F42A-ED34-474D-831D-69ED95A68CF4}"/>
              </a:ext>
            </a:extLst>
          </p:cNvPr>
          <p:cNvCxnSpPr>
            <a:stCxn id="3" idx="0"/>
          </p:cNvCxnSpPr>
          <p:nvPr/>
        </p:nvCxnSpPr>
        <p:spPr>
          <a:xfrm rot="16200000" flipH="1" flipV="1">
            <a:off x="-19438" y="1724584"/>
            <a:ext cx="6064781" cy="3870887"/>
          </a:xfrm>
          <a:prstGeom prst="bentConnector3">
            <a:avLst>
              <a:gd name="adj1" fmla="val -376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9610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713808"/>
          </a:xfrm>
          <a:prstGeom prst="rect">
            <a:avLst/>
          </a:prstGeom>
        </p:spPr>
        <p:txBody>
          <a:bodyPr vert="horz" wrap="square" lIns="91440" tIns="45720" rIns="91440" bIns="45720" rtlCol="0" anchor="t">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RISC-V MTVEC register specifications </a:t>
            </a:r>
            <a:r>
              <a:rPr lang="en-US" sz="1800" dirty="0">
                <a:solidFill>
                  <a:srgbClr val="FF0000"/>
                </a:solidFill>
                <a:effectLst/>
              </a:rPr>
              <a:t>does not define </a:t>
            </a:r>
            <a:r>
              <a:rPr lang="en-US" sz="1800" dirty="0">
                <a:effectLst/>
              </a:rPr>
              <a:t>the initial value at all (undefined)</a:t>
            </a:r>
            <a:r>
              <a:rPr lang="pl-PL" sz="1800" dirty="0">
                <a:effectLst/>
              </a:rPr>
              <a:t> </a:t>
            </a:r>
          </a:p>
          <a:p>
            <a:pPr marL="457200" indent="-457200">
              <a:buFont typeface="Wingdings" panose="05000000000000000000" pitchFamily="2" charset="2"/>
              <a:buChar char="v"/>
            </a:pPr>
            <a:r>
              <a:rPr lang="en-US" sz="1800" dirty="0">
                <a:effectLst/>
              </a:rPr>
              <a:t>We observed when the CPU starts, MTVEC is undefined by the standard though </a:t>
            </a:r>
            <a:r>
              <a:rPr lang="en-US" sz="1800" dirty="0">
                <a:solidFill>
                  <a:srgbClr val="FFC000"/>
                </a:solidFill>
                <a:effectLst/>
              </a:rPr>
              <a:t>most of the tested implementations set it to 0</a:t>
            </a:r>
            <a:endParaRPr lang="pl-PL" sz="1800" dirty="0">
              <a:solidFill>
                <a:srgbClr val="FFC000"/>
              </a:solidFill>
              <a:effectLst/>
            </a:endParaRPr>
          </a:p>
          <a:p>
            <a:pPr marL="457200" indent="-457200">
              <a:buFont typeface="Wingdings" panose="05000000000000000000" pitchFamily="2" charset="2"/>
              <a:buChar char="v"/>
            </a:pPr>
            <a:r>
              <a:rPr lang="pl-PL" sz="1800" dirty="0">
                <a:effectLst/>
              </a:rPr>
              <a:t>I</a:t>
            </a:r>
            <a:r>
              <a:rPr lang="en-US" sz="1800" dirty="0">
                <a:effectLst/>
              </a:rPr>
              <a:t>n many implementations 0 is not a valid address (or not mapped) and any reference to it generates an exception</a:t>
            </a:r>
            <a:endParaRPr lang="pl-PL" sz="1800" dirty="0">
              <a:effectLst/>
            </a:endParaRPr>
          </a:p>
          <a:p>
            <a:pPr marL="457200" indent="-457200">
              <a:buFont typeface="Wingdings" panose="05000000000000000000" pitchFamily="2" charset="2"/>
              <a:buChar char="v"/>
            </a:pPr>
            <a:r>
              <a:rPr lang="en-US" sz="1800" dirty="0">
                <a:effectLst/>
              </a:rPr>
              <a:t>If there is any trap/exception generated before initialization of MTVEC register, RISC-V ends up in a very “stable” infinitive exception loop</a:t>
            </a:r>
            <a:endParaRPr lang="pl-PL" sz="1800" dirty="0">
              <a:effectLst/>
            </a:endParaRPr>
          </a:p>
          <a:p>
            <a:pPr marL="960755" lvl="1" indent="-457200">
              <a:buFont typeface="Wingdings" panose="05000000000000000000" pitchFamily="2" charset="2"/>
              <a:buChar char="v"/>
            </a:pPr>
            <a:r>
              <a:rPr lang="en-US" sz="1600" dirty="0">
                <a:effectLst/>
              </a:rPr>
              <a:t>when exception arises, RISC-V reads MTVEC register (NULL value at that time) and tries to jump to the NULL page. This generates an exception again, because it’s a reserved and not accessible memory, and it jumps to MTVEC again, and so on. </a:t>
            </a:r>
            <a:r>
              <a:rPr lang="en-US" sz="1600" dirty="0">
                <a:solidFill>
                  <a:srgbClr val="FF0000"/>
                </a:solidFill>
                <a:effectLst/>
              </a:rPr>
              <a:t>RISC-V is not halted</a:t>
            </a:r>
            <a:r>
              <a:rPr lang="en-US" sz="1600" dirty="0">
                <a:effectLst/>
              </a:rPr>
              <a:t>, it’s just spinning in the infinitive exception loop.</a:t>
            </a:r>
            <a:endParaRPr lang="pl-PL" sz="1600" dirty="0">
              <a:effectLst/>
            </a:endParaRPr>
          </a:p>
          <a:p>
            <a:pPr marL="457200" indent="-457200">
              <a:buFont typeface="Wingdings" panose="05000000000000000000" pitchFamily="2" charset="2"/>
              <a:buChar char="v"/>
            </a:pPr>
            <a:r>
              <a:rPr lang="en-US" sz="1800" u="sng" dirty="0">
                <a:effectLst/>
              </a:rPr>
              <a:t>Such state is an ideal situation for a </a:t>
            </a:r>
            <a:r>
              <a:rPr lang="en-US" sz="1800" u="sng" dirty="0">
                <a:solidFill>
                  <a:srgbClr val="FFC000"/>
                </a:solidFill>
                <a:effectLst/>
              </a:rPr>
              <a:t>fault injection (glitching) attack</a:t>
            </a:r>
            <a:r>
              <a:rPr lang="en-US" sz="1800" dirty="0">
                <a:effectLst/>
              </a:rPr>
              <a:t>. RISC-V is running at the </a:t>
            </a:r>
            <a:r>
              <a:rPr lang="en-US" sz="1800" dirty="0">
                <a:solidFill>
                  <a:srgbClr val="FF0000"/>
                </a:solidFill>
                <a:effectLst/>
              </a:rPr>
              <a:t>highest privilege mode</a:t>
            </a:r>
            <a:r>
              <a:rPr lang="en-US" sz="1800" dirty="0">
                <a:effectLst/>
              </a:rPr>
              <a:t> and constantly dereferencing </a:t>
            </a:r>
            <a:r>
              <a:rPr lang="en-US" sz="1800" dirty="0" err="1">
                <a:solidFill>
                  <a:srgbClr val="FFC000"/>
                </a:solidFill>
                <a:effectLst/>
              </a:rPr>
              <a:t>glitchable</a:t>
            </a:r>
            <a:r>
              <a:rPr lang="en-US" sz="1800" dirty="0">
                <a:solidFill>
                  <a:srgbClr val="FFC000"/>
                </a:solidFill>
                <a:effectLst/>
              </a:rPr>
              <a:t> register</a:t>
            </a:r>
            <a:r>
              <a:rPr lang="en-US" sz="1800" dirty="0">
                <a:effectLst/>
              </a:rPr>
              <a:t>.</a:t>
            </a:r>
            <a:endParaRPr lang="pl-PL" sz="1800" dirty="0">
              <a:effectLst/>
            </a:endParaRPr>
          </a:p>
          <a:p>
            <a:pPr marL="457200" indent="-457200">
              <a:buFont typeface="Wingdings" panose="05000000000000000000" pitchFamily="2" charset="2"/>
              <a:buChar char="v"/>
            </a:pPr>
            <a:endParaRPr lang="en-US" sz="1979" dirty="0">
              <a:effectLst/>
            </a:endParaRPr>
          </a:p>
        </p:txBody>
      </p:sp>
    </p:spTree>
    <p:extLst>
      <p:ext uri="{BB962C8B-B14F-4D97-AF65-F5344CB8AC3E}">
        <p14:creationId xmlns:p14="http://schemas.microsoft.com/office/powerpoint/2010/main" val="27172229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713808"/>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RISC-V MTVEC register specifications </a:t>
            </a:r>
            <a:r>
              <a:rPr lang="en-US" sz="1800" dirty="0">
                <a:solidFill>
                  <a:srgbClr val="FF0000"/>
                </a:solidFill>
                <a:effectLst/>
              </a:rPr>
              <a:t>does not define </a:t>
            </a:r>
            <a:r>
              <a:rPr lang="en-US" sz="1800" dirty="0">
                <a:effectLst/>
              </a:rPr>
              <a:t>the initial value at all (undefined)</a:t>
            </a:r>
            <a:r>
              <a:rPr lang="pl-PL" sz="1800" dirty="0">
                <a:effectLst/>
              </a:rPr>
              <a:t> </a:t>
            </a:r>
          </a:p>
          <a:p>
            <a:pPr marL="457200" indent="-457200">
              <a:buFont typeface="Wingdings" panose="05000000000000000000" pitchFamily="2" charset="2"/>
              <a:buChar char="v"/>
            </a:pPr>
            <a:r>
              <a:rPr lang="en-US" sz="1800" dirty="0">
                <a:effectLst/>
              </a:rPr>
              <a:t>We observed when the CPU starts, MTVEC is undefined by the standard though </a:t>
            </a:r>
            <a:r>
              <a:rPr lang="en-US" sz="1800" dirty="0">
                <a:solidFill>
                  <a:srgbClr val="FFC000"/>
                </a:solidFill>
                <a:effectLst/>
              </a:rPr>
              <a:t>most of the tested implementations set it to 0</a:t>
            </a:r>
            <a:endParaRPr lang="pl-PL" sz="1800" dirty="0">
              <a:solidFill>
                <a:srgbClr val="FFC000"/>
              </a:solidFill>
              <a:effectLst/>
            </a:endParaRPr>
          </a:p>
          <a:p>
            <a:pPr marL="457200" indent="-457200">
              <a:buFont typeface="Wingdings" panose="05000000000000000000" pitchFamily="2" charset="2"/>
              <a:buChar char="v"/>
            </a:pPr>
            <a:r>
              <a:rPr lang="pl-PL" sz="1800" dirty="0">
                <a:effectLst/>
              </a:rPr>
              <a:t>I</a:t>
            </a:r>
            <a:r>
              <a:rPr lang="en-US" sz="1800" dirty="0">
                <a:effectLst/>
              </a:rPr>
              <a:t>n many implementations 0 is not a valid address (or not mapped) and any reference to it generates an exception</a:t>
            </a:r>
            <a:endParaRPr lang="pl-PL" sz="1800" dirty="0">
              <a:effectLst/>
            </a:endParaRPr>
          </a:p>
          <a:p>
            <a:pPr marL="457200" indent="-457200">
              <a:buFont typeface="Wingdings" panose="05000000000000000000" pitchFamily="2" charset="2"/>
              <a:buChar char="v"/>
            </a:pPr>
            <a:r>
              <a:rPr lang="en-US" sz="1800" dirty="0">
                <a:effectLst/>
              </a:rPr>
              <a:t>If there is any trap/exception generated before initialization of MTVEC register, RISC-V ends up in a very “stable” infinitive exception loop</a:t>
            </a:r>
            <a:endParaRPr lang="pl-PL" sz="1800" dirty="0">
              <a:effectLst/>
            </a:endParaRPr>
          </a:p>
          <a:p>
            <a:pPr marL="961171" lvl="1" indent="-457200">
              <a:buFont typeface="Wingdings" panose="05000000000000000000" pitchFamily="2" charset="2"/>
              <a:buChar char="v"/>
            </a:pPr>
            <a:r>
              <a:rPr lang="en-US" sz="1600" dirty="0">
                <a:effectLst/>
              </a:rPr>
              <a:t>when exception arises, RISC-V reads MTVEC register (NULL value at that time) and tries to jump to the NULL page. This generates an exception again, because it’s a reserved and not accessible memory, and it jumps to MTVEC again, and so on. </a:t>
            </a:r>
            <a:r>
              <a:rPr lang="en-US" sz="1600" dirty="0">
                <a:solidFill>
                  <a:srgbClr val="FF0000"/>
                </a:solidFill>
                <a:effectLst/>
              </a:rPr>
              <a:t>RISC-V is not halted</a:t>
            </a:r>
            <a:r>
              <a:rPr lang="en-US" sz="1600" dirty="0">
                <a:effectLst/>
              </a:rPr>
              <a:t>, it’s just spinning in the infinitive exception loop.</a:t>
            </a:r>
            <a:endParaRPr lang="pl-PL" sz="1600" dirty="0">
              <a:effectLst/>
            </a:endParaRPr>
          </a:p>
          <a:p>
            <a:pPr marL="457200" indent="-457200">
              <a:buFont typeface="Wingdings" panose="05000000000000000000" pitchFamily="2" charset="2"/>
              <a:buChar char="v"/>
            </a:pPr>
            <a:r>
              <a:rPr lang="en-US" sz="1800" u="sng" dirty="0">
                <a:effectLst/>
              </a:rPr>
              <a:t>Such state is an ideal situation for a </a:t>
            </a:r>
            <a:r>
              <a:rPr lang="en-US" sz="1800" u="sng" dirty="0">
                <a:solidFill>
                  <a:srgbClr val="FFC000"/>
                </a:solidFill>
                <a:effectLst/>
              </a:rPr>
              <a:t>fault injection (glitching) attack</a:t>
            </a:r>
            <a:r>
              <a:rPr lang="en-US" sz="1800" dirty="0">
                <a:effectLst/>
              </a:rPr>
              <a:t>. RISC-V is running at the </a:t>
            </a:r>
            <a:r>
              <a:rPr lang="en-US" sz="1800" dirty="0">
                <a:solidFill>
                  <a:srgbClr val="FF0000"/>
                </a:solidFill>
                <a:effectLst/>
              </a:rPr>
              <a:t>highest privilege mode</a:t>
            </a:r>
            <a:r>
              <a:rPr lang="en-US" sz="1800" dirty="0">
                <a:effectLst/>
              </a:rPr>
              <a:t> and constantly dereferencing </a:t>
            </a:r>
            <a:r>
              <a:rPr lang="en-US" sz="1800" dirty="0" err="1">
                <a:solidFill>
                  <a:srgbClr val="FFC000"/>
                </a:solidFill>
                <a:effectLst/>
              </a:rPr>
              <a:t>glitchable</a:t>
            </a:r>
            <a:r>
              <a:rPr lang="en-US" sz="1800" dirty="0">
                <a:solidFill>
                  <a:srgbClr val="FFC000"/>
                </a:solidFill>
                <a:effectLst/>
              </a:rPr>
              <a:t> register</a:t>
            </a:r>
            <a:r>
              <a:rPr lang="en-US" sz="1800" dirty="0">
                <a:effectLst/>
              </a:rPr>
              <a:t>.</a:t>
            </a:r>
            <a:endParaRPr lang="pl-PL" sz="1800" dirty="0">
              <a:effectLst/>
            </a:endParaRPr>
          </a:p>
          <a:p>
            <a:pPr marL="457200" indent="-457200">
              <a:buFont typeface="Wingdings" panose="05000000000000000000" pitchFamily="2" charset="2"/>
              <a:buChar char="v"/>
            </a:pPr>
            <a:endParaRPr lang="en-US" sz="1979" dirty="0">
              <a:effectLst/>
            </a:endParaRPr>
          </a:p>
        </p:txBody>
      </p:sp>
      <p:sp>
        <p:nvSpPr>
          <p:cNvPr id="5" name="Speech Bubble: Rectangle with Corners Rounded 4">
            <a:extLst>
              <a:ext uri="{FF2B5EF4-FFF2-40B4-BE49-F238E27FC236}">
                <a16:creationId xmlns:a16="http://schemas.microsoft.com/office/drawing/2014/main" id="{ED1BAD71-89B6-4B57-98A6-D22E6B46E2C1}"/>
              </a:ext>
            </a:extLst>
          </p:cNvPr>
          <p:cNvSpPr/>
          <p:nvPr/>
        </p:nvSpPr>
        <p:spPr>
          <a:xfrm>
            <a:off x="2945850" y="1909401"/>
            <a:ext cx="3415408" cy="1433384"/>
          </a:xfrm>
          <a:prstGeom prst="wedgeRoundRectCallout">
            <a:avLst>
              <a:gd name="adj1" fmla="val 35636"/>
              <a:gd name="adj2" fmla="val -82328"/>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pl-PL" dirty="0">
                <a:solidFill>
                  <a:srgbClr val="FFFF00"/>
                </a:solidFill>
              </a:rPr>
              <a:t>First bug:</a:t>
            </a:r>
            <a:br>
              <a:rPr lang="pl-PL" dirty="0"/>
            </a:br>
            <a:r>
              <a:rPr lang="pl-PL" dirty="0"/>
              <a:t>ISA does not define the initial value of MTVEC register</a:t>
            </a:r>
            <a:endParaRPr lang="en-US" dirty="0"/>
          </a:p>
        </p:txBody>
      </p:sp>
    </p:spTree>
    <p:extLst>
      <p:ext uri="{BB962C8B-B14F-4D97-AF65-F5344CB8AC3E}">
        <p14:creationId xmlns:p14="http://schemas.microsoft.com/office/powerpoint/2010/main" val="31054214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Problem with </a:t>
            </a:r>
            <a:r>
              <a:rPr lang="pl-PL" dirty="0">
                <a:solidFill>
                  <a:srgbClr val="C00000"/>
                </a:solidFill>
              </a:rPr>
              <a:t>MTVEC</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326072" y="1105647"/>
            <a:ext cx="9658187" cy="5713808"/>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RISC-V MTVEC register specifications </a:t>
            </a:r>
            <a:r>
              <a:rPr lang="en-US" sz="1800" dirty="0">
                <a:solidFill>
                  <a:srgbClr val="FF0000"/>
                </a:solidFill>
                <a:effectLst/>
              </a:rPr>
              <a:t>does not define </a:t>
            </a:r>
            <a:r>
              <a:rPr lang="en-US" sz="1800" dirty="0">
                <a:effectLst/>
              </a:rPr>
              <a:t>the initial value at all (undefined)</a:t>
            </a:r>
            <a:r>
              <a:rPr lang="pl-PL" sz="1800" dirty="0">
                <a:effectLst/>
              </a:rPr>
              <a:t> </a:t>
            </a:r>
          </a:p>
          <a:p>
            <a:pPr marL="457200" indent="-457200">
              <a:buFont typeface="Wingdings" panose="05000000000000000000" pitchFamily="2" charset="2"/>
              <a:buChar char="v"/>
            </a:pPr>
            <a:r>
              <a:rPr lang="en-US" sz="1800" dirty="0">
                <a:effectLst/>
              </a:rPr>
              <a:t>We observed when the CPU starts, MTVEC is undefined by the standard though </a:t>
            </a:r>
            <a:r>
              <a:rPr lang="en-US" sz="1800" dirty="0">
                <a:solidFill>
                  <a:srgbClr val="FFC000"/>
                </a:solidFill>
                <a:effectLst/>
              </a:rPr>
              <a:t>most of the tested implementations set it to 0</a:t>
            </a:r>
            <a:endParaRPr lang="pl-PL" sz="1800" dirty="0">
              <a:solidFill>
                <a:srgbClr val="FFC000"/>
              </a:solidFill>
              <a:effectLst/>
            </a:endParaRPr>
          </a:p>
          <a:p>
            <a:pPr marL="457200" indent="-457200">
              <a:buFont typeface="Wingdings" panose="05000000000000000000" pitchFamily="2" charset="2"/>
              <a:buChar char="v"/>
            </a:pPr>
            <a:r>
              <a:rPr lang="pl-PL" sz="1800" dirty="0">
                <a:effectLst/>
              </a:rPr>
              <a:t>I</a:t>
            </a:r>
            <a:r>
              <a:rPr lang="en-US" sz="1800" dirty="0">
                <a:effectLst/>
              </a:rPr>
              <a:t>n many implementations 0 is not a valid address (or not mapped) and any reference to it generates an exception</a:t>
            </a:r>
            <a:endParaRPr lang="pl-PL" sz="1800" dirty="0">
              <a:effectLst/>
            </a:endParaRPr>
          </a:p>
          <a:p>
            <a:pPr marL="457200" indent="-457200">
              <a:buFont typeface="Wingdings" panose="05000000000000000000" pitchFamily="2" charset="2"/>
              <a:buChar char="v"/>
            </a:pPr>
            <a:r>
              <a:rPr lang="en-US" sz="1800" dirty="0">
                <a:effectLst/>
              </a:rPr>
              <a:t>If there is any trap/exception generated before initialization of MTVEC register, RISC-V ends up in a very “stable” infinitive exception loop</a:t>
            </a:r>
            <a:endParaRPr lang="pl-PL" sz="1800" dirty="0">
              <a:effectLst/>
            </a:endParaRPr>
          </a:p>
          <a:p>
            <a:pPr marL="961171" lvl="1" indent="-457200">
              <a:buFont typeface="Wingdings" panose="05000000000000000000" pitchFamily="2" charset="2"/>
              <a:buChar char="v"/>
            </a:pPr>
            <a:r>
              <a:rPr lang="en-US" sz="1600" dirty="0">
                <a:effectLst/>
              </a:rPr>
              <a:t>when exception arises, RISC-V reads MTVEC register (NULL value at that time) and tries to jump to the NULL page. This generates an exception again, because it’s a reserved and not accessible memory, and it jumps to MTVEC again, and so on. </a:t>
            </a:r>
            <a:r>
              <a:rPr lang="en-US" sz="1600" dirty="0">
                <a:solidFill>
                  <a:srgbClr val="FF0000"/>
                </a:solidFill>
                <a:effectLst/>
              </a:rPr>
              <a:t>RISC-V is not halted</a:t>
            </a:r>
            <a:r>
              <a:rPr lang="en-US" sz="1600" dirty="0">
                <a:effectLst/>
              </a:rPr>
              <a:t>, it’s just spinning in the infinitive exception loop.</a:t>
            </a:r>
            <a:endParaRPr lang="pl-PL" sz="1600" dirty="0">
              <a:effectLst/>
            </a:endParaRPr>
          </a:p>
          <a:p>
            <a:pPr marL="457200" indent="-457200">
              <a:buFont typeface="Wingdings" panose="05000000000000000000" pitchFamily="2" charset="2"/>
              <a:buChar char="v"/>
            </a:pPr>
            <a:r>
              <a:rPr lang="en-US" sz="1800" u="sng" dirty="0">
                <a:effectLst/>
              </a:rPr>
              <a:t>Such state is an ideal situation for a </a:t>
            </a:r>
            <a:r>
              <a:rPr lang="en-US" sz="1800" u="sng" dirty="0">
                <a:solidFill>
                  <a:srgbClr val="FFC000"/>
                </a:solidFill>
                <a:effectLst/>
              </a:rPr>
              <a:t>fault injection (glitching) attack</a:t>
            </a:r>
            <a:r>
              <a:rPr lang="en-US" sz="1800" dirty="0">
                <a:effectLst/>
              </a:rPr>
              <a:t>. RISC-V is running at the </a:t>
            </a:r>
            <a:r>
              <a:rPr lang="en-US" sz="1800" dirty="0">
                <a:solidFill>
                  <a:srgbClr val="FF0000"/>
                </a:solidFill>
                <a:effectLst/>
              </a:rPr>
              <a:t>highest privilege mode</a:t>
            </a:r>
            <a:r>
              <a:rPr lang="en-US" sz="1800" dirty="0">
                <a:effectLst/>
              </a:rPr>
              <a:t> and constantly dereferencing </a:t>
            </a:r>
            <a:r>
              <a:rPr lang="en-US" sz="1800" dirty="0" err="1">
                <a:solidFill>
                  <a:srgbClr val="FFC000"/>
                </a:solidFill>
                <a:effectLst/>
              </a:rPr>
              <a:t>glitchable</a:t>
            </a:r>
            <a:r>
              <a:rPr lang="en-US" sz="1800" dirty="0">
                <a:solidFill>
                  <a:srgbClr val="FFC000"/>
                </a:solidFill>
                <a:effectLst/>
              </a:rPr>
              <a:t> register</a:t>
            </a:r>
            <a:r>
              <a:rPr lang="en-US" sz="1800" dirty="0">
                <a:effectLst/>
              </a:rPr>
              <a:t>.</a:t>
            </a:r>
            <a:endParaRPr lang="pl-PL" sz="1800" dirty="0">
              <a:effectLst/>
            </a:endParaRPr>
          </a:p>
          <a:p>
            <a:pPr marL="457200" indent="-457200">
              <a:buFont typeface="Wingdings" panose="05000000000000000000" pitchFamily="2" charset="2"/>
              <a:buChar char="v"/>
            </a:pPr>
            <a:endParaRPr lang="en-US" sz="1979" dirty="0">
              <a:effectLst/>
            </a:endParaRPr>
          </a:p>
        </p:txBody>
      </p:sp>
      <p:sp>
        <p:nvSpPr>
          <p:cNvPr id="5" name="Speech Bubble: Rectangle with Corners Rounded 4">
            <a:extLst>
              <a:ext uri="{FF2B5EF4-FFF2-40B4-BE49-F238E27FC236}">
                <a16:creationId xmlns:a16="http://schemas.microsoft.com/office/drawing/2014/main" id="{ED1BAD71-89B6-4B57-98A6-D22E6B46E2C1}"/>
              </a:ext>
            </a:extLst>
          </p:cNvPr>
          <p:cNvSpPr/>
          <p:nvPr/>
        </p:nvSpPr>
        <p:spPr>
          <a:xfrm>
            <a:off x="2945850" y="1909401"/>
            <a:ext cx="3415408" cy="1433384"/>
          </a:xfrm>
          <a:prstGeom prst="wedgeRoundRectCallout">
            <a:avLst>
              <a:gd name="adj1" fmla="val 35636"/>
              <a:gd name="adj2" fmla="val -82328"/>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pl-PL" dirty="0">
                <a:solidFill>
                  <a:srgbClr val="FFFF00"/>
                </a:solidFill>
              </a:rPr>
              <a:t>First bug:</a:t>
            </a:r>
            <a:br>
              <a:rPr lang="pl-PL" dirty="0"/>
            </a:br>
            <a:r>
              <a:rPr lang="pl-PL" dirty="0"/>
              <a:t>ISA does not define the initial value of MTVEC register</a:t>
            </a:r>
            <a:endParaRPr lang="en-US" dirty="0"/>
          </a:p>
        </p:txBody>
      </p:sp>
      <p:sp>
        <p:nvSpPr>
          <p:cNvPr id="7" name="Speech Bubble: Rectangle with Corners Rounded 6">
            <a:extLst>
              <a:ext uri="{FF2B5EF4-FFF2-40B4-BE49-F238E27FC236}">
                <a16:creationId xmlns:a16="http://schemas.microsoft.com/office/drawing/2014/main" id="{918A0658-4B1D-49C9-9D5B-D8743855510C}"/>
              </a:ext>
            </a:extLst>
          </p:cNvPr>
          <p:cNvSpPr/>
          <p:nvPr/>
        </p:nvSpPr>
        <p:spPr>
          <a:xfrm>
            <a:off x="3038053" y="5687478"/>
            <a:ext cx="5285458" cy="1433384"/>
          </a:xfrm>
          <a:prstGeom prst="wedgeRoundRectCallout">
            <a:avLst>
              <a:gd name="adj1" fmla="val 37973"/>
              <a:gd name="adj2" fmla="val -86811"/>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r>
              <a:rPr lang="pl-PL" dirty="0">
                <a:solidFill>
                  <a:srgbClr val="FFFF00"/>
                </a:solidFill>
              </a:rPr>
              <a:t>Second bug:</a:t>
            </a:r>
            <a:br>
              <a:rPr lang="pl-PL" dirty="0"/>
            </a:br>
            <a:r>
              <a:rPr lang="pl-PL" dirty="0"/>
              <a:t>ISA „allows” for infinitive exception loop without halting the core (lack of „double/triple fault”-like exceptions)</a:t>
            </a:r>
            <a:endParaRPr lang="en-US" dirty="0"/>
          </a:p>
        </p:txBody>
      </p:sp>
    </p:spTree>
    <p:extLst>
      <p:ext uri="{BB962C8B-B14F-4D97-AF65-F5344CB8AC3E}">
        <p14:creationId xmlns:p14="http://schemas.microsoft.com/office/powerpoint/2010/main" val="1715469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exploit </a:t>
            </a:r>
            <a:r>
              <a:rPr lang="pl-PL" dirty="0">
                <a:solidFill>
                  <a:srgbClr val="C00000"/>
                </a:solidFill>
              </a:rPr>
              <a:t>MTVEC</a:t>
            </a:r>
            <a:r>
              <a:rPr lang="pl-PL" dirty="0">
                <a:solidFill>
                  <a:schemeClr val="accent1"/>
                </a:solidFill>
              </a:rPr>
              <a:t>?</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626613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fully exploitable </a:t>
            </a:r>
            <a:r>
              <a:rPr lang="pl-PL" sz="1800" dirty="0">
                <a:effectLst/>
              </a:rPr>
              <a:t>if </a:t>
            </a:r>
            <a:r>
              <a:rPr lang="en-US" sz="1800" dirty="0">
                <a:effectLst/>
              </a:rPr>
              <a:t>the attacker has the capabilities to: </a:t>
            </a:r>
            <a:endParaRPr lang="pl-PL" sz="1800" dirty="0">
              <a:effectLst/>
            </a:endParaRPr>
          </a:p>
          <a:p>
            <a:pPr marL="961171" lvl="1" indent="-457200">
              <a:buFont typeface="Wingdings" panose="05000000000000000000" pitchFamily="2" charset="2"/>
              <a:buChar char="v"/>
            </a:pPr>
            <a:r>
              <a:rPr lang="en-US" sz="1579" dirty="0">
                <a:effectLst/>
              </a:rPr>
              <a:t>Prefill D/I MEM of the RISC-V core </a:t>
            </a:r>
            <a:r>
              <a:rPr lang="pl-PL" sz="1579" dirty="0">
                <a:effectLst/>
              </a:rPr>
              <a:t>(e.g., via „external” / recover (USB) boot functionality)</a:t>
            </a:r>
            <a:endParaRPr lang="en-US" sz="1579" dirty="0">
              <a:effectLst/>
            </a:endParaRPr>
          </a:p>
          <a:p>
            <a:pPr marL="961171" lvl="1" indent="-457200">
              <a:buFont typeface="Wingdings" panose="05000000000000000000" pitchFamily="2" charset="2"/>
              <a:buChar char="v"/>
            </a:pPr>
            <a:r>
              <a:rPr lang="en-US" sz="1579" dirty="0">
                <a:effectLst/>
              </a:rPr>
              <a:t>Generate an early exception during core</a:t>
            </a:r>
            <a:r>
              <a:rPr lang="pl-PL" sz="1579" dirty="0">
                <a:effectLst/>
              </a:rPr>
              <a:t> execution (e.g., physical HW damage)</a:t>
            </a:r>
          </a:p>
          <a:p>
            <a:pPr marL="457200" indent="-457200">
              <a:buFont typeface="Wingdings" panose="05000000000000000000" pitchFamily="2" charset="2"/>
              <a:buChar char="v"/>
            </a:pPr>
            <a:r>
              <a:rPr lang="en-US" sz="1800" dirty="0">
                <a:effectLst/>
              </a:rPr>
              <a:t>Scenario:</a:t>
            </a:r>
            <a:endParaRPr lang="pl-PL" sz="1800" dirty="0">
              <a:effectLst/>
            </a:endParaRPr>
          </a:p>
          <a:p>
            <a:pPr marL="961171" lvl="1" indent="-457200">
              <a:buFont typeface="Wingdings" panose="05000000000000000000" pitchFamily="2" charset="2"/>
              <a:buChar char="v"/>
            </a:pPr>
            <a:r>
              <a:rPr lang="en-US" sz="1579" dirty="0">
                <a:effectLst/>
              </a:rPr>
              <a:t>Attacker pre-fills IMEM with the custom shellcode: </a:t>
            </a:r>
            <a:endParaRPr lang="pl-PL" sz="1579" dirty="0">
              <a:effectLst/>
            </a:endParaRPr>
          </a:p>
          <a:p>
            <a:pPr marL="1465143" lvl="2" indent="-457200">
              <a:buFont typeface="Wingdings" panose="05000000000000000000" pitchFamily="2" charset="2"/>
              <a:buChar char="v"/>
            </a:pPr>
            <a:r>
              <a:rPr lang="en-US" sz="1580" dirty="0">
                <a:effectLst/>
              </a:rPr>
              <a:t>Attacker does that in a smart way by filling the entire IMEM with NOPs and in the edge of IMEM attacker puts a real shellcode. </a:t>
            </a:r>
            <a:endParaRPr lang="pl-PL" sz="1580" dirty="0">
              <a:effectLst/>
            </a:endParaRPr>
          </a:p>
          <a:p>
            <a:pPr marL="961171" lvl="1" indent="-457200">
              <a:buFont typeface="Wingdings" panose="05000000000000000000" pitchFamily="2" charset="2"/>
              <a:buChar char="v"/>
            </a:pPr>
            <a:r>
              <a:rPr lang="en-US" sz="1800" dirty="0">
                <a:effectLst/>
              </a:rPr>
              <a:t>Attacker boots RISC-V </a:t>
            </a:r>
            <a:endParaRPr lang="pl-PL" sz="1800" dirty="0">
              <a:effectLst/>
            </a:endParaRPr>
          </a:p>
          <a:p>
            <a:pPr marL="961171" lvl="1" indent="-457200">
              <a:buFont typeface="Wingdings" panose="05000000000000000000" pitchFamily="2" charset="2"/>
              <a:buChar char="v"/>
            </a:pPr>
            <a:r>
              <a:rPr lang="en-US" sz="1800" dirty="0">
                <a:effectLst/>
              </a:rPr>
              <a:t>Attacker enforces the necessary conditions to generate an early exception during Boot-SW or secure code execution and before MTVEC is initialized </a:t>
            </a:r>
            <a:endParaRPr lang="pl-PL" sz="1800" dirty="0">
              <a:effectLst/>
            </a:endParaRPr>
          </a:p>
          <a:p>
            <a:pPr marL="961171" lvl="1" indent="-457200">
              <a:buFont typeface="Wingdings" panose="05000000000000000000" pitchFamily="2" charset="2"/>
              <a:buChar char="v"/>
            </a:pPr>
            <a:r>
              <a:rPr lang="en-US" sz="1800" dirty="0">
                <a:effectLst/>
              </a:rPr>
              <a:t>RISC-V jumps to the NULL page and it enters the state of the infinitive exception loop (very stable and predictable state) </a:t>
            </a:r>
            <a:endParaRPr lang="pl-PL" sz="1800" dirty="0">
              <a:effectLst/>
            </a:endParaRPr>
          </a:p>
          <a:p>
            <a:pPr marL="961171" lvl="1" indent="-457200">
              <a:buFont typeface="Wingdings" panose="05000000000000000000" pitchFamily="2" charset="2"/>
              <a:buChar char="v"/>
            </a:pPr>
            <a:r>
              <a:rPr lang="en-US" sz="1800" dirty="0">
                <a:effectLst/>
              </a:rPr>
              <a:t>Attacker glitches the MTVEC register value of the looped core, and points it somewhere in the IMEM where special payload with the desired shellcode is placed (step 1): </a:t>
            </a:r>
            <a:endParaRPr lang="pl-PL" sz="1800" dirty="0">
              <a:effectLst/>
            </a:endParaRPr>
          </a:p>
          <a:p>
            <a:pPr marL="1465143" lvl="2" indent="-457200">
              <a:buFont typeface="Wingdings" panose="05000000000000000000" pitchFamily="2" charset="2"/>
              <a:buChar char="v"/>
            </a:pPr>
            <a:r>
              <a:rPr lang="en-US" sz="1580" dirty="0">
                <a:effectLst/>
              </a:rPr>
              <a:t>Because MTVEC register has a NULL value, it is very likely that the change of just 1 bit ends up generating an address pointing in the middle of the </a:t>
            </a:r>
            <a:r>
              <a:rPr lang="en-US" sz="1580" dirty="0" err="1">
                <a:effectLst/>
              </a:rPr>
              <a:t>NOPed</a:t>
            </a:r>
            <a:r>
              <a:rPr lang="en-US" sz="1580" dirty="0">
                <a:effectLst/>
              </a:rPr>
              <a:t> filled IMEM memory.</a:t>
            </a:r>
            <a:endParaRPr lang="en-US" sz="1759" dirty="0">
              <a:effectLst/>
            </a:endParaRPr>
          </a:p>
        </p:txBody>
      </p:sp>
    </p:spTree>
    <p:extLst>
      <p:ext uri="{BB962C8B-B14F-4D97-AF65-F5344CB8AC3E}">
        <p14:creationId xmlns:p14="http://schemas.microsoft.com/office/powerpoint/2010/main" val="1332604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exploit </a:t>
            </a:r>
            <a:r>
              <a:rPr lang="pl-PL" dirty="0">
                <a:solidFill>
                  <a:srgbClr val="C00000"/>
                </a:solidFill>
              </a:rPr>
              <a:t>MTVEC</a:t>
            </a:r>
            <a:r>
              <a:rPr lang="pl-PL" dirty="0">
                <a:solidFill>
                  <a:schemeClr val="accent1"/>
                </a:solidFill>
              </a:rPr>
              <a:t>?</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626613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fully exploitable </a:t>
            </a:r>
            <a:r>
              <a:rPr lang="pl-PL" sz="1800" dirty="0">
                <a:effectLst/>
              </a:rPr>
              <a:t>if </a:t>
            </a:r>
            <a:r>
              <a:rPr lang="en-US" sz="1800" dirty="0">
                <a:effectLst/>
              </a:rPr>
              <a:t>the attacker has the capabilities to: </a:t>
            </a:r>
            <a:endParaRPr lang="pl-PL" sz="1800" dirty="0">
              <a:effectLst/>
            </a:endParaRPr>
          </a:p>
          <a:p>
            <a:pPr marL="961171" lvl="1" indent="-457200">
              <a:buFont typeface="Wingdings" panose="05000000000000000000" pitchFamily="2" charset="2"/>
              <a:buChar char="v"/>
            </a:pPr>
            <a:r>
              <a:rPr lang="en-US" sz="1579" dirty="0">
                <a:effectLst/>
              </a:rPr>
              <a:t>Prefill D/I MEM of the RISC-V core </a:t>
            </a:r>
            <a:r>
              <a:rPr lang="pl-PL" sz="1579" dirty="0">
                <a:effectLst/>
              </a:rPr>
              <a:t>(e.g., via „external” / recover (USB) boot functionality)</a:t>
            </a:r>
            <a:endParaRPr lang="en-US" sz="1579" dirty="0">
              <a:effectLst/>
            </a:endParaRPr>
          </a:p>
          <a:p>
            <a:pPr marL="961171" lvl="1" indent="-457200">
              <a:buFont typeface="Wingdings" panose="05000000000000000000" pitchFamily="2" charset="2"/>
              <a:buChar char="v"/>
            </a:pPr>
            <a:r>
              <a:rPr lang="en-US" sz="1579" dirty="0">
                <a:effectLst/>
              </a:rPr>
              <a:t>Generate an early exception during core</a:t>
            </a:r>
            <a:r>
              <a:rPr lang="pl-PL" sz="1579" dirty="0">
                <a:effectLst/>
              </a:rPr>
              <a:t> execution (e.g., physical HW damage)</a:t>
            </a:r>
          </a:p>
          <a:p>
            <a:pPr marL="457200" indent="-457200">
              <a:buFont typeface="Wingdings" panose="05000000000000000000" pitchFamily="2" charset="2"/>
              <a:buChar char="v"/>
            </a:pPr>
            <a:r>
              <a:rPr lang="en-US" sz="1800" dirty="0">
                <a:effectLst/>
              </a:rPr>
              <a:t>Scenario:</a:t>
            </a:r>
            <a:endParaRPr lang="pl-PL" sz="1800" dirty="0">
              <a:effectLst/>
            </a:endParaRPr>
          </a:p>
          <a:p>
            <a:pPr marL="961171" lvl="1" indent="-457200">
              <a:buFont typeface="Wingdings" panose="05000000000000000000" pitchFamily="2" charset="2"/>
              <a:buChar char="v"/>
            </a:pPr>
            <a:r>
              <a:rPr lang="en-US" sz="1579" dirty="0">
                <a:effectLst/>
              </a:rPr>
              <a:t>Attacker pre-fills IMEM with the custom shellcode: </a:t>
            </a:r>
            <a:endParaRPr lang="pl-PL" sz="1579" dirty="0">
              <a:effectLst/>
            </a:endParaRPr>
          </a:p>
          <a:p>
            <a:pPr marL="1465143" lvl="2" indent="-457200">
              <a:buFont typeface="Wingdings" panose="05000000000000000000" pitchFamily="2" charset="2"/>
              <a:buChar char="v"/>
            </a:pPr>
            <a:r>
              <a:rPr lang="en-US" sz="1580" dirty="0">
                <a:effectLst/>
              </a:rPr>
              <a:t>Attacker does that in a smart way by filling the entire IMEM with NOPs and in the edge of IMEM attacker puts a real shellcode. </a:t>
            </a:r>
            <a:endParaRPr lang="pl-PL" sz="1580" dirty="0">
              <a:effectLst/>
            </a:endParaRPr>
          </a:p>
          <a:p>
            <a:pPr marL="961171" lvl="1" indent="-457200">
              <a:buFont typeface="Wingdings" panose="05000000000000000000" pitchFamily="2" charset="2"/>
              <a:buChar char="v"/>
            </a:pPr>
            <a:r>
              <a:rPr lang="en-US" sz="1800" dirty="0">
                <a:effectLst/>
              </a:rPr>
              <a:t>Attacker boots RISC-V </a:t>
            </a:r>
            <a:endParaRPr lang="pl-PL" sz="1800" dirty="0">
              <a:effectLst/>
            </a:endParaRPr>
          </a:p>
          <a:p>
            <a:pPr marL="961171" lvl="1" indent="-457200">
              <a:buFont typeface="Wingdings" panose="05000000000000000000" pitchFamily="2" charset="2"/>
              <a:buChar char="v"/>
            </a:pPr>
            <a:r>
              <a:rPr lang="en-US" sz="1800" dirty="0">
                <a:effectLst/>
              </a:rPr>
              <a:t>Attacker enforces the necessary conditions to generate an early exception during Boot-SW or secure code execution and before MTVEC is initialized </a:t>
            </a:r>
            <a:endParaRPr lang="pl-PL" sz="1800" dirty="0">
              <a:effectLst/>
            </a:endParaRPr>
          </a:p>
          <a:p>
            <a:pPr marL="961171" lvl="1" indent="-457200">
              <a:buFont typeface="Wingdings" panose="05000000000000000000" pitchFamily="2" charset="2"/>
              <a:buChar char="v"/>
            </a:pPr>
            <a:r>
              <a:rPr lang="en-US" sz="1800" dirty="0">
                <a:effectLst/>
              </a:rPr>
              <a:t>RISC-V jumps to the NULL page and it enters the state of the infinitive exception loop (very stable and predictable state) </a:t>
            </a:r>
            <a:endParaRPr lang="pl-PL" sz="1800" dirty="0">
              <a:effectLst/>
            </a:endParaRPr>
          </a:p>
          <a:p>
            <a:pPr marL="961171" lvl="1" indent="-457200">
              <a:buFont typeface="Wingdings" panose="05000000000000000000" pitchFamily="2" charset="2"/>
              <a:buChar char="v"/>
            </a:pPr>
            <a:r>
              <a:rPr lang="en-US" sz="1800" dirty="0">
                <a:effectLst/>
              </a:rPr>
              <a:t>Attacker glitches the MTVEC register value of the looped core, and points it somewhere in the IMEM where special payload with the desired shellcode is placed (step 1): </a:t>
            </a:r>
            <a:endParaRPr lang="pl-PL" sz="1800" dirty="0">
              <a:effectLst/>
            </a:endParaRPr>
          </a:p>
          <a:p>
            <a:pPr marL="1465143" lvl="2" indent="-457200">
              <a:buFont typeface="Wingdings" panose="05000000000000000000" pitchFamily="2" charset="2"/>
              <a:buChar char="v"/>
            </a:pPr>
            <a:r>
              <a:rPr lang="en-US" sz="1580" dirty="0">
                <a:effectLst/>
              </a:rPr>
              <a:t>Because MTVEC register has a NULL value, it is very likely that the change of just 1 bit ends up generating an address pointing in the middle of the </a:t>
            </a:r>
            <a:r>
              <a:rPr lang="en-US" sz="1580" dirty="0" err="1">
                <a:effectLst/>
              </a:rPr>
              <a:t>NOPed</a:t>
            </a:r>
            <a:r>
              <a:rPr lang="en-US" sz="1580" dirty="0">
                <a:effectLst/>
              </a:rPr>
              <a:t> filled IMEM memory.</a:t>
            </a:r>
            <a:endParaRPr lang="en-US" sz="1759" dirty="0">
              <a:effectLst/>
            </a:endParaRPr>
          </a:p>
        </p:txBody>
      </p:sp>
      <p:pic>
        <p:nvPicPr>
          <p:cNvPr id="3" name="Picture 4" descr="Chart&#10;&#10;Description automatically generated">
            <a:extLst>
              <a:ext uri="{FF2B5EF4-FFF2-40B4-BE49-F238E27FC236}">
                <a16:creationId xmlns:a16="http://schemas.microsoft.com/office/drawing/2014/main" id="{F20C1AE7-DF2C-432D-803F-FA513E73CB7B}"/>
              </a:ext>
            </a:extLst>
          </p:cNvPr>
          <p:cNvPicPr>
            <a:picLocks noChangeAspect="1"/>
          </p:cNvPicPr>
          <p:nvPr/>
        </p:nvPicPr>
        <p:blipFill>
          <a:blip r:embed="rId3"/>
          <a:stretch>
            <a:fillRect/>
          </a:stretch>
        </p:blipFill>
        <p:spPr>
          <a:xfrm>
            <a:off x="28668" y="1181770"/>
            <a:ext cx="10025564" cy="6262197"/>
          </a:xfrm>
          <a:prstGeom prst="rect">
            <a:avLst/>
          </a:prstGeom>
        </p:spPr>
      </p:pic>
    </p:spTree>
    <p:extLst>
      <p:ext uri="{BB962C8B-B14F-4D97-AF65-F5344CB8AC3E}">
        <p14:creationId xmlns:p14="http://schemas.microsoft.com/office/powerpoint/2010/main" val="9539275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exploit </a:t>
            </a:r>
            <a:r>
              <a:rPr lang="pl-PL" dirty="0">
                <a:solidFill>
                  <a:srgbClr val="C00000"/>
                </a:solidFill>
              </a:rPr>
              <a:t>MTVEC</a:t>
            </a:r>
            <a:r>
              <a:rPr lang="pl-PL" dirty="0">
                <a:solidFill>
                  <a:schemeClr val="accent1"/>
                </a:solidFill>
              </a:rPr>
              <a:t>?</a:t>
            </a:r>
            <a:endParaRPr lang="en-US" dirty="0">
              <a:solidFill>
                <a:srgbClr val="C00000"/>
              </a:solidFill>
            </a:endParaRPr>
          </a:p>
        </p:txBody>
      </p:sp>
      <p:pic>
        <p:nvPicPr>
          <p:cNvPr id="5" name="Picture 5" descr="Diagram, timeline&#10;&#10;Description automatically generated">
            <a:extLst>
              <a:ext uri="{FF2B5EF4-FFF2-40B4-BE49-F238E27FC236}">
                <a16:creationId xmlns:a16="http://schemas.microsoft.com/office/drawing/2014/main" id="{41307D07-409D-4571-AC90-62390739362C}"/>
              </a:ext>
            </a:extLst>
          </p:cNvPr>
          <p:cNvPicPr>
            <a:picLocks noChangeAspect="1"/>
          </p:cNvPicPr>
          <p:nvPr/>
        </p:nvPicPr>
        <p:blipFill>
          <a:blip r:embed="rId3"/>
          <a:stretch>
            <a:fillRect/>
          </a:stretch>
        </p:blipFill>
        <p:spPr>
          <a:xfrm>
            <a:off x="335" y="1315719"/>
            <a:ext cx="10069524" cy="1147597"/>
          </a:xfrm>
          <a:prstGeom prst="rect">
            <a:avLst/>
          </a:prstGeom>
        </p:spPr>
      </p:pic>
      <p:pic>
        <p:nvPicPr>
          <p:cNvPr id="6" name="Picture 6" descr="A picture containing graphical user interface&#10;&#10;Description automatically generated">
            <a:extLst>
              <a:ext uri="{FF2B5EF4-FFF2-40B4-BE49-F238E27FC236}">
                <a16:creationId xmlns:a16="http://schemas.microsoft.com/office/drawing/2014/main" id="{D6D357AF-6F06-4EB4-A1CC-7DD05883E621}"/>
              </a:ext>
            </a:extLst>
          </p:cNvPr>
          <p:cNvPicPr>
            <a:picLocks noChangeAspect="1"/>
          </p:cNvPicPr>
          <p:nvPr/>
        </p:nvPicPr>
        <p:blipFill>
          <a:blip r:embed="rId4"/>
          <a:stretch>
            <a:fillRect/>
          </a:stretch>
        </p:blipFill>
        <p:spPr>
          <a:xfrm>
            <a:off x="4487" y="2623902"/>
            <a:ext cx="10076848" cy="1149803"/>
          </a:xfrm>
          <a:prstGeom prst="rect">
            <a:avLst/>
          </a:prstGeom>
        </p:spPr>
      </p:pic>
      <p:pic>
        <p:nvPicPr>
          <p:cNvPr id="9" name="Picture 9">
            <a:extLst>
              <a:ext uri="{FF2B5EF4-FFF2-40B4-BE49-F238E27FC236}">
                <a16:creationId xmlns:a16="http://schemas.microsoft.com/office/drawing/2014/main" id="{3282277B-1BA6-4770-A9A6-39411BFAF9C6}"/>
              </a:ext>
            </a:extLst>
          </p:cNvPr>
          <p:cNvPicPr>
            <a:picLocks noChangeAspect="1"/>
          </p:cNvPicPr>
          <p:nvPr/>
        </p:nvPicPr>
        <p:blipFill>
          <a:blip r:embed="rId5"/>
          <a:stretch>
            <a:fillRect/>
          </a:stretch>
        </p:blipFill>
        <p:spPr>
          <a:xfrm>
            <a:off x="7569" y="5622876"/>
            <a:ext cx="10069523" cy="1483091"/>
          </a:xfrm>
          <a:prstGeom prst="rect">
            <a:avLst/>
          </a:prstGeom>
        </p:spPr>
      </p:pic>
      <p:sp>
        <p:nvSpPr>
          <p:cNvPr id="10" name="TextBox 9">
            <a:extLst>
              <a:ext uri="{FF2B5EF4-FFF2-40B4-BE49-F238E27FC236}">
                <a16:creationId xmlns:a16="http://schemas.microsoft.com/office/drawing/2014/main" id="{10E0067B-9356-4B79-8AC5-6B6045312A48}"/>
              </a:ext>
            </a:extLst>
          </p:cNvPr>
          <p:cNvSpPr txBox="1"/>
          <p:nvPr/>
        </p:nvSpPr>
        <p:spPr>
          <a:xfrm>
            <a:off x="-49788" y="4941868"/>
            <a:ext cx="89703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0000"/>
                </a:solidFill>
                <a:ea typeface="+mn-lt"/>
                <a:cs typeface="+mn-lt"/>
              </a:rPr>
              <a:t> Step 3: </a:t>
            </a:r>
            <a:r>
              <a:rPr lang="en-US" b="1" dirty="0" err="1">
                <a:solidFill>
                  <a:srgbClr val="FF0000"/>
                </a:solidFill>
                <a:ea typeface="+mn-lt"/>
                <a:cs typeface="+mn-lt"/>
              </a:rPr>
              <a:t>ecall</a:t>
            </a:r>
            <a:r>
              <a:rPr lang="en-US" b="1" dirty="0">
                <a:solidFill>
                  <a:srgbClr val="FF0000"/>
                </a:solidFill>
                <a:ea typeface="+mn-lt"/>
                <a:cs typeface="+mn-lt"/>
              </a:rPr>
              <a:t> triggers the exception handler with the corrupted MTVEC. </a:t>
            </a:r>
            <a:endParaRPr lang="en-US" b="1" dirty="0">
              <a:solidFill>
                <a:srgbClr val="FF0000"/>
              </a:solidFill>
            </a:endParaRPr>
          </a:p>
        </p:txBody>
      </p:sp>
      <p:sp>
        <p:nvSpPr>
          <p:cNvPr id="8" name="TextBox 7">
            <a:extLst>
              <a:ext uri="{FF2B5EF4-FFF2-40B4-BE49-F238E27FC236}">
                <a16:creationId xmlns:a16="http://schemas.microsoft.com/office/drawing/2014/main" id="{4009611D-886C-4C42-9C02-0FEBED1AB74E}"/>
              </a:ext>
            </a:extLst>
          </p:cNvPr>
          <p:cNvSpPr txBox="1"/>
          <p:nvPr/>
        </p:nvSpPr>
        <p:spPr>
          <a:xfrm>
            <a:off x="-49799" y="4502721"/>
            <a:ext cx="89703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C000"/>
                </a:solidFill>
                <a:ea typeface="+mn-lt"/>
                <a:cs typeface="+mn-lt"/>
              </a:rPr>
              <a:t> Step 2:  the MTVEC value has been changed. </a:t>
            </a:r>
            <a:endParaRPr lang="en-US" b="1" dirty="0">
              <a:solidFill>
                <a:srgbClr val="FFC000"/>
              </a:solidFill>
            </a:endParaRPr>
          </a:p>
        </p:txBody>
      </p:sp>
      <p:sp>
        <p:nvSpPr>
          <p:cNvPr id="11" name="TextBox 10">
            <a:extLst>
              <a:ext uri="{FF2B5EF4-FFF2-40B4-BE49-F238E27FC236}">
                <a16:creationId xmlns:a16="http://schemas.microsoft.com/office/drawing/2014/main" id="{1DEC9F36-FCD0-4C5B-B8F1-EA374C315A77}"/>
              </a:ext>
            </a:extLst>
          </p:cNvPr>
          <p:cNvSpPr txBox="1"/>
          <p:nvPr/>
        </p:nvSpPr>
        <p:spPr>
          <a:xfrm>
            <a:off x="-49810" y="4070893"/>
            <a:ext cx="89703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 </a:t>
            </a:r>
            <a:r>
              <a:rPr lang="en-US" b="1" dirty="0">
                <a:solidFill>
                  <a:srgbClr val="92D050"/>
                </a:solidFill>
                <a:ea typeface="+mn-lt"/>
                <a:cs typeface="+mn-lt"/>
              </a:rPr>
              <a:t>Step 1:  pull a trigger to corrupt MTVEC register value on the looped core.</a:t>
            </a:r>
          </a:p>
        </p:txBody>
      </p:sp>
    </p:spTree>
    <p:extLst>
      <p:ext uri="{BB962C8B-B14F-4D97-AF65-F5344CB8AC3E}">
        <p14:creationId xmlns:p14="http://schemas.microsoft.com/office/powerpoint/2010/main" val="25752953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exploit </a:t>
            </a:r>
            <a:r>
              <a:rPr lang="pl-PL" dirty="0">
                <a:solidFill>
                  <a:srgbClr val="C00000"/>
                </a:solidFill>
              </a:rPr>
              <a:t>MTVEC</a:t>
            </a:r>
            <a:r>
              <a:rPr lang="pl-PL" dirty="0">
                <a:solidFill>
                  <a:schemeClr val="accent1"/>
                </a:solidFill>
              </a:rPr>
              <a:t>?</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6266139"/>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fully exploitable </a:t>
            </a:r>
            <a:r>
              <a:rPr lang="pl-PL" sz="1800" dirty="0">
                <a:effectLst/>
              </a:rPr>
              <a:t>if </a:t>
            </a:r>
            <a:r>
              <a:rPr lang="en-US" sz="1800" dirty="0">
                <a:effectLst/>
              </a:rPr>
              <a:t>the attacker has the capabilities to: </a:t>
            </a:r>
            <a:endParaRPr lang="pl-PL" sz="1800" dirty="0">
              <a:effectLst/>
            </a:endParaRPr>
          </a:p>
          <a:p>
            <a:pPr marL="961171" lvl="1" indent="-457200">
              <a:buFont typeface="Wingdings" panose="05000000000000000000" pitchFamily="2" charset="2"/>
              <a:buChar char="v"/>
            </a:pPr>
            <a:r>
              <a:rPr lang="en-US" sz="1579" dirty="0">
                <a:effectLst/>
              </a:rPr>
              <a:t>Prefill D/I MEM of the RISC-V core </a:t>
            </a:r>
            <a:r>
              <a:rPr lang="pl-PL" sz="1579" dirty="0">
                <a:effectLst/>
              </a:rPr>
              <a:t>(e.g., via „external” / recover (USB) boot functionality)</a:t>
            </a:r>
            <a:endParaRPr lang="en-US" sz="1579" dirty="0">
              <a:effectLst/>
            </a:endParaRPr>
          </a:p>
          <a:p>
            <a:pPr marL="961171" lvl="1" indent="-457200">
              <a:buFont typeface="Wingdings" panose="05000000000000000000" pitchFamily="2" charset="2"/>
              <a:buChar char="v"/>
            </a:pPr>
            <a:r>
              <a:rPr lang="en-US" sz="1579" dirty="0">
                <a:effectLst/>
              </a:rPr>
              <a:t>Generate an early exception during core</a:t>
            </a:r>
            <a:r>
              <a:rPr lang="pl-PL" sz="1579" dirty="0">
                <a:effectLst/>
              </a:rPr>
              <a:t> execution (e.g., physical HW damage)</a:t>
            </a:r>
          </a:p>
          <a:p>
            <a:pPr marL="457200" indent="-457200">
              <a:buFont typeface="Wingdings" panose="05000000000000000000" pitchFamily="2" charset="2"/>
              <a:buChar char="v"/>
            </a:pPr>
            <a:r>
              <a:rPr lang="en-US" sz="1800" dirty="0">
                <a:effectLst/>
              </a:rPr>
              <a:t>Scenario:</a:t>
            </a:r>
            <a:endParaRPr lang="pl-PL" sz="1800" dirty="0">
              <a:effectLst/>
            </a:endParaRPr>
          </a:p>
          <a:p>
            <a:pPr marL="961171" lvl="1" indent="-457200">
              <a:buFont typeface="Wingdings" panose="05000000000000000000" pitchFamily="2" charset="2"/>
              <a:buChar char="v"/>
            </a:pPr>
            <a:r>
              <a:rPr lang="en-US" sz="1579" dirty="0">
                <a:effectLst/>
              </a:rPr>
              <a:t>Attacker pre-fill IMEM with the custom shellcode: </a:t>
            </a:r>
            <a:endParaRPr lang="pl-PL" sz="1579" dirty="0">
              <a:effectLst/>
            </a:endParaRPr>
          </a:p>
          <a:p>
            <a:pPr marL="1465143" lvl="2" indent="-457200">
              <a:buFont typeface="Wingdings" panose="05000000000000000000" pitchFamily="2" charset="2"/>
              <a:buChar char="v"/>
            </a:pPr>
            <a:r>
              <a:rPr lang="en-US" sz="1580" dirty="0">
                <a:effectLst/>
              </a:rPr>
              <a:t>Attacker does that in a smart way by filling the entire IMEM with NOPs and in the edge of IMEM attacker puts a real shellcode. </a:t>
            </a:r>
            <a:endParaRPr lang="pl-PL" sz="1580" dirty="0">
              <a:effectLst/>
            </a:endParaRPr>
          </a:p>
          <a:p>
            <a:pPr marL="961171" lvl="1" indent="-457200">
              <a:buFont typeface="Wingdings" panose="05000000000000000000" pitchFamily="2" charset="2"/>
              <a:buChar char="v"/>
            </a:pPr>
            <a:r>
              <a:rPr lang="en-US" sz="1800" dirty="0">
                <a:effectLst/>
              </a:rPr>
              <a:t>Attacker boots RISC-V </a:t>
            </a:r>
            <a:endParaRPr lang="pl-PL" sz="1800" dirty="0">
              <a:effectLst/>
            </a:endParaRPr>
          </a:p>
          <a:p>
            <a:pPr marL="961171" lvl="1" indent="-457200">
              <a:buFont typeface="Wingdings" panose="05000000000000000000" pitchFamily="2" charset="2"/>
              <a:buChar char="v"/>
            </a:pPr>
            <a:r>
              <a:rPr lang="en-US" sz="1800" dirty="0">
                <a:effectLst/>
              </a:rPr>
              <a:t>Attacker enforces the necessary conditions to generate an early exception during Boot-SW or secure code execution and before MTVEC is initialized </a:t>
            </a:r>
            <a:endParaRPr lang="pl-PL" sz="1800" dirty="0">
              <a:effectLst/>
            </a:endParaRPr>
          </a:p>
          <a:p>
            <a:pPr marL="961171" lvl="1" indent="-457200">
              <a:buFont typeface="Wingdings" panose="05000000000000000000" pitchFamily="2" charset="2"/>
              <a:buChar char="v"/>
            </a:pPr>
            <a:r>
              <a:rPr lang="en-US" sz="1800" dirty="0">
                <a:effectLst/>
              </a:rPr>
              <a:t>RISC-V jumps to the NULL page and it enters the state of the infinitive exception loop (very stable and predictable state) </a:t>
            </a:r>
            <a:endParaRPr lang="pl-PL" sz="1800" dirty="0">
              <a:effectLst/>
            </a:endParaRPr>
          </a:p>
          <a:p>
            <a:pPr marL="961171" lvl="1" indent="-457200">
              <a:buFont typeface="Wingdings" panose="05000000000000000000" pitchFamily="2" charset="2"/>
              <a:buChar char="v"/>
            </a:pPr>
            <a:r>
              <a:rPr lang="en-US" sz="1800" dirty="0">
                <a:effectLst/>
              </a:rPr>
              <a:t>Attacker glitches the MTVEC register value of the looped core, and points it somewhere in the IMEM where special payload with the desired shellcode is placed (step 1): </a:t>
            </a:r>
            <a:endParaRPr lang="pl-PL" sz="1800" dirty="0">
              <a:effectLst/>
            </a:endParaRPr>
          </a:p>
          <a:p>
            <a:pPr marL="1465143" lvl="2" indent="-457200">
              <a:buFont typeface="Wingdings" panose="05000000000000000000" pitchFamily="2" charset="2"/>
              <a:buChar char="v"/>
            </a:pPr>
            <a:r>
              <a:rPr lang="en-US" sz="1580" dirty="0">
                <a:effectLst/>
              </a:rPr>
              <a:t>Because MTVEC register has a NULL value, it is very likely that the change of just 1 bit ends up generating an address pointing in the middle of the </a:t>
            </a:r>
            <a:r>
              <a:rPr lang="en-US" sz="1580" dirty="0" err="1">
                <a:effectLst/>
              </a:rPr>
              <a:t>NOPed</a:t>
            </a:r>
            <a:r>
              <a:rPr lang="en-US" sz="1580" dirty="0">
                <a:effectLst/>
              </a:rPr>
              <a:t> filled IMEM memory.</a:t>
            </a:r>
            <a:endParaRPr lang="en-US" sz="1759" dirty="0">
              <a:effectLst/>
            </a:endParaRPr>
          </a:p>
        </p:txBody>
      </p:sp>
      <p:sp>
        <p:nvSpPr>
          <p:cNvPr id="5" name="Rectangle: Rounded Corners 4">
            <a:extLst>
              <a:ext uri="{FF2B5EF4-FFF2-40B4-BE49-F238E27FC236}">
                <a16:creationId xmlns:a16="http://schemas.microsoft.com/office/drawing/2014/main" id="{0725FC70-32FA-4215-9BFF-4ECA0B0F9F1F}"/>
              </a:ext>
            </a:extLst>
          </p:cNvPr>
          <p:cNvSpPr/>
          <p:nvPr/>
        </p:nvSpPr>
        <p:spPr>
          <a:xfrm>
            <a:off x="88969" y="88969"/>
            <a:ext cx="9939775" cy="7260830"/>
          </a:xfrm>
          <a:prstGeom prst="roundRect">
            <a:avLst/>
          </a:prstGeom>
          <a:solidFill>
            <a:srgbClr val="FF0000">
              <a:alpha val="8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3"/>
            <a:r>
              <a:rPr lang="pl-PL" sz="16000" dirty="0">
                <a:solidFill>
                  <a:srgbClr val="FFFF00"/>
                </a:solidFill>
              </a:rPr>
              <a:t>DEMO</a:t>
            </a:r>
            <a:endParaRPr lang="en-US" sz="16000" dirty="0"/>
          </a:p>
        </p:txBody>
      </p:sp>
    </p:spTree>
    <p:extLst>
      <p:ext uri="{BB962C8B-B14F-4D97-AF65-F5344CB8AC3E}">
        <p14:creationId xmlns:p14="http://schemas.microsoft.com/office/powerpoint/2010/main" val="19364332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69</a:t>
            </a:fld>
            <a:endParaRPr lang="en-GB"/>
          </a:p>
        </p:txBody>
      </p:sp>
      <p:sp>
        <p:nvSpPr>
          <p:cNvPr id="2" name="Title 1"/>
          <p:cNvSpPr txBox="1">
            <a:spLocks noGrp="1"/>
          </p:cNvSpPr>
          <p:nvPr>
            <p:ph type="title" idx="4294967295"/>
          </p:nvPr>
        </p:nvSpPr>
        <p:spPr>
          <a:xfrm>
            <a:off x="0" y="179255"/>
            <a:ext cx="9755188" cy="1130566"/>
          </a:xfrm>
        </p:spPr>
        <p:txBody>
          <a:bodyPr>
            <a:spAutoFit/>
          </a:bodyPr>
          <a:lstStyle/>
          <a:p>
            <a:pPr marR="360000" lvl="0"/>
            <a:r>
              <a:rPr lang="pl-PL" dirty="0">
                <a:solidFill>
                  <a:schemeClr val="accent1"/>
                </a:solidFill>
              </a:rPr>
              <a:t>How to report and fix the bug in ISA </a:t>
            </a:r>
            <a:r>
              <a:rPr lang="pl-PL" dirty="0">
                <a:solidFill>
                  <a:srgbClr val="C00000"/>
                </a:solidFill>
              </a:rPr>
              <a:t>not </a:t>
            </a:r>
            <a:r>
              <a:rPr lang="pl-PL" dirty="0">
                <a:solidFill>
                  <a:schemeClr val="accent1"/>
                </a:solidFill>
              </a:rPr>
              <a:t>implementation?</a:t>
            </a:r>
            <a:endParaRPr lang="en-US" dirty="0">
              <a:solidFill>
                <a:srgbClr val="C00000"/>
              </a:solidFill>
            </a:endParaRPr>
          </a:p>
        </p:txBody>
      </p:sp>
      <p:pic>
        <p:nvPicPr>
          <p:cNvPr id="5" name="Picture 4">
            <a:extLst>
              <a:ext uri="{FF2B5EF4-FFF2-40B4-BE49-F238E27FC236}">
                <a16:creationId xmlns:a16="http://schemas.microsoft.com/office/drawing/2014/main" id="{40D19BCB-30CF-43EC-91FB-EA609C9E881D}"/>
              </a:ext>
            </a:extLst>
          </p:cNvPr>
          <p:cNvPicPr>
            <a:picLocks/>
          </p:cNvPicPr>
          <p:nvPr/>
        </p:nvPicPr>
        <p:blipFill>
          <a:blip r:embed="rId3"/>
          <a:stretch>
            <a:fillRect/>
          </a:stretch>
        </p:blipFill>
        <p:spPr>
          <a:xfrm>
            <a:off x="2400549" y="1531134"/>
            <a:ext cx="4954089" cy="4954089"/>
          </a:xfrm>
          <a:prstGeom prst="rect">
            <a:avLst/>
          </a:prstGeom>
        </p:spPr>
      </p:pic>
    </p:spTree>
    <p:extLst>
      <p:ext uri="{BB962C8B-B14F-4D97-AF65-F5344CB8AC3E}">
        <p14:creationId xmlns:p14="http://schemas.microsoft.com/office/powerpoint/2010/main" val="36756350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70</a:t>
            </a:fld>
            <a:endParaRPr lang="en-GB"/>
          </a:p>
        </p:txBody>
      </p:sp>
      <p:sp>
        <p:nvSpPr>
          <p:cNvPr id="2" name="Title 1"/>
          <p:cNvSpPr txBox="1">
            <a:spLocks noGrp="1"/>
          </p:cNvSpPr>
          <p:nvPr>
            <p:ph type="title" idx="4294967295"/>
          </p:nvPr>
        </p:nvSpPr>
        <p:spPr>
          <a:xfrm>
            <a:off x="0" y="179255"/>
            <a:ext cx="9755188" cy="1130566"/>
          </a:xfrm>
        </p:spPr>
        <p:txBody>
          <a:bodyPr>
            <a:spAutoFit/>
          </a:bodyPr>
          <a:lstStyle/>
          <a:p>
            <a:pPr marR="360000" lvl="0"/>
            <a:r>
              <a:rPr lang="pl-PL" dirty="0">
                <a:solidFill>
                  <a:schemeClr val="accent1"/>
                </a:solidFill>
              </a:rPr>
              <a:t>How to report and fix the bug in ISA </a:t>
            </a:r>
            <a:r>
              <a:rPr lang="pl-PL" dirty="0">
                <a:solidFill>
                  <a:srgbClr val="C00000"/>
                </a:solidFill>
              </a:rPr>
              <a:t>not </a:t>
            </a:r>
            <a:r>
              <a:rPr lang="pl-PL" dirty="0">
                <a:solidFill>
                  <a:schemeClr val="accent1"/>
                </a:solidFill>
              </a:rPr>
              <a:t>implementation?</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0" y="1636039"/>
            <a:ext cx="10167138" cy="5779531"/>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a:t>
            </a:r>
            <a:r>
              <a:rPr lang="pl-PL" sz="1800" dirty="0">
                <a:effectLst/>
              </a:rPr>
              <a:t>(s) affects</a:t>
            </a:r>
            <a:r>
              <a:rPr lang="en-US" sz="1800" dirty="0">
                <a:effectLst/>
              </a:rPr>
              <a:t>: </a:t>
            </a:r>
            <a:endParaRPr lang="pl-PL" sz="1800" dirty="0">
              <a:effectLst/>
            </a:endParaRPr>
          </a:p>
          <a:p>
            <a:pPr marL="961171" lvl="1" indent="-457200">
              <a:buFont typeface="Wingdings" panose="05000000000000000000" pitchFamily="2" charset="2"/>
              <a:buChar char="v"/>
            </a:pPr>
            <a:r>
              <a:rPr lang="en-US" sz="1400" dirty="0">
                <a:effectLst/>
              </a:rPr>
              <a:t>Uninitialized MTVEC:</a:t>
            </a:r>
          </a:p>
          <a:p>
            <a:pPr marL="1465143" lvl="2" indent="-457200">
              <a:buFont typeface="Wingdings" panose="05000000000000000000" pitchFamily="2" charset="2"/>
              <a:buChar char="v"/>
            </a:pPr>
            <a:r>
              <a:rPr lang="en-US" sz="1200" dirty="0">
                <a:effectLst/>
              </a:rPr>
              <a:t>All tested chips have MTVEC programmable (the most common mode) vulnerable to the described problem </a:t>
            </a:r>
          </a:p>
          <a:p>
            <a:pPr marL="1465143" lvl="2" indent="-457200">
              <a:buFont typeface="Wingdings" panose="05000000000000000000" pitchFamily="2" charset="2"/>
              <a:buChar char="v"/>
            </a:pPr>
            <a:r>
              <a:rPr lang="en-US" sz="1200" dirty="0">
                <a:effectLst/>
              </a:rPr>
              <a:t>Standard allows to have hardcoded read-only MTVEC value – in such case, it might point to the valid address (no bug)</a:t>
            </a:r>
          </a:p>
          <a:p>
            <a:pPr marL="961171" lvl="1" indent="-457200">
              <a:buFont typeface="Wingdings" panose="05000000000000000000" pitchFamily="2" charset="2"/>
              <a:buChar char="v"/>
            </a:pPr>
            <a:r>
              <a:rPr lang="en-US" sz="1400" dirty="0">
                <a:effectLst/>
              </a:rPr>
              <a:t>Lack of "double/triple fault"-like exception</a:t>
            </a:r>
          </a:p>
          <a:p>
            <a:pPr marL="1465143" lvl="2" indent="-457200">
              <a:buFont typeface="Wingdings" panose="05000000000000000000" pitchFamily="2" charset="2"/>
              <a:buChar char="v"/>
            </a:pPr>
            <a:r>
              <a:rPr lang="en-US" sz="1200" dirty="0">
                <a:effectLst/>
              </a:rPr>
              <a:t>Standard doesn’t define that at all – affects all the implementations</a:t>
            </a:r>
          </a:p>
          <a:p>
            <a:pPr marL="457200" indent="-457200">
              <a:buFont typeface="Wingdings" panose="05000000000000000000" pitchFamily="2" charset="2"/>
              <a:buChar char="v"/>
            </a:pPr>
            <a:r>
              <a:rPr lang="pl-PL" sz="1800" dirty="0">
                <a:effectLst/>
              </a:rPr>
              <a:t>What did we do? </a:t>
            </a:r>
          </a:p>
          <a:p>
            <a:pPr marL="961171" lvl="1" indent="-457200">
              <a:buFont typeface="Wingdings" panose="05000000000000000000" pitchFamily="2" charset="2"/>
              <a:buChar char="v"/>
            </a:pPr>
            <a:r>
              <a:rPr lang="pl-PL" sz="1400" dirty="0">
                <a:effectLst/>
              </a:rPr>
              <a:t>Contact RISC-V Foundation</a:t>
            </a:r>
          </a:p>
          <a:p>
            <a:pPr marL="1465143" lvl="2" indent="-457200">
              <a:buFont typeface="Wingdings" panose="05000000000000000000" pitchFamily="2" charset="2"/>
              <a:buChar char="v"/>
            </a:pPr>
            <a:r>
              <a:rPr lang="pl-PL" sz="1200" dirty="0">
                <a:effectLst/>
              </a:rPr>
              <a:t>Until that time, there w</a:t>
            </a:r>
            <a:r>
              <a:rPr lang="en-US" sz="1200" dirty="0">
                <a:effectLst/>
              </a:rPr>
              <a:t>as</a:t>
            </a:r>
            <a:r>
              <a:rPr lang="pl-PL" sz="1200" dirty="0">
                <a:effectLst/>
              </a:rPr>
              <a:t> no official security </a:t>
            </a:r>
            <a:r>
              <a:rPr lang="en-US" sz="1200" dirty="0">
                <a:effectLst/>
              </a:rPr>
              <a:t>response</a:t>
            </a:r>
            <a:r>
              <a:rPr lang="pl-PL" sz="1200" dirty="0">
                <a:effectLst/>
              </a:rPr>
              <a:t> group – now </a:t>
            </a:r>
            <a:r>
              <a:rPr lang="en-US" sz="1200" dirty="0">
                <a:effectLst/>
              </a:rPr>
              <a:t>there is </a:t>
            </a:r>
            <a:r>
              <a:rPr lang="pl-PL" sz="1200" dirty="0">
                <a:effectLst/>
              </a:rPr>
              <a:t>one!</a:t>
            </a:r>
          </a:p>
          <a:p>
            <a:pPr marL="961171" lvl="1" indent="-457200">
              <a:buFont typeface="Wingdings" panose="05000000000000000000" pitchFamily="2" charset="2"/>
              <a:buChar char="v"/>
            </a:pPr>
            <a:r>
              <a:rPr lang="pl-PL" sz="1400" dirty="0">
                <a:effectLst/>
              </a:rPr>
              <a:t>Contact SiFive</a:t>
            </a:r>
          </a:p>
          <a:p>
            <a:pPr marL="1465143" lvl="2" indent="-457200">
              <a:buFont typeface="Wingdings" panose="05000000000000000000" pitchFamily="2" charset="2"/>
              <a:buChar char="v"/>
            </a:pPr>
            <a:r>
              <a:rPr lang="pl-PL" sz="1200" dirty="0">
                <a:effectLst/>
              </a:rPr>
              <a:t>They were deeply involved in analyzing and working with the RISC-V Foundation to address the issue!</a:t>
            </a:r>
          </a:p>
          <a:p>
            <a:pPr marL="1465143" lvl="2" indent="-457200">
              <a:buFont typeface="Wingdings" panose="05000000000000000000" pitchFamily="2" charset="2"/>
              <a:buChar char="v"/>
            </a:pPr>
            <a:r>
              <a:rPr lang="pl-PL" sz="1200" dirty="0">
                <a:effectLst/>
              </a:rPr>
              <a:t>New CVE was allocated – </a:t>
            </a:r>
            <a:r>
              <a:rPr lang="pl-PL" sz="1359" b="1" dirty="0">
                <a:solidFill>
                  <a:srgbClr val="FF0000"/>
                </a:solidFill>
                <a:effectLst/>
              </a:rPr>
              <a:t>CVE-2021-1104</a:t>
            </a:r>
          </a:p>
          <a:p>
            <a:pPr marL="961171" lvl="1" indent="-457200">
              <a:buFont typeface="Wingdings" panose="05000000000000000000" pitchFamily="2" charset="2"/>
              <a:buChar char="v"/>
            </a:pPr>
            <a:r>
              <a:rPr lang="pl-PL" sz="1400" dirty="0">
                <a:effectLst/>
              </a:rPr>
              <a:t>Contact NVIDIA’s internal RISC-V HW team</a:t>
            </a:r>
          </a:p>
          <a:p>
            <a:pPr marL="1465143" lvl="2" indent="-457200">
              <a:buFont typeface="Wingdings" panose="05000000000000000000" pitchFamily="2" charset="2"/>
              <a:buChar char="v"/>
            </a:pPr>
            <a:r>
              <a:rPr lang="pl-PL" sz="1200" dirty="0">
                <a:effectLst/>
              </a:rPr>
              <a:t>They confirmed and fixed the issue internally</a:t>
            </a:r>
          </a:p>
          <a:p>
            <a:pPr marL="1465143" lvl="2" indent="-457200">
              <a:buFont typeface="Wingdings" panose="05000000000000000000" pitchFamily="2" charset="2"/>
              <a:buChar char="v"/>
            </a:pPr>
            <a:r>
              <a:rPr lang="pl-PL" sz="1200" dirty="0">
                <a:effectLst/>
              </a:rPr>
              <a:t>Sync with all involved parties for responsible disclosure</a:t>
            </a:r>
          </a:p>
          <a:p>
            <a:pPr marL="457200" indent="-457200">
              <a:buFont typeface="Wingdings" panose="05000000000000000000" pitchFamily="2" charset="2"/>
              <a:buChar char="v"/>
            </a:pPr>
            <a:r>
              <a:rPr lang="pl-PL" sz="1800" dirty="0">
                <a:effectLst/>
              </a:rPr>
              <a:t>How to inform all the vendors (hundred+) about the issue(s)?</a:t>
            </a:r>
          </a:p>
          <a:p>
            <a:pPr marL="961171" lvl="1" indent="-457200">
              <a:buFont typeface="Wingdings" panose="05000000000000000000" pitchFamily="2" charset="2"/>
              <a:buChar char="v"/>
            </a:pPr>
            <a:r>
              <a:rPr lang="pl-PL" sz="1400" dirty="0">
                <a:effectLst/>
              </a:rPr>
              <a:t>It can only be done through the RISC-V Foundation (with the SiFive help)</a:t>
            </a:r>
          </a:p>
        </p:txBody>
      </p:sp>
      <p:sp>
        <p:nvSpPr>
          <p:cNvPr id="6" name="TextBox 5">
            <a:extLst>
              <a:ext uri="{FF2B5EF4-FFF2-40B4-BE49-F238E27FC236}">
                <a16:creationId xmlns:a16="http://schemas.microsoft.com/office/drawing/2014/main" id="{1AB3032E-86E1-4225-9831-CDA63661A6B0}"/>
              </a:ext>
            </a:extLst>
          </p:cNvPr>
          <p:cNvSpPr txBox="1"/>
          <p:nvPr/>
        </p:nvSpPr>
        <p:spPr>
          <a:xfrm>
            <a:off x="4417538" y="1908570"/>
            <a:ext cx="5337649" cy="369332"/>
          </a:xfrm>
          <a:prstGeom prst="rect">
            <a:avLst/>
          </a:prstGeom>
          <a:noFill/>
        </p:spPr>
        <p:txBody>
          <a:bodyPr wrap="square">
            <a:spAutoFit/>
          </a:bodyPr>
          <a:lstStyle/>
          <a:p>
            <a:r>
              <a:rPr lang="en-US" dirty="0"/>
              <a:t>custom extension might fix that problems as well</a:t>
            </a:r>
          </a:p>
        </p:txBody>
      </p:sp>
      <p:sp>
        <p:nvSpPr>
          <p:cNvPr id="5" name="Rectangle: Rounded Corners 4">
            <a:extLst>
              <a:ext uri="{FF2B5EF4-FFF2-40B4-BE49-F238E27FC236}">
                <a16:creationId xmlns:a16="http://schemas.microsoft.com/office/drawing/2014/main" id="{31CE8F31-0464-4B09-9811-42BBFE3FF70C}"/>
              </a:ext>
            </a:extLst>
          </p:cNvPr>
          <p:cNvSpPr/>
          <p:nvPr/>
        </p:nvSpPr>
        <p:spPr>
          <a:xfrm>
            <a:off x="4438547" y="1962253"/>
            <a:ext cx="5316640" cy="296562"/>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Connector: Elbow 10">
            <a:extLst>
              <a:ext uri="{FF2B5EF4-FFF2-40B4-BE49-F238E27FC236}">
                <a16:creationId xmlns:a16="http://schemas.microsoft.com/office/drawing/2014/main" id="{F8EE5778-2561-43F7-AA19-427F093EBA0F}"/>
              </a:ext>
            </a:extLst>
          </p:cNvPr>
          <p:cNvCxnSpPr>
            <a:cxnSpLocks/>
            <a:stCxn id="6" idx="3"/>
          </p:cNvCxnSpPr>
          <p:nvPr/>
        </p:nvCxnSpPr>
        <p:spPr>
          <a:xfrm flipH="1">
            <a:off x="4591773" y="2093236"/>
            <a:ext cx="5163414" cy="1060208"/>
          </a:xfrm>
          <a:prstGeom prst="bentConnector3">
            <a:avLst>
              <a:gd name="adj1" fmla="val -4427"/>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9BD955D-07B7-43C8-BDCE-F5D358B6D33D}"/>
              </a:ext>
            </a:extLst>
          </p:cNvPr>
          <p:cNvCxnSpPr>
            <a:stCxn id="5" idx="1"/>
          </p:cNvCxnSpPr>
          <p:nvPr/>
        </p:nvCxnSpPr>
        <p:spPr>
          <a:xfrm flipH="1">
            <a:off x="2807455" y="2110534"/>
            <a:ext cx="1631092" cy="9885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68778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Tree>
    <p:extLst>
      <p:ext uri="{BB962C8B-B14F-4D97-AF65-F5344CB8AC3E}">
        <p14:creationId xmlns:p14="http://schemas.microsoft.com/office/powerpoint/2010/main" val="3213482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spTree>
    <p:extLst>
      <p:ext uri="{BB962C8B-B14F-4D97-AF65-F5344CB8AC3E}">
        <p14:creationId xmlns:p14="http://schemas.microsoft.com/office/powerpoint/2010/main" val="4065329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solidFill>
                  <a:srgbClr val="FF0000"/>
                </a:solidFill>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spTree>
    <p:extLst>
      <p:ext uri="{BB962C8B-B14F-4D97-AF65-F5344CB8AC3E}">
        <p14:creationId xmlns:p14="http://schemas.microsoft.com/office/powerpoint/2010/main" val="17189646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solidFill>
                  <a:srgbClr val="FF0000"/>
                </a:solidFill>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pic>
        <p:nvPicPr>
          <p:cNvPr id="50" name="Picture 49" descr="A close-up of a map&#10;&#10;Description automatically generated with medium confidence">
            <a:extLst>
              <a:ext uri="{FF2B5EF4-FFF2-40B4-BE49-F238E27FC236}">
                <a16:creationId xmlns:a16="http://schemas.microsoft.com/office/drawing/2014/main" id="{28B55AA4-6405-42BC-A74A-ED85CC88E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6394" y="4613933"/>
            <a:ext cx="529173" cy="369585"/>
          </a:xfrm>
          <a:prstGeom prst="rect">
            <a:avLst/>
          </a:prstGeom>
          <a:ln>
            <a:solidFill>
              <a:srgbClr val="00B0F0"/>
            </a:solidFill>
          </a:ln>
        </p:spPr>
      </p:pic>
      <p:sp>
        <p:nvSpPr>
          <p:cNvPr id="51" name="Rectangle 50">
            <a:extLst>
              <a:ext uri="{FF2B5EF4-FFF2-40B4-BE49-F238E27FC236}">
                <a16:creationId xmlns:a16="http://schemas.microsoft.com/office/drawing/2014/main" id="{A448864A-F6E0-478A-8B0D-A48FA6531343}"/>
              </a:ext>
            </a:extLst>
          </p:cNvPr>
          <p:cNvSpPr/>
          <p:nvPr/>
        </p:nvSpPr>
        <p:spPr>
          <a:xfrm>
            <a:off x="2476295" y="461393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A2BE7718-616A-4785-AE23-5F0826B4916C}"/>
              </a:ext>
            </a:extLst>
          </p:cNvPr>
          <p:cNvCxnSpPr>
            <a:cxnSpLocks/>
          </p:cNvCxnSpPr>
          <p:nvPr/>
        </p:nvCxnSpPr>
        <p:spPr>
          <a:xfrm flipV="1">
            <a:off x="2557883"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AAD020-D9B8-4A31-B810-014A8BB6B157}"/>
              </a:ext>
            </a:extLst>
          </p:cNvPr>
          <p:cNvCxnSpPr>
            <a:cxnSpLocks/>
          </p:cNvCxnSpPr>
          <p:nvPr/>
        </p:nvCxnSpPr>
        <p:spPr>
          <a:xfrm flipV="1">
            <a:off x="268588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ECEE9E-1E76-49D8-B691-AE87DFA2B6B7}"/>
              </a:ext>
            </a:extLst>
          </p:cNvPr>
          <p:cNvCxnSpPr>
            <a:cxnSpLocks/>
          </p:cNvCxnSpPr>
          <p:nvPr/>
        </p:nvCxnSpPr>
        <p:spPr>
          <a:xfrm flipV="1">
            <a:off x="279635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44BA62-EF65-4B56-B890-FB5A4FF16FB4}"/>
              </a:ext>
            </a:extLst>
          </p:cNvPr>
          <p:cNvCxnSpPr>
            <a:cxnSpLocks/>
          </p:cNvCxnSpPr>
          <p:nvPr/>
        </p:nvCxnSpPr>
        <p:spPr>
          <a:xfrm flipV="1">
            <a:off x="2913534"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ABF62D-1849-4FDB-AA62-68A221199E42}"/>
              </a:ext>
            </a:extLst>
          </p:cNvPr>
          <p:cNvCxnSpPr>
            <a:cxnSpLocks/>
          </p:cNvCxnSpPr>
          <p:nvPr/>
        </p:nvCxnSpPr>
        <p:spPr>
          <a:xfrm flipV="1">
            <a:off x="303450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ED4CCE-C41A-471B-B018-D0709AEDB5D3}"/>
              </a:ext>
            </a:extLst>
          </p:cNvPr>
          <p:cNvCxnSpPr>
            <a:cxnSpLocks/>
          </p:cNvCxnSpPr>
          <p:nvPr/>
        </p:nvCxnSpPr>
        <p:spPr>
          <a:xfrm flipH="1">
            <a:off x="2267296" y="465202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0959C2-CF73-4CC9-93FE-1A64B5F0F4FE}"/>
              </a:ext>
            </a:extLst>
          </p:cNvPr>
          <p:cNvCxnSpPr>
            <a:cxnSpLocks/>
          </p:cNvCxnSpPr>
          <p:nvPr/>
        </p:nvCxnSpPr>
        <p:spPr>
          <a:xfrm flipH="1">
            <a:off x="2267296" y="475448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629AE07-9FE1-45A0-8C22-7AEE760954A7}"/>
              </a:ext>
            </a:extLst>
          </p:cNvPr>
          <p:cNvCxnSpPr>
            <a:cxnSpLocks/>
          </p:cNvCxnSpPr>
          <p:nvPr/>
        </p:nvCxnSpPr>
        <p:spPr>
          <a:xfrm flipH="1">
            <a:off x="2267296" y="485103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304D0A9-B690-4643-962D-17A1824BD460}"/>
              </a:ext>
            </a:extLst>
          </p:cNvPr>
          <p:cNvCxnSpPr>
            <a:cxnSpLocks/>
          </p:cNvCxnSpPr>
          <p:nvPr/>
        </p:nvCxnSpPr>
        <p:spPr>
          <a:xfrm flipH="1">
            <a:off x="2267296" y="495589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5A16271-4852-45A8-A60C-A9B53428202C}"/>
              </a:ext>
            </a:extLst>
          </p:cNvPr>
          <p:cNvCxnSpPr>
            <a:cxnSpLocks/>
          </p:cNvCxnSpPr>
          <p:nvPr/>
        </p:nvCxnSpPr>
        <p:spPr>
          <a:xfrm flipV="1">
            <a:off x="2557883"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E15FC9-1EAE-4DC4-B306-D13D25FE7490}"/>
              </a:ext>
            </a:extLst>
          </p:cNvPr>
          <p:cNvCxnSpPr>
            <a:cxnSpLocks/>
          </p:cNvCxnSpPr>
          <p:nvPr/>
        </p:nvCxnSpPr>
        <p:spPr>
          <a:xfrm flipV="1">
            <a:off x="268588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F5F3AA-99EA-4B32-AB86-924A4AE18C1D}"/>
              </a:ext>
            </a:extLst>
          </p:cNvPr>
          <p:cNvCxnSpPr>
            <a:cxnSpLocks/>
          </p:cNvCxnSpPr>
          <p:nvPr/>
        </p:nvCxnSpPr>
        <p:spPr>
          <a:xfrm flipV="1">
            <a:off x="279635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ECE02F-EA7A-461A-AC45-6CEEDFA893EA}"/>
              </a:ext>
            </a:extLst>
          </p:cNvPr>
          <p:cNvCxnSpPr>
            <a:cxnSpLocks/>
          </p:cNvCxnSpPr>
          <p:nvPr/>
        </p:nvCxnSpPr>
        <p:spPr>
          <a:xfrm flipV="1">
            <a:off x="2913534"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4D45D8A-F006-476E-9CF0-AB32A8A319FD}"/>
              </a:ext>
            </a:extLst>
          </p:cNvPr>
          <p:cNvCxnSpPr>
            <a:cxnSpLocks/>
          </p:cNvCxnSpPr>
          <p:nvPr/>
        </p:nvCxnSpPr>
        <p:spPr>
          <a:xfrm flipV="1">
            <a:off x="303450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22088B4-541F-4987-A4D9-447D4015D197}"/>
              </a:ext>
            </a:extLst>
          </p:cNvPr>
          <p:cNvCxnSpPr>
            <a:cxnSpLocks/>
          </p:cNvCxnSpPr>
          <p:nvPr/>
        </p:nvCxnSpPr>
        <p:spPr>
          <a:xfrm flipH="1">
            <a:off x="3180108" y="463297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07BADD-B465-40FA-A79D-6F8AAB0E56F4}"/>
              </a:ext>
            </a:extLst>
          </p:cNvPr>
          <p:cNvCxnSpPr>
            <a:cxnSpLocks/>
          </p:cNvCxnSpPr>
          <p:nvPr/>
        </p:nvCxnSpPr>
        <p:spPr>
          <a:xfrm flipH="1">
            <a:off x="3180108" y="473543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60A241B-20D7-46B8-A911-F8786FADE5BA}"/>
              </a:ext>
            </a:extLst>
          </p:cNvPr>
          <p:cNvCxnSpPr>
            <a:cxnSpLocks/>
          </p:cNvCxnSpPr>
          <p:nvPr/>
        </p:nvCxnSpPr>
        <p:spPr>
          <a:xfrm flipH="1">
            <a:off x="3180108" y="483198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4DC727F-44F4-4428-8251-E1D646C0D589}"/>
              </a:ext>
            </a:extLst>
          </p:cNvPr>
          <p:cNvCxnSpPr>
            <a:cxnSpLocks/>
          </p:cNvCxnSpPr>
          <p:nvPr/>
        </p:nvCxnSpPr>
        <p:spPr>
          <a:xfrm flipH="1">
            <a:off x="3180108" y="493684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70" name="Speech Bubble: Rectangle with Corners Rounded 69">
            <a:extLst>
              <a:ext uri="{FF2B5EF4-FFF2-40B4-BE49-F238E27FC236}">
                <a16:creationId xmlns:a16="http://schemas.microsoft.com/office/drawing/2014/main" id="{6B17E86B-4F9D-4B29-9E8C-ECD763BCD63D}"/>
              </a:ext>
            </a:extLst>
          </p:cNvPr>
          <p:cNvSpPr/>
          <p:nvPr/>
        </p:nvSpPr>
        <p:spPr>
          <a:xfrm>
            <a:off x="1146211" y="3932451"/>
            <a:ext cx="1149675" cy="520887"/>
          </a:xfrm>
          <a:prstGeom prst="wedgeRoundRectCallout">
            <a:avLst>
              <a:gd name="adj1" fmla="val 63432"/>
              <a:gd name="adj2" fmla="val 7483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CPU_1</a:t>
            </a:r>
          </a:p>
        </p:txBody>
      </p:sp>
    </p:spTree>
    <p:extLst>
      <p:ext uri="{BB962C8B-B14F-4D97-AF65-F5344CB8AC3E}">
        <p14:creationId xmlns:p14="http://schemas.microsoft.com/office/powerpoint/2010/main" val="6825861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solidFill>
                  <a:srgbClr val="FF0000"/>
                </a:solidFill>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pic>
        <p:nvPicPr>
          <p:cNvPr id="50" name="Picture 49" descr="A close-up of a map&#10;&#10;Description automatically generated with medium confidence">
            <a:extLst>
              <a:ext uri="{FF2B5EF4-FFF2-40B4-BE49-F238E27FC236}">
                <a16:creationId xmlns:a16="http://schemas.microsoft.com/office/drawing/2014/main" id="{28B55AA4-6405-42BC-A74A-ED85CC88E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6394" y="4613933"/>
            <a:ext cx="529173" cy="369585"/>
          </a:xfrm>
          <a:prstGeom prst="rect">
            <a:avLst/>
          </a:prstGeom>
          <a:ln>
            <a:solidFill>
              <a:srgbClr val="00B0F0"/>
            </a:solidFill>
          </a:ln>
        </p:spPr>
      </p:pic>
      <p:sp>
        <p:nvSpPr>
          <p:cNvPr id="51" name="Rectangle 50">
            <a:extLst>
              <a:ext uri="{FF2B5EF4-FFF2-40B4-BE49-F238E27FC236}">
                <a16:creationId xmlns:a16="http://schemas.microsoft.com/office/drawing/2014/main" id="{A448864A-F6E0-478A-8B0D-A48FA6531343}"/>
              </a:ext>
            </a:extLst>
          </p:cNvPr>
          <p:cNvSpPr/>
          <p:nvPr/>
        </p:nvSpPr>
        <p:spPr>
          <a:xfrm>
            <a:off x="2476295" y="461393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A2BE7718-616A-4785-AE23-5F0826B4916C}"/>
              </a:ext>
            </a:extLst>
          </p:cNvPr>
          <p:cNvCxnSpPr>
            <a:cxnSpLocks/>
          </p:cNvCxnSpPr>
          <p:nvPr/>
        </p:nvCxnSpPr>
        <p:spPr>
          <a:xfrm flipV="1">
            <a:off x="2557883"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AAD020-D9B8-4A31-B810-014A8BB6B157}"/>
              </a:ext>
            </a:extLst>
          </p:cNvPr>
          <p:cNvCxnSpPr>
            <a:cxnSpLocks/>
          </p:cNvCxnSpPr>
          <p:nvPr/>
        </p:nvCxnSpPr>
        <p:spPr>
          <a:xfrm flipV="1">
            <a:off x="268588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ECEE9E-1E76-49D8-B691-AE87DFA2B6B7}"/>
              </a:ext>
            </a:extLst>
          </p:cNvPr>
          <p:cNvCxnSpPr>
            <a:cxnSpLocks/>
          </p:cNvCxnSpPr>
          <p:nvPr/>
        </p:nvCxnSpPr>
        <p:spPr>
          <a:xfrm flipV="1">
            <a:off x="279635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44BA62-EF65-4B56-B890-FB5A4FF16FB4}"/>
              </a:ext>
            </a:extLst>
          </p:cNvPr>
          <p:cNvCxnSpPr>
            <a:cxnSpLocks/>
          </p:cNvCxnSpPr>
          <p:nvPr/>
        </p:nvCxnSpPr>
        <p:spPr>
          <a:xfrm flipV="1">
            <a:off x="2913534"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ABF62D-1849-4FDB-AA62-68A221199E42}"/>
              </a:ext>
            </a:extLst>
          </p:cNvPr>
          <p:cNvCxnSpPr>
            <a:cxnSpLocks/>
          </p:cNvCxnSpPr>
          <p:nvPr/>
        </p:nvCxnSpPr>
        <p:spPr>
          <a:xfrm flipV="1">
            <a:off x="303450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ED4CCE-C41A-471B-B018-D0709AEDB5D3}"/>
              </a:ext>
            </a:extLst>
          </p:cNvPr>
          <p:cNvCxnSpPr>
            <a:cxnSpLocks/>
          </p:cNvCxnSpPr>
          <p:nvPr/>
        </p:nvCxnSpPr>
        <p:spPr>
          <a:xfrm flipH="1">
            <a:off x="2267296" y="465202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0959C2-CF73-4CC9-93FE-1A64B5F0F4FE}"/>
              </a:ext>
            </a:extLst>
          </p:cNvPr>
          <p:cNvCxnSpPr>
            <a:cxnSpLocks/>
          </p:cNvCxnSpPr>
          <p:nvPr/>
        </p:nvCxnSpPr>
        <p:spPr>
          <a:xfrm flipH="1">
            <a:off x="2267296" y="475448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629AE07-9FE1-45A0-8C22-7AEE760954A7}"/>
              </a:ext>
            </a:extLst>
          </p:cNvPr>
          <p:cNvCxnSpPr>
            <a:cxnSpLocks/>
          </p:cNvCxnSpPr>
          <p:nvPr/>
        </p:nvCxnSpPr>
        <p:spPr>
          <a:xfrm flipH="1">
            <a:off x="2267296" y="485103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304D0A9-B690-4643-962D-17A1824BD460}"/>
              </a:ext>
            </a:extLst>
          </p:cNvPr>
          <p:cNvCxnSpPr>
            <a:cxnSpLocks/>
          </p:cNvCxnSpPr>
          <p:nvPr/>
        </p:nvCxnSpPr>
        <p:spPr>
          <a:xfrm flipH="1">
            <a:off x="2267296" y="495589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5A16271-4852-45A8-A60C-A9B53428202C}"/>
              </a:ext>
            </a:extLst>
          </p:cNvPr>
          <p:cNvCxnSpPr>
            <a:cxnSpLocks/>
          </p:cNvCxnSpPr>
          <p:nvPr/>
        </p:nvCxnSpPr>
        <p:spPr>
          <a:xfrm flipV="1">
            <a:off x="2557883"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E15FC9-1EAE-4DC4-B306-D13D25FE7490}"/>
              </a:ext>
            </a:extLst>
          </p:cNvPr>
          <p:cNvCxnSpPr>
            <a:cxnSpLocks/>
          </p:cNvCxnSpPr>
          <p:nvPr/>
        </p:nvCxnSpPr>
        <p:spPr>
          <a:xfrm flipV="1">
            <a:off x="268588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F5F3AA-99EA-4B32-AB86-924A4AE18C1D}"/>
              </a:ext>
            </a:extLst>
          </p:cNvPr>
          <p:cNvCxnSpPr>
            <a:cxnSpLocks/>
          </p:cNvCxnSpPr>
          <p:nvPr/>
        </p:nvCxnSpPr>
        <p:spPr>
          <a:xfrm flipV="1">
            <a:off x="279635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ECE02F-EA7A-461A-AC45-6CEEDFA893EA}"/>
              </a:ext>
            </a:extLst>
          </p:cNvPr>
          <p:cNvCxnSpPr>
            <a:cxnSpLocks/>
          </p:cNvCxnSpPr>
          <p:nvPr/>
        </p:nvCxnSpPr>
        <p:spPr>
          <a:xfrm flipV="1">
            <a:off x="2913534"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4D45D8A-F006-476E-9CF0-AB32A8A319FD}"/>
              </a:ext>
            </a:extLst>
          </p:cNvPr>
          <p:cNvCxnSpPr>
            <a:cxnSpLocks/>
          </p:cNvCxnSpPr>
          <p:nvPr/>
        </p:nvCxnSpPr>
        <p:spPr>
          <a:xfrm flipV="1">
            <a:off x="303450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22088B4-541F-4987-A4D9-447D4015D197}"/>
              </a:ext>
            </a:extLst>
          </p:cNvPr>
          <p:cNvCxnSpPr>
            <a:cxnSpLocks/>
          </p:cNvCxnSpPr>
          <p:nvPr/>
        </p:nvCxnSpPr>
        <p:spPr>
          <a:xfrm flipH="1">
            <a:off x="3180108" y="463297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07BADD-B465-40FA-A79D-6F8AAB0E56F4}"/>
              </a:ext>
            </a:extLst>
          </p:cNvPr>
          <p:cNvCxnSpPr>
            <a:cxnSpLocks/>
          </p:cNvCxnSpPr>
          <p:nvPr/>
        </p:nvCxnSpPr>
        <p:spPr>
          <a:xfrm flipH="1">
            <a:off x="3180108" y="473543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60A241B-20D7-46B8-A911-F8786FADE5BA}"/>
              </a:ext>
            </a:extLst>
          </p:cNvPr>
          <p:cNvCxnSpPr>
            <a:cxnSpLocks/>
          </p:cNvCxnSpPr>
          <p:nvPr/>
        </p:nvCxnSpPr>
        <p:spPr>
          <a:xfrm flipH="1">
            <a:off x="3180108" y="483198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4DC727F-44F4-4428-8251-E1D646C0D589}"/>
              </a:ext>
            </a:extLst>
          </p:cNvPr>
          <p:cNvCxnSpPr>
            <a:cxnSpLocks/>
          </p:cNvCxnSpPr>
          <p:nvPr/>
        </p:nvCxnSpPr>
        <p:spPr>
          <a:xfrm flipH="1">
            <a:off x="3180108" y="493684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25" name="Picture 24" descr="A close-up of a map&#10;&#10;Description automatically generated with medium confidence">
            <a:extLst>
              <a:ext uri="{FF2B5EF4-FFF2-40B4-BE49-F238E27FC236}">
                <a16:creationId xmlns:a16="http://schemas.microsoft.com/office/drawing/2014/main" id="{6EA25DEE-6496-4AAC-9587-16E45CB5CA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569" y="4613932"/>
            <a:ext cx="529173" cy="369585"/>
          </a:xfrm>
          <a:prstGeom prst="rect">
            <a:avLst/>
          </a:prstGeom>
          <a:ln>
            <a:solidFill>
              <a:srgbClr val="00B0F0"/>
            </a:solidFill>
          </a:ln>
        </p:spPr>
      </p:pic>
      <p:sp>
        <p:nvSpPr>
          <p:cNvPr id="26" name="Rectangle 25">
            <a:extLst>
              <a:ext uri="{FF2B5EF4-FFF2-40B4-BE49-F238E27FC236}">
                <a16:creationId xmlns:a16="http://schemas.microsoft.com/office/drawing/2014/main" id="{79DAC5D1-6D9E-46FC-AE48-4D27997DB9AD}"/>
              </a:ext>
            </a:extLst>
          </p:cNvPr>
          <p:cNvSpPr/>
          <p:nvPr/>
        </p:nvSpPr>
        <p:spPr>
          <a:xfrm>
            <a:off x="4449470" y="4613931"/>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A018F509-59B2-49C7-BAFC-17D4BC18677F}"/>
              </a:ext>
            </a:extLst>
          </p:cNvPr>
          <p:cNvCxnSpPr>
            <a:cxnSpLocks/>
          </p:cNvCxnSpPr>
          <p:nvPr/>
        </p:nvCxnSpPr>
        <p:spPr>
          <a:xfrm flipV="1">
            <a:off x="4531058"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CF86745-5DD8-4E37-A533-8540371A6C69}"/>
              </a:ext>
            </a:extLst>
          </p:cNvPr>
          <p:cNvCxnSpPr>
            <a:cxnSpLocks/>
          </p:cNvCxnSpPr>
          <p:nvPr/>
        </p:nvCxnSpPr>
        <p:spPr>
          <a:xfrm flipV="1">
            <a:off x="465905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4FDD1-A2BB-46CE-AD84-8B375DF323D2}"/>
              </a:ext>
            </a:extLst>
          </p:cNvPr>
          <p:cNvCxnSpPr>
            <a:cxnSpLocks/>
          </p:cNvCxnSpPr>
          <p:nvPr/>
        </p:nvCxnSpPr>
        <p:spPr>
          <a:xfrm flipV="1">
            <a:off x="476952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88CB03-CB0E-4621-8750-1AD6809E8DCA}"/>
              </a:ext>
            </a:extLst>
          </p:cNvPr>
          <p:cNvCxnSpPr>
            <a:cxnSpLocks/>
          </p:cNvCxnSpPr>
          <p:nvPr/>
        </p:nvCxnSpPr>
        <p:spPr>
          <a:xfrm flipV="1">
            <a:off x="4886709"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E13626-52DD-48A6-9F53-974EC0F88CF6}"/>
              </a:ext>
            </a:extLst>
          </p:cNvPr>
          <p:cNvCxnSpPr>
            <a:cxnSpLocks/>
          </p:cNvCxnSpPr>
          <p:nvPr/>
        </p:nvCxnSpPr>
        <p:spPr>
          <a:xfrm flipV="1">
            <a:off x="500767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ED1CE7-0467-4B01-932A-3EAA75EEB06A}"/>
              </a:ext>
            </a:extLst>
          </p:cNvPr>
          <p:cNvCxnSpPr>
            <a:cxnSpLocks/>
          </p:cNvCxnSpPr>
          <p:nvPr/>
        </p:nvCxnSpPr>
        <p:spPr>
          <a:xfrm flipH="1">
            <a:off x="4240471" y="465202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3D3EE1-8127-4340-B2E8-D79562C7DB96}"/>
              </a:ext>
            </a:extLst>
          </p:cNvPr>
          <p:cNvCxnSpPr>
            <a:cxnSpLocks/>
          </p:cNvCxnSpPr>
          <p:nvPr/>
        </p:nvCxnSpPr>
        <p:spPr>
          <a:xfrm flipH="1">
            <a:off x="4240471" y="475448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B82775-12EC-4942-AC31-963B2DA468C3}"/>
              </a:ext>
            </a:extLst>
          </p:cNvPr>
          <p:cNvCxnSpPr>
            <a:cxnSpLocks/>
          </p:cNvCxnSpPr>
          <p:nvPr/>
        </p:nvCxnSpPr>
        <p:spPr>
          <a:xfrm flipH="1">
            <a:off x="4240471" y="485103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6DB15-3A35-4222-B262-62834BF2BD10}"/>
              </a:ext>
            </a:extLst>
          </p:cNvPr>
          <p:cNvCxnSpPr>
            <a:cxnSpLocks/>
          </p:cNvCxnSpPr>
          <p:nvPr/>
        </p:nvCxnSpPr>
        <p:spPr>
          <a:xfrm flipH="1">
            <a:off x="4240471" y="495589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70EBB0-6DFC-45FE-BD9A-532E51EACBC2}"/>
              </a:ext>
            </a:extLst>
          </p:cNvPr>
          <p:cNvCxnSpPr>
            <a:cxnSpLocks/>
          </p:cNvCxnSpPr>
          <p:nvPr/>
        </p:nvCxnSpPr>
        <p:spPr>
          <a:xfrm flipV="1">
            <a:off x="4531058"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AF6233-0875-429A-A27C-DB4D629DA81E}"/>
              </a:ext>
            </a:extLst>
          </p:cNvPr>
          <p:cNvCxnSpPr>
            <a:cxnSpLocks/>
          </p:cNvCxnSpPr>
          <p:nvPr/>
        </p:nvCxnSpPr>
        <p:spPr>
          <a:xfrm flipV="1">
            <a:off x="465905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B22870-5E3C-4CE5-B93F-D860ACE07549}"/>
              </a:ext>
            </a:extLst>
          </p:cNvPr>
          <p:cNvCxnSpPr>
            <a:cxnSpLocks/>
          </p:cNvCxnSpPr>
          <p:nvPr/>
        </p:nvCxnSpPr>
        <p:spPr>
          <a:xfrm flipV="1">
            <a:off x="476952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F6A9F60-4E2C-4432-80D0-0263EB48AFD1}"/>
              </a:ext>
            </a:extLst>
          </p:cNvPr>
          <p:cNvCxnSpPr>
            <a:cxnSpLocks/>
          </p:cNvCxnSpPr>
          <p:nvPr/>
        </p:nvCxnSpPr>
        <p:spPr>
          <a:xfrm flipV="1">
            <a:off x="4886709"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915D7A-1F19-4CEB-9F1F-C93F5D1D035D}"/>
              </a:ext>
            </a:extLst>
          </p:cNvPr>
          <p:cNvCxnSpPr>
            <a:cxnSpLocks/>
          </p:cNvCxnSpPr>
          <p:nvPr/>
        </p:nvCxnSpPr>
        <p:spPr>
          <a:xfrm flipV="1">
            <a:off x="500767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262D6-68F3-49B8-A77B-F22477509735}"/>
              </a:ext>
            </a:extLst>
          </p:cNvPr>
          <p:cNvCxnSpPr>
            <a:cxnSpLocks/>
          </p:cNvCxnSpPr>
          <p:nvPr/>
        </p:nvCxnSpPr>
        <p:spPr>
          <a:xfrm flipH="1">
            <a:off x="5153283" y="463297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8746F5A-E5A5-4906-BDCA-83FD2C1218DF}"/>
              </a:ext>
            </a:extLst>
          </p:cNvPr>
          <p:cNvCxnSpPr>
            <a:cxnSpLocks/>
          </p:cNvCxnSpPr>
          <p:nvPr/>
        </p:nvCxnSpPr>
        <p:spPr>
          <a:xfrm flipH="1">
            <a:off x="5153283" y="473543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2C6C70-1E6A-45FA-BFBB-E64592268396}"/>
              </a:ext>
            </a:extLst>
          </p:cNvPr>
          <p:cNvCxnSpPr>
            <a:cxnSpLocks/>
          </p:cNvCxnSpPr>
          <p:nvPr/>
        </p:nvCxnSpPr>
        <p:spPr>
          <a:xfrm flipH="1">
            <a:off x="5153283" y="483198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2D46113-3DFF-4AAD-BB75-F6524B14E881}"/>
              </a:ext>
            </a:extLst>
          </p:cNvPr>
          <p:cNvCxnSpPr>
            <a:cxnSpLocks/>
          </p:cNvCxnSpPr>
          <p:nvPr/>
        </p:nvCxnSpPr>
        <p:spPr>
          <a:xfrm flipH="1">
            <a:off x="5153283" y="493684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8471FF3F-1338-4D8A-BC46-D7A9176FFE6E}"/>
              </a:ext>
            </a:extLst>
          </p:cNvPr>
          <p:cNvSpPr/>
          <p:nvPr/>
        </p:nvSpPr>
        <p:spPr>
          <a:xfrm>
            <a:off x="4172936" y="3667485"/>
            <a:ext cx="1194138" cy="1640978"/>
          </a:xfrm>
          <a:prstGeom prst="round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Shadow</a:t>
            </a:r>
            <a:br>
              <a:rPr lang="en-US" dirty="0"/>
            </a:br>
            <a:r>
              <a:rPr lang="en-US" dirty="0"/>
              <a:t>CPU</a:t>
            </a:r>
          </a:p>
          <a:p>
            <a:pPr algn="ctr"/>
            <a:endParaRPr lang="en-US" dirty="0"/>
          </a:p>
          <a:p>
            <a:pPr algn="ctr"/>
            <a:endParaRPr lang="en-US" dirty="0"/>
          </a:p>
          <a:p>
            <a:pPr algn="ctr"/>
            <a:endParaRPr lang="en-US" dirty="0"/>
          </a:p>
        </p:txBody>
      </p:sp>
      <p:sp>
        <p:nvSpPr>
          <p:cNvPr id="46" name="Speech Bubble: Rectangle with Corners Rounded 45">
            <a:extLst>
              <a:ext uri="{FF2B5EF4-FFF2-40B4-BE49-F238E27FC236}">
                <a16:creationId xmlns:a16="http://schemas.microsoft.com/office/drawing/2014/main" id="{141471BA-81AF-467D-8E61-725387E3C2A3}"/>
              </a:ext>
            </a:extLst>
          </p:cNvPr>
          <p:cNvSpPr/>
          <p:nvPr/>
        </p:nvSpPr>
        <p:spPr>
          <a:xfrm>
            <a:off x="1146211" y="3932451"/>
            <a:ext cx="1149675" cy="520887"/>
          </a:xfrm>
          <a:prstGeom prst="wedgeRoundRectCallout">
            <a:avLst>
              <a:gd name="adj1" fmla="val 63432"/>
              <a:gd name="adj2" fmla="val 7483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CPU_1</a:t>
            </a:r>
          </a:p>
        </p:txBody>
      </p:sp>
    </p:spTree>
    <p:extLst>
      <p:ext uri="{BB962C8B-B14F-4D97-AF65-F5344CB8AC3E}">
        <p14:creationId xmlns:p14="http://schemas.microsoft.com/office/powerpoint/2010/main" val="20233717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solidFill>
                  <a:srgbClr val="FF0000"/>
                </a:solidFill>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pic>
        <p:nvPicPr>
          <p:cNvPr id="50" name="Picture 49" descr="A close-up of a map&#10;&#10;Description automatically generated with medium confidence">
            <a:extLst>
              <a:ext uri="{FF2B5EF4-FFF2-40B4-BE49-F238E27FC236}">
                <a16:creationId xmlns:a16="http://schemas.microsoft.com/office/drawing/2014/main" id="{28B55AA4-6405-42BC-A74A-ED85CC88E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6394" y="4613933"/>
            <a:ext cx="529173" cy="369585"/>
          </a:xfrm>
          <a:prstGeom prst="rect">
            <a:avLst/>
          </a:prstGeom>
          <a:ln>
            <a:solidFill>
              <a:srgbClr val="00B0F0"/>
            </a:solidFill>
          </a:ln>
        </p:spPr>
      </p:pic>
      <p:sp>
        <p:nvSpPr>
          <p:cNvPr id="51" name="Rectangle 50">
            <a:extLst>
              <a:ext uri="{FF2B5EF4-FFF2-40B4-BE49-F238E27FC236}">
                <a16:creationId xmlns:a16="http://schemas.microsoft.com/office/drawing/2014/main" id="{A448864A-F6E0-478A-8B0D-A48FA6531343}"/>
              </a:ext>
            </a:extLst>
          </p:cNvPr>
          <p:cNvSpPr/>
          <p:nvPr/>
        </p:nvSpPr>
        <p:spPr>
          <a:xfrm>
            <a:off x="2476295" y="461393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A2BE7718-616A-4785-AE23-5F0826B4916C}"/>
              </a:ext>
            </a:extLst>
          </p:cNvPr>
          <p:cNvCxnSpPr>
            <a:cxnSpLocks/>
          </p:cNvCxnSpPr>
          <p:nvPr/>
        </p:nvCxnSpPr>
        <p:spPr>
          <a:xfrm flipV="1">
            <a:off x="2557883"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AAD020-D9B8-4A31-B810-014A8BB6B157}"/>
              </a:ext>
            </a:extLst>
          </p:cNvPr>
          <p:cNvCxnSpPr>
            <a:cxnSpLocks/>
          </p:cNvCxnSpPr>
          <p:nvPr/>
        </p:nvCxnSpPr>
        <p:spPr>
          <a:xfrm flipV="1">
            <a:off x="268588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ECEE9E-1E76-49D8-B691-AE87DFA2B6B7}"/>
              </a:ext>
            </a:extLst>
          </p:cNvPr>
          <p:cNvCxnSpPr>
            <a:cxnSpLocks/>
          </p:cNvCxnSpPr>
          <p:nvPr/>
        </p:nvCxnSpPr>
        <p:spPr>
          <a:xfrm flipV="1">
            <a:off x="279635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44BA62-EF65-4B56-B890-FB5A4FF16FB4}"/>
              </a:ext>
            </a:extLst>
          </p:cNvPr>
          <p:cNvCxnSpPr>
            <a:cxnSpLocks/>
          </p:cNvCxnSpPr>
          <p:nvPr/>
        </p:nvCxnSpPr>
        <p:spPr>
          <a:xfrm flipV="1">
            <a:off x="2913534"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ABF62D-1849-4FDB-AA62-68A221199E42}"/>
              </a:ext>
            </a:extLst>
          </p:cNvPr>
          <p:cNvCxnSpPr>
            <a:cxnSpLocks/>
          </p:cNvCxnSpPr>
          <p:nvPr/>
        </p:nvCxnSpPr>
        <p:spPr>
          <a:xfrm flipV="1">
            <a:off x="303450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ED4CCE-C41A-471B-B018-D0709AEDB5D3}"/>
              </a:ext>
            </a:extLst>
          </p:cNvPr>
          <p:cNvCxnSpPr>
            <a:cxnSpLocks/>
          </p:cNvCxnSpPr>
          <p:nvPr/>
        </p:nvCxnSpPr>
        <p:spPr>
          <a:xfrm flipH="1">
            <a:off x="2267296" y="465202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0959C2-CF73-4CC9-93FE-1A64B5F0F4FE}"/>
              </a:ext>
            </a:extLst>
          </p:cNvPr>
          <p:cNvCxnSpPr>
            <a:cxnSpLocks/>
          </p:cNvCxnSpPr>
          <p:nvPr/>
        </p:nvCxnSpPr>
        <p:spPr>
          <a:xfrm flipH="1">
            <a:off x="2267296" y="475448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629AE07-9FE1-45A0-8C22-7AEE760954A7}"/>
              </a:ext>
            </a:extLst>
          </p:cNvPr>
          <p:cNvCxnSpPr>
            <a:cxnSpLocks/>
          </p:cNvCxnSpPr>
          <p:nvPr/>
        </p:nvCxnSpPr>
        <p:spPr>
          <a:xfrm flipH="1">
            <a:off x="2267296" y="485103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304D0A9-B690-4643-962D-17A1824BD460}"/>
              </a:ext>
            </a:extLst>
          </p:cNvPr>
          <p:cNvCxnSpPr>
            <a:cxnSpLocks/>
          </p:cNvCxnSpPr>
          <p:nvPr/>
        </p:nvCxnSpPr>
        <p:spPr>
          <a:xfrm flipH="1">
            <a:off x="2267296" y="495589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5A16271-4852-45A8-A60C-A9B53428202C}"/>
              </a:ext>
            </a:extLst>
          </p:cNvPr>
          <p:cNvCxnSpPr>
            <a:cxnSpLocks/>
          </p:cNvCxnSpPr>
          <p:nvPr/>
        </p:nvCxnSpPr>
        <p:spPr>
          <a:xfrm flipV="1">
            <a:off x="2557883"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E15FC9-1EAE-4DC4-B306-D13D25FE7490}"/>
              </a:ext>
            </a:extLst>
          </p:cNvPr>
          <p:cNvCxnSpPr>
            <a:cxnSpLocks/>
          </p:cNvCxnSpPr>
          <p:nvPr/>
        </p:nvCxnSpPr>
        <p:spPr>
          <a:xfrm flipV="1">
            <a:off x="268588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F5F3AA-99EA-4B32-AB86-924A4AE18C1D}"/>
              </a:ext>
            </a:extLst>
          </p:cNvPr>
          <p:cNvCxnSpPr>
            <a:cxnSpLocks/>
          </p:cNvCxnSpPr>
          <p:nvPr/>
        </p:nvCxnSpPr>
        <p:spPr>
          <a:xfrm flipV="1">
            <a:off x="279635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ECE02F-EA7A-461A-AC45-6CEEDFA893EA}"/>
              </a:ext>
            </a:extLst>
          </p:cNvPr>
          <p:cNvCxnSpPr>
            <a:cxnSpLocks/>
          </p:cNvCxnSpPr>
          <p:nvPr/>
        </p:nvCxnSpPr>
        <p:spPr>
          <a:xfrm flipV="1">
            <a:off x="2913534"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4D45D8A-F006-476E-9CF0-AB32A8A319FD}"/>
              </a:ext>
            </a:extLst>
          </p:cNvPr>
          <p:cNvCxnSpPr>
            <a:cxnSpLocks/>
          </p:cNvCxnSpPr>
          <p:nvPr/>
        </p:nvCxnSpPr>
        <p:spPr>
          <a:xfrm flipV="1">
            <a:off x="303450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22088B4-541F-4987-A4D9-447D4015D197}"/>
              </a:ext>
            </a:extLst>
          </p:cNvPr>
          <p:cNvCxnSpPr>
            <a:cxnSpLocks/>
          </p:cNvCxnSpPr>
          <p:nvPr/>
        </p:nvCxnSpPr>
        <p:spPr>
          <a:xfrm flipH="1">
            <a:off x="3180108" y="463297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07BADD-B465-40FA-A79D-6F8AAB0E56F4}"/>
              </a:ext>
            </a:extLst>
          </p:cNvPr>
          <p:cNvCxnSpPr>
            <a:cxnSpLocks/>
          </p:cNvCxnSpPr>
          <p:nvPr/>
        </p:nvCxnSpPr>
        <p:spPr>
          <a:xfrm flipH="1">
            <a:off x="3180108" y="473543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60A241B-20D7-46B8-A911-F8786FADE5BA}"/>
              </a:ext>
            </a:extLst>
          </p:cNvPr>
          <p:cNvCxnSpPr>
            <a:cxnSpLocks/>
          </p:cNvCxnSpPr>
          <p:nvPr/>
        </p:nvCxnSpPr>
        <p:spPr>
          <a:xfrm flipH="1">
            <a:off x="3180108" y="483198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4DC727F-44F4-4428-8251-E1D646C0D589}"/>
              </a:ext>
            </a:extLst>
          </p:cNvPr>
          <p:cNvCxnSpPr>
            <a:cxnSpLocks/>
          </p:cNvCxnSpPr>
          <p:nvPr/>
        </p:nvCxnSpPr>
        <p:spPr>
          <a:xfrm flipH="1">
            <a:off x="3180108" y="493684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25" name="Picture 24" descr="A close-up of a map&#10;&#10;Description automatically generated with medium confidence">
            <a:extLst>
              <a:ext uri="{FF2B5EF4-FFF2-40B4-BE49-F238E27FC236}">
                <a16:creationId xmlns:a16="http://schemas.microsoft.com/office/drawing/2014/main" id="{6EA25DEE-6496-4AAC-9587-16E45CB5CA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569" y="4613932"/>
            <a:ext cx="529173" cy="369585"/>
          </a:xfrm>
          <a:prstGeom prst="rect">
            <a:avLst/>
          </a:prstGeom>
          <a:ln>
            <a:solidFill>
              <a:srgbClr val="00B0F0"/>
            </a:solidFill>
          </a:ln>
        </p:spPr>
      </p:pic>
      <p:sp>
        <p:nvSpPr>
          <p:cNvPr id="26" name="Rectangle 25">
            <a:extLst>
              <a:ext uri="{FF2B5EF4-FFF2-40B4-BE49-F238E27FC236}">
                <a16:creationId xmlns:a16="http://schemas.microsoft.com/office/drawing/2014/main" id="{79DAC5D1-6D9E-46FC-AE48-4D27997DB9AD}"/>
              </a:ext>
            </a:extLst>
          </p:cNvPr>
          <p:cNvSpPr/>
          <p:nvPr/>
        </p:nvSpPr>
        <p:spPr>
          <a:xfrm>
            <a:off x="4449470" y="4613931"/>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A018F509-59B2-49C7-BAFC-17D4BC18677F}"/>
              </a:ext>
            </a:extLst>
          </p:cNvPr>
          <p:cNvCxnSpPr>
            <a:cxnSpLocks/>
          </p:cNvCxnSpPr>
          <p:nvPr/>
        </p:nvCxnSpPr>
        <p:spPr>
          <a:xfrm flipV="1">
            <a:off x="4531058"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CF86745-5DD8-4E37-A533-8540371A6C69}"/>
              </a:ext>
            </a:extLst>
          </p:cNvPr>
          <p:cNvCxnSpPr>
            <a:cxnSpLocks/>
          </p:cNvCxnSpPr>
          <p:nvPr/>
        </p:nvCxnSpPr>
        <p:spPr>
          <a:xfrm flipV="1">
            <a:off x="465905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4FDD1-A2BB-46CE-AD84-8B375DF323D2}"/>
              </a:ext>
            </a:extLst>
          </p:cNvPr>
          <p:cNvCxnSpPr>
            <a:cxnSpLocks/>
          </p:cNvCxnSpPr>
          <p:nvPr/>
        </p:nvCxnSpPr>
        <p:spPr>
          <a:xfrm flipV="1">
            <a:off x="476952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88CB03-CB0E-4621-8750-1AD6809E8DCA}"/>
              </a:ext>
            </a:extLst>
          </p:cNvPr>
          <p:cNvCxnSpPr>
            <a:cxnSpLocks/>
          </p:cNvCxnSpPr>
          <p:nvPr/>
        </p:nvCxnSpPr>
        <p:spPr>
          <a:xfrm flipV="1">
            <a:off x="4886709"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E13626-52DD-48A6-9F53-974EC0F88CF6}"/>
              </a:ext>
            </a:extLst>
          </p:cNvPr>
          <p:cNvCxnSpPr>
            <a:cxnSpLocks/>
          </p:cNvCxnSpPr>
          <p:nvPr/>
        </p:nvCxnSpPr>
        <p:spPr>
          <a:xfrm flipV="1">
            <a:off x="500767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ED1CE7-0467-4B01-932A-3EAA75EEB06A}"/>
              </a:ext>
            </a:extLst>
          </p:cNvPr>
          <p:cNvCxnSpPr>
            <a:cxnSpLocks/>
          </p:cNvCxnSpPr>
          <p:nvPr/>
        </p:nvCxnSpPr>
        <p:spPr>
          <a:xfrm flipH="1">
            <a:off x="4240471" y="465202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3D3EE1-8127-4340-B2E8-D79562C7DB96}"/>
              </a:ext>
            </a:extLst>
          </p:cNvPr>
          <p:cNvCxnSpPr>
            <a:cxnSpLocks/>
          </p:cNvCxnSpPr>
          <p:nvPr/>
        </p:nvCxnSpPr>
        <p:spPr>
          <a:xfrm flipH="1">
            <a:off x="4240471" y="475448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B82775-12EC-4942-AC31-963B2DA468C3}"/>
              </a:ext>
            </a:extLst>
          </p:cNvPr>
          <p:cNvCxnSpPr>
            <a:cxnSpLocks/>
          </p:cNvCxnSpPr>
          <p:nvPr/>
        </p:nvCxnSpPr>
        <p:spPr>
          <a:xfrm flipH="1">
            <a:off x="4240471" y="485103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6DB15-3A35-4222-B262-62834BF2BD10}"/>
              </a:ext>
            </a:extLst>
          </p:cNvPr>
          <p:cNvCxnSpPr>
            <a:cxnSpLocks/>
          </p:cNvCxnSpPr>
          <p:nvPr/>
        </p:nvCxnSpPr>
        <p:spPr>
          <a:xfrm flipH="1">
            <a:off x="4240471" y="495589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70EBB0-6DFC-45FE-BD9A-532E51EACBC2}"/>
              </a:ext>
            </a:extLst>
          </p:cNvPr>
          <p:cNvCxnSpPr>
            <a:cxnSpLocks/>
          </p:cNvCxnSpPr>
          <p:nvPr/>
        </p:nvCxnSpPr>
        <p:spPr>
          <a:xfrm flipV="1">
            <a:off x="4531058"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AF6233-0875-429A-A27C-DB4D629DA81E}"/>
              </a:ext>
            </a:extLst>
          </p:cNvPr>
          <p:cNvCxnSpPr>
            <a:cxnSpLocks/>
          </p:cNvCxnSpPr>
          <p:nvPr/>
        </p:nvCxnSpPr>
        <p:spPr>
          <a:xfrm flipV="1">
            <a:off x="465905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B22870-5E3C-4CE5-B93F-D860ACE07549}"/>
              </a:ext>
            </a:extLst>
          </p:cNvPr>
          <p:cNvCxnSpPr>
            <a:cxnSpLocks/>
          </p:cNvCxnSpPr>
          <p:nvPr/>
        </p:nvCxnSpPr>
        <p:spPr>
          <a:xfrm flipV="1">
            <a:off x="476952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F6A9F60-4E2C-4432-80D0-0263EB48AFD1}"/>
              </a:ext>
            </a:extLst>
          </p:cNvPr>
          <p:cNvCxnSpPr>
            <a:cxnSpLocks/>
          </p:cNvCxnSpPr>
          <p:nvPr/>
        </p:nvCxnSpPr>
        <p:spPr>
          <a:xfrm flipV="1">
            <a:off x="4886709"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915D7A-1F19-4CEB-9F1F-C93F5D1D035D}"/>
              </a:ext>
            </a:extLst>
          </p:cNvPr>
          <p:cNvCxnSpPr>
            <a:cxnSpLocks/>
          </p:cNvCxnSpPr>
          <p:nvPr/>
        </p:nvCxnSpPr>
        <p:spPr>
          <a:xfrm flipV="1">
            <a:off x="500767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262D6-68F3-49B8-A77B-F22477509735}"/>
              </a:ext>
            </a:extLst>
          </p:cNvPr>
          <p:cNvCxnSpPr>
            <a:cxnSpLocks/>
          </p:cNvCxnSpPr>
          <p:nvPr/>
        </p:nvCxnSpPr>
        <p:spPr>
          <a:xfrm flipH="1">
            <a:off x="5153283" y="463297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8746F5A-E5A5-4906-BDCA-83FD2C1218DF}"/>
              </a:ext>
            </a:extLst>
          </p:cNvPr>
          <p:cNvCxnSpPr>
            <a:cxnSpLocks/>
          </p:cNvCxnSpPr>
          <p:nvPr/>
        </p:nvCxnSpPr>
        <p:spPr>
          <a:xfrm flipH="1">
            <a:off x="5153283" y="473543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2C6C70-1E6A-45FA-BFBB-E64592268396}"/>
              </a:ext>
            </a:extLst>
          </p:cNvPr>
          <p:cNvCxnSpPr>
            <a:cxnSpLocks/>
          </p:cNvCxnSpPr>
          <p:nvPr/>
        </p:nvCxnSpPr>
        <p:spPr>
          <a:xfrm flipH="1">
            <a:off x="5153283" y="483198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2D46113-3DFF-4AAD-BB75-F6524B14E881}"/>
              </a:ext>
            </a:extLst>
          </p:cNvPr>
          <p:cNvCxnSpPr>
            <a:cxnSpLocks/>
          </p:cNvCxnSpPr>
          <p:nvPr/>
        </p:nvCxnSpPr>
        <p:spPr>
          <a:xfrm flipH="1">
            <a:off x="5153283" y="493684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8471FF3F-1338-4D8A-BC46-D7A9176FFE6E}"/>
              </a:ext>
            </a:extLst>
          </p:cNvPr>
          <p:cNvSpPr/>
          <p:nvPr/>
        </p:nvSpPr>
        <p:spPr>
          <a:xfrm>
            <a:off x="4172936" y="3667485"/>
            <a:ext cx="1194138" cy="1640978"/>
          </a:xfrm>
          <a:prstGeom prst="round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Shadow</a:t>
            </a:r>
            <a:br>
              <a:rPr lang="en-US" dirty="0"/>
            </a:br>
            <a:r>
              <a:rPr lang="en-US" dirty="0"/>
              <a:t>CPU</a:t>
            </a:r>
          </a:p>
          <a:p>
            <a:pPr algn="ctr"/>
            <a:endParaRPr lang="en-US" dirty="0"/>
          </a:p>
          <a:p>
            <a:pPr algn="ctr"/>
            <a:endParaRPr lang="en-US" dirty="0"/>
          </a:p>
          <a:p>
            <a:pPr algn="ctr"/>
            <a:endParaRPr lang="en-US" dirty="0"/>
          </a:p>
        </p:txBody>
      </p:sp>
      <p:pic>
        <p:nvPicPr>
          <p:cNvPr id="6" name="Picture 5" descr="A picture containing graphical user interface&#10;&#10;Description automatically generated">
            <a:extLst>
              <a:ext uri="{FF2B5EF4-FFF2-40B4-BE49-F238E27FC236}">
                <a16:creationId xmlns:a16="http://schemas.microsoft.com/office/drawing/2014/main" id="{2C3DFD36-32CC-43E4-98BD-AF015F9A57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0504" y="4842327"/>
            <a:ext cx="5170579" cy="2585290"/>
          </a:xfrm>
          <a:prstGeom prst="rect">
            <a:avLst/>
          </a:prstGeom>
        </p:spPr>
      </p:pic>
      <p:pic>
        <p:nvPicPr>
          <p:cNvPr id="46" name="Picture 45" descr="Icon&#10;&#10;Description automatically generated">
            <a:extLst>
              <a:ext uri="{FF2B5EF4-FFF2-40B4-BE49-F238E27FC236}">
                <a16:creationId xmlns:a16="http://schemas.microsoft.com/office/drawing/2014/main" id="{8379641F-4C2D-484D-8FF8-2AF91FC27F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88332">
            <a:off x="3053114" y="4330125"/>
            <a:ext cx="1441845" cy="1589631"/>
          </a:xfrm>
          <a:prstGeom prst="rect">
            <a:avLst/>
          </a:prstGeom>
        </p:spPr>
      </p:pic>
      <p:sp>
        <p:nvSpPr>
          <p:cNvPr id="49" name="Speech Bubble: Rectangle with Corners Rounded 48">
            <a:extLst>
              <a:ext uri="{FF2B5EF4-FFF2-40B4-BE49-F238E27FC236}">
                <a16:creationId xmlns:a16="http://schemas.microsoft.com/office/drawing/2014/main" id="{C1B209C3-90FB-4816-B11E-39FC22A5D404}"/>
              </a:ext>
            </a:extLst>
          </p:cNvPr>
          <p:cNvSpPr/>
          <p:nvPr/>
        </p:nvSpPr>
        <p:spPr>
          <a:xfrm>
            <a:off x="1146211" y="3932451"/>
            <a:ext cx="1149675" cy="520887"/>
          </a:xfrm>
          <a:prstGeom prst="wedgeRoundRectCallout">
            <a:avLst>
              <a:gd name="adj1" fmla="val 63432"/>
              <a:gd name="adj2" fmla="val 7483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CPU_1</a:t>
            </a:r>
          </a:p>
        </p:txBody>
      </p:sp>
    </p:spTree>
    <p:extLst>
      <p:ext uri="{BB962C8B-B14F-4D97-AF65-F5344CB8AC3E}">
        <p14:creationId xmlns:p14="http://schemas.microsoft.com/office/powerpoint/2010/main" val="10365903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solidFill>
                  <a:srgbClr val="FF0000"/>
                </a:solidFill>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pic>
        <p:nvPicPr>
          <p:cNvPr id="50" name="Picture 49" descr="A close-up of a map&#10;&#10;Description automatically generated with medium confidence">
            <a:extLst>
              <a:ext uri="{FF2B5EF4-FFF2-40B4-BE49-F238E27FC236}">
                <a16:creationId xmlns:a16="http://schemas.microsoft.com/office/drawing/2014/main" id="{28B55AA4-6405-42BC-A74A-ED85CC88E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6394" y="4613933"/>
            <a:ext cx="529173" cy="369585"/>
          </a:xfrm>
          <a:prstGeom prst="rect">
            <a:avLst/>
          </a:prstGeom>
          <a:ln>
            <a:solidFill>
              <a:srgbClr val="00B0F0"/>
            </a:solidFill>
          </a:ln>
        </p:spPr>
      </p:pic>
      <p:sp>
        <p:nvSpPr>
          <p:cNvPr id="51" name="Rectangle 50">
            <a:extLst>
              <a:ext uri="{FF2B5EF4-FFF2-40B4-BE49-F238E27FC236}">
                <a16:creationId xmlns:a16="http://schemas.microsoft.com/office/drawing/2014/main" id="{A448864A-F6E0-478A-8B0D-A48FA6531343}"/>
              </a:ext>
            </a:extLst>
          </p:cNvPr>
          <p:cNvSpPr/>
          <p:nvPr/>
        </p:nvSpPr>
        <p:spPr>
          <a:xfrm>
            <a:off x="2476295" y="461393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A2BE7718-616A-4785-AE23-5F0826B4916C}"/>
              </a:ext>
            </a:extLst>
          </p:cNvPr>
          <p:cNvCxnSpPr>
            <a:cxnSpLocks/>
          </p:cNvCxnSpPr>
          <p:nvPr/>
        </p:nvCxnSpPr>
        <p:spPr>
          <a:xfrm flipV="1">
            <a:off x="2557883"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AAD020-D9B8-4A31-B810-014A8BB6B157}"/>
              </a:ext>
            </a:extLst>
          </p:cNvPr>
          <p:cNvCxnSpPr>
            <a:cxnSpLocks/>
          </p:cNvCxnSpPr>
          <p:nvPr/>
        </p:nvCxnSpPr>
        <p:spPr>
          <a:xfrm flipV="1">
            <a:off x="268588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ECEE9E-1E76-49D8-B691-AE87DFA2B6B7}"/>
              </a:ext>
            </a:extLst>
          </p:cNvPr>
          <p:cNvCxnSpPr>
            <a:cxnSpLocks/>
          </p:cNvCxnSpPr>
          <p:nvPr/>
        </p:nvCxnSpPr>
        <p:spPr>
          <a:xfrm flipV="1">
            <a:off x="279635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44BA62-EF65-4B56-B890-FB5A4FF16FB4}"/>
              </a:ext>
            </a:extLst>
          </p:cNvPr>
          <p:cNvCxnSpPr>
            <a:cxnSpLocks/>
          </p:cNvCxnSpPr>
          <p:nvPr/>
        </p:nvCxnSpPr>
        <p:spPr>
          <a:xfrm flipV="1">
            <a:off x="2913534"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ABF62D-1849-4FDB-AA62-68A221199E42}"/>
              </a:ext>
            </a:extLst>
          </p:cNvPr>
          <p:cNvCxnSpPr>
            <a:cxnSpLocks/>
          </p:cNvCxnSpPr>
          <p:nvPr/>
        </p:nvCxnSpPr>
        <p:spPr>
          <a:xfrm flipV="1">
            <a:off x="303450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ED4CCE-C41A-471B-B018-D0709AEDB5D3}"/>
              </a:ext>
            </a:extLst>
          </p:cNvPr>
          <p:cNvCxnSpPr>
            <a:cxnSpLocks/>
          </p:cNvCxnSpPr>
          <p:nvPr/>
        </p:nvCxnSpPr>
        <p:spPr>
          <a:xfrm flipH="1">
            <a:off x="2267296" y="465202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0959C2-CF73-4CC9-93FE-1A64B5F0F4FE}"/>
              </a:ext>
            </a:extLst>
          </p:cNvPr>
          <p:cNvCxnSpPr>
            <a:cxnSpLocks/>
          </p:cNvCxnSpPr>
          <p:nvPr/>
        </p:nvCxnSpPr>
        <p:spPr>
          <a:xfrm flipH="1">
            <a:off x="2267296" y="475448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629AE07-9FE1-45A0-8C22-7AEE760954A7}"/>
              </a:ext>
            </a:extLst>
          </p:cNvPr>
          <p:cNvCxnSpPr>
            <a:cxnSpLocks/>
          </p:cNvCxnSpPr>
          <p:nvPr/>
        </p:nvCxnSpPr>
        <p:spPr>
          <a:xfrm flipH="1">
            <a:off x="2267296" y="485103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304D0A9-B690-4643-962D-17A1824BD460}"/>
              </a:ext>
            </a:extLst>
          </p:cNvPr>
          <p:cNvCxnSpPr>
            <a:cxnSpLocks/>
          </p:cNvCxnSpPr>
          <p:nvPr/>
        </p:nvCxnSpPr>
        <p:spPr>
          <a:xfrm flipH="1">
            <a:off x="2267296" y="495589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5A16271-4852-45A8-A60C-A9B53428202C}"/>
              </a:ext>
            </a:extLst>
          </p:cNvPr>
          <p:cNvCxnSpPr>
            <a:cxnSpLocks/>
          </p:cNvCxnSpPr>
          <p:nvPr/>
        </p:nvCxnSpPr>
        <p:spPr>
          <a:xfrm flipV="1">
            <a:off x="2557883"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E15FC9-1EAE-4DC4-B306-D13D25FE7490}"/>
              </a:ext>
            </a:extLst>
          </p:cNvPr>
          <p:cNvCxnSpPr>
            <a:cxnSpLocks/>
          </p:cNvCxnSpPr>
          <p:nvPr/>
        </p:nvCxnSpPr>
        <p:spPr>
          <a:xfrm flipV="1">
            <a:off x="268588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F5F3AA-99EA-4B32-AB86-924A4AE18C1D}"/>
              </a:ext>
            </a:extLst>
          </p:cNvPr>
          <p:cNvCxnSpPr>
            <a:cxnSpLocks/>
          </p:cNvCxnSpPr>
          <p:nvPr/>
        </p:nvCxnSpPr>
        <p:spPr>
          <a:xfrm flipV="1">
            <a:off x="279635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ECE02F-EA7A-461A-AC45-6CEEDFA893EA}"/>
              </a:ext>
            </a:extLst>
          </p:cNvPr>
          <p:cNvCxnSpPr>
            <a:cxnSpLocks/>
          </p:cNvCxnSpPr>
          <p:nvPr/>
        </p:nvCxnSpPr>
        <p:spPr>
          <a:xfrm flipV="1">
            <a:off x="2913534"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4D45D8A-F006-476E-9CF0-AB32A8A319FD}"/>
              </a:ext>
            </a:extLst>
          </p:cNvPr>
          <p:cNvCxnSpPr>
            <a:cxnSpLocks/>
          </p:cNvCxnSpPr>
          <p:nvPr/>
        </p:nvCxnSpPr>
        <p:spPr>
          <a:xfrm flipV="1">
            <a:off x="303450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22088B4-541F-4987-A4D9-447D4015D197}"/>
              </a:ext>
            </a:extLst>
          </p:cNvPr>
          <p:cNvCxnSpPr>
            <a:cxnSpLocks/>
          </p:cNvCxnSpPr>
          <p:nvPr/>
        </p:nvCxnSpPr>
        <p:spPr>
          <a:xfrm flipH="1">
            <a:off x="3180108" y="463297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07BADD-B465-40FA-A79D-6F8AAB0E56F4}"/>
              </a:ext>
            </a:extLst>
          </p:cNvPr>
          <p:cNvCxnSpPr>
            <a:cxnSpLocks/>
          </p:cNvCxnSpPr>
          <p:nvPr/>
        </p:nvCxnSpPr>
        <p:spPr>
          <a:xfrm flipH="1">
            <a:off x="3180108" y="473543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60A241B-20D7-46B8-A911-F8786FADE5BA}"/>
              </a:ext>
            </a:extLst>
          </p:cNvPr>
          <p:cNvCxnSpPr>
            <a:cxnSpLocks/>
          </p:cNvCxnSpPr>
          <p:nvPr/>
        </p:nvCxnSpPr>
        <p:spPr>
          <a:xfrm flipH="1">
            <a:off x="3180108" y="483198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4DC727F-44F4-4428-8251-E1D646C0D589}"/>
              </a:ext>
            </a:extLst>
          </p:cNvPr>
          <p:cNvCxnSpPr>
            <a:cxnSpLocks/>
          </p:cNvCxnSpPr>
          <p:nvPr/>
        </p:nvCxnSpPr>
        <p:spPr>
          <a:xfrm flipH="1">
            <a:off x="3180108" y="493684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25" name="Picture 24" descr="A close-up of a map&#10;&#10;Description automatically generated with medium confidence">
            <a:extLst>
              <a:ext uri="{FF2B5EF4-FFF2-40B4-BE49-F238E27FC236}">
                <a16:creationId xmlns:a16="http://schemas.microsoft.com/office/drawing/2014/main" id="{6EA25DEE-6496-4AAC-9587-16E45CB5CA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569" y="4613932"/>
            <a:ext cx="529173" cy="369585"/>
          </a:xfrm>
          <a:prstGeom prst="rect">
            <a:avLst/>
          </a:prstGeom>
          <a:ln>
            <a:solidFill>
              <a:srgbClr val="00B0F0"/>
            </a:solidFill>
          </a:ln>
        </p:spPr>
      </p:pic>
      <p:sp>
        <p:nvSpPr>
          <p:cNvPr id="26" name="Rectangle 25">
            <a:extLst>
              <a:ext uri="{FF2B5EF4-FFF2-40B4-BE49-F238E27FC236}">
                <a16:creationId xmlns:a16="http://schemas.microsoft.com/office/drawing/2014/main" id="{79DAC5D1-6D9E-46FC-AE48-4D27997DB9AD}"/>
              </a:ext>
            </a:extLst>
          </p:cNvPr>
          <p:cNvSpPr/>
          <p:nvPr/>
        </p:nvSpPr>
        <p:spPr>
          <a:xfrm>
            <a:off x="4449470" y="4613931"/>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A018F509-59B2-49C7-BAFC-17D4BC18677F}"/>
              </a:ext>
            </a:extLst>
          </p:cNvPr>
          <p:cNvCxnSpPr>
            <a:cxnSpLocks/>
          </p:cNvCxnSpPr>
          <p:nvPr/>
        </p:nvCxnSpPr>
        <p:spPr>
          <a:xfrm flipV="1">
            <a:off x="4531058"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CF86745-5DD8-4E37-A533-8540371A6C69}"/>
              </a:ext>
            </a:extLst>
          </p:cNvPr>
          <p:cNvCxnSpPr>
            <a:cxnSpLocks/>
          </p:cNvCxnSpPr>
          <p:nvPr/>
        </p:nvCxnSpPr>
        <p:spPr>
          <a:xfrm flipV="1">
            <a:off x="465905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4FDD1-A2BB-46CE-AD84-8B375DF323D2}"/>
              </a:ext>
            </a:extLst>
          </p:cNvPr>
          <p:cNvCxnSpPr>
            <a:cxnSpLocks/>
          </p:cNvCxnSpPr>
          <p:nvPr/>
        </p:nvCxnSpPr>
        <p:spPr>
          <a:xfrm flipV="1">
            <a:off x="476952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88CB03-CB0E-4621-8750-1AD6809E8DCA}"/>
              </a:ext>
            </a:extLst>
          </p:cNvPr>
          <p:cNvCxnSpPr>
            <a:cxnSpLocks/>
          </p:cNvCxnSpPr>
          <p:nvPr/>
        </p:nvCxnSpPr>
        <p:spPr>
          <a:xfrm flipV="1">
            <a:off x="4886709"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E13626-52DD-48A6-9F53-974EC0F88CF6}"/>
              </a:ext>
            </a:extLst>
          </p:cNvPr>
          <p:cNvCxnSpPr>
            <a:cxnSpLocks/>
          </p:cNvCxnSpPr>
          <p:nvPr/>
        </p:nvCxnSpPr>
        <p:spPr>
          <a:xfrm flipV="1">
            <a:off x="500767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ED1CE7-0467-4B01-932A-3EAA75EEB06A}"/>
              </a:ext>
            </a:extLst>
          </p:cNvPr>
          <p:cNvCxnSpPr>
            <a:cxnSpLocks/>
          </p:cNvCxnSpPr>
          <p:nvPr/>
        </p:nvCxnSpPr>
        <p:spPr>
          <a:xfrm flipH="1">
            <a:off x="4240471" y="465202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3D3EE1-8127-4340-B2E8-D79562C7DB96}"/>
              </a:ext>
            </a:extLst>
          </p:cNvPr>
          <p:cNvCxnSpPr>
            <a:cxnSpLocks/>
          </p:cNvCxnSpPr>
          <p:nvPr/>
        </p:nvCxnSpPr>
        <p:spPr>
          <a:xfrm flipH="1">
            <a:off x="4240471" y="475448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B82775-12EC-4942-AC31-963B2DA468C3}"/>
              </a:ext>
            </a:extLst>
          </p:cNvPr>
          <p:cNvCxnSpPr>
            <a:cxnSpLocks/>
          </p:cNvCxnSpPr>
          <p:nvPr/>
        </p:nvCxnSpPr>
        <p:spPr>
          <a:xfrm flipH="1">
            <a:off x="4240471" y="485103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6DB15-3A35-4222-B262-62834BF2BD10}"/>
              </a:ext>
            </a:extLst>
          </p:cNvPr>
          <p:cNvCxnSpPr>
            <a:cxnSpLocks/>
          </p:cNvCxnSpPr>
          <p:nvPr/>
        </p:nvCxnSpPr>
        <p:spPr>
          <a:xfrm flipH="1">
            <a:off x="4240471" y="495589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70EBB0-6DFC-45FE-BD9A-532E51EACBC2}"/>
              </a:ext>
            </a:extLst>
          </p:cNvPr>
          <p:cNvCxnSpPr>
            <a:cxnSpLocks/>
          </p:cNvCxnSpPr>
          <p:nvPr/>
        </p:nvCxnSpPr>
        <p:spPr>
          <a:xfrm flipV="1">
            <a:off x="4531058"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AF6233-0875-429A-A27C-DB4D629DA81E}"/>
              </a:ext>
            </a:extLst>
          </p:cNvPr>
          <p:cNvCxnSpPr>
            <a:cxnSpLocks/>
          </p:cNvCxnSpPr>
          <p:nvPr/>
        </p:nvCxnSpPr>
        <p:spPr>
          <a:xfrm flipV="1">
            <a:off x="465905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B22870-5E3C-4CE5-B93F-D860ACE07549}"/>
              </a:ext>
            </a:extLst>
          </p:cNvPr>
          <p:cNvCxnSpPr>
            <a:cxnSpLocks/>
          </p:cNvCxnSpPr>
          <p:nvPr/>
        </p:nvCxnSpPr>
        <p:spPr>
          <a:xfrm flipV="1">
            <a:off x="476952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F6A9F60-4E2C-4432-80D0-0263EB48AFD1}"/>
              </a:ext>
            </a:extLst>
          </p:cNvPr>
          <p:cNvCxnSpPr>
            <a:cxnSpLocks/>
          </p:cNvCxnSpPr>
          <p:nvPr/>
        </p:nvCxnSpPr>
        <p:spPr>
          <a:xfrm flipV="1">
            <a:off x="4886709"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915D7A-1F19-4CEB-9F1F-C93F5D1D035D}"/>
              </a:ext>
            </a:extLst>
          </p:cNvPr>
          <p:cNvCxnSpPr>
            <a:cxnSpLocks/>
          </p:cNvCxnSpPr>
          <p:nvPr/>
        </p:nvCxnSpPr>
        <p:spPr>
          <a:xfrm flipV="1">
            <a:off x="500767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262D6-68F3-49B8-A77B-F22477509735}"/>
              </a:ext>
            </a:extLst>
          </p:cNvPr>
          <p:cNvCxnSpPr>
            <a:cxnSpLocks/>
          </p:cNvCxnSpPr>
          <p:nvPr/>
        </p:nvCxnSpPr>
        <p:spPr>
          <a:xfrm flipH="1">
            <a:off x="5153283" y="463297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8746F5A-E5A5-4906-BDCA-83FD2C1218DF}"/>
              </a:ext>
            </a:extLst>
          </p:cNvPr>
          <p:cNvCxnSpPr>
            <a:cxnSpLocks/>
          </p:cNvCxnSpPr>
          <p:nvPr/>
        </p:nvCxnSpPr>
        <p:spPr>
          <a:xfrm flipH="1">
            <a:off x="5153283" y="473543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2C6C70-1E6A-45FA-BFBB-E64592268396}"/>
              </a:ext>
            </a:extLst>
          </p:cNvPr>
          <p:cNvCxnSpPr>
            <a:cxnSpLocks/>
          </p:cNvCxnSpPr>
          <p:nvPr/>
        </p:nvCxnSpPr>
        <p:spPr>
          <a:xfrm flipH="1">
            <a:off x="5153283" y="483198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2D46113-3DFF-4AAD-BB75-F6524B14E881}"/>
              </a:ext>
            </a:extLst>
          </p:cNvPr>
          <p:cNvCxnSpPr>
            <a:cxnSpLocks/>
          </p:cNvCxnSpPr>
          <p:nvPr/>
        </p:nvCxnSpPr>
        <p:spPr>
          <a:xfrm flipH="1">
            <a:off x="5153283" y="493684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8471FF3F-1338-4D8A-BC46-D7A9176FFE6E}"/>
              </a:ext>
            </a:extLst>
          </p:cNvPr>
          <p:cNvSpPr/>
          <p:nvPr/>
        </p:nvSpPr>
        <p:spPr>
          <a:xfrm>
            <a:off x="4172936" y="3667485"/>
            <a:ext cx="1194138" cy="1640978"/>
          </a:xfrm>
          <a:prstGeom prst="round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Shadow</a:t>
            </a:r>
            <a:br>
              <a:rPr lang="en-US" dirty="0"/>
            </a:br>
            <a:r>
              <a:rPr lang="en-US" dirty="0"/>
              <a:t>CPU</a:t>
            </a:r>
          </a:p>
          <a:p>
            <a:pPr algn="ctr"/>
            <a:endParaRPr lang="en-US" dirty="0"/>
          </a:p>
          <a:p>
            <a:pPr algn="ctr"/>
            <a:endParaRPr lang="en-US" dirty="0"/>
          </a:p>
          <a:p>
            <a:pPr algn="ctr"/>
            <a:endParaRPr lang="en-US" dirty="0"/>
          </a:p>
        </p:txBody>
      </p:sp>
      <p:pic>
        <p:nvPicPr>
          <p:cNvPr id="6" name="Picture 5" descr="A picture containing graphical user interface&#10;&#10;Description automatically generated">
            <a:extLst>
              <a:ext uri="{FF2B5EF4-FFF2-40B4-BE49-F238E27FC236}">
                <a16:creationId xmlns:a16="http://schemas.microsoft.com/office/drawing/2014/main" id="{2C3DFD36-32CC-43E4-98BD-AF015F9A57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0504" y="4842327"/>
            <a:ext cx="5170579" cy="2585290"/>
          </a:xfrm>
          <a:prstGeom prst="rect">
            <a:avLst/>
          </a:prstGeom>
        </p:spPr>
      </p:pic>
      <p:pic>
        <p:nvPicPr>
          <p:cNvPr id="46" name="Picture 45" descr="Icon&#10;&#10;Description automatically generated">
            <a:extLst>
              <a:ext uri="{FF2B5EF4-FFF2-40B4-BE49-F238E27FC236}">
                <a16:creationId xmlns:a16="http://schemas.microsoft.com/office/drawing/2014/main" id="{8379641F-4C2D-484D-8FF8-2AF91FC27F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88332">
            <a:off x="3053114" y="4330125"/>
            <a:ext cx="1441845" cy="1589631"/>
          </a:xfrm>
          <a:prstGeom prst="rect">
            <a:avLst/>
          </a:prstGeom>
        </p:spPr>
      </p:pic>
      <p:sp>
        <p:nvSpPr>
          <p:cNvPr id="5" name="TextBox 4">
            <a:extLst>
              <a:ext uri="{FF2B5EF4-FFF2-40B4-BE49-F238E27FC236}">
                <a16:creationId xmlns:a16="http://schemas.microsoft.com/office/drawing/2014/main" id="{A8B5CAB0-F422-4DA0-A2ED-434EBE36B606}"/>
              </a:ext>
            </a:extLst>
          </p:cNvPr>
          <p:cNvSpPr txBox="1"/>
          <p:nvPr/>
        </p:nvSpPr>
        <p:spPr>
          <a:xfrm>
            <a:off x="6000441" y="2478523"/>
            <a:ext cx="3690491" cy="1754326"/>
          </a:xfrm>
          <a:prstGeom prst="rect">
            <a:avLst/>
          </a:prstGeom>
          <a:noFill/>
        </p:spPr>
        <p:txBody>
          <a:bodyPr wrap="square" rtlCol="0">
            <a:spAutoFit/>
          </a:bodyPr>
          <a:lstStyle/>
          <a:p>
            <a:r>
              <a:rPr lang="en-US" dirty="0"/>
              <a:t>x = CPU_1(instruction_1)</a:t>
            </a:r>
          </a:p>
          <a:p>
            <a:r>
              <a:rPr lang="en-US" dirty="0"/>
              <a:t>y = </a:t>
            </a:r>
            <a:r>
              <a:rPr lang="en-US" dirty="0" err="1"/>
              <a:t>Shadow_CPU</a:t>
            </a:r>
            <a:r>
              <a:rPr lang="en-US" dirty="0"/>
              <a:t>(instruction_1)</a:t>
            </a:r>
          </a:p>
          <a:p>
            <a:r>
              <a:rPr lang="en-US" dirty="0">
                <a:solidFill>
                  <a:srgbClr val="FF0000"/>
                </a:solidFill>
              </a:rPr>
              <a:t>if (x != y)</a:t>
            </a:r>
          </a:p>
          <a:p>
            <a:r>
              <a:rPr lang="en-US" dirty="0">
                <a:solidFill>
                  <a:srgbClr val="FF0000"/>
                </a:solidFill>
              </a:rPr>
              <a:t>   panic();</a:t>
            </a:r>
          </a:p>
          <a:p>
            <a:r>
              <a:rPr lang="en-US" dirty="0"/>
              <a:t>…</a:t>
            </a:r>
          </a:p>
          <a:p>
            <a:endParaRPr lang="en-US" dirty="0"/>
          </a:p>
        </p:txBody>
      </p:sp>
      <p:sp>
        <p:nvSpPr>
          <p:cNvPr id="49" name="Speech Bubble: Rectangle with Corners Rounded 48">
            <a:extLst>
              <a:ext uri="{FF2B5EF4-FFF2-40B4-BE49-F238E27FC236}">
                <a16:creationId xmlns:a16="http://schemas.microsoft.com/office/drawing/2014/main" id="{BE43C68C-D4E1-4787-8895-AAEB47EAA643}"/>
              </a:ext>
            </a:extLst>
          </p:cNvPr>
          <p:cNvSpPr/>
          <p:nvPr/>
        </p:nvSpPr>
        <p:spPr>
          <a:xfrm>
            <a:off x="1146211" y="3932451"/>
            <a:ext cx="1149675" cy="520887"/>
          </a:xfrm>
          <a:prstGeom prst="wedgeRoundRectCallout">
            <a:avLst>
              <a:gd name="adj1" fmla="val 63432"/>
              <a:gd name="adj2" fmla="val 7483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CPU_1</a:t>
            </a:r>
          </a:p>
        </p:txBody>
      </p:sp>
    </p:spTree>
    <p:extLst>
      <p:ext uri="{BB962C8B-B14F-4D97-AF65-F5344CB8AC3E}">
        <p14:creationId xmlns:p14="http://schemas.microsoft.com/office/powerpoint/2010/main" val="37459328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solidFill>
                  <a:srgbClr val="FF0000"/>
                </a:solidFill>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spTree>
    <p:extLst>
      <p:ext uri="{BB962C8B-B14F-4D97-AF65-F5344CB8AC3E}">
        <p14:creationId xmlns:p14="http://schemas.microsoft.com/office/powerpoint/2010/main" val="277748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79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solidFill>
                  <a:srgbClr val="FF0000"/>
                </a:solidFill>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pic>
        <p:nvPicPr>
          <p:cNvPr id="50" name="Picture 49" descr="A close-up of a map&#10;&#10;Description automatically generated with medium confidence">
            <a:extLst>
              <a:ext uri="{FF2B5EF4-FFF2-40B4-BE49-F238E27FC236}">
                <a16:creationId xmlns:a16="http://schemas.microsoft.com/office/drawing/2014/main" id="{28B55AA4-6405-42BC-A74A-ED85CC88E7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6394" y="4613933"/>
            <a:ext cx="529173" cy="369585"/>
          </a:xfrm>
          <a:prstGeom prst="rect">
            <a:avLst/>
          </a:prstGeom>
          <a:ln>
            <a:solidFill>
              <a:srgbClr val="00B0F0"/>
            </a:solidFill>
          </a:ln>
        </p:spPr>
      </p:pic>
      <p:sp>
        <p:nvSpPr>
          <p:cNvPr id="51" name="Rectangle 50">
            <a:extLst>
              <a:ext uri="{FF2B5EF4-FFF2-40B4-BE49-F238E27FC236}">
                <a16:creationId xmlns:a16="http://schemas.microsoft.com/office/drawing/2014/main" id="{A448864A-F6E0-478A-8B0D-A48FA6531343}"/>
              </a:ext>
            </a:extLst>
          </p:cNvPr>
          <p:cNvSpPr/>
          <p:nvPr/>
        </p:nvSpPr>
        <p:spPr>
          <a:xfrm>
            <a:off x="2476295" y="4613932"/>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A2BE7718-616A-4785-AE23-5F0826B4916C}"/>
              </a:ext>
            </a:extLst>
          </p:cNvPr>
          <p:cNvCxnSpPr>
            <a:cxnSpLocks/>
          </p:cNvCxnSpPr>
          <p:nvPr/>
        </p:nvCxnSpPr>
        <p:spPr>
          <a:xfrm flipV="1">
            <a:off x="2557883"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AAD020-D9B8-4A31-B810-014A8BB6B157}"/>
              </a:ext>
            </a:extLst>
          </p:cNvPr>
          <p:cNvCxnSpPr>
            <a:cxnSpLocks/>
          </p:cNvCxnSpPr>
          <p:nvPr/>
        </p:nvCxnSpPr>
        <p:spPr>
          <a:xfrm flipV="1">
            <a:off x="268588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ECEE9E-1E76-49D8-B691-AE87DFA2B6B7}"/>
              </a:ext>
            </a:extLst>
          </p:cNvPr>
          <p:cNvCxnSpPr>
            <a:cxnSpLocks/>
          </p:cNvCxnSpPr>
          <p:nvPr/>
        </p:nvCxnSpPr>
        <p:spPr>
          <a:xfrm flipV="1">
            <a:off x="279635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44BA62-EF65-4B56-B890-FB5A4FF16FB4}"/>
              </a:ext>
            </a:extLst>
          </p:cNvPr>
          <p:cNvCxnSpPr>
            <a:cxnSpLocks/>
          </p:cNvCxnSpPr>
          <p:nvPr/>
        </p:nvCxnSpPr>
        <p:spPr>
          <a:xfrm flipV="1">
            <a:off x="2913534"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ABF62D-1849-4FDB-AA62-68A221199E42}"/>
              </a:ext>
            </a:extLst>
          </p:cNvPr>
          <p:cNvCxnSpPr>
            <a:cxnSpLocks/>
          </p:cNvCxnSpPr>
          <p:nvPr/>
        </p:nvCxnSpPr>
        <p:spPr>
          <a:xfrm flipV="1">
            <a:off x="3034500" y="440611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ED4CCE-C41A-471B-B018-D0709AEDB5D3}"/>
              </a:ext>
            </a:extLst>
          </p:cNvPr>
          <p:cNvCxnSpPr>
            <a:cxnSpLocks/>
          </p:cNvCxnSpPr>
          <p:nvPr/>
        </p:nvCxnSpPr>
        <p:spPr>
          <a:xfrm flipH="1">
            <a:off x="2267296" y="465202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0959C2-CF73-4CC9-93FE-1A64B5F0F4FE}"/>
              </a:ext>
            </a:extLst>
          </p:cNvPr>
          <p:cNvCxnSpPr>
            <a:cxnSpLocks/>
          </p:cNvCxnSpPr>
          <p:nvPr/>
        </p:nvCxnSpPr>
        <p:spPr>
          <a:xfrm flipH="1">
            <a:off x="2267296" y="475448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629AE07-9FE1-45A0-8C22-7AEE760954A7}"/>
              </a:ext>
            </a:extLst>
          </p:cNvPr>
          <p:cNvCxnSpPr>
            <a:cxnSpLocks/>
          </p:cNvCxnSpPr>
          <p:nvPr/>
        </p:nvCxnSpPr>
        <p:spPr>
          <a:xfrm flipH="1">
            <a:off x="2267296" y="485103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304D0A9-B690-4643-962D-17A1824BD460}"/>
              </a:ext>
            </a:extLst>
          </p:cNvPr>
          <p:cNvCxnSpPr>
            <a:cxnSpLocks/>
          </p:cNvCxnSpPr>
          <p:nvPr/>
        </p:nvCxnSpPr>
        <p:spPr>
          <a:xfrm flipH="1">
            <a:off x="2267296" y="495589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5A16271-4852-45A8-A60C-A9B53428202C}"/>
              </a:ext>
            </a:extLst>
          </p:cNvPr>
          <p:cNvCxnSpPr>
            <a:cxnSpLocks/>
          </p:cNvCxnSpPr>
          <p:nvPr/>
        </p:nvCxnSpPr>
        <p:spPr>
          <a:xfrm flipV="1">
            <a:off x="2557883"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1E15FC9-1EAE-4DC4-B306-D13D25FE7490}"/>
              </a:ext>
            </a:extLst>
          </p:cNvPr>
          <p:cNvCxnSpPr>
            <a:cxnSpLocks/>
          </p:cNvCxnSpPr>
          <p:nvPr/>
        </p:nvCxnSpPr>
        <p:spPr>
          <a:xfrm flipV="1">
            <a:off x="268588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F5F3AA-99EA-4B32-AB86-924A4AE18C1D}"/>
              </a:ext>
            </a:extLst>
          </p:cNvPr>
          <p:cNvCxnSpPr>
            <a:cxnSpLocks/>
          </p:cNvCxnSpPr>
          <p:nvPr/>
        </p:nvCxnSpPr>
        <p:spPr>
          <a:xfrm flipV="1">
            <a:off x="279635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CECE02F-EA7A-461A-AC45-6CEEDFA893EA}"/>
              </a:ext>
            </a:extLst>
          </p:cNvPr>
          <p:cNvCxnSpPr>
            <a:cxnSpLocks/>
          </p:cNvCxnSpPr>
          <p:nvPr/>
        </p:nvCxnSpPr>
        <p:spPr>
          <a:xfrm flipV="1">
            <a:off x="2913534"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4D45D8A-F006-476E-9CF0-AB32A8A319FD}"/>
              </a:ext>
            </a:extLst>
          </p:cNvPr>
          <p:cNvCxnSpPr>
            <a:cxnSpLocks/>
          </p:cNvCxnSpPr>
          <p:nvPr/>
        </p:nvCxnSpPr>
        <p:spPr>
          <a:xfrm flipV="1">
            <a:off x="3034500" y="5060161"/>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22088B4-541F-4987-A4D9-447D4015D197}"/>
              </a:ext>
            </a:extLst>
          </p:cNvPr>
          <p:cNvCxnSpPr>
            <a:cxnSpLocks/>
          </p:cNvCxnSpPr>
          <p:nvPr/>
        </p:nvCxnSpPr>
        <p:spPr>
          <a:xfrm flipH="1">
            <a:off x="3180108" y="463297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207BADD-B465-40FA-A79D-6F8AAB0E56F4}"/>
              </a:ext>
            </a:extLst>
          </p:cNvPr>
          <p:cNvCxnSpPr>
            <a:cxnSpLocks/>
          </p:cNvCxnSpPr>
          <p:nvPr/>
        </p:nvCxnSpPr>
        <p:spPr>
          <a:xfrm flipH="1">
            <a:off x="3180108" y="473543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60A241B-20D7-46B8-A911-F8786FADE5BA}"/>
              </a:ext>
            </a:extLst>
          </p:cNvPr>
          <p:cNvCxnSpPr>
            <a:cxnSpLocks/>
          </p:cNvCxnSpPr>
          <p:nvPr/>
        </p:nvCxnSpPr>
        <p:spPr>
          <a:xfrm flipH="1">
            <a:off x="3180108" y="483198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4DC727F-44F4-4428-8251-E1D646C0D589}"/>
              </a:ext>
            </a:extLst>
          </p:cNvPr>
          <p:cNvCxnSpPr>
            <a:cxnSpLocks/>
          </p:cNvCxnSpPr>
          <p:nvPr/>
        </p:nvCxnSpPr>
        <p:spPr>
          <a:xfrm flipH="1">
            <a:off x="3180108" y="4936841"/>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25" name="Picture 24" descr="A close-up of a map&#10;&#10;Description automatically generated with medium confidence">
            <a:extLst>
              <a:ext uri="{FF2B5EF4-FFF2-40B4-BE49-F238E27FC236}">
                <a16:creationId xmlns:a16="http://schemas.microsoft.com/office/drawing/2014/main" id="{6EA25DEE-6496-4AAC-9587-16E45CB5CA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569" y="4613932"/>
            <a:ext cx="529173" cy="369585"/>
          </a:xfrm>
          <a:prstGeom prst="rect">
            <a:avLst/>
          </a:prstGeom>
          <a:ln>
            <a:solidFill>
              <a:srgbClr val="00B0F0"/>
            </a:solidFill>
          </a:ln>
        </p:spPr>
      </p:pic>
      <p:sp>
        <p:nvSpPr>
          <p:cNvPr id="26" name="Rectangle 25">
            <a:extLst>
              <a:ext uri="{FF2B5EF4-FFF2-40B4-BE49-F238E27FC236}">
                <a16:creationId xmlns:a16="http://schemas.microsoft.com/office/drawing/2014/main" id="{79DAC5D1-6D9E-46FC-AE48-4D27997DB9AD}"/>
              </a:ext>
            </a:extLst>
          </p:cNvPr>
          <p:cNvSpPr/>
          <p:nvPr/>
        </p:nvSpPr>
        <p:spPr>
          <a:xfrm>
            <a:off x="4449470" y="4613931"/>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A018F509-59B2-49C7-BAFC-17D4BC18677F}"/>
              </a:ext>
            </a:extLst>
          </p:cNvPr>
          <p:cNvCxnSpPr>
            <a:cxnSpLocks/>
          </p:cNvCxnSpPr>
          <p:nvPr/>
        </p:nvCxnSpPr>
        <p:spPr>
          <a:xfrm flipV="1">
            <a:off x="4531058"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CF86745-5DD8-4E37-A533-8540371A6C69}"/>
              </a:ext>
            </a:extLst>
          </p:cNvPr>
          <p:cNvCxnSpPr>
            <a:cxnSpLocks/>
          </p:cNvCxnSpPr>
          <p:nvPr/>
        </p:nvCxnSpPr>
        <p:spPr>
          <a:xfrm flipV="1">
            <a:off x="465905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4FDD1-A2BB-46CE-AD84-8B375DF323D2}"/>
              </a:ext>
            </a:extLst>
          </p:cNvPr>
          <p:cNvCxnSpPr>
            <a:cxnSpLocks/>
          </p:cNvCxnSpPr>
          <p:nvPr/>
        </p:nvCxnSpPr>
        <p:spPr>
          <a:xfrm flipV="1">
            <a:off x="476952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188CB03-CB0E-4621-8750-1AD6809E8DCA}"/>
              </a:ext>
            </a:extLst>
          </p:cNvPr>
          <p:cNvCxnSpPr>
            <a:cxnSpLocks/>
          </p:cNvCxnSpPr>
          <p:nvPr/>
        </p:nvCxnSpPr>
        <p:spPr>
          <a:xfrm flipV="1">
            <a:off x="4886709"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E13626-52DD-48A6-9F53-974EC0F88CF6}"/>
              </a:ext>
            </a:extLst>
          </p:cNvPr>
          <p:cNvCxnSpPr>
            <a:cxnSpLocks/>
          </p:cNvCxnSpPr>
          <p:nvPr/>
        </p:nvCxnSpPr>
        <p:spPr>
          <a:xfrm flipV="1">
            <a:off x="5007675" y="440611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ED1CE7-0467-4B01-932A-3EAA75EEB06A}"/>
              </a:ext>
            </a:extLst>
          </p:cNvPr>
          <p:cNvCxnSpPr>
            <a:cxnSpLocks/>
          </p:cNvCxnSpPr>
          <p:nvPr/>
        </p:nvCxnSpPr>
        <p:spPr>
          <a:xfrm flipH="1">
            <a:off x="4240471" y="465202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3D3EE1-8127-4340-B2E8-D79562C7DB96}"/>
              </a:ext>
            </a:extLst>
          </p:cNvPr>
          <p:cNvCxnSpPr>
            <a:cxnSpLocks/>
          </p:cNvCxnSpPr>
          <p:nvPr/>
        </p:nvCxnSpPr>
        <p:spPr>
          <a:xfrm flipH="1">
            <a:off x="4240471" y="475448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DB82775-12EC-4942-AC31-963B2DA468C3}"/>
              </a:ext>
            </a:extLst>
          </p:cNvPr>
          <p:cNvCxnSpPr>
            <a:cxnSpLocks/>
          </p:cNvCxnSpPr>
          <p:nvPr/>
        </p:nvCxnSpPr>
        <p:spPr>
          <a:xfrm flipH="1">
            <a:off x="4240471" y="485103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6DB15-3A35-4222-B262-62834BF2BD10}"/>
              </a:ext>
            </a:extLst>
          </p:cNvPr>
          <p:cNvCxnSpPr>
            <a:cxnSpLocks/>
          </p:cNvCxnSpPr>
          <p:nvPr/>
        </p:nvCxnSpPr>
        <p:spPr>
          <a:xfrm flipH="1">
            <a:off x="4240471" y="495589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70EBB0-6DFC-45FE-BD9A-532E51EACBC2}"/>
              </a:ext>
            </a:extLst>
          </p:cNvPr>
          <p:cNvCxnSpPr>
            <a:cxnSpLocks/>
          </p:cNvCxnSpPr>
          <p:nvPr/>
        </p:nvCxnSpPr>
        <p:spPr>
          <a:xfrm flipV="1">
            <a:off x="4531058"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AF6233-0875-429A-A27C-DB4D629DA81E}"/>
              </a:ext>
            </a:extLst>
          </p:cNvPr>
          <p:cNvCxnSpPr>
            <a:cxnSpLocks/>
          </p:cNvCxnSpPr>
          <p:nvPr/>
        </p:nvCxnSpPr>
        <p:spPr>
          <a:xfrm flipV="1">
            <a:off x="465905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B22870-5E3C-4CE5-B93F-D860ACE07549}"/>
              </a:ext>
            </a:extLst>
          </p:cNvPr>
          <p:cNvCxnSpPr>
            <a:cxnSpLocks/>
          </p:cNvCxnSpPr>
          <p:nvPr/>
        </p:nvCxnSpPr>
        <p:spPr>
          <a:xfrm flipV="1">
            <a:off x="476952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F6A9F60-4E2C-4432-80D0-0263EB48AFD1}"/>
              </a:ext>
            </a:extLst>
          </p:cNvPr>
          <p:cNvCxnSpPr>
            <a:cxnSpLocks/>
          </p:cNvCxnSpPr>
          <p:nvPr/>
        </p:nvCxnSpPr>
        <p:spPr>
          <a:xfrm flipV="1">
            <a:off x="4886709"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915D7A-1F19-4CEB-9F1F-C93F5D1D035D}"/>
              </a:ext>
            </a:extLst>
          </p:cNvPr>
          <p:cNvCxnSpPr>
            <a:cxnSpLocks/>
          </p:cNvCxnSpPr>
          <p:nvPr/>
        </p:nvCxnSpPr>
        <p:spPr>
          <a:xfrm flipV="1">
            <a:off x="5007675" y="5060160"/>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77262D6-68F3-49B8-A77B-F22477509735}"/>
              </a:ext>
            </a:extLst>
          </p:cNvPr>
          <p:cNvCxnSpPr>
            <a:cxnSpLocks/>
          </p:cNvCxnSpPr>
          <p:nvPr/>
        </p:nvCxnSpPr>
        <p:spPr>
          <a:xfrm flipH="1">
            <a:off x="5153283" y="463297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8746F5A-E5A5-4906-BDCA-83FD2C1218DF}"/>
              </a:ext>
            </a:extLst>
          </p:cNvPr>
          <p:cNvCxnSpPr>
            <a:cxnSpLocks/>
          </p:cNvCxnSpPr>
          <p:nvPr/>
        </p:nvCxnSpPr>
        <p:spPr>
          <a:xfrm flipH="1">
            <a:off x="5153283" y="473543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2C6C70-1E6A-45FA-BFBB-E64592268396}"/>
              </a:ext>
            </a:extLst>
          </p:cNvPr>
          <p:cNvCxnSpPr>
            <a:cxnSpLocks/>
          </p:cNvCxnSpPr>
          <p:nvPr/>
        </p:nvCxnSpPr>
        <p:spPr>
          <a:xfrm flipH="1">
            <a:off x="5153283" y="4831983"/>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2D46113-3DFF-4AAD-BB75-F6524B14E881}"/>
              </a:ext>
            </a:extLst>
          </p:cNvPr>
          <p:cNvCxnSpPr>
            <a:cxnSpLocks/>
          </p:cNvCxnSpPr>
          <p:nvPr/>
        </p:nvCxnSpPr>
        <p:spPr>
          <a:xfrm flipH="1">
            <a:off x="5153283" y="4936840"/>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6" name="Picture 5" descr="A picture containing graphical user interface&#10;&#10;Description automatically generated">
            <a:extLst>
              <a:ext uri="{FF2B5EF4-FFF2-40B4-BE49-F238E27FC236}">
                <a16:creationId xmlns:a16="http://schemas.microsoft.com/office/drawing/2014/main" id="{2C3DFD36-32CC-43E4-98BD-AF015F9A57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0504" y="4842327"/>
            <a:ext cx="5170579" cy="2585290"/>
          </a:xfrm>
          <a:prstGeom prst="rect">
            <a:avLst/>
          </a:prstGeom>
        </p:spPr>
      </p:pic>
      <p:sp>
        <p:nvSpPr>
          <p:cNvPr id="5" name="TextBox 4">
            <a:extLst>
              <a:ext uri="{FF2B5EF4-FFF2-40B4-BE49-F238E27FC236}">
                <a16:creationId xmlns:a16="http://schemas.microsoft.com/office/drawing/2014/main" id="{A8B5CAB0-F422-4DA0-A2ED-434EBE36B606}"/>
              </a:ext>
            </a:extLst>
          </p:cNvPr>
          <p:cNvSpPr txBox="1"/>
          <p:nvPr/>
        </p:nvSpPr>
        <p:spPr>
          <a:xfrm>
            <a:off x="6000441" y="2478523"/>
            <a:ext cx="3830595" cy="2031325"/>
          </a:xfrm>
          <a:prstGeom prst="rect">
            <a:avLst/>
          </a:prstGeom>
          <a:noFill/>
        </p:spPr>
        <p:txBody>
          <a:bodyPr wrap="square" rtlCol="0">
            <a:spAutoFit/>
          </a:bodyPr>
          <a:lstStyle/>
          <a:p>
            <a:r>
              <a:rPr lang="en-US" dirty="0"/>
              <a:t>x = CPU_1(instruction_1)</a:t>
            </a:r>
          </a:p>
          <a:p>
            <a:r>
              <a:rPr lang="en-US" dirty="0"/>
              <a:t>y = Shadow_1_CPU(instruction_1)</a:t>
            </a:r>
          </a:p>
          <a:p>
            <a:r>
              <a:rPr lang="en-US" dirty="0"/>
              <a:t>z = Shadow_2_CPU(instruction_1)</a:t>
            </a:r>
          </a:p>
          <a:p>
            <a:r>
              <a:rPr lang="en-US" dirty="0">
                <a:solidFill>
                  <a:srgbClr val="FF0000"/>
                </a:solidFill>
              </a:rPr>
              <a:t>if (x != y || x!=z || y!=z)</a:t>
            </a:r>
          </a:p>
          <a:p>
            <a:r>
              <a:rPr lang="en-US" dirty="0">
                <a:solidFill>
                  <a:srgbClr val="FF0000"/>
                </a:solidFill>
              </a:rPr>
              <a:t>   panic();</a:t>
            </a:r>
          </a:p>
          <a:p>
            <a:r>
              <a:rPr lang="en-US" dirty="0"/>
              <a:t>…</a:t>
            </a:r>
          </a:p>
          <a:p>
            <a:endParaRPr lang="en-US" dirty="0"/>
          </a:p>
        </p:txBody>
      </p:sp>
      <p:sp>
        <p:nvSpPr>
          <p:cNvPr id="49" name="Speech Bubble: Rectangle with Corners Rounded 48">
            <a:extLst>
              <a:ext uri="{FF2B5EF4-FFF2-40B4-BE49-F238E27FC236}">
                <a16:creationId xmlns:a16="http://schemas.microsoft.com/office/drawing/2014/main" id="{BE43C68C-D4E1-4787-8895-AAEB47EAA643}"/>
              </a:ext>
            </a:extLst>
          </p:cNvPr>
          <p:cNvSpPr/>
          <p:nvPr/>
        </p:nvSpPr>
        <p:spPr>
          <a:xfrm>
            <a:off x="1146211" y="3932451"/>
            <a:ext cx="1149675" cy="520887"/>
          </a:xfrm>
          <a:prstGeom prst="wedgeRoundRectCallout">
            <a:avLst>
              <a:gd name="adj1" fmla="val 63432"/>
              <a:gd name="adj2" fmla="val 7483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CPU_1</a:t>
            </a:r>
          </a:p>
        </p:txBody>
      </p:sp>
      <p:pic>
        <p:nvPicPr>
          <p:cNvPr id="70" name="Picture 69" descr="A close-up of a map&#10;&#10;Description automatically generated with medium confidence">
            <a:extLst>
              <a:ext uri="{FF2B5EF4-FFF2-40B4-BE49-F238E27FC236}">
                <a16:creationId xmlns:a16="http://schemas.microsoft.com/office/drawing/2014/main" id="{14FD63D4-8463-4BB3-84A9-A97896BFAF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2640" y="3888156"/>
            <a:ext cx="529173" cy="369585"/>
          </a:xfrm>
          <a:prstGeom prst="rect">
            <a:avLst/>
          </a:prstGeom>
          <a:ln>
            <a:solidFill>
              <a:srgbClr val="00B0F0"/>
            </a:solidFill>
          </a:ln>
        </p:spPr>
      </p:pic>
      <p:sp>
        <p:nvSpPr>
          <p:cNvPr id="71" name="Rectangle 70">
            <a:extLst>
              <a:ext uri="{FF2B5EF4-FFF2-40B4-BE49-F238E27FC236}">
                <a16:creationId xmlns:a16="http://schemas.microsoft.com/office/drawing/2014/main" id="{C6FF9FD9-3DD7-406C-A297-00310B4CE252}"/>
              </a:ext>
            </a:extLst>
          </p:cNvPr>
          <p:cNvSpPr/>
          <p:nvPr/>
        </p:nvSpPr>
        <p:spPr>
          <a:xfrm>
            <a:off x="3452541" y="3888155"/>
            <a:ext cx="622780" cy="369586"/>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EB2193C3-5F3C-4745-BB05-CE072A6FD4AC}"/>
              </a:ext>
            </a:extLst>
          </p:cNvPr>
          <p:cNvCxnSpPr>
            <a:cxnSpLocks/>
          </p:cNvCxnSpPr>
          <p:nvPr/>
        </p:nvCxnSpPr>
        <p:spPr>
          <a:xfrm flipV="1">
            <a:off x="3534129" y="368033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1DE34BA-F38E-487C-8A49-B5AD41957557}"/>
              </a:ext>
            </a:extLst>
          </p:cNvPr>
          <p:cNvCxnSpPr>
            <a:cxnSpLocks/>
          </p:cNvCxnSpPr>
          <p:nvPr/>
        </p:nvCxnSpPr>
        <p:spPr>
          <a:xfrm flipV="1">
            <a:off x="3662126" y="368033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88FB8C6-BA2E-4792-8A75-01A35D2E59CD}"/>
              </a:ext>
            </a:extLst>
          </p:cNvPr>
          <p:cNvCxnSpPr>
            <a:cxnSpLocks/>
          </p:cNvCxnSpPr>
          <p:nvPr/>
        </p:nvCxnSpPr>
        <p:spPr>
          <a:xfrm flipV="1">
            <a:off x="3772596" y="368033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0BF3B75-3725-47C0-A86D-D04383673F64}"/>
              </a:ext>
            </a:extLst>
          </p:cNvPr>
          <p:cNvCxnSpPr>
            <a:cxnSpLocks/>
          </p:cNvCxnSpPr>
          <p:nvPr/>
        </p:nvCxnSpPr>
        <p:spPr>
          <a:xfrm flipV="1">
            <a:off x="3889780" y="368033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A742DF9-DE52-41AD-AED9-305388884BD3}"/>
              </a:ext>
            </a:extLst>
          </p:cNvPr>
          <p:cNvCxnSpPr>
            <a:cxnSpLocks/>
          </p:cNvCxnSpPr>
          <p:nvPr/>
        </p:nvCxnSpPr>
        <p:spPr>
          <a:xfrm flipV="1">
            <a:off x="4010746" y="368033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676302D-680C-41BD-BDBD-BDCEB34ACF78}"/>
              </a:ext>
            </a:extLst>
          </p:cNvPr>
          <p:cNvCxnSpPr>
            <a:cxnSpLocks/>
          </p:cNvCxnSpPr>
          <p:nvPr/>
        </p:nvCxnSpPr>
        <p:spPr>
          <a:xfrm flipH="1">
            <a:off x="3243542" y="3926247"/>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6588AA5-A57D-438B-971A-DCB5DF9A6CA8}"/>
              </a:ext>
            </a:extLst>
          </p:cNvPr>
          <p:cNvCxnSpPr>
            <a:cxnSpLocks/>
          </p:cNvCxnSpPr>
          <p:nvPr/>
        </p:nvCxnSpPr>
        <p:spPr>
          <a:xfrm flipH="1">
            <a:off x="3243542" y="402870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0D32FD7-AE94-40A2-9FC8-F5B3DC2F0C6F}"/>
              </a:ext>
            </a:extLst>
          </p:cNvPr>
          <p:cNvCxnSpPr>
            <a:cxnSpLocks/>
          </p:cNvCxnSpPr>
          <p:nvPr/>
        </p:nvCxnSpPr>
        <p:spPr>
          <a:xfrm flipH="1">
            <a:off x="3243542" y="4125257"/>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20464B9-206D-4BE9-A6D2-18E00F0ADE2C}"/>
              </a:ext>
            </a:extLst>
          </p:cNvPr>
          <p:cNvCxnSpPr>
            <a:cxnSpLocks/>
          </p:cNvCxnSpPr>
          <p:nvPr/>
        </p:nvCxnSpPr>
        <p:spPr>
          <a:xfrm flipH="1">
            <a:off x="3243542" y="423011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EF916A4-1A30-4B60-8E44-E491538C940F}"/>
              </a:ext>
            </a:extLst>
          </p:cNvPr>
          <p:cNvCxnSpPr>
            <a:cxnSpLocks/>
          </p:cNvCxnSpPr>
          <p:nvPr/>
        </p:nvCxnSpPr>
        <p:spPr>
          <a:xfrm flipV="1">
            <a:off x="3534129" y="433438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AFC5AB6-2544-4B01-B462-668097CFD493}"/>
              </a:ext>
            </a:extLst>
          </p:cNvPr>
          <p:cNvCxnSpPr>
            <a:cxnSpLocks/>
          </p:cNvCxnSpPr>
          <p:nvPr/>
        </p:nvCxnSpPr>
        <p:spPr>
          <a:xfrm flipV="1">
            <a:off x="3662126" y="433438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A6C605A-F132-4F70-A25E-06991BC841D6}"/>
              </a:ext>
            </a:extLst>
          </p:cNvPr>
          <p:cNvCxnSpPr>
            <a:cxnSpLocks/>
          </p:cNvCxnSpPr>
          <p:nvPr/>
        </p:nvCxnSpPr>
        <p:spPr>
          <a:xfrm flipV="1">
            <a:off x="3772596" y="433438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1991B99-E655-4763-BA59-159CF8B6BE4B}"/>
              </a:ext>
            </a:extLst>
          </p:cNvPr>
          <p:cNvCxnSpPr>
            <a:cxnSpLocks/>
          </p:cNvCxnSpPr>
          <p:nvPr/>
        </p:nvCxnSpPr>
        <p:spPr>
          <a:xfrm flipV="1">
            <a:off x="3889780" y="433438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DE93240-CB1F-4989-BB2B-69EB841E000C}"/>
              </a:ext>
            </a:extLst>
          </p:cNvPr>
          <p:cNvCxnSpPr>
            <a:cxnSpLocks/>
          </p:cNvCxnSpPr>
          <p:nvPr/>
        </p:nvCxnSpPr>
        <p:spPr>
          <a:xfrm flipV="1">
            <a:off x="4010746" y="4334384"/>
            <a:ext cx="0" cy="12956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16F007-2E5F-458F-9060-5240039802B2}"/>
              </a:ext>
            </a:extLst>
          </p:cNvPr>
          <p:cNvCxnSpPr>
            <a:cxnSpLocks/>
          </p:cNvCxnSpPr>
          <p:nvPr/>
        </p:nvCxnSpPr>
        <p:spPr>
          <a:xfrm flipH="1">
            <a:off x="4156354" y="3907197"/>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03F1B0A-007F-40B4-942C-CD94AB794E8D}"/>
              </a:ext>
            </a:extLst>
          </p:cNvPr>
          <p:cNvCxnSpPr>
            <a:cxnSpLocks/>
          </p:cNvCxnSpPr>
          <p:nvPr/>
        </p:nvCxnSpPr>
        <p:spPr>
          <a:xfrm flipH="1">
            <a:off x="4156354" y="400965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80C858-C61E-48C7-AC27-7DEFA2F83C9C}"/>
              </a:ext>
            </a:extLst>
          </p:cNvPr>
          <p:cNvCxnSpPr>
            <a:cxnSpLocks/>
          </p:cNvCxnSpPr>
          <p:nvPr/>
        </p:nvCxnSpPr>
        <p:spPr>
          <a:xfrm flipH="1">
            <a:off x="4156354" y="4106207"/>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9D76EDF-80EC-45F4-9897-06F42F05CB16}"/>
              </a:ext>
            </a:extLst>
          </p:cNvPr>
          <p:cNvCxnSpPr>
            <a:cxnSpLocks/>
          </p:cNvCxnSpPr>
          <p:nvPr/>
        </p:nvCxnSpPr>
        <p:spPr>
          <a:xfrm flipH="1">
            <a:off x="4156354" y="4211064"/>
            <a:ext cx="132760"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F2A277B5-6CC4-4688-81C5-50AB103819F5}"/>
              </a:ext>
            </a:extLst>
          </p:cNvPr>
          <p:cNvSpPr/>
          <p:nvPr/>
        </p:nvSpPr>
        <p:spPr>
          <a:xfrm>
            <a:off x="4219197" y="3585621"/>
            <a:ext cx="1194138" cy="1640978"/>
          </a:xfrm>
          <a:prstGeom prst="round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Shadow_1</a:t>
            </a:r>
            <a:br>
              <a:rPr lang="en-US" sz="1400" dirty="0"/>
            </a:br>
            <a:r>
              <a:rPr lang="en-US" sz="1400" dirty="0"/>
              <a:t>CPU</a:t>
            </a:r>
          </a:p>
          <a:p>
            <a:pPr algn="ctr"/>
            <a:endParaRPr lang="en-US" dirty="0"/>
          </a:p>
          <a:p>
            <a:pPr algn="ctr"/>
            <a:endParaRPr lang="en-US" dirty="0"/>
          </a:p>
          <a:p>
            <a:pPr algn="ctr"/>
            <a:endParaRPr lang="en-US" dirty="0"/>
          </a:p>
        </p:txBody>
      </p:sp>
      <p:sp>
        <p:nvSpPr>
          <p:cNvPr id="3" name="Rectangle: Rounded Corners 2">
            <a:extLst>
              <a:ext uri="{FF2B5EF4-FFF2-40B4-BE49-F238E27FC236}">
                <a16:creationId xmlns:a16="http://schemas.microsoft.com/office/drawing/2014/main" id="{8471FF3F-1338-4D8A-BC46-D7A9176FFE6E}"/>
              </a:ext>
            </a:extLst>
          </p:cNvPr>
          <p:cNvSpPr/>
          <p:nvPr/>
        </p:nvSpPr>
        <p:spPr>
          <a:xfrm>
            <a:off x="3162497" y="2920907"/>
            <a:ext cx="1194138" cy="1640978"/>
          </a:xfrm>
          <a:prstGeom prst="round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Shadow_2</a:t>
            </a:r>
            <a:br>
              <a:rPr lang="en-US" sz="1400" dirty="0"/>
            </a:br>
            <a:r>
              <a:rPr lang="en-US" sz="1400" dirty="0"/>
              <a:t>CPU</a:t>
            </a:r>
          </a:p>
          <a:p>
            <a:pPr algn="ctr"/>
            <a:endParaRPr lang="en-US" dirty="0"/>
          </a:p>
          <a:p>
            <a:pPr algn="ctr"/>
            <a:endParaRPr lang="en-US" dirty="0"/>
          </a:p>
          <a:p>
            <a:pPr algn="ctr"/>
            <a:endParaRPr lang="en-US" dirty="0"/>
          </a:p>
        </p:txBody>
      </p:sp>
      <p:pic>
        <p:nvPicPr>
          <p:cNvPr id="46" name="Picture 45" descr="Icon&#10;&#10;Description automatically generated">
            <a:extLst>
              <a:ext uri="{FF2B5EF4-FFF2-40B4-BE49-F238E27FC236}">
                <a16:creationId xmlns:a16="http://schemas.microsoft.com/office/drawing/2014/main" id="{8379641F-4C2D-484D-8FF8-2AF91FC27F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88332">
            <a:off x="3053114" y="4330125"/>
            <a:ext cx="1441845" cy="1589631"/>
          </a:xfrm>
          <a:prstGeom prst="rect">
            <a:avLst/>
          </a:prstGeom>
        </p:spPr>
      </p:pic>
    </p:spTree>
    <p:extLst>
      <p:ext uri="{BB962C8B-B14F-4D97-AF65-F5344CB8AC3E}">
        <p14:creationId xmlns:p14="http://schemas.microsoft.com/office/powerpoint/2010/main" val="42919018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solidFill>
                  <a:srgbClr val="FF0000"/>
                </a:solidFill>
                <a:effectLst/>
              </a:rPr>
              <a:t>SW mitigation (complexity++)</a:t>
            </a:r>
          </a:p>
          <a:p>
            <a:pPr marL="961171" lvl="1" indent="-457200">
              <a:buFont typeface="Wingdings" panose="05000000000000000000" pitchFamily="2" charset="2"/>
              <a:buChar char="v"/>
            </a:pPr>
            <a:r>
              <a:rPr lang="en-US" sz="1579" dirty="0">
                <a:effectLst/>
              </a:rPr>
              <a:t>Compiler mitigations</a:t>
            </a:r>
            <a:endParaRPr lang="en-US" sz="1759" dirty="0">
              <a:effectLst/>
            </a:endParaRPr>
          </a:p>
        </p:txBody>
      </p:sp>
    </p:spTree>
    <p:extLst>
      <p:ext uri="{BB962C8B-B14F-4D97-AF65-F5344CB8AC3E}">
        <p14:creationId xmlns:p14="http://schemas.microsoft.com/office/powerpoint/2010/main" val="42702705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nchor="t">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0755"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0755" lvl="1" indent="-457200">
              <a:buFont typeface="Wingdings" panose="05000000000000000000" pitchFamily="2" charset="2"/>
              <a:buChar char="v"/>
            </a:pPr>
            <a:r>
              <a:rPr lang="en-US" sz="1579" dirty="0">
                <a:effectLst/>
              </a:rPr>
              <a:t>DCLS (strong)</a:t>
            </a:r>
          </a:p>
          <a:p>
            <a:pPr marL="960755"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solidFill>
                  <a:srgbClr val="FF0000"/>
                </a:solidFill>
                <a:effectLst/>
              </a:rPr>
              <a:t>SW mitigation (complexity++)</a:t>
            </a:r>
          </a:p>
          <a:p>
            <a:pPr marL="960755" lvl="1" indent="-457200">
              <a:buFont typeface="Wingdings" panose="05000000000000000000" pitchFamily="2" charset="2"/>
              <a:buChar char="v"/>
            </a:pPr>
            <a:r>
              <a:rPr lang="en-US" sz="1579" dirty="0">
                <a:effectLst/>
              </a:rPr>
              <a:t>Compiler mitigations</a:t>
            </a:r>
            <a:endParaRPr lang="en-US" sz="1759" dirty="0">
              <a:effectLst/>
            </a:endParaRPr>
          </a:p>
        </p:txBody>
      </p:sp>
      <p:sp>
        <p:nvSpPr>
          <p:cNvPr id="5" name="TextBox 4">
            <a:extLst>
              <a:ext uri="{FF2B5EF4-FFF2-40B4-BE49-F238E27FC236}">
                <a16:creationId xmlns:a16="http://schemas.microsoft.com/office/drawing/2014/main" id="{04A467FE-5BA2-4E0E-8669-A47B8634AF4C}"/>
              </a:ext>
            </a:extLst>
          </p:cNvPr>
          <p:cNvSpPr txBox="1"/>
          <p:nvPr/>
        </p:nvSpPr>
        <p:spPr>
          <a:xfrm>
            <a:off x="4497860" y="3019991"/>
            <a:ext cx="4714176" cy="3416320"/>
          </a:xfrm>
          <a:prstGeom prst="rect">
            <a:avLst/>
          </a:prstGeom>
          <a:noFill/>
        </p:spPr>
        <p:txBody>
          <a:bodyPr wrap="none" rtlCol="0">
            <a:spAutoFit/>
          </a:bodyPr>
          <a:lstStyle/>
          <a:p>
            <a:pPr marL="342900" indent="-342900">
              <a:buFont typeface="+mj-lt"/>
              <a:buAutoNum type="arabicPeriod"/>
            </a:pPr>
            <a:r>
              <a:rPr lang="en-US" dirty="0"/>
              <a:t>Init/Re-</a:t>
            </a:r>
            <a:r>
              <a:rPr lang="en-US" dirty="0" err="1"/>
              <a:t>init</a:t>
            </a:r>
            <a:r>
              <a:rPr lang="en-US" dirty="0"/>
              <a:t> to fail/error</a:t>
            </a:r>
          </a:p>
          <a:p>
            <a:pPr marL="342900" indent="-342900">
              <a:buFont typeface="+mj-lt"/>
              <a:buAutoNum type="arabicPeriod"/>
            </a:pPr>
            <a:r>
              <a:rPr lang="en-US" dirty="0"/>
              <a:t>Branch re-check</a:t>
            </a:r>
          </a:p>
          <a:p>
            <a:pPr marL="342900" indent="-342900">
              <a:buFont typeface="+mj-lt"/>
              <a:buAutoNum type="arabicPeriod"/>
            </a:pPr>
            <a:r>
              <a:rPr lang="en-US" dirty="0"/>
              <a:t>Redundant checks</a:t>
            </a:r>
          </a:p>
          <a:p>
            <a:pPr marL="342900" indent="-342900">
              <a:buFont typeface="+mj-lt"/>
              <a:buAutoNum type="arabicPeriod"/>
            </a:pPr>
            <a:r>
              <a:rPr lang="en-US" dirty="0"/>
              <a:t>Pre-scrub payload destination</a:t>
            </a:r>
          </a:p>
          <a:p>
            <a:pPr marL="342900" indent="-342900">
              <a:buFont typeface="+mj-lt"/>
              <a:buAutoNum type="arabicPeriod"/>
            </a:pPr>
            <a:r>
              <a:rPr lang="en-US" dirty="0"/>
              <a:t>Clear memory on auth fail</a:t>
            </a:r>
          </a:p>
          <a:p>
            <a:pPr marL="342900" indent="-342900">
              <a:buFont typeface="+mj-lt"/>
              <a:buAutoNum type="arabicPeriod"/>
            </a:pPr>
            <a:r>
              <a:rPr lang="en-US" dirty="0"/>
              <a:t>Random delay</a:t>
            </a:r>
          </a:p>
          <a:p>
            <a:pPr marL="342900" indent="-342900">
              <a:buFont typeface="+mj-lt"/>
              <a:buAutoNum type="arabicPeriod"/>
            </a:pPr>
            <a:r>
              <a:rPr lang="en-US" dirty="0"/>
              <a:t>Exception on error (instead of inf. loop)</a:t>
            </a:r>
          </a:p>
          <a:p>
            <a:pPr marL="342900" indent="-342900">
              <a:buFont typeface="+mj-lt"/>
              <a:buAutoNum type="arabicPeriod"/>
            </a:pPr>
            <a:r>
              <a:rPr lang="en-US" dirty="0"/>
              <a:t>Hamming distance</a:t>
            </a:r>
          </a:p>
          <a:p>
            <a:pPr marL="342900" indent="-342900">
              <a:buFont typeface="+mj-lt"/>
              <a:buAutoNum type="arabicPeriod"/>
            </a:pPr>
            <a:r>
              <a:rPr lang="en-US" dirty="0"/>
              <a:t>Loop counter checks</a:t>
            </a:r>
          </a:p>
          <a:p>
            <a:pPr marL="342900" indent="-342900">
              <a:buFont typeface="+mj-lt"/>
              <a:buAutoNum type="arabicPeriod"/>
            </a:pPr>
            <a:r>
              <a:rPr lang="en-US" dirty="0"/>
              <a:t>Default fail</a:t>
            </a:r>
          </a:p>
          <a:p>
            <a:pPr marL="342900" indent="-342900">
              <a:buFont typeface="+mj-lt"/>
              <a:buAutoNum type="arabicPeriod"/>
            </a:pPr>
            <a:r>
              <a:rPr lang="en-US" dirty="0"/>
              <a:t>More…</a:t>
            </a:r>
          </a:p>
          <a:p>
            <a:pPr marL="342900" indent="-342900">
              <a:buFont typeface="+mj-lt"/>
              <a:buAutoNum type="arabicPeriod"/>
            </a:pPr>
            <a:endParaRPr lang="en-US" dirty="0"/>
          </a:p>
        </p:txBody>
      </p:sp>
      <p:sp>
        <p:nvSpPr>
          <p:cNvPr id="6" name="Rectangle 5">
            <a:extLst>
              <a:ext uri="{FF2B5EF4-FFF2-40B4-BE49-F238E27FC236}">
                <a16:creationId xmlns:a16="http://schemas.microsoft.com/office/drawing/2014/main" id="{FC70F3B7-63D5-4A7F-80F5-03A9D57F1586}"/>
              </a:ext>
            </a:extLst>
          </p:cNvPr>
          <p:cNvSpPr/>
          <p:nvPr/>
        </p:nvSpPr>
        <p:spPr>
          <a:xfrm>
            <a:off x="4497860" y="3019991"/>
            <a:ext cx="4714176" cy="31831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or: Elbow 6">
            <a:extLst>
              <a:ext uri="{FF2B5EF4-FFF2-40B4-BE49-F238E27FC236}">
                <a16:creationId xmlns:a16="http://schemas.microsoft.com/office/drawing/2014/main" id="{A6CE8E3E-C340-4511-AF63-3C3E1B435B9E}"/>
              </a:ext>
            </a:extLst>
          </p:cNvPr>
          <p:cNvCxnSpPr>
            <a:cxnSpLocks/>
            <a:endCxn id="5" idx="0"/>
          </p:cNvCxnSpPr>
          <p:nvPr/>
        </p:nvCxnSpPr>
        <p:spPr>
          <a:xfrm flipV="1">
            <a:off x="3815766" y="3019991"/>
            <a:ext cx="3039182" cy="261964"/>
          </a:xfrm>
          <a:prstGeom prst="bentConnector4">
            <a:avLst>
              <a:gd name="adj1" fmla="val 11222"/>
              <a:gd name="adj2" fmla="val 18726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6957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45752"/>
          </a:xfrm>
          <a:prstGeom prst="rect">
            <a:avLst/>
          </a:prstGeom>
        </p:spPr>
        <p:txBody>
          <a:bodyPr vert="horz" wrap="square" lIns="91440" tIns="45720" rIns="91440" bIns="45720" rtlCol="0" anchor="t">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0755"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0755" lvl="1" indent="-457200">
              <a:buFont typeface="Wingdings" panose="05000000000000000000" pitchFamily="2" charset="2"/>
              <a:buChar char="v"/>
            </a:pPr>
            <a:r>
              <a:rPr lang="en-US" sz="1579" dirty="0">
                <a:effectLst/>
              </a:rPr>
              <a:t>DCLS (strong)</a:t>
            </a:r>
          </a:p>
          <a:p>
            <a:pPr marL="960755"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solidFill>
                  <a:srgbClr val="FF0000"/>
                </a:solidFill>
                <a:effectLst/>
              </a:rPr>
              <a:t>SW mitigation (complexity++)</a:t>
            </a:r>
          </a:p>
          <a:p>
            <a:pPr marL="960755" lvl="1" indent="-457200">
              <a:buFont typeface="Wingdings" panose="05000000000000000000" pitchFamily="2" charset="2"/>
              <a:buChar char="v"/>
            </a:pPr>
            <a:r>
              <a:rPr lang="en-US" sz="1579" dirty="0">
                <a:solidFill>
                  <a:srgbClr val="FF0000"/>
                </a:solidFill>
                <a:effectLst/>
              </a:rPr>
              <a:t>Compiler mitigations</a:t>
            </a:r>
            <a:endParaRPr lang="en-US" sz="1759" dirty="0">
              <a:solidFill>
                <a:srgbClr val="FF0000"/>
              </a:solidFill>
              <a:effectLst/>
            </a:endParaRPr>
          </a:p>
        </p:txBody>
      </p:sp>
      <p:sp>
        <p:nvSpPr>
          <p:cNvPr id="5" name="TextBox 4">
            <a:extLst>
              <a:ext uri="{FF2B5EF4-FFF2-40B4-BE49-F238E27FC236}">
                <a16:creationId xmlns:a16="http://schemas.microsoft.com/office/drawing/2014/main" id="{04A467FE-5BA2-4E0E-8669-A47B8634AF4C}"/>
              </a:ext>
            </a:extLst>
          </p:cNvPr>
          <p:cNvSpPr txBox="1"/>
          <p:nvPr/>
        </p:nvSpPr>
        <p:spPr>
          <a:xfrm>
            <a:off x="4497860" y="3019991"/>
            <a:ext cx="4714176" cy="3416320"/>
          </a:xfrm>
          <a:prstGeom prst="rect">
            <a:avLst/>
          </a:prstGeom>
          <a:noFill/>
        </p:spPr>
        <p:txBody>
          <a:bodyPr wrap="none" rtlCol="0">
            <a:spAutoFit/>
          </a:bodyPr>
          <a:lstStyle/>
          <a:p>
            <a:pPr marL="342900" indent="-342900">
              <a:buFont typeface="+mj-lt"/>
              <a:buAutoNum type="arabicPeriod"/>
            </a:pPr>
            <a:r>
              <a:rPr lang="en-US" dirty="0"/>
              <a:t>Init/Re-</a:t>
            </a:r>
            <a:r>
              <a:rPr lang="en-US" dirty="0" err="1"/>
              <a:t>init</a:t>
            </a:r>
            <a:r>
              <a:rPr lang="en-US" dirty="0"/>
              <a:t> to fail/error</a:t>
            </a:r>
          </a:p>
          <a:p>
            <a:pPr marL="342900" indent="-342900">
              <a:buFont typeface="+mj-lt"/>
              <a:buAutoNum type="arabicPeriod"/>
            </a:pPr>
            <a:r>
              <a:rPr lang="en-US" dirty="0"/>
              <a:t>Branch re-check</a:t>
            </a:r>
          </a:p>
          <a:p>
            <a:pPr marL="342900" indent="-342900">
              <a:buFont typeface="+mj-lt"/>
              <a:buAutoNum type="arabicPeriod"/>
            </a:pPr>
            <a:r>
              <a:rPr lang="en-US" dirty="0"/>
              <a:t>Redundant checks</a:t>
            </a:r>
          </a:p>
          <a:p>
            <a:pPr marL="342900" indent="-342900">
              <a:buFont typeface="+mj-lt"/>
              <a:buAutoNum type="arabicPeriod"/>
            </a:pPr>
            <a:r>
              <a:rPr lang="en-US" dirty="0"/>
              <a:t>Pre-scrub payload destination</a:t>
            </a:r>
          </a:p>
          <a:p>
            <a:pPr marL="342900" indent="-342900">
              <a:buFont typeface="+mj-lt"/>
              <a:buAutoNum type="arabicPeriod"/>
            </a:pPr>
            <a:r>
              <a:rPr lang="en-US" dirty="0"/>
              <a:t>Clear memory on auth fail</a:t>
            </a:r>
          </a:p>
          <a:p>
            <a:pPr marL="342900" indent="-342900">
              <a:buFont typeface="+mj-lt"/>
              <a:buAutoNum type="arabicPeriod"/>
            </a:pPr>
            <a:r>
              <a:rPr lang="en-US" dirty="0"/>
              <a:t>Random delay</a:t>
            </a:r>
          </a:p>
          <a:p>
            <a:pPr marL="342900" indent="-342900">
              <a:buFont typeface="+mj-lt"/>
              <a:buAutoNum type="arabicPeriod"/>
            </a:pPr>
            <a:r>
              <a:rPr lang="en-US" dirty="0"/>
              <a:t>Exception on error (instead of inf. loop)</a:t>
            </a:r>
          </a:p>
          <a:p>
            <a:pPr marL="342900" indent="-342900">
              <a:buFont typeface="+mj-lt"/>
              <a:buAutoNum type="arabicPeriod"/>
            </a:pPr>
            <a:r>
              <a:rPr lang="en-US" dirty="0"/>
              <a:t>Hamming distance</a:t>
            </a:r>
          </a:p>
          <a:p>
            <a:pPr marL="342900" indent="-342900">
              <a:buFont typeface="+mj-lt"/>
              <a:buAutoNum type="arabicPeriod"/>
            </a:pPr>
            <a:r>
              <a:rPr lang="en-US" dirty="0"/>
              <a:t>Loop counter checks</a:t>
            </a:r>
          </a:p>
          <a:p>
            <a:pPr marL="342900" indent="-342900">
              <a:buFont typeface="+mj-lt"/>
              <a:buAutoNum type="arabicPeriod"/>
            </a:pPr>
            <a:r>
              <a:rPr lang="en-US" dirty="0"/>
              <a:t>Default fail</a:t>
            </a:r>
          </a:p>
          <a:p>
            <a:pPr marL="342900" indent="-342900">
              <a:buFont typeface="+mj-lt"/>
              <a:buAutoNum type="arabicPeriod"/>
            </a:pPr>
            <a:r>
              <a:rPr lang="en-US" dirty="0"/>
              <a:t>More…</a:t>
            </a:r>
          </a:p>
          <a:p>
            <a:pPr marL="342900" indent="-342900">
              <a:buFont typeface="+mj-lt"/>
              <a:buAutoNum type="arabicPeriod"/>
            </a:pPr>
            <a:endParaRPr lang="en-US" dirty="0"/>
          </a:p>
        </p:txBody>
      </p:sp>
      <p:sp>
        <p:nvSpPr>
          <p:cNvPr id="6" name="Rectangle 5">
            <a:extLst>
              <a:ext uri="{FF2B5EF4-FFF2-40B4-BE49-F238E27FC236}">
                <a16:creationId xmlns:a16="http://schemas.microsoft.com/office/drawing/2014/main" id="{FC70F3B7-63D5-4A7F-80F5-03A9D57F1586}"/>
              </a:ext>
            </a:extLst>
          </p:cNvPr>
          <p:cNvSpPr/>
          <p:nvPr/>
        </p:nvSpPr>
        <p:spPr>
          <a:xfrm>
            <a:off x="4497860" y="3019991"/>
            <a:ext cx="4714176" cy="31831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or: Elbow 6">
            <a:extLst>
              <a:ext uri="{FF2B5EF4-FFF2-40B4-BE49-F238E27FC236}">
                <a16:creationId xmlns:a16="http://schemas.microsoft.com/office/drawing/2014/main" id="{A6CE8E3E-C340-4511-AF63-3C3E1B435B9E}"/>
              </a:ext>
            </a:extLst>
          </p:cNvPr>
          <p:cNvCxnSpPr>
            <a:cxnSpLocks/>
            <a:endCxn id="5" idx="0"/>
          </p:cNvCxnSpPr>
          <p:nvPr/>
        </p:nvCxnSpPr>
        <p:spPr>
          <a:xfrm flipV="1">
            <a:off x="3815766" y="3019991"/>
            <a:ext cx="3039182" cy="261964"/>
          </a:xfrm>
          <a:prstGeom prst="bentConnector4">
            <a:avLst>
              <a:gd name="adj1" fmla="val 11222"/>
              <a:gd name="adj2" fmla="val 18726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9A3745EE-9064-4128-B215-A8A86CAB08CC}"/>
              </a:ext>
            </a:extLst>
          </p:cNvPr>
          <p:cNvCxnSpPr>
            <a:endCxn id="6" idx="1"/>
          </p:cNvCxnSpPr>
          <p:nvPr/>
        </p:nvCxnSpPr>
        <p:spPr>
          <a:xfrm>
            <a:off x="3019991" y="3647715"/>
            <a:ext cx="1477869" cy="963827"/>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Speech Bubble: Rectangle with Corners Rounded 9">
            <a:extLst>
              <a:ext uri="{FF2B5EF4-FFF2-40B4-BE49-F238E27FC236}">
                <a16:creationId xmlns:a16="http://schemas.microsoft.com/office/drawing/2014/main" id="{08EB8A3D-848B-49A4-B5DD-1C02555C22C4}"/>
              </a:ext>
            </a:extLst>
          </p:cNvPr>
          <p:cNvSpPr/>
          <p:nvPr/>
        </p:nvSpPr>
        <p:spPr>
          <a:xfrm>
            <a:off x="1195639" y="4129628"/>
            <a:ext cx="2017118" cy="1099751"/>
          </a:xfrm>
          <a:prstGeom prst="wedgeRoundRectCallout">
            <a:avLst>
              <a:gd name="adj1" fmla="val -10234"/>
              <a:gd name="adj2" fmla="val -8584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Automatically applied by compiler</a:t>
            </a:r>
          </a:p>
        </p:txBody>
      </p:sp>
    </p:spTree>
    <p:extLst>
      <p:ext uri="{BB962C8B-B14F-4D97-AF65-F5344CB8AC3E}">
        <p14:creationId xmlns:p14="http://schemas.microsoft.com/office/powerpoint/2010/main" val="17805663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83</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2715423"/>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p>
        </p:txBody>
      </p:sp>
    </p:spTree>
    <p:extLst>
      <p:ext uri="{BB962C8B-B14F-4D97-AF65-F5344CB8AC3E}">
        <p14:creationId xmlns:p14="http://schemas.microsoft.com/office/powerpoint/2010/main" val="9509403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84</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5475986"/>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p>
          <a:p>
            <a:pPr marL="457200" indent="-457200">
              <a:buFont typeface="Wingdings" panose="05000000000000000000" pitchFamily="2" charset="2"/>
              <a:buChar char="v"/>
            </a:pPr>
            <a:r>
              <a:rPr lang="en-US" sz="1980" dirty="0">
                <a:effectLst/>
              </a:rPr>
              <a:t>Design decision to address </a:t>
            </a:r>
            <a:r>
              <a:rPr lang="en-US" sz="1980" dirty="0">
                <a:solidFill>
                  <a:srgbClr val="FF0000"/>
                </a:solidFill>
                <a:effectLst/>
              </a:rPr>
              <a:t>MTVEC</a:t>
            </a:r>
            <a:r>
              <a:rPr lang="en-US" sz="1980" dirty="0">
                <a:effectLst/>
              </a:rPr>
              <a:t> weakness:</a:t>
            </a:r>
          </a:p>
          <a:p>
            <a:pPr marL="961171" lvl="1" indent="-457200">
              <a:buFont typeface="Wingdings" panose="05000000000000000000" pitchFamily="2" charset="2"/>
              <a:buChar char="v"/>
            </a:pPr>
            <a:r>
              <a:rPr lang="en-US" sz="1759" dirty="0">
                <a:effectLst/>
              </a:rPr>
              <a:t>As soon as START_CPU signal arrives, pre-initialize MTVEC to point to </a:t>
            </a:r>
            <a:r>
              <a:rPr lang="en-US" sz="1759" dirty="0">
                <a:solidFill>
                  <a:srgbClr val="FF0000"/>
                </a:solidFill>
                <a:effectLst/>
              </a:rPr>
              <a:t>halt</a:t>
            </a:r>
            <a:r>
              <a:rPr lang="en-US" sz="1759" dirty="0">
                <a:effectLst/>
              </a:rPr>
              <a:t> instruction</a:t>
            </a:r>
          </a:p>
          <a:p>
            <a:pPr marL="961171" lvl="1" indent="-457200">
              <a:buFont typeface="Wingdings" panose="05000000000000000000" pitchFamily="2" charset="2"/>
              <a:buChar char="v"/>
            </a:pPr>
            <a:r>
              <a:rPr lang="en-US" sz="1759" dirty="0">
                <a:effectLst/>
              </a:rPr>
              <a:t>Change ISA to at least WARN about the potential problems with the late MTVEC initialization</a:t>
            </a:r>
          </a:p>
          <a:p>
            <a:pPr marL="961171" lvl="1" indent="-457200">
              <a:buFont typeface="Wingdings" panose="05000000000000000000" pitchFamily="2" charset="2"/>
              <a:buChar char="v"/>
            </a:pPr>
            <a:r>
              <a:rPr lang="en-US" sz="1759" dirty="0">
                <a:effectLst/>
              </a:rPr>
              <a:t>Introduce “double / triple” fault-like exception which halts the core (instead of infinitive exception loop):</a:t>
            </a:r>
          </a:p>
          <a:p>
            <a:pPr marL="1465143" lvl="2" indent="-457200">
              <a:buFont typeface="Wingdings" panose="05000000000000000000" pitchFamily="2" charset="2"/>
              <a:buChar char="v"/>
            </a:pPr>
            <a:r>
              <a:rPr lang="en-US" sz="1539" dirty="0">
                <a:effectLst/>
              </a:rPr>
              <a:t>E.g., </a:t>
            </a:r>
            <a:r>
              <a:rPr lang="en-US" sz="1539" dirty="0">
                <a:solidFill>
                  <a:srgbClr val="FFC000"/>
                </a:solidFill>
                <a:effectLst/>
              </a:rPr>
              <a:t>if MEPC == MTVEC </a:t>
            </a:r>
            <a:r>
              <a:rPr lang="en-US" sz="1539" dirty="0">
                <a:effectLst/>
              </a:rPr>
              <a:t>then </a:t>
            </a:r>
            <a:r>
              <a:rPr lang="en-US" sz="1539" dirty="0">
                <a:solidFill>
                  <a:srgbClr val="FF0000"/>
                </a:solidFill>
                <a:effectLst/>
              </a:rPr>
              <a:t>panic()</a:t>
            </a:r>
          </a:p>
        </p:txBody>
      </p:sp>
    </p:spTree>
    <p:extLst>
      <p:ext uri="{BB962C8B-B14F-4D97-AF65-F5344CB8AC3E}">
        <p14:creationId xmlns:p14="http://schemas.microsoft.com/office/powerpoint/2010/main" val="41393209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85</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pl-PL" dirty="0">
                <a:solidFill>
                  <a:schemeClr val="accent1"/>
                </a:solidFill>
              </a:rPr>
              <a:t>How to Fix </a:t>
            </a:r>
            <a:r>
              <a:rPr lang="pl-PL" dirty="0">
                <a:solidFill>
                  <a:srgbClr val="C00000"/>
                </a:solidFill>
              </a:rPr>
              <a:t>MTVEC</a:t>
            </a:r>
            <a:r>
              <a:rPr lang="en-US" dirty="0">
                <a:solidFill>
                  <a:srgbClr val="C00000"/>
                </a:solidFill>
              </a:rPr>
              <a:t> </a:t>
            </a:r>
            <a:r>
              <a:rPr lang="en-US" dirty="0">
                <a:solidFill>
                  <a:schemeClr val="accent1"/>
                </a:solidFill>
              </a:rPr>
              <a:t>issue?</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644516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The described problem is a chain of multiple problems… </a:t>
            </a:r>
            <a:endParaRPr lang="pl-PL" sz="1800" dirty="0">
              <a:effectLst/>
            </a:endParaRPr>
          </a:p>
          <a:p>
            <a:pPr marL="961171" lvl="1" indent="-457200">
              <a:buFont typeface="Wingdings" panose="05000000000000000000" pitchFamily="2" charset="2"/>
              <a:buChar char="v"/>
            </a:pPr>
            <a:r>
              <a:rPr lang="en-US" sz="1579" dirty="0">
                <a:effectLst/>
              </a:rPr>
              <a:t>To exploit the bug, we need to perform Fault Injection</a:t>
            </a:r>
          </a:p>
          <a:p>
            <a:pPr marL="457200" indent="-457200">
              <a:buFont typeface="Wingdings" panose="05000000000000000000" pitchFamily="2" charset="2"/>
              <a:buChar char="v"/>
            </a:pPr>
            <a:r>
              <a:rPr lang="en-US" sz="1800" dirty="0">
                <a:effectLst/>
              </a:rPr>
              <a:t>What are the effective Fault Injection protections?</a:t>
            </a:r>
            <a:endParaRPr lang="pl-PL" sz="1800" dirty="0">
              <a:effectLst/>
            </a:endParaRPr>
          </a:p>
          <a:p>
            <a:pPr marL="961171" lvl="1" indent="-457200">
              <a:buFont typeface="Wingdings" panose="05000000000000000000" pitchFamily="2" charset="2"/>
              <a:buChar char="v"/>
            </a:pPr>
            <a:r>
              <a:rPr lang="en-US" sz="1579" dirty="0">
                <a:effectLst/>
              </a:rPr>
              <a:t>DCLS (strong)</a:t>
            </a:r>
          </a:p>
          <a:p>
            <a:pPr marL="961171" lvl="1" indent="-457200">
              <a:buFont typeface="Wingdings" panose="05000000000000000000" pitchFamily="2" charset="2"/>
              <a:buChar char="v"/>
            </a:pPr>
            <a:r>
              <a:rPr lang="en-US" sz="1579" dirty="0">
                <a:effectLst/>
              </a:rPr>
              <a:t>TCLS (even stronger!)</a:t>
            </a:r>
          </a:p>
          <a:p>
            <a:pPr marL="960755" lvl="1" indent="-457200">
              <a:buFont typeface="Wingdings" panose="05000000000000000000" pitchFamily="2" charset="2"/>
              <a:buChar char="v"/>
            </a:pPr>
            <a:r>
              <a:rPr lang="en-US" sz="1580" dirty="0">
                <a:effectLst/>
              </a:rPr>
              <a:t>SW mitigation (complexity++)</a:t>
            </a:r>
          </a:p>
          <a:p>
            <a:pPr marL="961171" lvl="1" indent="-457200">
              <a:buFont typeface="Wingdings" panose="05000000000000000000" pitchFamily="2" charset="2"/>
              <a:buChar char="v"/>
            </a:pPr>
            <a:r>
              <a:rPr lang="en-US" sz="1579" dirty="0">
                <a:effectLst/>
              </a:rPr>
              <a:t>Compiler mitigations</a:t>
            </a:r>
          </a:p>
          <a:p>
            <a:pPr marL="457200" indent="-457200">
              <a:buFont typeface="Wingdings" panose="05000000000000000000" pitchFamily="2" charset="2"/>
              <a:buChar char="v"/>
            </a:pPr>
            <a:r>
              <a:rPr lang="en-US" sz="1980" dirty="0">
                <a:effectLst/>
              </a:rPr>
              <a:t>Design decision to address </a:t>
            </a:r>
            <a:r>
              <a:rPr lang="en-US" sz="1980" dirty="0">
                <a:solidFill>
                  <a:srgbClr val="FF0000"/>
                </a:solidFill>
                <a:effectLst/>
              </a:rPr>
              <a:t>MTVEC</a:t>
            </a:r>
            <a:r>
              <a:rPr lang="en-US" sz="1980" dirty="0">
                <a:effectLst/>
              </a:rPr>
              <a:t> weakness:</a:t>
            </a:r>
          </a:p>
          <a:p>
            <a:pPr marL="961171" lvl="1" indent="-457200">
              <a:buFont typeface="Wingdings" panose="05000000000000000000" pitchFamily="2" charset="2"/>
              <a:buChar char="v"/>
            </a:pPr>
            <a:r>
              <a:rPr lang="en-US" sz="1759" dirty="0">
                <a:effectLst/>
              </a:rPr>
              <a:t>As soon as START_CPU signal arrives, pre-initialize MTVEC to point to </a:t>
            </a:r>
            <a:r>
              <a:rPr lang="en-US" sz="1759" dirty="0">
                <a:solidFill>
                  <a:srgbClr val="FF0000"/>
                </a:solidFill>
                <a:effectLst/>
              </a:rPr>
              <a:t>halt</a:t>
            </a:r>
            <a:r>
              <a:rPr lang="en-US" sz="1759" dirty="0">
                <a:effectLst/>
              </a:rPr>
              <a:t> instruction</a:t>
            </a:r>
          </a:p>
          <a:p>
            <a:pPr marL="961171" lvl="1" indent="-457200">
              <a:buFont typeface="Wingdings" panose="05000000000000000000" pitchFamily="2" charset="2"/>
              <a:buChar char="v"/>
            </a:pPr>
            <a:r>
              <a:rPr lang="en-US" sz="1759" dirty="0">
                <a:effectLst/>
              </a:rPr>
              <a:t>Change ISA to at least WARN about the potential problems with the late MTVEC initialization</a:t>
            </a:r>
          </a:p>
          <a:p>
            <a:pPr marL="961171" lvl="1" indent="-457200">
              <a:buFont typeface="Wingdings" panose="05000000000000000000" pitchFamily="2" charset="2"/>
              <a:buChar char="v"/>
            </a:pPr>
            <a:r>
              <a:rPr lang="en-US" sz="1759" dirty="0">
                <a:effectLst/>
              </a:rPr>
              <a:t>Introduce “double / triple” fault-like exception which halts the core (instead of infinitive exception loop):</a:t>
            </a:r>
          </a:p>
          <a:p>
            <a:pPr marL="1465143" lvl="2" indent="-457200">
              <a:buFont typeface="Wingdings" panose="05000000000000000000" pitchFamily="2" charset="2"/>
              <a:buChar char="v"/>
            </a:pPr>
            <a:r>
              <a:rPr lang="en-US" sz="1539" dirty="0">
                <a:effectLst/>
              </a:rPr>
              <a:t>E.g., </a:t>
            </a:r>
            <a:r>
              <a:rPr lang="en-US" sz="1539" dirty="0">
                <a:solidFill>
                  <a:srgbClr val="FFC000"/>
                </a:solidFill>
                <a:effectLst/>
              </a:rPr>
              <a:t>if MEPC == MTVEC </a:t>
            </a:r>
            <a:r>
              <a:rPr lang="en-US" sz="1539" dirty="0">
                <a:effectLst/>
              </a:rPr>
              <a:t>then </a:t>
            </a:r>
            <a:r>
              <a:rPr lang="en-US" sz="1539" dirty="0">
                <a:solidFill>
                  <a:srgbClr val="FF0000"/>
                </a:solidFill>
                <a:effectLst/>
              </a:rPr>
              <a:t>panic()</a:t>
            </a:r>
          </a:p>
          <a:p>
            <a:pPr marL="457200" indent="-457200">
              <a:buFont typeface="Wingdings" panose="05000000000000000000" pitchFamily="2" charset="2"/>
              <a:buChar char="v"/>
            </a:pPr>
            <a:r>
              <a:rPr lang="en-US" sz="1980" dirty="0">
                <a:effectLst/>
              </a:rPr>
              <a:t>What else can be done to harden </a:t>
            </a:r>
            <a:r>
              <a:rPr lang="en-US" sz="1980" dirty="0">
                <a:solidFill>
                  <a:srgbClr val="FF0000"/>
                </a:solidFill>
                <a:effectLst/>
              </a:rPr>
              <a:t>RISC-V</a:t>
            </a:r>
            <a:r>
              <a:rPr lang="en-US" sz="1980" dirty="0">
                <a:effectLst/>
              </a:rPr>
              <a:t>?</a:t>
            </a:r>
          </a:p>
          <a:p>
            <a:pPr marL="961171" lvl="1" indent="-457200">
              <a:buFont typeface="Wingdings" panose="05000000000000000000" pitchFamily="2" charset="2"/>
              <a:buChar char="v"/>
            </a:pPr>
            <a:r>
              <a:rPr lang="en-US" sz="1759" dirty="0">
                <a:effectLst/>
              </a:rPr>
              <a:t>What about mitigation against the software attacks?</a:t>
            </a:r>
          </a:p>
        </p:txBody>
      </p:sp>
    </p:spTree>
    <p:extLst>
      <p:ext uri="{BB962C8B-B14F-4D97-AF65-F5344CB8AC3E}">
        <p14:creationId xmlns:p14="http://schemas.microsoft.com/office/powerpoint/2010/main" val="20684266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86</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Hardening</a:t>
            </a:r>
            <a:r>
              <a:rPr lang="pl-PL" dirty="0">
                <a:solidFill>
                  <a:schemeClr val="accent1"/>
                </a:solidFill>
              </a:rPr>
              <a:t> </a:t>
            </a:r>
            <a:r>
              <a:rPr lang="en-US" dirty="0">
                <a:solidFill>
                  <a:srgbClr val="C00000"/>
                </a:solidFill>
              </a:rPr>
              <a:t>RISC-V</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407060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Pointer Masking extension for RISC-V</a:t>
            </a:r>
            <a:endParaRPr lang="pl-PL" sz="1800" dirty="0">
              <a:effectLst/>
            </a:endParaRPr>
          </a:p>
          <a:p>
            <a:pPr marL="961171" lvl="1" indent="-457200">
              <a:buFont typeface="Wingdings" panose="05000000000000000000" pitchFamily="2" charset="2"/>
              <a:buChar char="v"/>
            </a:pPr>
            <a:r>
              <a:rPr lang="en-US" sz="1579" dirty="0">
                <a:effectLst/>
              </a:rPr>
              <a:t>Driven by Adam Zabrocki (NVIDIA), Martin Maas (Google), Lee Campbell (Google),</a:t>
            </a:r>
            <a:br>
              <a:rPr lang="en-US" sz="1579" dirty="0">
                <a:effectLst/>
              </a:rPr>
            </a:br>
            <a:r>
              <a:rPr lang="en-US" sz="1579" dirty="0">
                <a:effectLst/>
              </a:rPr>
              <a:t>RISC-V TEE and J-Ext Task Groups</a:t>
            </a:r>
          </a:p>
          <a:p>
            <a:pPr marL="961171" lvl="1" indent="-457200">
              <a:buFont typeface="Wingdings" panose="05000000000000000000" pitchFamily="2" charset="2"/>
              <a:buChar char="v"/>
            </a:pPr>
            <a:r>
              <a:rPr lang="en-US" sz="1579" dirty="0">
                <a:effectLst/>
              </a:rPr>
              <a:t>From the security perspective it allows to implement:</a:t>
            </a:r>
          </a:p>
          <a:p>
            <a:pPr marL="1465143" lvl="2" indent="-457200">
              <a:buFont typeface="Wingdings" panose="05000000000000000000" pitchFamily="2" charset="2"/>
              <a:buChar char="v"/>
            </a:pPr>
            <a:r>
              <a:rPr lang="en-US" sz="1359" dirty="0">
                <a:effectLst/>
              </a:rPr>
              <a:t>HWASAN</a:t>
            </a:r>
          </a:p>
          <a:p>
            <a:pPr marL="1465143" lvl="2" indent="-457200">
              <a:buFont typeface="Wingdings" panose="05000000000000000000" pitchFamily="2" charset="2"/>
              <a:buChar char="v"/>
            </a:pPr>
            <a:r>
              <a:rPr lang="en-US" sz="1359" dirty="0">
                <a:effectLst/>
              </a:rPr>
              <a:t>Pointer Authentication Codes (PAC)</a:t>
            </a:r>
          </a:p>
          <a:p>
            <a:pPr marL="1465143" lvl="2" indent="-457200">
              <a:buFont typeface="Wingdings" panose="05000000000000000000" pitchFamily="2" charset="2"/>
              <a:buChar char="v"/>
            </a:pPr>
            <a:r>
              <a:rPr lang="en-US" sz="1359" dirty="0">
                <a:effectLst/>
              </a:rPr>
              <a:t>HW Memory Sandboxing</a:t>
            </a:r>
          </a:p>
          <a:p>
            <a:pPr marL="1465143" lvl="2" indent="-457200">
              <a:buFont typeface="Wingdings" panose="05000000000000000000" pitchFamily="2" charset="2"/>
              <a:buChar char="v"/>
            </a:pPr>
            <a:r>
              <a:rPr lang="en-US" sz="1359" dirty="0">
                <a:effectLst/>
              </a:rPr>
              <a:t>Foundation for:</a:t>
            </a:r>
          </a:p>
          <a:p>
            <a:pPr marL="1969114" lvl="3" indent="-457200">
              <a:buFont typeface="Wingdings" panose="05000000000000000000" pitchFamily="2" charset="2"/>
              <a:buChar char="v"/>
            </a:pPr>
            <a:r>
              <a:rPr lang="en-US" sz="1138" dirty="0">
                <a:effectLst/>
              </a:rPr>
              <a:t>HW MTE</a:t>
            </a:r>
          </a:p>
          <a:p>
            <a:pPr marL="1969114" lvl="3" indent="-457200">
              <a:buFont typeface="Wingdings" panose="05000000000000000000" pitchFamily="2" charset="2"/>
              <a:buChar char="v"/>
            </a:pPr>
            <a:r>
              <a:rPr lang="en-US" sz="1138" dirty="0">
                <a:effectLst/>
              </a:rPr>
              <a:t>Protecting RISC-V CFI (WIP)</a:t>
            </a:r>
          </a:p>
          <a:p>
            <a:pPr marL="1969114" lvl="3" indent="-457200">
              <a:buFont typeface="Wingdings" panose="05000000000000000000" pitchFamily="2" charset="2"/>
              <a:buChar char="v"/>
            </a:pPr>
            <a:r>
              <a:rPr lang="en-US" sz="1138" dirty="0">
                <a:effectLst/>
              </a:rPr>
              <a:t>Protecting RISC-V Shadow Stack (WIP)</a:t>
            </a:r>
          </a:p>
          <a:p>
            <a:pPr marL="457200" indent="-457200">
              <a:buFont typeface="Wingdings" panose="05000000000000000000" pitchFamily="2" charset="2"/>
              <a:buChar char="v"/>
            </a:pPr>
            <a:endParaRPr lang="pl-PL" sz="1800" dirty="0">
              <a:effectLst/>
            </a:endParaRPr>
          </a:p>
        </p:txBody>
      </p:sp>
    </p:spTree>
    <p:extLst>
      <p:ext uri="{BB962C8B-B14F-4D97-AF65-F5344CB8AC3E}">
        <p14:creationId xmlns:p14="http://schemas.microsoft.com/office/powerpoint/2010/main" val="27530044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87</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Hardening</a:t>
            </a:r>
            <a:r>
              <a:rPr lang="pl-PL" dirty="0">
                <a:solidFill>
                  <a:schemeClr val="accent1"/>
                </a:solidFill>
              </a:rPr>
              <a:t> </a:t>
            </a:r>
            <a:r>
              <a:rPr lang="en-US" dirty="0">
                <a:solidFill>
                  <a:srgbClr val="C00000"/>
                </a:solidFill>
              </a:rPr>
              <a:t>RISC-V</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407060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Pointer Masking extension for RISC-V</a:t>
            </a:r>
            <a:endParaRPr lang="pl-PL" sz="1800" dirty="0">
              <a:effectLst/>
            </a:endParaRPr>
          </a:p>
          <a:p>
            <a:pPr marL="961171" lvl="1" indent="-457200">
              <a:buFont typeface="Wingdings" panose="05000000000000000000" pitchFamily="2" charset="2"/>
              <a:buChar char="v"/>
            </a:pPr>
            <a:r>
              <a:rPr lang="en-US" sz="1579" dirty="0">
                <a:effectLst/>
              </a:rPr>
              <a:t>Driven by Adam Zabrocki (NVIDIA), Martin Maas (Google), Lee Campbell (Google),</a:t>
            </a:r>
            <a:br>
              <a:rPr lang="en-US" sz="1579" dirty="0">
                <a:effectLst/>
              </a:rPr>
            </a:br>
            <a:r>
              <a:rPr lang="en-US" sz="1579" dirty="0">
                <a:effectLst/>
              </a:rPr>
              <a:t>RISC-V TEE and J-Ext Task Groups</a:t>
            </a:r>
          </a:p>
          <a:p>
            <a:pPr marL="961171" lvl="1" indent="-457200">
              <a:buFont typeface="Wingdings" panose="05000000000000000000" pitchFamily="2" charset="2"/>
              <a:buChar char="v"/>
            </a:pPr>
            <a:r>
              <a:rPr lang="en-US" sz="1579" dirty="0">
                <a:effectLst/>
              </a:rPr>
              <a:t>From the security perspective it allows to implement:</a:t>
            </a:r>
          </a:p>
          <a:p>
            <a:pPr marL="1465143" lvl="2" indent="-457200">
              <a:buFont typeface="Wingdings" panose="05000000000000000000" pitchFamily="2" charset="2"/>
              <a:buChar char="v"/>
            </a:pPr>
            <a:r>
              <a:rPr lang="en-US" sz="1359" dirty="0">
                <a:effectLst/>
              </a:rPr>
              <a:t>HWASAN</a:t>
            </a:r>
          </a:p>
          <a:p>
            <a:pPr marL="1465143" lvl="2" indent="-457200">
              <a:buFont typeface="Wingdings" panose="05000000000000000000" pitchFamily="2" charset="2"/>
              <a:buChar char="v"/>
            </a:pPr>
            <a:r>
              <a:rPr lang="en-US" sz="1359" dirty="0">
                <a:effectLst/>
              </a:rPr>
              <a:t>Pointer Authentication Codes (PAC)</a:t>
            </a:r>
          </a:p>
          <a:p>
            <a:pPr marL="1465143" lvl="2" indent="-457200">
              <a:buFont typeface="Wingdings" panose="05000000000000000000" pitchFamily="2" charset="2"/>
              <a:buChar char="v"/>
            </a:pPr>
            <a:r>
              <a:rPr lang="en-US" sz="1359" dirty="0">
                <a:solidFill>
                  <a:srgbClr val="FF0000"/>
                </a:solidFill>
                <a:effectLst/>
              </a:rPr>
              <a:t>HW Memory Sandboxing</a:t>
            </a:r>
          </a:p>
          <a:p>
            <a:pPr marL="1465143" lvl="2" indent="-457200">
              <a:buFont typeface="Wingdings" panose="05000000000000000000" pitchFamily="2" charset="2"/>
              <a:buChar char="v"/>
            </a:pPr>
            <a:r>
              <a:rPr lang="en-US" sz="1359" dirty="0">
                <a:effectLst/>
              </a:rPr>
              <a:t>Foundation for:</a:t>
            </a:r>
          </a:p>
          <a:p>
            <a:pPr marL="1969114" lvl="3" indent="-457200">
              <a:buFont typeface="Wingdings" panose="05000000000000000000" pitchFamily="2" charset="2"/>
              <a:buChar char="v"/>
            </a:pPr>
            <a:r>
              <a:rPr lang="en-US" sz="1138" dirty="0">
                <a:effectLst/>
              </a:rPr>
              <a:t>HW MTE</a:t>
            </a:r>
          </a:p>
          <a:p>
            <a:pPr marL="1969114" lvl="3" indent="-457200">
              <a:buFont typeface="Wingdings" panose="05000000000000000000" pitchFamily="2" charset="2"/>
              <a:buChar char="v"/>
            </a:pPr>
            <a:r>
              <a:rPr lang="en-US" sz="1138" dirty="0">
                <a:effectLst/>
              </a:rPr>
              <a:t>Protecting RISC-V CFI (WIP)</a:t>
            </a:r>
          </a:p>
          <a:p>
            <a:pPr marL="1969114" lvl="3" indent="-457200">
              <a:buFont typeface="Wingdings" panose="05000000000000000000" pitchFamily="2" charset="2"/>
              <a:buChar char="v"/>
            </a:pPr>
            <a:r>
              <a:rPr lang="en-US" sz="1138" dirty="0">
                <a:effectLst/>
              </a:rPr>
              <a:t>Protecting RISC-V Shadow Stack (WIP)</a:t>
            </a:r>
          </a:p>
          <a:p>
            <a:pPr marL="457200" indent="-457200">
              <a:buFont typeface="Wingdings" panose="05000000000000000000" pitchFamily="2" charset="2"/>
              <a:buChar char="v"/>
            </a:pPr>
            <a:endParaRPr lang="pl-PL" sz="1800" dirty="0">
              <a:effectLst/>
            </a:endParaRPr>
          </a:p>
        </p:txBody>
      </p:sp>
    </p:spTree>
    <p:extLst>
      <p:ext uri="{BB962C8B-B14F-4D97-AF65-F5344CB8AC3E}">
        <p14:creationId xmlns:p14="http://schemas.microsoft.com/office/powerpoint/2010/main" val="27436421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88</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Hardening</a:t>
            </a:r>
            <a:r>
              <a:rPr lang="pl-PL" dirty="0">
                <a:solidFill>
                  <a:schemeClr val="accent1"/>
                </a:solidFill>
              </a:rPr>
              <a:t> </a:t>
            </a:r>
            <a:r>
              <a:rPr lang="en-US" dirty="0">
                <a:solidFill>
                  <a:srgbClr val="C00000"/>
                </a:solidFill>
              </a:rPr>
              <a:t>RISC-V</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407060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Pointer Masking extension for RISC-V</a:t>
            </a:r>
            <a:endParaRPr lang="pl-PL" sz="1800" dirty="0">
              <a:effectLst/>
            </a:endParaRPr>
          </a:p>
          <a:p>
            <a:pPr marL="961171" lvl="1" indent="-457200">
              <a:buFont typeface="Wingdings" panose="05000000000000000000" pitchFamily="2" charset="2"/>
              <a:buChar char="v"/>
            </a:pPr>
            <a:r>
              <a:rPr lang="en-US" sz="1579" dirty="0">
                <a:effectLst/>
              </a:rPr>
              <a:t>Driven by Adam Zabrocki (NVIDIA), Martin Maas (Google), Lee Campbell (Google),</a:t>
            </a:r>
            <a:br>
              <a:rPr lang="en-US" sz="1579" dirty="0">
                <a:effectLst/>
              </a:rPr>
            </a:br>
            <a:r>
              <a:rPr lang="en-US" sz="1579" dirty="0">
                <a:effectLst/>
              </a:rPr>
              <a:t>RISC-V TEE and J-Ext Task Groups</a:t>
            </a:r>
          </a:p>
          <a:p>
            <a:pPr marL="961171" lvl="1" indent="-457200">
              <a:buFont typeface="Wingdings" panose="05000000000000000000" pitchFamily="2" charset="2"/>
              <a:buChar char="v"/>
            </a:pPr>
            <a:r>
              <a:rPr lang="en-US" sz="1579" dirty="0">
                <a:effectLst/>
              </a:rPr>
              <a:t>From the security perspective it allows to implement:</a:t>
            </a:r>
          </a:p>
          <a:p>
            <a:pPr marL="1465143" lvl="2" indent="-457200">
              <a:buFont typeface="Wingdings" panose="05000000000000000000" pitchFamily="2" charset="2"/>
              <a:buChar char="v"/>
            </a:pPr>
            <a:r>
              <a:rPr lang="en-US" sz="1359" dirty="0">
                <a:effectLst/>
              </a:rPr>
              <a:t>HWASAN</a:t>
            </a:r>
          </a:p>
          <a:p>
            <a:pPr marL="1465143" lvl="2" indent="-457200">
              <a:buFont typeface="Wingdings" panose="05000000000000000000" pitchFamily="2" charset="2"/>
              <a:buChar char="v"/>
            </a:pPr>
            <a:r>
              <a:rPr lang="en-US" sz="1359" dirty="0">
                <a:effectLst/>
              </a:rPr>
              <a:t>Pointer Authentication Codes (PAC)</a:t>
            </a:r>
          </a:p>
          <a:p>
            <a:pPr marL="1465143" lvl="2" indent="-457200">
              <a:buFont typeface="Wingdings" panose="05000000000000000000" pitchFamily="2" charset="2"/>
              <a:buChar char="v"/>
            </a:pPr>
            <a:r>
              <a:rPr lang="en-US" sz="1359" dirty="0">
                <a:solidFill>
                  <a:srgbClr val="FF0000"/>
                </a:solidFill>
                <a:effectLst/>
              </a:rPr>
              <a:t>HW Memory Sandboxing</a:t>
            </a:r>
          </a:p>
          <a:p>
            <a:pPr marL="1465143" lvl="2" indent="-457200">
              <a:buFont typeface="Wingdings" panose="05000000000000000000" pitchFamily="2" charset="2"/>
              <a:buChar char="v"/>
            </a:pPr>
            <a:r>
              <a:rPr lang="en-US" sz="1359" dirty="0">
                <a:effectLst/>
              </a:rPr>
              <a:t>Foundation for:</a:t>
            </a:r>
          </a:p>
          <a:p>
            <a:pPr marL="1969114" lvl="3" indent="-457200">
              <a:buFont typeface="Wingdings" panose="05000000000000000000" pitchFamily="2" charset="2"/>
              <a:buChar char="v"/>
            </a:pPr>
            <a:r>
              <a:rPr lang="en-US" sz="1138" dirty="0">
                <a:effectLst/>
              </a:rPr>
              <a:t>HW MTE</a:t>
            </a:r>
          </a:p>
          <a:p>
            <a:pPr marL="1969114" lvl="3" indent="-457200">
              <a:buFont typeface="Wingdings" panose="05000000000000000000" pitchFamily="2" charset="2"/>
              <a:buChar char="v"/>
            </a:pPr>
            <a:r>
              <a:rPr lang="en-US" sz="1138" dirty="0">
                <a:effectLst/>
              </a:rPr>
              <a:t>Protecting RISC-V CFI (WIP)</a:t>
            </a:r>
          </a:p>
          <a:p>
            <a:pPr marL="1969114" lvl="3" indent="-457200">
              <a:buFont typeface="Wingdings" panose="05000000000000000000" pitchFamily="2" charset="2"/>
              <a:buChar char="v"/>
            </a:pPr>
            <a:r>
              <a:rPr lang="en-US" sz="1138" dirty="0">
                <a:effectLst/>
              </a:rPr>
              <a:t>Protecting RISC-V Shadow Stack (WIP)</a:t>
            </a:r>
          </a:p>
          <a:p>
            <a:pPr marL="457200" indent="-457200">
              <a:buFont typeface="Wingdings" panose="05000000000000000000" pitchFamily="2" charset="2"/>
              <a:buChar char="v"/>
            </a:pPr>
            <a:endParaRPr lang="pl-PL" sz="1800" dirty="0">
              <a:effectLst/>
            </a:endParaRPr>
          </a:p>
        </p:txBody>
      </p:sp>
      <p:pic>
        <p:nvPicPr>
          <p:cNvPr id="1026" name="Picture 2">
            <a:extLst>
              <a:ext uri="{FF2B5EF4-FFF2-40B4-BE49-F238E27FC236}">
                <a16:creationId xmlns:a16="http://schemas.microsoft.com/office/drawing/2014/main" id="{719E0F1B-823E-485B-BA72-B98667C6A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935" y="1873285"/>
            <a:ext cx="4077689" cy="3557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3251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89</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Hardening</a:t>
            </a:r>
            <a:r>
              <a:rPr lang="pl-PL" dirty="0">
                <a:solidFill>
                  <a:schemeClr val="accent1"/>
                </a:solidFill>
              </a:rPr>
              <a:t> </a:t>
            </a:r>
            <a:r>
              <a:rPr lang="en-US" dirty="0">
                <a:solidFill>
                  <a:srgbClr val="C00000"/>
                </a:solidFill>
              </a:rPr>
              <a:t>RISC-V</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407060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Pointer Masking extension for RISC-V</a:t>
            </a:r>
            <a:endParaRPr lang="pl-PL" sz="1800" dirty="0">
              <a:effectLst/>
            </a:endParaRPr>
          </a:p>
          <a:p>
            <a:pPr marL="961171" lvl="1" indent="-457200">
              <a:buFont typeface="Wingdings" panose="05000000000000000000" pitchFamily="2" charset="2"/>
              <a:buChar char="v"/>
            </a:pPr>
            <a:r>
              <a:rPr lang="en-US" sz="1579" dirty="0">
                <a:effectLst/>
              </a:rPr>
              <a:t>Driven by Adam Zabrocki (NVIDIA), Martin Maas (Google), Lee Campbell (Google),</a:t>
            </a:r>
            <a:br>
              <a:rPr lang="en-US" sz="1579" dirty="0">
                <a:effectLst/>
              </a:rPr>
            </a:br>
            <a:r>
              <a:rPr lang="en-US" sz="1579" dirty="0">
                <a:effectLst/>
              </a:rPr>
              <a:t>RISC-V TEE and J-Ext Task Groups</a:t>
            </a:r>
          </a:p>
          <a:p>
            <a:pPr marL="961171" lvl="1" indent="-457200">
              <a:buFont typeface="Wingdings" panose="05000000000000000000" pitchFamily="2" charset="2"/>
              <a:buChar char="v"/>
            </a:pPr>
            <a:r>
              <a:rPr lang="en-US" sz="1579" dirty="0">
                <a:effectLst/>
              </a:rPr>
              <a:t>From the security perspective it allows to implement:</a:t>
            </a:r>
          </a:p>
          <a:p>
            <a:pPr marL="1465143" lvl="2" indent="-457200">
              <a:buFont typeface="Wingdings" panose="05000000000000000000" pitchFamily="2" charset="2"/>
              <a:buChar char="v"/>
            </a:pPr>
            <a:r>
              <a:rPr lang="en-US" sz="1359" dirty="0">
                <a:effectLst/>
              </a:rPr>
              <a:t>HWASAN</a:t>
            </a:r>
          </a:p>
          <a:p>
            <a:pPr marL="1465143" lvl="2" indent="-457200">
              <a:buFont typeface="Wingdings" panose="05000000000000000000" pitchFamily="2" charset="2"/>
              <a:buChar char="v"/>
            </a:pPr>
            <a:r>
              <a:rPr lang="en-US" sz="1359" dirty="0">
                <a:effectLst/>
              </a:rPr>
              <a:t>Pointer Authentication Codes (PAC)</a:t>
            </a:r>
          </a:p>
          <a:p>
            <a:pPr marL="1465143" lvl="2" indent="-457200">
              <a:buFont typeface="Wingdings" panose="05000000000000000000" pitchFamily="2" charset="2"/>
              <a:buChar char="v"/>
            </a:pPr>
            <a:r>
              <a:rPr lang="en-US" sz="1359" dirty="0">
                <a:solidFill>
                  <a:srgbClr val="FF0000"/>
                </a:solidFill>
                <a:effectLst/>
              </a:rPr>
              <a:t>HW Memory Sandboxing</a:t>
            </a:r>
          </a:p>
          <a:p>
            <a:pPr marL="1465143" lvl="2" indent="-457200">
              <a:buFont typeface="Wingdings" panose="05000000000000000000" pitchFamily="2" charset="2"/>
              <a:buChar char="v"/>
            </a:pPr>
            <a:r>
              <a:rPr lang="en-US" sz="1359" dirty="0">
                <a:effectLst/>
              </a:rPr>
              <a:t>Foundation for:</a:t>
            </a:r>
          </a:p>
          <a:p>
            <a:pPr marL="1969114" lvl="3" indent="-457200">
              <a:buFont typeface="Wingdings" panose="05000000000000000000" pitchFamily="2" charset="2"/>
              <a:buChar char="v"/>
            </a:pPr>
            <a:r>
              <a:rPr lang="en-US" sz="1138" dirty="0">
                <a:effectLst/>
              </a:rPr>
              <a:t>HW MTE</a:t>
            </a:r>
          </a:p>
          <a:p>
            <a:pPr marL="1969114" lvl="3" indent="-457200">
              <a:buFont typeface="Wingdings" panose="05000000000000000000" pitchFamily="2" charset="2"/>
              <a:buChar char="v"/>
            </a:pPr>
            <a:r>
              <a:rPr lang="en-US" sz="1138" dirty="0">
                <a:effectLst/>
              </a:rPr>
              <a:t>Protecting RISC-V CFI (WIP)</a:t>
            </a:r>
          </a:p>
          <a:p>
            <a:pPr marL="1969114" lvl="3" indent="-457200">
              <a:buFont typeface="Wingdings" panose="05000000000000000000" pitchFamily="2" charset="2"/>
              <a:buChar char="v"/>
            </a:pPr>
            <a:r>
              <a:rPr lang="en-US" sz="1138" dirty="0">
                <a:effectLst/>
              </a:rPr>
              <a:t>Protecting RISC-V Shadow Stack (WIP)</a:t>
            </a:r>
          </a:p>
          <a:p>
            <a:pPr marL="457200" indent="-457200">
              <a:buFont typeface="Wingdings" panose="05000000000000000000" pitchFamily="2" charset="2"/>
              <a:buChar char="v"/>
            </a:pPr>
            <a:endParaRPr lang="pl-PL" sz="1800" dirty="0">
              <a:effectLst/>
            </a:endParaRPr>
          </a:p>
        </p:txBody>
      </p:sp>
      <p:pic>
        <p:nvPicPr>
          <p:cNvPr id="1026" name="Picture 2">
            <a:extLst>
              <a:ext uri="{FF2B5EF4-FFF2-40B4-BE49-F238E27FC236}">
                <a16:creationId xmlns:a16="http://schemas.microsoft.com/office/drawing/2014/main" id="{719E0F1B-823E-485B-BA72-B98667C6A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935" y="1873285"/>
            <a:ext cx="4077689" cy="355760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3E939BD-90F0-4F84-B605-1E743DFDC808}"/>
              </a:ext>
            </a:extLst>
          </p:cNvPr>
          <p:cNvSpPr/>
          <p:nvPr/>
        </p:nvSpPr>
        <p:spPr>
          <a:xfrm>
            <a:off x="1942998" y="5666789"/>
            <a:ext cx="5468620" cy="6750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Rectangle 2">
            <a:extLst>
              <a:ext uri="{FF2B5EF4-FFF2-40B4-BE49-F238E27FC236}">
                <a16:creationId xmlns:a16="http://schemas.microsoft.com/office/drawing/2014/main" id="{FB98C134-B58E-4B23-A833-235E116A5ADA}"/>
              </a:ext>
            </a:extLst>
          </p:cNvPr>
          <p:cNvSpPr>
            <a:spLocks noChangeArrowheads="1"/>
          </p:cNvSpPr>
          <p:nvPr/>
        </p:nvSpPr>
        <p:spPr bwMode="auto">
          <a:xfrm>
            <a:off x="5373426" y="5671549"/>
            <a:ext cx="1892300" cy="685800"/>
          </a:xfrm>
          <a:prstGeom prst="rect">
            <a:avLst/>
          </a:prstGeom>
          <a:solidFill>
            <a:srgbClr val="ED7D31"/>
          </a:solidFill>
          <a:ln w="12700">
            <a:solidFill>
              <a:srgbClr val="823B0B"/>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Portion of memory needed by the execution context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B6064E2-40C4-4041-B802-45A506000778}"/>
              </a:ext>
            </a:extLst>
          </p:cNvPr>
          <p:cNvSpPr>
            <a:spLocks noChangeArrowheads="1"/>
          </p:cNvSpPr>
          <p:nvPr/>
        </p:nvSpPr>
        <p:spPr bwMode="auto">
          <a:xfrm>
            <a:off x="2431047" y="5666789"/>
            <a:ext cx="641350" cy="681038"/>
          </a:xfrm>
          <a:prstGeom prst="rect">
            <a:avLst/>
          </a:prstGeom>
          <a:solidFill>
            <a:srgbClr val="33CC33"/>
          </a:solidFill>
          <a:ln w="12700">
            <a:solidFill>
              <a:srgbClr val="37562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Secrets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Explosion: 8 Points 4">
            <a:extLst>
              <a:ext uri="{FF2B5EF4-FFF2-40B4-BE49-F238E27FC236}">
                <a16:creationId xmlns:a16="http://schemas.microsoft.com/office/drawing/2014/main" id="{FD7499B5-8704-4B45-B01B-B84C1B5A24D1}"/>
              </a:ext>
            </a:extLst>
          </p:cNvPr>
          <p:cNvSpPr>
            <a:spLocks noChangeArrowheads="1"/>
          </p:cNvSpPr>
          <p:nvPr/>
        </p:nvSpPr>
        <p:spPr bwMode="auto">
          <a:xfrm>
            <a:off x="4984489" y="6004926"/>
            <a:ext cx="688975" cy="574675"/>
          </a:xfrm>
          <a:prstGeom prst="irregularSeal1">
            <a:avLst/>
          </a:prstGeom>
          <a:solidFill>
            <a:srgbClr val="FFFF00"/>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Vuln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Arrow: Curved Up 10">
            <a:extLst>
              <a:ext uri="{FF2B5EF4-FFF2-40B4-BE49-F238E27FC236}">
                <a16:creationId xmlns:a16="http://schemas.microsoft.com/office/drawing/2014/main" id="{A30D6D1C-93C8-423D-AAAC-5F238A537EF8}"/>
              </a:ext>
            </a:extLst>
          </p:cNvPr>
          <p:cNvSpPr/>
          <p:nvPr/>
        </p:nvSpPr>
        <p:spPr>
          <a:xfrm flipH="1">
            <a:off x="2624353" y="6405294"/>
            <a:ext cx="2806065" cy="532130"/>
          </a:xfrm>
          <a:prstGeom prst="curvedUpArrow">
            <a:avLst>
              <a:gd name="adj1" fmla="val 25000"/>
              <a:gd name="adj2" fmla="val 50000"/>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Rounded Corners 11">
            <a:extLst>
              <a:ext uri="{FF2B5EF4-FFF2-40B4-BE49-F238E27FC236}">
                <a16:creationId xmlns:a16="http://schemas.microsoft.com/office/drawing/2014/main" id="{42287789-26B1-46F0-8C14-CD637A57813E}"/>
              </a:ext>
            </a:extLst>
          </p:cNvPr>
          <p:cNvSpPr/>
          <p:nvPr/>
        </p:nvSpPr>
        <p:spPr>
          <a:xfrm>
            <a:off x="5017668" y="5614719"/>
            <a:ext cx="2414905" cy="77851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9" name="Explosion: 8 Points 10">
            <a:extLst>
              <a:ext uri="{FF2B5EF4-FFF2-40B4-BE49-F238E27FC236}">
                <a16:creationId xmlns:a16="http://schemas.microsoft.com/office/drawing/2014/main" id="{126F4DA9-CD0F-4D1D-9EC0-244F9E5877E3}"/>
              </a:ext>
            </a:extLst>
          </p:cNvPr>
          <p:cNvSpPr>
            <a:spLocks noChangeArrowheads="1"/>
          </p:cNvSpPr>
          <p:nvPr/>
        </p:nvSpPr>
        <p:spPr bwMode="auto">
          <a:xfrm>
            <a:off x="3864967" y="6323513"/>
            <a:ext cx="1200150" cy="1098550"/>
          </a:xfrm>
          <a:prstGeom prst="irregularSeal1">
            <a:avLst/>
          </a:prstGeom>
          <a:solidFill>
            <a:srgbClr val="FFC000"/>
          </a:solidFill>
          <a:ln w="12700">
            <a:solidFill>
              <a:srgbClr val="7F5F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Stops the attack</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cxnSp>
        <p:nvCxnSpPr>
          <p:cNvPr id="15" name="Straight Arrow Connector 14">
            <a:extLst>
              <a:ext uri="{FF2B5EF4-FFF2-40B4-BE49-F238E27FC236}">
                <a16:creationId xmlns:a16="http://schemas.microsoft.com/office/drawing/2014/main" id="{4781621A-7591-4C95-BAC8-B35AC3E2FE5D}"/>
              </a:ext>
            </a:extLst>
          </p:cNvPr>
          <p:cNvCxnSpPr/>
          <p:nvPr/>
        </p:nvCxnSpPr>
        <p:spPr>
          <a:xfrm flipH="1" flipV="1">
            <a:off x="6189243" y="6406564"/>
            <a:ext cx="21590" cy="51371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0F3970-0ABD-4184-BB7D-8CF4B51B03CA}"/>
              </a:ext>
            </a:extLst>
          </p:cNvPr>
          <p:cNvCxnSpPr/>
          <p:nvPr/>
        </p:nvCxnSpPr>
        <p:spPr>
          <a:xfrm flipH="1" flipV="1">
            <a:off x="4942738" y="6888529"/>
            <a:ext cx="597535" cy="16192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3">
            <a:extLst>
              <a:ext uri="{FF2B5EF4-FFF2-40B4-BE49-F238E27FC236}">
                <a16:creationId xmlns:a16="http://schemas.microsoft.com/office/drawing/2014/main" id="{611DEC77-FE63-4CFA-B601-20DCE57084CC}"/>
              </a:ext>
            </a:extLst>
          </p:cNvPr>
          <p:cNvSpPr>
            <a:spLocks noChangeArrowheads="1"/>
          </p:cNvSpPr>
          <p:nvPr/>
        </p:nvSpPr>
        <p:spPr bwMode="auto">
          <a:xfrm>
            <a:off x="2016624" y="5334810"/>
            <a:ext cx="138371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Flat memory:</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20">
            <a:extLst>
              <a:ext uri="{FF2B5EF4-FFF2-40B4-BE49-F238E27FC236}">
                <a16:creationId xmlns:a16="http://schemas.microsoft.com/office/drawing/2014/main" id="{3C587BCD-95F2-42C1-80B7-51E2095DDAFE}"/>
              </a:ext>
            </a:extLst>
          </p:cNvPr>
          <p:cNvSpPr>
            <a:spLocks noChangeArrowheads="1"/>
          </p:cNvSpPr>
          <p:nvPr/>
        </p:nvSpPr>
        <p:spPr bwMode="auto">
          <a:xfrm>
            <a:off x="1055268" y="1597709"/>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TextBox 19">
            <a:extLst>
              <a:ext uri="{FF2B5EF4-FFF2-40B4-BE49-F238E27FC236}">
                <a16:creationId xmlns:a16="http://schemas.microsoft.com/office/drawing/2014/main" id="{18985E82-AA4B-471F-A3D3-08D581E54AA6}"/>
              </a:ext>
            </a:extLst>
          </p:cNvPr>
          <p:cNvSpPr txBox="1"/>
          <p:nvPr/>
        </p:nvSpPr>
        <p:spPr>
          <a:xfrm>
            <a:off x="5540273" y="6883769"/>
            <a:ext cx="535541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Pointer Masking isolation</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90894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90</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Hardening</a:t>
            </a:r>
            <a:r>
              <a:rPr lang="pl-PL" dirty="0">
                <a:solidFill>
                  <a:schemeClr val="accent1"/>
                </a:solidFill>
              </a:rPr>
              <a:t> </a:t>
            </a:r>
            <a:r>
              <a:rPr lang="en-US" dirty="0">
                <a:solidFill>
                  <a:srgbClr val="C00000"/>
                </a:solidFill>
              </a:rPr>
              <a:t>RISC-V</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4070602"/>
          </a:xfrm>
          <a:prstGeom prst="rect">
            <a:avLst/>
          </a:prstGeom>
        </p:spPr>
        <p:txBody>
          <a:bodyPr vert="horz" wrap="square" lIns="91440" tIns="45720" rIns="91440" bIns="45720" rtlCol="0">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en-US" sz="1800" dirty="0">
                <a:effectLst/>
              </a:rPr>
              <a:t>Pointer Masking extension for RISC-V</a:t>
            </a:r>
            <a:endParaRPr lang="pl-PL" sz="1800" dirty="0">
              <a:effectLst/>
            </a:endParaRPr>
          </a:p>
          <a:p>
            <a:pPr marL="961171" lvl="1" indent="-457200">
              <a:buFont typeface="Wingdings" panose="05000000000000000000" pitchFamily="2" charset="2"/>
              <a:buChar char="v"/>
            </a:pPr>
            <a:r>
              <a:rPr lang="en-US" sz="1579" dirty="0">
                <a:effectLst/>
              </a:rPr>
              <a:t>Driven by Adam Zabrocki (NVIDIA), Martin Maas (Google), Lee Campbell (Google),</a:t>
            </a:r>
            <a:br>
              <a:rPr lang="en-US" sz="1579" dirty="0">
                <a:effectLst/>
              </a:rPr>
            </a:br>
            <a:r>
              <a:rPr lang="en-US" sz="1579" dirty="0">
                <a:effectLst/>
              </a:rPr>
              <a:t>RISC-V TEE and J-Ext Task Groups</a:t>
            </a:r>
          </a:p>
          <a:p>
            <a:pPr marL="961171" lvl="1" indent="-457200">
              <a:buFont typeface="Wingdings" panose="05000000000000000000" pitchFamily="2" charset="2"/>
              <a:buChar char="v"/>
            </a:pPr>
            <a:r>
              <a:rPr lang="en-US" sz="1579" dirty="0">
                <a:effectLst/>
              </a:rPr>
              <a:t>From the security perspective it allows to implement:</a:t>
            </a:r>
          </a:p>
          <a:p>
            <a:pPr marL="1465143" lvl="2" indent="-457200">
              <a:buFont typeface="Wingdings" panose="05000000000000000000" pitchFamily="2" charset="2"/>
              <a:buChar char="v"/>
            </a:pPr>
            <a:r>
              <a:rPr lang="en-US" sz="1359" dirty="0">
                <a:effectLst/>
              </a:rPr>
              <a:t>HWASAN</a:t>
            </a:r>
          </a:p>
          <a:p>
            <a:pPr marL="1465143" lvl="2" indent="-457200">
              <a:buFont typeface="Wingdings" panose="05000000000000000000" pitchFamily="2" charset="2"/>
              <a:buChar char="v"/>
            </a:pPr>
            <a:r>
              <a:rPr lang="en-US" sz="1359" dirty="0">
                <a:effectLst/>
              </a:rPr>
              <a:t>Pointer Authentication Codes (PAC)</a:t>
            </a:r>
          </a:p>
          <a:p>
            <a:pPr marL="1465143" lvl="2" indent="-457200">
              <a:buFont typeface="Wingdings" panose="05000000000000000000" pitchFamily="2" charset="2"/>
              <a:buChar char="v"/>
            </a:pPr>
            <a:r>
              <a:rPr lang="en-US" sz="1359" dirty="0">
                <a:solidFill>
                  <a:srgbClr val="FF0000"/>
                </a:solidFill>
                <a:effectLst/>
              </a:rPr>
              <a:t>HW Memory Sandboxing</a:t>
            </a:r>
          </a:p>
          <a:p>
            <a:pPr marL="1465143" lvl="2" indent="-457200">
              <a:buFont typeface="Wingdings" panose="05000000000000000000" pitchFamily="2" charset="2"/>
              <a:buChar char="v"/>
            </a:pPr>
            <a:r>
              <a:rPr lang="en-US" sz="1359" dirty="0">
                <a:effectLst/>
              </a:rPr>
              <a:t>Foundation for:</a:t>
            </a:r>
          </a:p>
          <a:p>
            <a:pPr marL="1969114" lvl="3" indent="-457200">
              <a:buFont typeface="Wingdings" panose="05000000000000000000" pitchFamily="2" charset="2"/>
              <a:buChar char="v"/>
            </a:pPr>
            <a:r>
              <a:rPr lang="en-US" sz="1138" dirty="0">
                <a:effectLst/>
              </a:rPr>
              <a:t>HW MTE</a:t>
            </a:r>
          </a:p>
          <a:p>
            <a:pPr marL="1969114" lvl="3" indent="-457200">
              <a:buFont typeface="Wingdings" panose="05000000000000000000" pitchFamily="2" charset="2"/>
              <a:buChar char="v"/>
            </a:pPr>
            <a:r>
              <a:rPr lang="en-US" sz="1138" dirty="0">
                <a:effectLst/>
              </a:rPr>
              <a:t>Protecting RISC-V CFI (WIP)</a:t>
            </a:r>
          </a:p>
          <a:p>
            <a:pPr marL="1969114" lvl="3" indent="-457200">
              <a:buFont typeface="Wingdings" panose="05000000000000000000" pitchFamily="2" charset="2"/>
              <a:buChar char="v"/>
            </a:pPr>
            <a:r>
              <a:rPr lang="en-US" sz="1138" dirty="0">
                <a:effectLst/>
              </a:rPr>
              <a:t>Protecting RISC-V Shadow Stack (WIP)</a:t>
            </a:r>
          </a:p>
          <a:p>
            <a:pPr marL="457200" indent="-457200">
              <a:buFont typeface="Wingdings" panose="05000000000000000000" pitchFamily="2" charset="2"/>
              <a:buChar char="v"/>
            </a:pPr>
            <a:endParaRPr lang="pl-PL" sz="1800" dirty="0">
              <a:effectLst/>
            </a:endParaRPr>
          </a:p>
        </p:txBody>
      </p:sp>
      <p:pic>
        <p:nvPicPr>
          <p:cNvPr id="1026" name="Picture 2">
            <a:extLst>
              <a:ext uri="{FF2B5EF4-FFF2-40B4-BE49-F238E27FC236}">
                <a16:creationId xmlns:a16="http://schemas.microsoft.com/office/drawing/2014/main" id="{719E0F1B-823E-485B-BA72-B98667C6A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935" y="1873285"/>
            <a:ext cx="4077689" cy="355760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3E939BD-90F0-4F84-B605-1E743DFDC808}"/>
              </a:ext>
            </a:extLst>
          </p:cNvPr>
          <p:cNvSpPr/>
          <p:nvPr/>
        </p:nvSpPr>
        <p:spPr>
          <a:xfrm>
            <a:off x="1942998" y="5666789"/>
            <a:ext cx="5468620" cy="6750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 name="Rectangle 2">
            <a:extLst>
              <a:ext uri="{FF2B5EF4-FFF2-40B4-BE49-F238E27FC236}">
                <a16:creationId xmlns:a16="http://schemas.microsoft.com/office/drawing/2014/main" id="{FB98C134-B58E-4B23-A833-235E116A5ADA}"/>
              </a:ext>
            </a:extLst>
          </p:cNvPr>
          <p:cNvSpPr>
            <a:spLocks noChangeArrowheads="1"/>
          </p:cNvSpPr>
          <p:nvPr/>
        </p:nvSpPr>
        <p:spPr bwMode="auto">
          <a:xfrm>
            <a:off x="5373426" y="5671549"/>
            <a:ext cx="1892300" cy="685800"/>
          </a:xfrm>
          <a:prstGeom prst="rect">
            <a:avLst/>
          </a:prstGeom>
          <a:solidFill>
            <a:srgbClr val="ED7D31"/>
          </a:solidFill>
          <a:ln w="12700">
            <a:solidFill>
              <a:srgbClr val="823B0B"/>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Portion of memory needed by the execution context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B6064E2-40C4-4041-B802-45A506000778}"/>
              </a:ext>
            </a:extLst>
          </p:cNvPr>
          <p:cNvSpPr>
            <a:spLocks noChangeArrowheads="1"/>
          </p:cNvSpPr>
          <p:nvPr/>
        </p:nvSpPr>
        <p:spPr bwMode="auto">
          <a:xfrm>
            <a:off x="2431047" y="5666789"/>
            <a:ext cx="641350" cy="681038"/>
          </a:xfrm>
          <a:prstGeom prst="rect">
            <a:avLst/>
          </a:prstGeom>
          <a:solidFill>
            <a:srgbClr val="33CC33"/>
          </a:solidFill>
          <a:ln w="12700">
            <a:solidFill>
              <a:srgbClr val="37562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Secrets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Explosion: 8 Points 4">
            <a:extLst>
              <a:ext uri="{FF2B5EF4-FFF2-40B4-BE49-F238E27FC236}">
                <a16:creationId xmlns:a16="http://schemas.microsoft.com/office/drawing/2014/main" id="{FD7499B5-8704-4B45-B01B-B84C1B5A24D1}"/>
              </a:ext>
            </a:extLst>
          </p:cNvPr>
          <p:cNvSpPr>
            <a:spLocks noChangeArrowheads="1"/>
          </p:cNvSpPr>
          <p:nvPr/>
        </p:nvSpPr>
        <p:spPr bwMode="auto">
          <a:xfrm>
            <a:off x="4984489" y="6004926"/>
            <a:ext cx="688975" cy="574675"/>
          </a:xfrm>
          <a:prstGeom prst="irregularSeal1">
            <a:avLst/>
          </a:prstGeom>
          <a:solidFill>
            <a:srgbClr val="FFFF00"/>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Vuln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Arrow: Curved Up 10">
            <a:extLst>
              <a:ext uri="{FF2B5EF4-FFF2-40B4-BE49-F238E27FC236}">
                <a16:creationId xmlns:a16="http://schemas.microsoft.com/office/drawing/2014/main" id="{A30D6D1C-93C8-423D-AAAC-5F238A537EF8}"/>
              </a:ext>
            </a:extLst>
          </p:cNvPr>
          <p:cNvSpPr/>
          <p:nvPr/>
        </p:nvSpPr>
        <p:spPr>
          <a:xfrm flipH="1">
            <a:off x="2624353" y="6405294"/>
            <a:ext cx="2806065" cy="532130"/>
          </a:xfrm>
          <a:prstGeom prst="curvedUpArrow">
            <a:avLst>
              <a:gd name="adj1" fmla="val 25000"/>
              <a:gd name="adj2" fmla="val 50000"/>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Rounded Corners 11">
            <a:extLst>
              <a:ext uri="{FF2B5EF4-FFF2-40B4-BE49-F238E27FC236}">
                <a16:creationId xmlns:a16="http://schemas.microsoft.com/office/drawing/2014/main" id="{42287789-26B1-46F0-8C14-CD637A57813E}"/>
              </a:ext>
            </a:extLst>
          </p:cNvPr>
          <p:cNvSpPr/>
          <p:nvPr/>
        </p:nvSpPr>
        <p:spPr>
          <a:xfrm>
            <a:off x="5017668" y="5614719"/>
            <a:ext cx="2414905" cy="77851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9" name="Explosion: 8 Points 10">
            <a:extLst>
              <a:ext uri="{FF2B5EF4-FFF2-40B4-BE49-F238E27FC236}">
                <a16:creationId xmlns:a16="http://schemas.microsoft.com/office/drawing/2014/main" id="{126F4DA9-CD0F-4D1D-9EC0-244F9E5877E3}"/>
              </a:ext>
            </a:extLst>
          </p:cNvPr>
          <p:cNvSpPr>
            <a:spLocks noChangeArrowheads="1"/>
          </p:cNvSpPr>
          <p:nvPr/>
        </p:nvSpPr>
        <p:spPr bwMode="auto">
          <a:xfrm>
            <a:off x="3864967" y="6323513"/>
            <a:ext cx="1200150" cy="1098550"/>
          </a:xfrm>
          <a:prstGeom prst="irregularSeal1">
            <a:avLst/>
          </a:prstGeom>
          <a:solidFill>
            <a:srgbClr val="FFC000"/>
          </a:solidFill>
          <a:ln w="12700">
            <a:solidFill>
              <a:srgbClr val="7F5F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Stops the attack</a:t>
            </a:r>
            <a:endParaRPr kumimoji="0" lang="en-US" altLang="en-US" sz="1800" b="0" i="0" u="none" strike="noStrike" cap="none" normalizeH="0" baseline="0" dirty="0">
              <a:ln>
                <a:noFill/>
              </a:ln>
              <a:solidFill>
                <a:srgbClr val="FF0000"/>
              </a:solidFill>
              <a:effectLst/>
              <a:latin typeface="Arial" panose="020B0604020202020204" pitchFamily="34" charset="0"/>
            </a:endParaRPr>
          </a:p>
        </p:txBody>
      </p:sp>
      <p:cxnSp>
        <p:nvCxnSpPr>
          <p:cNvPr id="15" name="Straight Arrow Connector 14">
            <a:extLst>
              <a:ext uri="{FF2B5EF4-FFF2-40B4-BE49-F238E27FC236}">
                <a16:creationId xmlns:a16="http://schemas.microsoft.com/office/drawing/2014/main" id="{4781621A-7591-4C95-BAC8-B35AC3E2FE5D}"/>
              </a:ext>
            </a:extLst>
          </p:cNvPr>
          <p:cNvCxnSpPr/>
          <p:nvPr/>
        </p:nvCxnSpPr>
        <p:spPr>
          <a:xfrm flipH="1" flipV="1">
            <a:off x="6189243" y="6406564"/>
            <a:ext cx="21590" cy="51371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0F3970-0ABD-4184-BB7D-8CF4B51B03CA}"/>
              </a:ext>
            </a:extLst>
          </p:cNvPr>
          <p:cNvCxnSpPr/>
          <p:nvPr/>
        </p:nvCxnSpPr>
        <p:spPr>
          <a:xfrm flipH="1" flipV="1">
            <a:off x="4942738" y="6888529"/>
            <a:ext cx="597535" cy="16192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3">
            <a:extLst>
              <a:ext uri="{FF2B5EF4-FFF2-40B4-BE49-F238E27FC236}">
                <a16:creationId xmlns:a16="http://schemas.microsoft.com/office/drawing/2014/main" id="{611DEC77-FE63-4CFA-B601-20DCE57084CC}"/>
              </a:ext>
            </a:extLst>
          </p:cNvPr>
          <p:cNvSpPr>
            <a:spLocks noChangeArrowheads="1"/>
          </p:cNvSpPr>
          <p:nvPr/>
        </p:nvSpPr>
        <p:spPr bwMode="auto">
          <a:xfrm>
            <a:off x="2016624" y="5334810"/>
            <a:ext cx="138371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rial" panose="020B0604020202020204" pitchFamily="34" charset="0"/>
                <a:ea typeface="Times New Roman" panose="02020603050405020304" pitchFamily="18" charset="0"/>
                <a:cs typeface="Arial" panose="020B0604020202020204" pitchFamily="34" charset="0"/>
              </a:rPr>
              <a:t>Flat memory:</a:t>
            </a:r>
            <a:endParaRPr kumimoji="0" lang="en-US" altLang="en-US" sz="16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20">
            <a:extLst>
              <a:ext uri="{FF2B5EF4-FFF2-40B4-BE49-F238E27FC236}">
                <a16:creationId xmlns:a16="http://schemas.microsoft.com/office/drawing/2014/main" id="{3C587BCD-95F2-42C1-80B7-51E2095DDAFE}"/>
              </a:ext>
            </a:extLst>
          </p:cNvPr>
          <p:cNvSpPr>
            <a:spLocks noChangeArrowheads="1"/>
          </p:cNvSpPr>
          <p:nvPr/>
        </p:nvSpPr>
        <p:spPr bwMode="auto">
          <a:xfrm>
            <a:off x="1055268" y="1597709"/>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TextBox 19">
            <a:extLst>
              <a:ext uri="{FF2B5EF4-FFF2-40B4-BE49-F238E27FC236}">
                <a16:creationId xmlns:a16="http://schemas.microsoft.com/office/drawing/2014/main" id="{18985E82-AA4B-471F-A3D3-08D581E54AA6}"/>
              </a:ext>
            </a:extLst>
          </p:cNvPr>
          <p:cNvSpPr txBox="1"/>
          <p:nvPr/>
        </p:nvSpPr>
        <p:spPr>
          <a:xfrm>
            <a:off x="5540273" y="6883769"/>
            <a:ext cx="535541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Pointer Masking isolation</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8" name="Rectangle: Rounded Corners 17">
            <a:extLst>
              <a:ext uri="{FF2B5EF4-FFF2-40B4-BE49-F238E27FC236}">
                <a16:creationId xmlns:a16="http://schemas.microsoft.com/office/drawing/2014/main" id="{7677B328-EDAA-455B-B836-885DBB8C4141}"/>
              </a:ext>
            </a:extLst>
          </p:cNvPr>
          <p:cNvSpPr/>
          <p:nvPr/>
        </p:nvSpPr>
        <p:spPr>
          <a:xfrm>
            <a:off x="4230426" y="5610323"/>
            <a:ext cx="641350" cy="77851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19" name="Rectangle: Rounded Corners 18">
            <a:extLst>
              <a:ext uri="{FF2B5EF4-FFF2-40B4-BE49-F238E27FC236}">
                <a16:creationId xmlns:a16="http://schemas.microsoft.com/office/drawing/2014/main" id="{0194676F-9219-4B9D-BD4A-2295F8722DAE}"/>
              </a:ext>
            </a:extLst>
          </p:cNvPr>
          <p:cNvSpPr/>
          <p:nvPr/>
        </p:nvSpPr>
        <p:spPr>
          <a:xfrm>
            <a:off x="3473413" y="5618053"/>
            <a:ext cx="641350" cy="77851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21" name="Rectangle: Rounded Corners 20">
            <a:extLst>
              <a:ext uri="{FF2B5EF4-FFF2-40B4-BE49-F238E27FC236}">
                <a16:creationId xmlns:a16="http://schemas.microsoft.com/office/drawing/2014/main" id="{099DD363-45EC-4C48-80BA-809F93A8A745}"/>
              </a:ext>
            </a:extLst>
          </p:cNvPr>
          <p:cNvSpPr/>
          <p:nvPr/>
        </p:nvSpPr>
        <p:spPr>
          <a:xfrm>
            <a:off x="2040929" y="5624608"/>
            <a:ext cx="641350" cy="77851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209863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91</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59410"/>
            <a:r>
              <a:rPr lang="en-US" sz="3700" dirty="0">
                <a:solidFill>
                  <a:schemeClr val="accent1"/>
                </a:solidFill>
              </a:rPr>
              <a:t>Acknowledgments</a:t>
            </a: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080624" cy="6561604"/>
          </a:xfrm>
          <a:prstGeom prst="rect">
            <a:avLst/>
          </a:prstGeom>
        </p:spPr>
        <p:txBody>
          <a:bodyPr vert="horz" wrap="square" lIns="91440" tIns="45720" rIns="91440" bIns="45720" rtlCol="0" anchor="t">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2800" dirty="0">
                <a:effectLst/>
              </a:rPr>
              <a:t>We </a:t>
            </a:r>
            <a:r>
              <a:rPr lang="pl-PL" sz="2800" dirty="0" err="1">
                <a:effectLst/>
              </a:rPr>
              <a:t>would</a:t>
            </a:r>
            <a:r>
              <a:rPr lang="pl-PL" sz="2800" dirty="0">
                <a:effectLst/>
              </a:rPr>
              <a:t> </a:t>
            </a:r>
            <a:r>
              <a:rPr lang="pl-PL" sz="2800" dirty="0" err="1">
                <a:effectLst/>
              </a:rPr>
              <a:t>like</a:t>
            </a:r>
            <a:r>
              <a:rPr lang="pl-PL" sz="2800" dirty="0">
                <a:effectLst/>
              </a:rPr>
              <a:t> to </a:t>
            </a:r>
            <a:r>
              <a:rPr lang="pl-PL" sz="2800" dirty="0" err="1">
                <a:effectLst/>
              </a:rPr>
              <a:t>thank</a:t>
            </a:r>
            <a:r>
              <a:rPr lang="pl-PL" sz="2800" dirty="0">
                <a:effectLst/>
              </a:rPr>
              <a:t>:</a:t>
            </a:r>
          </a:p>
          <a:p>
            <a:pPr marL="960755" lvl="1" indent="-457200">
              <a:buFont typeface="Wingdings" panose="05000000000000000000" pitchFamily="2" charset="2"/>
              <a:buChar char="v"/>
            </a:pPr>
            <a:r>
              <a:rPr lang="pl-PL" sz="2600" dirty="0">
                <a:effectLst/>
              </a:rPr>
              <a:t>NVIDIA</a:t>
            </a:r>
            <a:r>
              <a:rPr lang="pl-PL" sz="2800" dirty="0">
                <a:effectLst/>
              </a:rPr>
              <a:t>:</a:t>
            </a:r>
          </a:p>
          <a:p>
            <a:pPr marL="1464945" lvl="2" indent="-457200">
              <a:buFont typeface="Wingdings" panose="05000000000000000000" pitchFamily="2" charset="2"/>
              <a:buChar char="v"/>
            </a:pPr>
            <a:r>
              <a:rPr lang="en-US" sz="2400" u="sng" dirty="0">
                <a:effectLst/>
              </a:rPr>
              <a:t>GPU System Software</a:t>
            </a:r>
            <a:r>
              <a:rPr lang="en-US" sz="2400" dirty="0">
                <a:effectLst/>
              </a:rPr>
              <a:t>:</a:t>
            </a:r>
            <a:br>
              <a:rPr lang="en-US" sz="2400" dirty="0">
                <a:effectLst/>
              </a:rPr>
            </a:br>
            <a:r>
              <a:rPr lang="en-US" sz="2400" dirty="0">
                <a:effectLst/>
              </a:rPr>
              <a:t>James Xu, Marko Mitic, Mateusz Kulikowski, RISC-V SW team</a:t>
            </a:r>
          </a:p>
          <a:p>
            <a:pPr marL="1464945" lvl="2" indent="-457200">
              <a:buFont typeface="Wingdings" panose="05000000000000000000" pitchFamily="2" charset="2"/>
              <a:buChar char="v"/>
            </a:pPr>
            <a:r>
              <a:rPr lang="pl-PL" sz="2400" u="sng" dirty="0">
                <a:effectLst/>
              </a:rPr>
              <a:t>HW team</a:t>
            </a:r>
            <a:r>
              <a:rPr lang="pl-PL" sz="2400" dirty="0">
                <a:effectLst/>
              </a:rPr>
              <a:t>:</a:t>
            </a:r>
            <a:br>
              <a:rPr lang="en-US" sz="2400" dirty="0">
                <a:effectLst/>
              </a:rPr>
            </a:br>
            <a:r>
              <a:rPr lang="pl-PL" sz="2400" dirty="0">
                <a:effectLst/>
              </a:rPr>
              <a:t>Joe</a:t>
            </a:r>
            <a:r>
              <a:rPr lang="en-US" sz="2400" dirty="0">
                <a:effectLst/>
              </a:rPr>
              <a:t> Xie</a:t>
            </a:r>
            <a:r>
              <a:rPr lang="pl-PL" sz="2400" dirty="0">
                <a:effectLst/>
              </a:rPr>
              <a:t>,</a:t>
            </a:r>
            <a:r>
              <a:rPr lang="en-US" sz="2400" dirty="0">
                <a:effectLst/>
              </a:rPr>
              <a:t> Andy Ma, Jim Zhang, Dorin Yin, RISC-V HW team</a:t>
            </a:r>
          </a:p>
          <a:p>
            <a:pPr marL="1464945" lvl="2" indent="-457200">
              <a:buFont typeface="Wingdings" panose="05000000000000000000" pitchFamily="2" charset="2"/>
              <a:buChar char="v"/>
            </a:pPr>
            <a:r>
              <a:rPr lang="en-US" sz="2400" u="sng" dirty="0">
                <a:effectLst/>
              </a:rPr>
              <a:t>Product Security</a:t>
            </a:r>
            <a:r>
              <a:rPr lang="en-US" sz="2400" dirty="0">
                <a:effectLst/>
              </a:rPr>
              <a:t>:</a:t>
            </a:r>
            <a:br>
              <a:rPr lang="en-US" sz="2400" dirty="0">
                <a:effectLst/>
              </a:rPr>
            </a:br>
            <a:r>
              <a:rPr lang="en-US" sz="2400" dirty="0">
                <a:effectLst/>
              </a:rPr>
              <a:t>Alex Tereshkin, Shawn Richardson and PSIRT team</a:t>
            </a:r>
          </a:p>
          <a:p>
            <a:pPr marL="960755" lvl="1" indent="-457200">
              <a:buFont typeface="Wingdings" panose="05000000000000000000" pitchFamily="2" charset="2"/>
              <a:buChar char="v"/>
            </a:pPr>
            <a:r>
              <a:rPr lang="en-US" sz="2600" dirty="0" err="1">
                <a:effectLst/>
              </a:rPr>
              <a:t>SiFive</a:t>
            </a:r>
            <a:endParaRPr lang="en-US" sz="2600" dirty="0">
              <a:effectLst/>
            </a:endParaRPr>
          </a:p>
          <a:p>
            <a:pPr marL="960755" lvl="1" indent="-457200">
              <a:buFont typeface="Wingdings" panose="05000000000000000000" pitchFamily="2" charset="2"/>
              <a:buChar char="v"/>
            </a:pPr>
            <a:r>
              <a:rPr lang="en-US" sz="2600" dirty="0">
                <a:effectLst/>
              </a:rPr>
              <a:t>RISC-V Foundation</a:t>
            </a:r>
            <a:endParaRPr lang="pl-PL" sz="2600" dirty="0">
              <a:effectLst/>
            </a:endParaRPr>
          </a:p>
          <a:p>
            <a:pPr marL="457200" indent="-457200">
              <a:buFont typeface="Wingdings" panose="05000000000000000000" pitchFamily="2" charset="2"/>
              <a:buChar char="v"/>
            </a:pPr>
            <a:endParaRPr lang="pl-PL" sz="1800" dirty="0">
              <a:effectLst/>
            </a:endParaRPr>
          </a:p>
          <a:p>
            <a:pPr marL="457200" indent="-457200">
              <a:buFont typeface="Wingdings" panose="05000000000000000000" pitchFamily="2" charset="2"/>
              <a:buChar char="v"/>
            </a:pPr>
            <a:endParaRPr lang="pl-PL" sz="1800" dirty="0">
              <a:effectLst/>
            </a:endParaRPr>
          </a:p>
          <a:p>
            <a:pPr marL="457200" indent="-457200">
              <a:buFont typeface="Wingdings" panose="05000000000000000000" pitchFamily="2" charset="2"/>
              <a:buChar char="v"/>
            </a:pPr>
            <a:endParaRPr lang="pl-PL" sz="1579" dirty="0">
              <a:effectLst/>
            </a:endParaRPr>
          </a:p>
        </p:txBody>
      </p:sp>
    </p:spTree>
    <p:extLst>
      <p:ext uri="{BB962C8B-B14F-4D97-AF65-F5344CB8AC3E}">
        <p14:creationId xmlns:p14="http://schemas.microsoft.com/office/powerpoint/2010/main" val="1870064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lvl="0"/>
            <a:fld id="{40395656-0A0C-44A5-BAB8-406A4B9BBCA4}" type="slidenum">
              <a:rPr/>
              <a:t>92</a:t>
            </a:fld>
            <a:endParaRPr lang="en-GB"/>
          </a:p>
        </p:txBody>
      </p:sp>
      <p:sp>
        <p:nvSpPr>
          <p:cNvPr id="2" name="Title 1"/>
          <p:cNvSpPr txBox="1">
            <a:spLocks noGrp="1"/>
          </p:cNvSpPr>
          <p:nvPr>
            <p:ph type="title" idx="4294967295"/>
          </p:nvPr>
        </p:nvSpPr>
        <p:spPr>
          <a:xfrm>
            <a:off x="0" y="438813"/>
            <a:ext cx="9755188" cy="611449"/>
          </a:xfrm>
        </p:spPr>
        <p:txBody>
          <a:bodyPr>
            <a:spAutoFit/>
          </a:bodyPr>
          <a:lstStyle/>
          <a:p>
            <a:pPr marR="360000" lvl="0"/>
            <a:r>
              <a:rPr lang="en-US" dirty="0">
                <a:solidFill>
                  <a:schemeClr val="accent1"/>
                </a:solidFill>
              </a:rPr>
              <a:t>Summary</a:t>
            </a:r>
            <a:endParaRPr lang="en-US" dirty="0">
              <a:solidFill>
                <a:srgbClr val="C00000"/>
              </a:solidFill>
            </a:endParaRPr>
          </a:p>
        </p:txBody>
      </p:sp>
      <p:sp>
        <p:nvSpPr>
          <p:cNvPr id="8" name="Text Placeholder 2">
            <a:extLst>
              <a:ext uri="{FF2B5EF4-FFF2-40B4-BE49-F238E27FC236}">
                <a16:creationId xmlns:a16="http://schemas.microsoft.com/office/drawing/2014/main" id="{A0FFC41A-0AA7-448E-86ED-15198CE51094}"/>
              </a:ext>
            </a:extLst>
          </p:cNvPr>
          <p:cNvSpPr txBox="1">
            <a:spLocks/>
          </p:cNvSpPr>
          <p:nvPr/>
        </p:nvSpPr>
        <p:spPr>
          <a:xfrm>
            <a:off x="1" y="1105647"/>
            <a:ext cx="10167138" cy="5717271"/>
          </a:xfrm>
          <a:prstGeom prst="rect">
            <a:avLst/>
          </a:prstGeom>
        </p:spPr>
        <p:txBody>
          <a:bodyPr vert="horz" wrap="square" lIns="91440" tIns="45720" rIns="91440" bIns="45720" rtlCol="0" anchor="t">
            <a:spAutoFit/>
          </a:bodyPr>
          <a:lstStyle>
            <a:lvl1pPr marL="251986" indent="-251986" algn="l" defTabSz="1007943" rtl="0" eaLnBrk="1" latinLnBrk="0" hangingPunct="1">
              <a:lnSpc>
                <a:spcPct val="120000"/>
              </a:lnSpc>
              <a:spcBef>
                <a:spcPts val="1102"/>
              </a:spcBef>
              <a:buFont typeface="Arial" panose="020B0604020202020204" pitchFamily="34" charset="0"/>
              <a:buChar char="•"/>
              <a:defRPr sz="2205" kern="1200">
                <a:solidFill>
                  <a:schemeClr val="tx1"/>
                </a:solidFill>
                <a:effectLst>
                  <a:outerShdw blurRad="50800" dist="38100" dir="2700000" algn="tl" rotWithShape="0">
                    <a:srgbClr val="000000">
                      <a:alpha val="48000"/>
                    </a:srgbClr>
                  </a:outerShdw>
                </a:effectLst>
                <a:latin typeface="+mn-lt"/>
                <a:ea typeface="+mn-ea"/>
                <a:cs typeface="+mn-cs"/>
              </a:defRPr>
            </a:lvl1pPr>
            <a:lvl2pPr marL="755957" indent="-251986" algn="l" defTabSz="1007943" rtl="0" eaLnBrk="1" latinLnBrk="0" hangingPunct="1">
              <a:lnSpc>
                <a:spcPct val="120000"/>
              </a:lnSpc>
              <a:spcBef>
                <a:spcPts val="551"/>
              </a:spcBef>
              <a:buFont typeface="Arial" panose="020B0604020202020204" pitchFamily="34" charset="0"/>
              <a:buChar char="•"/>
              <a:defRPr sz="1984" kern="1200">
                <a:solidFill>
                  <a:schemeClr val="tx1"/>
                </a:solidFill>
                <a:effectLst>
                  <a:outerShdw blurRad="50800" dist="38100" dir="2700000" algn="tl" rotWithShape="0">
                    <a:srgbClr val="000000">
                      <a:alpha val="48000"/>
                    </a:srgbClr>
                  </a:outerShdw>
                </a:effectLst>
                <a:latin typeface="+mn-lt"/>
                <a:ea typeface="+mn-ea"/>
                <a:cs typeface="+mn-cs"/>
              </a:defRPr>
            </a:lvl2pPr>
            <a:lvl3pPr marL="1259929" indent="-251986" algn="l" defTabSz="1007943" rtl="0" eaLnBrk="1" latinLnBrk="0" hangingPunct="1">
              <a:lnSpc>
                <a:spcPct val="120000"/>
              </a:lnSpc>
              <a:spcBef>
                <a:spcPts val="551"/>
              </a:spcBef>
              <a:buFont typeface="Arial" panose="020B0604020202020204" pitchFamily="34" charset="0"/>
              <a:buChar char="•"/>
              <a:defRPr sz="1764" kern="1200">
                <a:solidFill>
                  <a:schemeClr val="tx1"/>
                </a:solidFill>
                <a:effectLst>
                  <a:outerShdw blurRad="50800" dist="38100" dir="2700000" algn="tl" rotWithShape="0">
                    <a:srgbClr val="000000">
                      <a:alpha val="48000"/>
                    </a:srgbClr>
                  </a:outerShdw>
                </a:effectLst>
                <a:latin typeface="+mn-lt"/>
                <a:ea typeface="+mn-ea"/>
                <a:cs typeface="+mn-cs"/>
              </a:defRPr>
            </a:lvl3pPr>
            <a:lvl4pPr marL="1763900" indent="-251986" algn="l" defTabSz="1007943" rtl="0" eaLnBrk="1" latinLnBrk="0" hangingPunct="1">
              <a:lnSpc>
                <a:spcPct val="120000"/>
              </a:lnSpc>
              <a:spcBef>
                <a:spcPts val="551"/>
              </a:spcBef>
              <a:buFont typeface="Arial" panose="020B0604020202020204" pitchFamily="34" charset="0"/>
              <a:buChar char="•"/>
              <a:defRPr sz="1543" kern="1200">
                <a:solidFill>
                  <a:schemeClr val="tx1"/>
                </a:solidFill>
                <a:effectLst>
                  <a:outerShdw blurRad="50800" dist="38100" dir="2700000" algn="tl" rotWithShape="0">
                    <a:srgbClr val="000000">
                      <a:alpha val="48000"/>
                    </a:srgbClr>
                  </a:outerShdw>
                </a:effectLst>
                <a:latin typeface="+mn-lt"/>
                <a:ea typeface="+mn-ea"/>
                <a:cs typeface="+mn-cs"/>
              </a:defRPr>
            </a:lvl4pPr>
            <a:lvl5pPr marL="2267872"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5pPr>
            <a:lvl6pPr marL="2771844"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6pPr>
            <a:lvl7pPr marL="3275815"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7pPr>
            <a:lvl8pPr marL="3779787"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8pPr>
            <a:lvl9pPr marL="4283758" indent="-251986" algn="l" defTabSz="1007943" rtl="0" eaLnBrk="1" latinLnBrk="0" hangingPunct="1">
              <a:lnSpc>
                <a:spcPct val="120000"/>
              </a:lnSpc>
              <a:spcBef>
                <a:spcPts val="551"/>
              </a:spcBef>
              <a:buFont typeface="Arial" panose="020B0604020202020204" pitchFamily="34" charset="0"/>
              <a:buChar char="•"/>
              <a:defRPr sz="1323"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457200" indent="-457200">
              <a:buFont typeface="Wingdings" panose="05000000000000000000" pitchFamily="2" charset="2"/>
              <a:buChar char="v"/>
            </a:pPr>
            <a:r>
              <a:rPr lang="pl-PL" sz="2800" dirty="0">
                <a:effectLst/>
                <a:ea typeface="+mn-lt"/>
                <a:cs typeface="+mn-lt"/>
              </a:rPr>
              <a:t>The use of Type Safety languages and Formal Verification minimizes the attack surfaces for memory corruption issues, but it is not a silver bullet.</a:t>
            </a:r>
          </a:p>
          <a:p>
            <a:pPr marL="457200" indent="-457200">
              <a:buFont typeface="Wingdings" panose="05000000000000000000" pitchFamily="2" charset="2"/>
              <a:buChar char="v"/>
            </a:pPr>
            <a:endParaRPr lang="pl-PL" sz="2800" dirty="0">
              <a:effectLst/>
            </a:endParaRPr>
          </a:p>
          <a:p>
            <a:pPr marL="457200" indent="-457200">
              <a:buFont typeface="Wingdings" panose="05000000000000000000" pitchFamily="2" charset="2"/>
              <a:buChar char="v"/>
            </a:pPr>
            <a:r>
              <a:rPr lang="pl-PL" sz="2800" dirty="0">
                <a:effectLst/>
                <a:ea typeface="+mn-lt"/>
                <a:cs typeface="+mn-lt"/>
              </a:rPr>
              <a:t>There are CPU ISA bugs, and real-world attacks can combine physical attacks with software exploitation techniques.</a:t>
            </a:r>
          </a:p>
          <a:p>
            <a:pPr marL="457200" indent="-457200">
              <a:buFont typeface="Wingdings" panose="05000000000000000000" pitchFamily="2" charset="2"/>
              <a:buChar char="v"/>
            </a:pPr>
            <a:endParaRPr lang="pl-PL" sz="2800" dirty="0">
              <a:effectLst/>
            </a:endParaRPr>
          </a:p>
          <a:p>
            <a:pPr marL="457200" indent="-457200">
              <a:buFont typeface="Wingdings" panose="05000000000000000000" pitchFamily="2" charset="2"/>
              <a:buChar char="v"/>
            </a:pPr>
            <a:r>
              <a:rPr lang="pl-PL" sz="2800" dirty="0">
                <a:effectLst/>
              </a:rPr>
              <a:t>And the </a:t>
            </a:r>
            <a:r>
              <a:rPr lang="pl-PL" sz="2800" dirty="0" err="1">
                <a:effectLst/>
              </a:rPr>
              <a:t>disclosure</a:t>
            </a:r>
            <a:r>
              <a:rPr lang="pl-PL" sz="2800" dirty="0">
                <a:effectLst/>
              </a:rPr>
              <a:t> </a:t>
            </a:r>
            <a:r>
              <a:rPr lang="en-US" sz="2800" dirty="0">
                <a:effectLst/>
              </a:rPr>
              <a:t>of </a:t>
            </a:r>
            <a:r>
              <a:rPr lang="pl-PL" sz="2800" dirty="0">
                <a:effectLst/>
              </a:rPr>
              <a:t>ISA </a:t>
            </a:r>
            <a:r>
              <a:rPr lang="pl-PL" sz="2800" dirty="0" err="1">
                <a:effectLst/>
              </a:rPr>
              <a:t>bugs</a:t>
            </a:r>
            <a:r>
              <a:rPr lang="pl-PL" sz="2800" dirty="0">
                <a:effectLst/>
              </a:rPr>
              <a:t> </a:t>
            </a:r>
            <a:r>
              <a:rPr lang="pl-PL" sz="2800" dirty="0" err="1">
                <a:effectLst/>
              </a:rPr>
              <a:t>is</a:t>
            </a:r>
            <a:r>
              <a:rPr lang="pl-PL" sz="2800" dirty="0">
                <a:effectLst/>
              </a:rPr>
              <a:t> </a:t>
            </a:r>
            <a:r>
              <a:rPr lang="pl-PL" sz="2800" dirty="0" err="1">
                <a:effectLst/>
              </a:rPr>
              <a:t>tough</a:t>
            </a:r>
            <a:r>
              <a:rPr lang="pl-PL" sz="2800" dirty="0">
                <a:effectLst/>
              </a:rPr>
              <a:t> :-( </a:t>
            </a:r>
            <a:endParaRPr lang="pl-PL" sz="1800" dirty="0">
              <a:effectLst/>
            </a:endParaRPr>
          </a:p>
          <a:p>
            <a:pPr marL="457200" indent="-457200">
              <a:buFont typeface="Wingdings" panose="05000000000000000000" pitchFamily="2" charset="2"/>
              <a:buChar char="v"/>
            </a:pPr>
            <a:endParaRPr lang="pl-PL" sz="1579" dirty="0">
              <a:effectLst/>
            </a:endParaRPr>
          </a:p>
        </p:txBody>
      </p:sp>
    </p:spTree>
    <p:extLst>
      <p:ext uri="{BB962C8B-B14F-4D97-AF65-F5344CB8AC3E}">
        <p14:creationId xmlns:p14="http://schemas.microsoft.com/office/powerpoint/2010/main" val="31544978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1">
            <a:extLst>
              <a:ext uri="{FF2B5EF4-FFF2-40B4-BE49-F238E27FC236}">
                <a16:creationId xmlns:a16="http://schemas.microsoft.com/office/drawing/2014/main" id="{75E2C03B-EEE7-4762-B179-6D91E98892FE}"/>
              </a:ext>
            </a:extLst>
          </p:cNvPr>
          <p:cNvSpPr>
            <a:spLocks noGrp="1"/>
          </p:cNvSpPr>
          <p:nvPr>
            <p:ph type="dt" sz="half" idx="10"/>
          </p:nvPr>
        </p:nvSpPr>
        <p:spPr>
          <a:xfrm>
            <a:off x="1349550" y="5478700"/>
            <a:ext cx="2603040" cy="1000212"/>
          </a:xfrm>
        </p:spPr>
        <p:txBody>
          <a:bodyPr/>
          <a:lstStyle/>
          <a:p>
            <a:pPr algn="l"/>
            <a:r>
              <a:rPr lang="en-US" sz="1800" dirty="0"/>
              <a:t>Adam </a:t>
            </a:r>
            <a:r>
              <a:rPr lang="en-US" sz="1800" dirty="0">
                <a:solidFill>
                  <a:schemeClr val="tx1"/>
                </a:solidFill>
              </a:rPr>
              <a:t>'</a:t>
            </a:r>
            <a:r>
              <a:rPr lang="en-US" sz="1800" dirty="0">
                <a:solidFill>
                  <a:srgbClr val="C00000"/>
                </a:solidFill>
              </a:rPr>
              <a:t>pi3</a:t>
            </a:r>
            <a:r>
              <a:rPr lang="en-US" sz="1800" dirty="0"/>
              <a:t>' Zabrocki</a:t>
            </a:r>
            <a:br>
              <a:rPr lang="pl-PL" sz="1800" dirty="0"/>
            </a:br>
            <a:r>
              <a:rPr lang="en-US" sz="1800" dirty="0"/>
              <a:t>Twitter</a:t>
            </a:r>
            <a:r>
              <a:rPr lang="pl-PL" sz="1800" dirty="0"/>
              <a:t>: </a:t>
            </a:r>
            <a:r>
              <a:rPr lang="pl-PL" sz="1800" dirty="0">
                <a:hlinkClick r:id="rId3"/>
              </a:rPr>
              <a:t>@Adam_pi3</a:t>
            </a:r>
            <a:endParaRPr lang="pl-PL" sz="1800" dirty="0"/>
          </a:p>
        </p:txBody>
      </p:sp>
      <p:sp>
        <p:nvSpPr>
          <p:cNvPr id="8" name="Title 1">
            <a:extLst>
              <a:ext uri="{FF2B5EF4-FFF2-40B4-BE49-F238E27FC236}">
                <a16:creationId xmlns:a16="http://schemas.microsoft.com/office/drawing/2014/main" id="{677D29F0-793E-45CB-8FE3-6120EEC3FFE8}"/>
              </a:ext>
            </a:extLst>
          </p:cNvPr>
          <p:cNvSpPr txBox="1">
            <a:spLocks/>
          </p:cNvSpPr>
          <p:nvPr/>
        </p:nvSpPr>
        <p:spPr>
          <a:xfrm>
            <a:off x="396796" y="794280"/>
            <a:ext cx="9356536" cy="1000212"/>
          </a:xfrm>
          <a:prstGeom prst="rect">
            <a:avLst/>
          </a:prstGeom>
        </p:spPr>
        <p:txBody>
          <a:bodyPr vert="horz" lIns="91440" tIns="45720" rIns="91440" bIns="45720" rtlCol="0" anchor="b">
            <a:noAutofit/>
          </a:bodyPr>
          <a:lstStyle>
            <a:lvl1pPr algn="ctr" defTabSz="1007943" rtl="0" eaLnBrk="1" latinLnBrk="0" hangingPunct="1">
              <a:lnSpc>
                <a:spcPct val="90000"/>
              </a:lnSpc>
              <a:spcBef>
                <a:spcPct val="0"/>
              </a:spcBef>
              <a:buNone/>
              <a:defRPr sz="5291"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marR="360000"/>
            <a:r>
              <a:rPr lang="en-US" sz="9200" dirty="0">
                <a:solidFill>
                  <a:srgbClr val="FFC000"/>
                </a:solidFill>
              </a:rPr>
              <a:t>Q&amp;A</a:t>
            </a:r>
          </a:p>
        </p:txBody>
      </p:sp>
      <p:pic>
        <p:nvPicPr>
          <p:cNvPr id="9" name="Picture 8" descr="A close-up of a map&#10;&#10;Description automatically generated with medium confidence">
            <a:extLst>
              <a:ext uri="{FF2B5EF4-FFF2-40B4-BE49-F238E27FC236}">
                <a16:creationId xmlns:a16="http://schemas.microsoft.com/office/drawing/2014/main" id="{AF153EB5-4058-4407-B652-78022C7AA1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4279" y="2738725"/>
            <a:ext cx="3172066" cy="2215411"/>
          </a:xfrm>
          <a:prstGeom prst="rect">
            <a:avLst/>
          </a:prstGeom>
          <a:ln>
            <a:solidFill>
              <a:srgbClr val="00B0F0"/>
            </a:solidFill>
          </a:ln>
        </p:spPr>
      </p:pic>
      <p:sp>
        <p:nvSpPr>
          <p:cNvPr id="15" name="Rectangle 14">
            <a:extLst>
              <a:ext uri="{FF2B5EF4-FFF2-40B4-BE49-F238E27FC236}">
                <a16:creationId xmlns:a16="http://schemas.microsoft.com/office/drawing/2014/main" id="{046791BA-B60D-4661-8F43-01A078761551}"/>
              </a:ext>
            </a:extLst>
          </p:cNvPr>
          <p:cNvSpPr/>
          <p:nvPr/>
        </p:nvSpPr>
        <p:spPr>
          <a:xfrm>
            <a:off x="3454279" y="2738725"/>
            <a:ext cx="3172066" cy="2215411"/>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55E5175B-A7D5-43F2-8D31-83270EE821D5}"/>
              </a:ext>
            </a:extLst>
          </p:cNvPr>
          <p:cNvCxnSpPr>
            <a:cxnSpLocks/>
          </p:cNvCxnSpPr>
          <p:nvPr/>
        </p:nvCxnSpPr>
        <p:spPr>
          <a:xfrm flipV="1">
            <a:off x="3965849" y="2006085"/>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1198B2F-63CC-4BA6-AF64-96678667F3A1}"/>
              </a:ext>
            </a:extLst>
          </p:cNvPr>
          <p:cNvCxnSpPr>
            <a:cxnSpLocks/>
          </p:cNvCxnSpPr>
          <p:nvPr/>
        </p:nvCxnSpPr>
        <p:spPr>
          <a:xfrm flipV="1">
            <a:off x="4493895" y="2006085"/>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B85A395-FDE6-40A5-9992-F5ED0B817081}"/>
              </a:ext>
            </a:extLst>
          </p:cNvPr>
          <p:cNvCxnSpPr>
            <a:cxnSpLocks/>
          </p:cNvCxnSpPr>
          <p:nvPr/>
        </p:nvCxnSpPr>
        <p:spPr>
          <a:xfrm flipV="1">
            <a:off x="5031404" y="2006085"/>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41940AA-091E-4319-B7EE-8A1B2899FCD2}"/>
              </a:ext>
            </a:extLst>
          </p:cNvPr>
          <p:cNvCxnSpPr>
            <a:cxnSpLocks/>
          </p:cNvCxnSpPr>
          <p:nvPr/>
        </p:nvCxnSpPr>
        <p:spPr>
          <a:xfrm flipV="1">
            <a:off x="5556576" y="2006085"/>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C9DE9A9-95ED-499A-A5B7-4DBD74039BBE}"/>
              </a:ext>
            </a:extLst>
          </p:cNvPr>
          <p:cNvCxnSpPr>
            <a:cxnSpLocks/>
          </p:cNvCxnSpPr>
          <p:nvPr/>
        </p:nvCxnSpPr>
        <p:spPr>
          <a:xfrm flipV="1">
            <a:off x="6095330" y="2006085"/>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D974A54-7393-4191-AEC4-C56D6F8B7905}"/>
              </a:ext>
            </a:extLst>
          </p:cNvPr>
          <p:cNvCxnSpPr>
            <a:cxnSpLocks/>
          </p:cNvCxnSpPr>
          <p:nvPr/>
        </p:nvCxnSpPr>
        <p:spPr>
          <a:xfrm flipV="1">
            <a:off x="4009509" y="5102569"/>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C9702AB-5B19-4AF0-A842-721658877DA4}"/>
              </a:ext>
            </a:extLst>
          </p:cNvPr>
          <p:cNvCxnSpPr>
            <a:cxnSpLocks/>
          </p:cNvCxnSpPr>
          <p:nvPr/>
        </p:nvCxnSpPr>
        <p:spPr>
          <a:xfrm flipV="1">
            <a:off x="4537555" y="5102569"/>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71F9D8A-89AB-4888-B8FD-656EFDC0D4B5}"/>
              </a:ext>
            </a:extLst>
          </p:cNvPr>
          <p:cNvCxnSpPr>
            <a:cxnSpLocks/>
          </p:cNvCxnSpPr>
          <p:nvPr/>
        </p:nvCxnSpPr>
        <p:spPr>
          <a:xfrm flipV="1">
            <a:off x="5075064" y="5102569"/>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5659E64-B163-4117-B11A-933ED39CBD0D}"/>
              </a:ext>
            </a:extLst>
          </p:cNvPr>
          <p:cNvCxnSpPr>
            <a:cxnSpLocks/>
          </p:cNvCxnSpPr>
          <p:nvPr/>
        </p:nvCxnSpPr>
        <p:spPr>
          <a:xfrm flipV="1">
            <a:off x="5600236" y="5102569"/>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3988ABD-17BA-41C5-8E70-88E6FF2E8AFF}"/>
              </a:ext>
            </a:extLst>
          </p:cNvPr>
          <p:cNvCxnSpPr>
            <a:cxnSpLocks/>
          </p:cNvCxnSpPr>
          <p:nvPr/>
        </p:nvCxnSpPr>
        <p:spPr>
          <a:xfrm flipV="1">
            <a:off x="6138990" y="5102569"/>
            <a:ext cx="0" cy="61454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908A54A-9671-48F2-B747-025EB21811DF}"/>
              </a:ext>
            </a:extLst>
          </p:cNvPr>
          <p:cNvCxnSpPr>
            <a:cxnSpLocks/>
          </p:cNvCxnSpPr>
          <p:nvPr/>
        </p:nvCxnSpPr>
        <p:spPr>
          <a:xfrm flipH="1">
            <a:off x="2530664" y="3112432"/>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781D4C1-26C2-4F43-BC55-3CAF49C541D8}"/>
              </a:ext>
            </a:extLst>
          </p:cNvPr>
          <p:cNvCxnSpPr>
            <a:cxnSpLocks/>
          </p:cNvCxnSpPr>
          <p:nvPr/>
        </p:nvCxnSpPr>
        <p:spPr>
          <a:xfrm flipH="1">
            <a:off x="2529840" y="4604304"/>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27AA9B-39C4-42FB-9AC2-C0C693A1596A}"/>
              </a:ext>
            </a:extLst>
          </p:cNvPr>
          <p:cNvCxnSpPr>
            <a:cxnSpLocks/>
          </p:cNvCxnSpPr>
          <p:nvPr/>
        </p:nvCxnSpPr>
        <p:spPr>
          <a:xfrm flipH="1">
            <a:off x="2529837" y="3462540"/>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54B21D6-EA4B-43E2-9F2C-4A7224E2583D}"/>
              </a:ext>
            </a:extLst>
          </p:cNvPr>
          <p:cNvCxnSpPr>
            <a:cxnSpLocks/>
          </p:cNvCxnSpPr>
          <p:nvPr/>
        </p:nvCxnSpPr>
        <p:spPr>
          <a:xfrm flipH="1">
            <a:off x="2529837" y="3846430"/>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377C433-5961-468D-909F-C77C15E34D4C}"/>
              </a:ext>
            </a:extLst>
          </p:cNvPr>
          <p:cNvCxnSpPr>
            <a:cxnSpLocks/>
          </p:cNvCxnSpPr>
          <p:nvPr/>
        </p:nvCxnSpPr>
        <p:spPr>
          <a:xfrm flipH="1">
            <a:off x="2529837" y="4224028"/>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8544A36-6DB1-4882-B6B7-F2B4E322733B}"/>
              </a:ext>
            </a:extLst>
          </p:cNvPr>
          <p:cNvCxnSpPr>
            <a:cxnSpLocks/>
          </p:cNvCxnSpPr>
          <p:nvPr/>
        </p:nvCxnSpPr>
        <p:spPr>
          <a:xfrm flipH="1">
            <a:off x="6785507" y="3108325"/>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BBD202A-AB1A-4F98-A459-220EDC5DECBF}"/>
              </a:ext>
            </a:extLst>
          </p:cNvPr>
          <p:cNvCxnSpPr>
            <a:cxnSpLocks/>
          </p:cNvCxnSpPr>
          <p:nvPr/>
        </p:nvCxnSpPr>
        <p:spPr>
          <a:xfrm flipH="1">
            <a:off x="6784683" y="4600197"/>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76BD344-84B3-4EB6-BCD8-C1F53E3FFED2}"/>
              </a:ext>
            </a:extLst>
          </p:cNvPr>
          <p:cNvCxnSpPr>
            <a:cxnSpLocks/>
          </p:cNvCxnSpPr>
          <p:nvPr/>
        </p:nvCxnSpPr>
        <p:spPr>
          <a:xfrm flipH="1">
            <a:off x="6784680" y="3458433"/>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4EB60A3-EE46-401E-B9C9-BD5EB01DB044}"/>
              </a:ext>
            </a:extLst>
          </p:cNvPr>
          <p:cNvCxnSpPr>
            <a:cxnSpLocks/>
          </p:cNvCxnSpPr>
          <p:nvPr/>
        </p:nvCxnSpPr>
        <p:spPr>
          <a:xfrm flipH="1">
            <a:off x="6784680" y="3842323"/>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90DB1B-1182-4057-8438-B8FBF82F8B62}"/>
              </a:ext>
            </a:extLst>
          </p:cNvPr>
          <p:cNvCxnSpPr>
            <a:cxnSpLocks/>
          </p:cNvCxnSpPr>
          <p:nvPr/>
        </p:nvCxnSpPr>
        <p:spPr>
          <a:xfrm flipH="1">
            <a:off x="6784680" y="4219921"/>
            <a:ext cx="780947"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76" name="Date Placeholder 1">
            <a:extLst>
              <a:ext uri="{FF2B5EF4-FFF2-40B4-BE49-F238E27FC236}">
                <a16:creationId xmlns:a16="http://schemas.microsoft.com/office/drawing/2014/main" id="{CBB4E81B-B698-4390-B896-02D89872B0D4}"/>
              </a:ext>
            </a:extLst>
          </p:cNvPr>
          <p:cNvSpPr txBox="1">
            <a:spLocks/>
          </p:cNvSpPr>
          <p:nvPr/>
        </p:nvSpPr>
        <p:spPr>
          <a:xfrm>
            <a:off x="6518792" y="5478700"/>
            <a:ext cx="2603040" cy="1000212"/>
          </a:xfrm>
          <a:prstGeom prst="rect">
            <a:avLst/>
          </a:prstGeom>
        </p:spPr>
        <p:txBody>
          <a:bodyPr vert="horz" lIns="91440" tIns="45720" rIns="91440" bIns="45720" rtlCol="0" anchor="ctr"/>
          <a:lstStyle>
            <a:defPPr>
              <a:defRPr lang="en-US"/>
            </a:defPPr>
            <a:lvl1pPr marL="0" algn="r" defTabSz="914400" rtl="0" eaLnBrk="1" latinLnBrk="0" hangingPunct="1">
              <a:defRPr sz="1102"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pl-PL" sz="1800" dirty="0"/>
              <a:t>Alex Matrosov</a:t>
            </a:r>
            <a:br>
              <a:rPr lang="pl-PL" sz="1800" dirty="0"/>
            </a:br>
            <a:r>
              <a:rPr lang="en-US" sz="1800" dirty="0"/>
              <a:t>Twitter</a:t>
            </a:r>
            <a:r>
              <a:rPr lang="pl-PL" sz="1800" dirty="0"/>
              <a:t>: </a:t>
            </a:r>
            <a:r>
              <a:rPr lang="pl-PL" sz="1800" dirty="0">
                <a:hlinkClick r:id="rId5"/>
              </a:rPr>
              <a:t>@matrosov</a:t>
            </a:r>
            <a:endParaRPr lang="pl-PL" sz="1800" dirty="0"/>
          </a:p>
        </p:txBody>
      </p:sp>
      <p:pic>
        <p:nvPicPr>
          <p:cNvPr id="3" name="Picture 3">
            <a:extLst>
              <a:ext uri="{FF2B5EF4-FFF2-40B4-BE49-F238E27FC236}">
                <a16:creationId xmlns:a16="http://schemas.microsoft.com/office/drawing/2014/main" id="{C4D6933C-2693-40EB-9D6A-CE259044AEB7}"/>
              </a:ext>
            </a:extLst>
          </p:cNvPr>
          <p:cNvPicPr>
            <a:picLocks noChangeAspect="1"/>
          </p:cNvPicPr>
          <p:nvPr/>
        </p:nvPicPr>
        <p:blipFill>
          <a:blip r:embed="rId6"/>
          <a:stretch>
            <a:fillRect/>
          </a:stretch>
        </p:blipFill>
        <p:spPr>
          <a:xfrm>
            <a:off x="4763655" y="3961063"/>
            <a:ext cx="805650" cy="783826"/>
          </a:xfrm>
          <a:prstGeom prst="rect">
            <a:avLst/>
          </a:prstGeom>
        </p:spPr>
      </p:pic>
      <p:pic>
        <p:nvPicPr>
          <p:cNvPr id="31" name="Picture 6">
            <a:extLst>
              <a:ext uri="{FF2B5EF4-FFF2-40B4-BE49-F238E27FC236}">
                <a16:creationId xmlns:a16="http://schemas.microsoft.com/office/drawing/2014/main" id="{684F3A99-E063-4A23-ABA1-CE9E9274FF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379" y="3040533"/>
            <a:ext cx="1501239" cy="150123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a:extLst>
              <a:ext uri="{FF2B5EF4-FFF2-40B4-BE49-F238E27FC236}">
                <a16:creationId xmlns:a16="http://schemas.microsoft.com/office/drawing/2014/main" id="{95139957-55E1-49D0-AEB5-8CC8FA014E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1846" y="3134292"/>
            <a:ext cx="1400175" cy="140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082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1AC6ABB-BA34-4225-9B5A-7C0E35FFB3D8}">
  <we:reference id="wa104380121" version="2.0.0.0" store="en-US" storeType="OMEX"/>
  <we:alternateReferences>
    <we:reference id="wa104380121" version="2.0.0.0" store="WA10438012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TC104033921[[fn=Damask]]</Template>
  <TotalTime>0</TotalTime>
  <Words>9233</Words>
  <Application>Microsoft Office PowerPoint</Application>
  <PresentationFormat>Custom</PresentationFormat>
  <Paragraphs>1228</Paragraphs>
  <Slides>93</Slides>
  <Notes>93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93</vt:i4>
      </vt:variant>
    </vt:vector>
  </HeadingPairs>
  <TitlesOfParts>
    <vt:vector size="101" baseType="lpstr">
      <vt:lpstr>Arial</vt:lpstr>
      <vt:lpstr>Bookman Old Style</vt:lpstr>
      <vt:lpstr>Calibri</vt:lpstr>
      <vt:lpstr>Courier New</vt:lpstr>
      <vt:lpstr>Rockwell</vt:lpstr>
      <vt:lpstr>Verdana</vt:lpstr>
      <vt:lpstr>Wingdings</vt:lpstr>
      <vt:lpstr>Damask</vt:lpstr>
      <vt:lpstr>MTVEC corruption for hardening ISA</vt:lpstr>
      <vt:lpstr>/usr/bin/whoWEARE</vt:lpstr>
      <vt:lpstr>What is this talk about?</vt:lpstr>
      <vt:lpstr>What is this talk about?</vt:lpstr>
      <vt:lpstr>What is this talk about?</vt:lpstr>
      <vt:lpstr>What is this talk about?</vt:lpstr>
      <vt:lpstr>What is this talk about?</vt:lpstr>
      <vt:lpstr>What is this talk about?</vt:lpstr>
      <vt:lpstr>What is this talk about?</vt:lpstr>
      <vt:lpstr>What is this talk about?</vt:lpstr>
      <vt:lpstr>What is this talk about?</vt:lpstr>
      <vt:lpstr>What is this talk about?</vt:lpstr>
      <vt:lpstr>How did we find it?</vt:lpstr>
      <vt:lpstr>How did we find it?</vt:lpstr>
      <vt:lpstr>RISC-V in a nutshell</vt:lpstr>
      <vt:lpstr>RISC-V in a nutshell</vt:lpstr>
      <vt:lpstr>RISC-V vs x86</vt:lpstr>
      <vt:lpstr>RISC-V vs x86</vt:lpstr>
      <vt:lpstr>RISC-V vs x86</vt:lpstr>
      <vt:lpstr>RISC-V vs x86</vt:lpstr>
      <vt:lpstr>RISC-V vs x86</vt:lpstr>
      <vt:lpstr>RISC-V vs x86</vt:lpstr>
      <vt:lpstr>Adacore / SPARK</vt:lpstr>
      <vt:lpstr>Adacore / SPARK</vt:lpstr>
      <vt:lpstr>What is adacore/SPARK?</vt:lpstr>
      <vt:lpstr>What is adacore/SPARK?</vt:lpstr>
      <vt:lpstr>What is adacore/SPARK?</vt:lpstr>
      <vt:lpstr>What is adacore/SPARK?</vt:lpstr>
      <vt:lpstr>What is adacore/SPARK?</vt:lpstr>
      <vt:lpstr>What is adacore/SPARK?</vt:lpstr>
      <vt:lpstr>What is adacore/SPARK?</vt:lpstr>
      <vt:lpstr>What is adacore/SPARK?</vt:lpstr>
      <vt:lpstr>What is adacore/SPARK?</vt:lpstr>
      <vt:lpstr>What is adacore/SPARK?</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adacore/SPARK - Evaluation</vt:lpstr>
      <vt:lpstr>Bringing RISC-V to Ghidra</vt:lpstr>
      <vt:lpstr>Bringing RISC-V to Ghidra</vt:lpstr>
      <vt:lpstr>Bringing RISC-V to Ghidra</vt:lpstr>
      <vt:lpstr>Bringing RISC-V to Ghidra</vt:lpstr>
      <vt:lpstr>Bringing RISC-V to Ghidra</vt:lpstr>
      <vt:lpstr>Bringing RISC-V to Ghidra</vt:lpstr>
      <vt:lpstr>Bringing RISC-V to Ghidra</vt:lpstr>
      <vt:lpstr>Bringing RISC-V to Ghidra</vt:lpstr>
      <vt:lpstr>Bringing RISC-V to Ghidra</vt:lpstr>
      <vt:lpstr>Bringing RISC-V to Ghidra</vt:lpstr>
      <vt:lpstr>Bringing RISC-V to Ghidra</vt:lpstr>
      <vt:lpstr>Problem with MTVEC</vt:lpstr>
      <vt:lpstr>Problem with MTVEC</vt:lpstr>
      <vt:lpstr>Problem with MTVEC</vt:lpstr>
      <vt:lpstr>Problem with MTVEC</vt:lpstr>
      <vt:lpstr>Problem with MTVEC</vt:lpstr>
      <vt:lpstr>Problem with MTVEC</vt:lpstr>
      <vt:lpstr>How to exploit MTVEC?</vt:lpstr>
      <vt:lpstr>How to exploit MTVEC?</vt:lpstr>
      <vt:lpstr>How to exploit MTVEC?</vt:lpstr>
      <vt:lpstr>How to exploit MTVEC?</vt:lpstr>
      <vt:lpstr>How to report and fix the bug in ISA not implementation?</vt:lpstr>
      <vt:lpstr>How to report and fix the bug in ISA not implementation?</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How to Fix MTVEC issue?</vt:lpstr>
      <vt:lpstr>Hardening RISC-V</vt:lpstr>
      <vt:lpstr>Hardening RISC-V</vt:lpstr>
      <vt:lpstr>Hardening RISC-V</vt:lpstr>
      <vt:lpstr>Hardening RISC-V</vt:lpstr>
      <vt:lpstr>Hardening RISC-V</vt:lpstr>
      <vt:lpstr>Acknowledgments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MTVEC corruption for hardening ISA</dc:title>
  <dc:creator/>
  <cp:lastModifiedBy/>
  <cp:revision>127</cp:revision>
  <dcterms:created xsi:type="dcterms:W3CDTF">2006-10-31T03:12:48Z</dcterms:created>
  <dcterms:modified xsi:type="dcterms:W3CDTF">2021-07-20T18:03:10Z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ddress">
    <vt:lpwstr>Dūkštų g. 5-66, Vilnius, 07176, Lithuania.</vt:lpwstr>
  </property>
  <property fmtid="{D5CDD505-2E9C-101B-9397-08002B2CF9AE}" pid="3" name="License">
    <vt:lpwstr>GNU LGPL</vt:lpwstr>
  </property>
  <property fmtid="{D5CDD505-2E9C-101B-9397-08002B2CF9AE}" pid="4" name="Name">
    <vt:lpwstr>Antanas Stasius</vt:lpwstr>
  </property>
  <property fmtid="{D5CDD505-2E9C-101B-9397-08002B2CF9AE}" pid="5" name="e-mail">
    <vt:lpwstr>auxaliutis@gmail.com</vt:lpwstr>
  </property>
  <property fmtid="{D5CDD505-2E9C-101B-9397-08002B2CF9AE}" pid="6" name="MSIP_Label_6b558183-044c-4105-8d9c-cea02a2a3d86_Enabled">
    <vt:lpwstr>True</vt:lpwstr>
  </property>
  <property fmtid="{D5CDD505-2E9C-101B-9397-08002B2CF9AE}" pid="7" name="MSIP_Label_6b558183-044c-4105-8d9c-cea02a2a3d86_SiteId">
    <vt:lpwstr>43083d15-7273-40c1-b7db-39efd9ccc17a</vt:lpwstr>
  </property>
  <property fmtid="{D5CDD505-2E9C-101B-9397-08002B2CF9AE}" pid="8" name="MSIP_Label_6b558183-044c-4105-8d9c-cea02a2a3d86_Owner">
    <vt:lpwstr>azabrocki@nvidia.com</vt:lpwstr>
  </property>
  <property fmtid="{D5CDD505-2E9C-101B-9397-08002B2CF9AE}" pid="9" name="MSIP_Label_6b558183-044c-4105-8d9c-cea02a2a3d86_SetDate">
    <vt:lpwstr>2020-03-05T00:29:27.1421067Z</vt:lpwstr>
  </property>
  <property fmtid="{D5CDD505-2E9C-101B-9397-08002B2CF9AE}" pid="10" name="MSIP_Label_6b558183-044c-4105-8d9c-cea02a2a3d86_Name">
    <vt:lpwstr>Unrestricted</vt:lpwstr>
  </property>
  <property fmtid="{D5CDD505-2E9C-101B-9397-08002B2CF9AE}" pid="11" name="MSIP_Label_6b558183-044c-4105-8d9c-cea02a2a3d86_Application">
    <vt:lpwstr>Microsoft Azure Information Protection</vt:lpwstr>
  </property>
  <property fmtid="{D5CDD505-2E9C-101B-9397-08002B2CF9AE}" pid="12" name="MSIP_Label_6b558183-044c-4105-8d9c-cea02a2a3d86_Extended_MSFT_Method">
    <vt:lpwstr>Automatic</vt:lpwstr>
  </property>
  <property fmtid="{D5CDD505-2E9C-101B-9397-08002B2CF9AE}" pid="13" name="MSIP_Label_f42aa342-8706-4288-bd11-ebb85995028c_Enabled">
    <vt:lpwstr>True</vt:lpwstr>
  </property>
  <property fmtid="{D5CDD505-2E9C-101B-9397-08002B2CF9AE}" pid="14" name="MSIP_Label_f42aa342-8706-4288-bd11-ebb85995028c_SiteId">
    <vt:lpwstr>72f988bf-86f1-41af-91ab-2d7cd011db47</vt:lpwstr>
  </property>
  <property fmtid="{D5CDD505-2E9C-101B-9397-08002B2CF9AE}" pid="15" name="MSIP_Label_f42aa342-8706-4288-bd11-ebb85995028c_Owner">
    <vt:lpwstr>adamza@microsoft.com</vt:lpwstr>
  </property>
  <property fmtid="{D5CDD505-2E9C-101B-9397-08002B2CF9AE}" pid="16" name="MSIP_Label_f42aa342-8706-4288-bd11-ebb85995028c_SetDate">
    <vt:lpwstr>2018-03-19T07:03:30.8584100Z</vt:lpwstr>
  </property>
  <property fmtid="{D5CDD505-2E9C-101B-9397-08002B2CF9AE}" pid="17" name="MSIP_Label_f42aa342-8706-4288-bd11-ebb85995028c_Name">
    <vt:lpwstr>General</vt:lpwstr>
  </property>
  <property fmtid="{D5CDD505-2E9C-101B-9397-08002B2CF9AE}" pid="18" name="MSIP_Label_f42aa342-8706-4288-bd11-ebb85995028c_Application">
    <vt:lpwstr>Microsoft Azure Information Protection</vt:lpwstr>
  </property>
  <property fmtid="{D5CDD505-2E9C-101B-9397-08002B2CF9AE}" pid="19" name="MSIP_Label_f42aa342-8706-4288-bd11-ebb85995028c_Extended_MSFT_Method">
    <vt:lpwstr>Automatic</vt:lpwstr>
  </property>
  <property fmtid="{D5CDD505-2E9C-101B-9397-08002B2CF9AE}" pid="20" name="Sensitivity">
    <vt:lpwstr>Unrestricted General</vt:lpwstr>
  </property>
</Properties>
</file>