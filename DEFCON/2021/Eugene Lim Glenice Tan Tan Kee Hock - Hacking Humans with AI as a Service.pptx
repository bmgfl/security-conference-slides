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3" r:id="rId1"/>
  </p:sldMasterIdLst>
  <p:notesMasterIdLst>
    <p:notesMasterId r:id="rId5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Lst>
  <p:sldSz cx="9144000" cy="5143500" type="screen16x9"/>
  <p:notesSz cx="6858000" cy="9144000"/>
  <p:embeddedFontLst>
    <p:embeddedFont>
      <p:font typeface="Roboto Light" panose="020B0604020202020204" charset="0"/>
      <p:regular r:id="rId53"/>
      <p:bold r:id="rId54"/>
      <p:italic r:id="rId55"/>
      <p:boldItalic r:id="rId56"/>
    </p:embeddedFont>
    <p:embeddedFont>
      <p:font typeface="Roboto Medium" panose="020B0604020202020204" charset="0"/>
      <p:regular r:id="rId57"/>
      <p:bold r:id="rId58"/>
      <p:italic r:id="rId59"/>
      <p:boldItalic r:id="rId60"/>
    </p:embeddedFont>
    <p:embeddedFont>
      <p:font typeface="Roboto Thin" panose="020B0604020202020204" charset="0"/>
      <p:regular r:id="rId61"/>
      <p:bold r:id="rId62"/>
      <p:italic r:id="rId63"/>
      <p:boldItalic r:id="rId64"/>
    </p:embeddedFont>
    <p:embeddedFont>
      <p:font typeface="Roboto" panose="020B0604020202020204" charset="0"/>
      <p:regular r:id="rId65"/>
      <p:bold r:id="rId66"/>
      <p:italic r:id="rId67"/>
      <p:boldItalic r:id="rId68"/>
    </p:embeddedFont>
    <p:embeddedFont>
      <p:font typeface="Lucida Sans" panose="020B0602030504020204" pitchFamily="34" charset="0"/>
      <p:regular r:id="rId69"/>
      <p:bold r:id="rId70"/>
      <p:italic r:id="rId71"/>
      <p:boldItalic r:id="rId72"/>
    </p:embeddedFont>
    <p:embeddedFont>
      <p:font typeface="Quattrocento Sans" panose="020B0604020202020204" charset="0"/>
      <p:regular r:id="rId73"/>
      <p:bold r:id="rId74"/>
      <p:italic r:id="rId75"/>
      <p:boldItalic r:id="rId7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44">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D70376C-22F1-4591-8C6C-46443B58317D}">
  <a:tblStyle styleId="{9D70376C-22F1-4591-8C6C-46443B58317D}" styleName="Table_0">
    <a:wholeTbl>
      <a:tcTxStyle b="off" i="off">
        <a:font>
          <a:latin typeface="Segoe UI Light"/>
          <a:ea typeface="Segoe UI Light"/>
          <a:cs typeface="Segoe UI Light"/>
        </a:font>
        <a:srgbClr val="3F3F3F"/>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E6E8E9"/>
          </a:solidFill>
        </a:fill>
      </a:tcStyle>
    </a:wholeTbl>
    <a:band1H>
      <a:tcTxStyle b="off" i="off"/>
      <a:tcStyle>
        <a:tcBdr/>
        <a:fill>
          <a:solidFill>
            <a:srgbClr val="CACED0"/>
          </a:solidFill>
        </a:fill>
      </a:tcStyle>
    </a:band1H>
    <a:band2H>
      <a:tcTxStyle b="off" i="off"/>
      <a:tcStyle>
        <a:tcBdr/>
      </a:tcStyle>
    </a:band2H>
    <a:band1V>
      <a:tcTxStyle b="off" i="off"/>
      <a:tcStyle>
        <a:tcBdr/>
        <a:fill>
          <a:solidFill>
            <a:srgbClr val="CACED0"/>
          </a:solidFill>
        </a:fill>
      </a:tcStyle>
    </a:band1V>
    <a:band2V>
      <a:tcTxStyle b="off" i="off"/>
      <a:tcStyle>
        <a:tcBdr/>
      </a:tcStyle>
    </a:band2V>
    <a:lastCol>
      <a:tcTxStyle b="on" i="off">
        <a:font>
          <a:latin typeface="Segoe UI Light"/>
          <a:ea typeface="Segoe UI Light"/>
          <a:cs typeface="Segoe UI Light"/>
        </a:font>
        <a:srgbClr val="FFFFFF"/>
      </a:tcTxStyle>
      <a:tcStyle>
        <a:tcBdr/>
        <a:fill>
          <a:solidFill>
            <a:srgbClr val="004A57"/>
          </a:solidFill>
        </a:fill>
      </a:tcStyle>
    </a:lastCol>
    <a:firstCol>
      <a:tcTxStyle b="on" i="off">
        <a:font>
          <a:latin typeface="Segoe UI Light"/>
          <a:ea typeface="Segoe UI Light"/>
          <a:cs typeface="Segoe UI Light"/>
        </a:font>
        <a:srgbClr val="FFFFFF"/>
      </a:tcTxStyle>
      <a:tcStyle>
        <a:tcBdr/>
        <a:fill>
          <a:solidFill>
            <a:srgbClr val="004A57"/>
          </a:solidFill>
        </a:fill>
      </a:tcStyle>
    </a:firstCol>
    <a:lastRow>
      <a:tcTxStyle b="on" i="off">
        <a:font>
          <a:latin typeface="Segoe UI Light"/>
          <a:ea typeface="Segoe UI Light"/>
          <a:cs typeface="Segoe UI Light"/>
        </a:font>
        <a:srgbClr val="FFFFFF"/>
      </a:tcTxStyle>
      <a:tcStyle>
        <a:tcBdr>
          <a:top>
            <a:ln w="38100" cap="flat" cmpd="sng">
              <a:solidFill>
                <a:srgbClr val="FFFFFF"/>
              </a:solidFill>
              <a:prstDash val="solid"/>
              <a:round/>
              <a:headEnd type="none" w="sm" len="sm"/>
              <a:tailEnd type="none" w="sm" len="sm"/>
            </a:ln>
          </a:top>
        </a:tcBdr>
        <a:fill>
          <a:solidFill>
            <a:srgbClr val="004A57"/>
          </a:solidFill>
        </a:fill>
      </a:tcStyle>
    </a:lastRow>
    <a:seCell>
      <a:tcTxStyle b="off" i="off"/>
      <a:tcStyle>
        <a:tcBdr/>
      </a:tcStyle>
    </a:seCell>
    <a:swCell>
      <a:tcTxStyle b="off" i="off"/>
      <a:tcStyle>
        <a:tcBdr/>
      </a:tcStyle>
    </a:swCell>
    <a:firstRow>
      <a:tcTxStyle b="on" i="off">
        <a:font>
          <a:latin typeface="Segoe UI Light"/>
          <a:ea typeface="Segoe UI Light"/>
          <a:cs typeface="Segoe UI Light"/>
        </a:font>
        <a:srgbClr val="FFFFFF"/>
      </a:tcTxStyle>
      <a:tcStyle>
        <a:tcBdr>
          <a:bottom>
            <a:ln w="38100" cap="flat" cmpd="sng">
              <a:solidFill>
                <a:srgbClr val="FFFFFF"/>
              </a:solidFill>
              <a:prstDash val="solid"/>
              <a:round/>
              <a:headEnd type="none" w="sm" len="sm"/>
              <a:tailEnd type="none" w="sm" len="sm"/>
            </a:ln>
          </a:bottom>
        </a:tcBdr>
        <a:fill>
          <a:solidFill>
            <a:srgbClr val="004A57"/>
          </a:solidFill>
        </a:fill>
      </a:tcStyle>
    </a:firstRow>
    <a:neCell>
      <a:tcTxStyle b="off" i="off"/>
      <a:tcStyle>
        <a:tcBdr/>
      </a:tcStyle>
    </a:neCell>
    <a:nwCell>
      <a:tcTxStyle b="off" i="off"/>
      <a:tcStyle>
        <a:tcBdr/>
      </a:tcStyle>
    </a:nwCell>
  </a:tblStyle>
  <a:tblStyle styleId="{CBFC39C5-30E6-4EE9-86C5-71465503F7AC}"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8" d="100"/>
          <a:sy n="158" d="100"/>
        </p:scale>
        <p:origin x="586" y="115"/>
      </p:cViewPr>
      <p:guideLst>
        <p:guide orient="horz" pos="1644"/>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1.fntdata"/><Relationship Id="rId68" Type="http://schemas.openxmlformats.org/officeDocument/2006/relationships/font" Target="fonts/font16.fntdata"/><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1.fntdata"/><Relationship Id="rId58" Type="http://schemas.openxmlformats.org/officeDocument/2006/relationships/font" Target="fonts/font6.fntdata"/><Relationship Id="rId66" Type="http://schemas.openxmlformats.org/officeDocument/2006/relationships/font" Target="fonts/font14.fntdata"/><Relationship Id="rId74" Type="http://schemas.openxmlformats.org/officeDocument/2006/relationships/font" Target="fonts/font22.fntdata"/><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font" Target="fonts/font9.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4.fntdata"/><Relationship Id="rId64" Type="http://schemas.openxmlformats.org/officeDocument/2006/relationships/font" Target="fonts/font12.fntdata"/><Relationship Id="rId69" Type="http://schemas.openxmlformats.org/officeDocument/2006/relationships/font" Target="fonts/font17.fntdata"/><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20.fntdata"/><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7.fntdata"/><Relationship Id="rId67"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2.fntdata"/><Relationship Id="rId62" Type="http://schemas.openxmlformats.org/officeDocument/2006/relationships/font" Target="fonts/font10.fntdata"/><Relationship Id="rId70" Type="http://schemas.openxmlformats.org/officeDocument/2006/relationships/font" Target="fonts/font18.fntdata"/><Relationship Id="rId75" Type="http://schemas.openxmlformats.org/officeDocument/2006/relationships/font" Target="fonts/font23.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5.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60" Type="http://schemas.openxmlformats.org/officeDocument/2006/relationships/font" Target="fonts/font8.fntdata"/><Relationship Id="rId65" Type="http://schemas.openxmlformats.org/officeDocument/2006/relationships/font" Target="fonts/font13.fntdata"/><Relationship Id="rId73" Type="http://schemas.openxmlformats.org/officeDocument/2006/relationships/font" Target="fonts/font21.fntdata"/><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font" Target="fonts/font3.fntdata"/><Relationship Id="rId76" Type="http://schemas.openxmlformats.org/officeDocument/2006/relationships/font" Target="fonts/font24.fntdata"/><Relationship Id="rId7" Type="http://schemas.openxmlformats.org/officeDocument/2006/relationships/slide" Target="slides/slide6.xml"/><Relationship Id="rId71" Type="http://schemas.openxmlformats.org/officeDocument/2006/relationships/font" Target="fonts/font19.fntdata"/><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e252bc7bce_0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e252bc7bce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e252bc7bce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e252bc7bce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e252bc7bce_1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e252bc7bce_1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e252bc7bce_1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e252bc7bce_1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e252bc7bce_1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e252bc7bce_1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e252bc7bce_1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e252bc7bce_1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e252bc7bce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e252bc7bce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e252bc7bce_0_2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e252bc7bce_0_2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e1509a5363_1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e1509a5363_1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e1509a5363_1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e1509a5363_1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e1509a5363_1_4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e1509a5363_1_4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e252bc7bce_1_6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e252bc7bce_1_6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e265434ca3_0_6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e265434ca3_0_6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e265434ca3_0_6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e265434ca3_0_6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e252bc7bce_1_3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e252bc7bce_1_3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b6f66f9742_0_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b6f66f9742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e252bc7bce_0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e252bc7bce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e1509a5363_0_1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e1509a5363_0_1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e1509a5363_0_2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e1509a5363_0_2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e2784d454c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e2784d454c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e2784d454c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e2784d454c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b80d865180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 name="Google Shape;410;gb80d865180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ge1509a5363_0_1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8" name="Google Shape;418;ge1509a5363_0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gb80d865180_2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2" name="Google Shape;442;gb80d865180_2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e252bc7bce_0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3" name="Google Shape;453;ge252bc7bce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e1509a5363_0_2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e1509a5363_0_2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gb6f66f9742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8" name="Google Shape;468;gb6f66f9742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b6f66f9742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1" name="Google Shape;481;gb6f66f9742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b6f66f9742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b6f66f9742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endParaRPr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b6f66f9742_0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b6f66f9742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ge1509a5363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e1509a5363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e1509a5363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e1509a5363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e1509a5363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e1509a5363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e2784d454c_0_1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e2784d454c_0_1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ge1509a5363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6" name="Google Shape;566;ge1509a5363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ge1509a5363_0_1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3" name="Google Shape;583;ge1509a5363_0_1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ge252bc7bce_0_1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1" name="Google Shape;591;ge252bc7bce_0_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ge252bc7bce_0_2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8" name="Google Shape;598;ge252bc7bce_0_2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ge252bc7bce_0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8" name="Google Shape;618;ge252bc7bce_0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ge2784d454c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7" name="Google Shape;627;ge2784d454c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ge2784d454c_0_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8" name="Google Shape;648;ge2784d454c_0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e2784d454c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7" name="Google Shape;657;ge2784d454c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e2784d454c_0_1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1" name="Google Shape;671;ge2784d454c_0_1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6"/>
        <p:cNvGrpSpPr/>
        <p:nvPr/>
      </p:nvGrpSpPr>
      <p:grpSpPr>
        <a:xfrm>
          <a:off x="0" y="0"/>
          <a:ext cx="0" cy="0"/>
          <a:chOff x="0" y="0"/>
          <a:chExt cx="0" cy="0"/>
        </a:xfrm>
      </p:grpSpPr>
      <p:sp>
        <p:nvSpPr>
          <p:cNvPr id="687" name="Google Shape;687;ge353b8a496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8" name="Google Shape;688;ge353b8a496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2"/>
        <p:cNvGrpSpPr/>
        <p:nvPr/>
      </p:nvGrpSpPr>
      <p:grpSpPr>
        <a:xfrm>
          <a:off x="0" y="0"/>
          <a:ext cx="0" cy="0"/>
          <a:chOff x="0" y="0"/>
          <a:chExt cx="0" cy="0"/>
        </a:xfrm>
      </p:grpSpPr>
      <p:sp>
        <p:nvSpPr>
          <p:cNvPr id="703" name="Google Shape;703;ge353b8a496_1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4" name="Google Shape;704;ge353b8a496_1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ge353b8a496_1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0" name="Google Shape;720;ge353b8a496_1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1"/>
        <p:cNvGrpSpPr/>
        <p:nvPr/>
      </p:nvGrpSpPr>
      <p:grpSpPr>
        <a:xfrm>
          <a:off x="0" y="0"/>
          <a:ext cx="0" cy="0"/>
          <a:chOff x="0" y="0"/>
          <a:chExt cx="0" cy="0"/>
        </a:xfrm>
      </p:grpSpPr>
      <p:sp>
        <p:nvSpPr>
          <p:cNvPr id="732" name="Google Shape;732;ge2784d454c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3" name="Google Shape;733;ge2784d454c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7"/>
        <p:cNvGrpSpPr/>
        <p:nvPr/>
      </p:nvGrpSpPr>
      <p:grpSpPr>
        <a:xfrm>
          <a:off x="0" y="0"/>
          <a:ext cx="0" cy="0"/>
          <a:chOff x="0" y="0"/>
          <a:chExt cx="0" cy="0"/>
        </a:xfrm>
      </p:grpSpPr>
      <p:sp>
        <p:nvSpPr>
          <p:cNvPr id="748" name="Google Shape;748;ge252bc7bce_0_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9" name="Google Shape;749;ge252bc7bce_0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ge252bc7bce_0_2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6" name="Google Shape;756;ge252bc7bce_0_2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2"/>
        <p:cNvGrpSpPr/>
        <p:nvPr/>
      </p:nvGrpSpPr>
      <p:grpSpPr>
        <a:xfrm>
          <a:off x="0" y="0"/>
          <a:ext cx="0" cy="0"/>
          <a:chOff x="0" y="0"/>
          <a:chExt cx="0" cy="0"/>
        </a:xfrm>
      </p:grpSpPr>
      <p:sp>
        <p:nvSpPr>
          <p:cNvPr id="763" name="Google Shape;763;ge252bc7bce_0_3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4" name="Google Shape;764;ge252bc7bce_0_3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0" y="2004575"/>
            <a:ext cx="8520600" cy="79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2"/>
              </a:buClr>
              <a:buSzPts val="3600"/>
              <a:buNone/>
              <a:defRPr sz="3600">
                <a:solidFill>
                  <a:schemeClr val="dk2"/>
                </a:solidFill>
              </a:defRPr>
            </a:lvl1pPr>
            <a:lvl2pPr lvl="1" algn="ctr">
              <a:spcBef>
                <a:spcPts val="0"/>
              </a:spcBef>
              <a:spcAft>
                <a:spcPts val="0"/>
              </a:spcAft>
              <a:buClr>
                <a:schemeClr val="dk2"/>
              </a:buClr>
              <a:buSzPts val="3600"/>
              <a:buFont typeface="Roboto Medium"/>
              <a:buNone/>
              <a:defRPr sz="3600">
                <a:solidFill>
                  <a:schemeClr val="dk2"/>
                </a:solidFill>
                <a:latin typeface="Roboto Medium"/>
                <a:ea typeface="Roboto Medium"/>
                <a:cs typeface="Roboto Medium"/>
                <a:sym typeface="Roboto Medium"/>
              </a:defRPr>
            </a:lvl2pPr>
            <a:lvl3pPr lvl="2" algn="ctr">
              <a:spcBef>
                <a:spcPts val="0"/>
              </a:spcBef>
              <a:spcAft>
                <a:spcPts val="0"/>
              </a:spcAft>
              <a:buClr>
                <a:schemeClr val="dk2"/>
              </a:buClr>
              <a:buSzPts val="3600"/>
              <a:buFont typeface="Roboto Medium"/>
              <a:buNone/>
              <a:defRPr sz="3600">
                <a:solidFill>
                  <a:schemeClr val="dk2"/>
                </a:solidFill>
                <a:latin typeface="Roboto Medium"/>
                <a:ea typeface="Roboto Medium"/>
                <a:cs typeface="Roboto Medium"/>
                <a:sym typeface="Roboto Medium"/>
              </a:defRPr>
            </a:lvl3pPr>
            <a:lvl4pPr lvl="3" algn="ctr">
              <a:spcBef>
                <a:spcPts val="0"/>
              </a:spcBef>
              <a:spcAft>
                <a:spcPts val="0"/>
              </a:spcAft>
              <a:buClr>
                <a:schemeClr val="dk2"/>
              </a:buClr>
              <a:buSzPts val="3600"/>
              <a:buFont typeface="Roboto Medium"/>
              <a:buNone/>
              <a:defRPr sz="3600">
                <a:solidFill>
                  <a:schemeClr val="dk2"/>
                </a:solidFill>
                <a:latin typeface="Roboto Medium"/>
                <a:ea typeface="Roboto Medium"/>
                <a:cs typeface="Roboto Medium"/>
                <a:sym typeface="Roboto Medium"/>
              </a:defRPr>
            </a:lvl4pPr>
            <a:lvl5pPr lvl="4" algn="ctr">
              <a:spcBef>
                <a:spcPts val="0"/>
              </a:spcBef>
              <a:spcAft>
                <a:spcPts val="0"/>
              </a:spcAft>
              <a:buClr>
                <a:schemeClr val="dk2"/>
              </a:buClr>
              <a:buSzPts val="3600"/>
              <a:buFont typeface="Roboto Medium"/>
              <a:buNone/>
              <a:defRPr sz="3600">
                <a:solidFill>
                  <a:schemeClr val="dk2"/>
                </a:solidFill>
                <a:latin typeface="Roboto Medium"/>
                <a:ea typeface="Roboto Medium"/>
                <a:cs typeface="Roboto Medium"/>
                <a:sym typeface="Roboto Medium"/>
              </a:defRPr>
            </a:lvl5pPr>
            <a:lvl6pPr lvl="5" algn="ctr">
              <a:spcBef>
                <a:spcPts val="0"/>
              </a:spcBef>
              <a:spcAft>
                <a:spcPts val="0"/>
              </a:spcAft>
              <a:buClr>
                <a:schemeClr val="dk2"/>
              </a:buClr>
              <a:buSzPts val="3600"/>
              <a:buFont typeface="Roboto Medium"/>
              <a:buNone/>
              <a:defRPr sz="3600">
                <a:solidFill>
                  <a:schemeClr val="dk2"/>
                </a:solidFill>
                <a:latin typeface="Roboto Medium"/>
                <a:ea typeface="Roboto Medium"/>
                <a:cs typeface="Roboto Medium"/>
                <a:sym typeface="Roboto Medium"/>
              </a:defRPr>
            </a:lvl6pPr>
            <a:lvl7pPr lvl="6" algn="ctr">
              <a:spcBef>
                <a:spcPts val="0"/>
              </a:spcBef>
              <a:spcAft>
                <a:spcPts val="0"/>
              </a:spcAft>
              <a:buClr>
                <a:schemeClr val="dk2"/>
              </a:buClr>
              <a:buSzPts val="3600"/>
              <a:buFont typeface="Roboto Medium"/>
              <a:buNone/>
              <a:defRPr sz="3600">
                <a:solidFill>
                  <a:schemeClr val="dk2"/>
                </a:solidFill>
                <a:latin typeface="Roboto Medium"/>
                <a:ea typeface="Roboto Medium"/>
                <a:cs typeface="Roboto Medium"/>
                <a:sym typeface="Roboto Medium"/>
              </a:defRPr>
            </a:lvl7pPr>
            <a:lvl8pPr lvl="7" algn="ctr">
              <a:spcBef>
                <a:spcPts val="0"/>
              </a:spcBef>
              <a:spcAft>
                <a:spcPts val="0"/>
              </a:spcAft>
              <a:buClr>
                <a:schemeClr val="dk2"/>
              </a:buClr>
              <a:buSzPts val="3600"/>
              <a:buFont typeface="Roboto Medium"/>
              <a:buNone/>
              <a:defRPr sz="3600">
                <a:solidFill>
                  <a:schemeClr val="dk2"/>
                </a:solidFill>
                <a:latin typeface="Roboto Medium"/>
                <a:ea typeface="Roboto Medium"/>
                <a:cs typeface="Roboto Medium"/>
                <a:sym typeface="Roboto Medium"/>
              </a:defRPr>
            </a:lvl8pPr>
            <a:lvl9pPr lvl="8" algn="ctr">
              <a:spcBef>
                <a:spcPts val="0"/>
              </a:spcBef>
              <a:spcAft>
                <a:spcPts val="0"/>
              </a:spcAft>
              <a:buClr>
                <a:schemeClr val="dk2"/>
              </a:buClr>
              <a:buSzPts val="3600"/>
              <a:buFont typeface="Roboto Medium"/>
              <a:buNone/>
              <a:defRPr sz="3600">
                <a:solidFill>
                  <a:schemeClr val="dk2"/>
                </a:solidFill>
                <a:latin typeface="Roboto Medium"/>
                <a:ea typeface="Roboto Medium"/>
                <a:cs typeface="Roboto Medium"/>
                <a:sym typeface="Roboto Medium"/>
              </a:defRPr>
            </a:lvl9pPr>
          </a:lstStyle>
          <a:p>
            <a:endParaRPr/>
          </a:p>
        </p:txBody>
      </p:sp>
      <p:sp>
        <p:nvSpPr>
          <p:cNvPr id="11" name="Google Shape;11;p2"/>
          <p:cNvSpPr txBox="1">
            <a:spLocks noGrp="1"/>
          </p:cNvSpPr>
          <p:nvPr>
            <p:ph type="subTitle" idx="1"/>
          </p:nvPr>
        </p:nvSpPr>
        <p:spPr>
          <a:xfrm>
            <a:off x="311700" y="2834125"/>
            <a:ext cx="8520600" cy="4803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rgbClr val="A5A5A5"/>
              </a:buClr>
              <a:buSzPts val="2000"/>
              <a:buFont typeface="Roboto Light"/>
              <a:buNone/>
              <a:defRPr sz="2000">
                <a:solidFill>
                  <a:srgbClr val="A5A5A5"/>
                </a:solidFill>
                <a:latin typeface="Roboto Light"/>
                <a:ea typeface="Roboto Light"/>
                <a:cs typeface="Roboto Light"/>
                <a:sym typeface="Roboto Light"/>
              </a:defRPr>
            </a:lvl1pPr>
            <a:lvl2pPr lvl="1" algn="ctr">
              <a:lnSpc>
                <a:spcPct val="100000"/>
              </a:lnSpc>
              <a:spcBef>
                <a:spcPts val="0"/>
              </a:spcBef>
              <a:spcAft>
                <a:spcPts val="0"/>
              </a:spcAft>
              <a:buSzPts val="2000"/>
              <a:buFont typeface="Roboto Light"/>
              <a:buNone/>
              <a:defRPr sz="2000">
                <a:latin typeface="Roboto Light"/>
                <a:ea typeface="Roboto Light"/>
                <a:cs typeface="Roboto Light"/>
                <a:sym typeface="Roboto Light"/>
              </a:defRPr>
            </a:lvl2pPr>
            <a:lvl3pPr lvl="2" algn="ctr">
              <a:lnSpc>
                <a:spcPct val="100000"/>
              </a:lnSpc>
              <a:spcBef>
                <a:spcPts val="0"/>
              </a:spcBef>
              <a:spcAft>
                <a:spcPts val="0"/>
              </a:spcAft>
              <a:buSzPts val="2000"/>
              <a:buFont typeface="Roboto Light"/>
              <a:buNone/>
              <a:defRPr sz="2000">
                <a:latin typeface="Roboto Light"/>
                <a:ea typeface="Roboto Light"/>
                <a:cs typeface="Roboto Light"/>
                <a:sym typeface="Roboto Light"/>
              </a:defRPr>
            </a:lvl3pPr>
            <a:lvl4pPr lvl="3" algn="ctr">
              <a:lnSpc>
                <a:spcPct val="100000"/>
              </a:lnSpc>
              <a:spcBef>
                <a:spcPts val="0"/>
              </a:spcBef>
              <a:spcAft>
                <a:spcPts val="0"/>
              </a:spcAft>
              <a:buSzPts val="2000"/>
              <a:buFont typeface="Roboto Light"/>
              <a:buNone/>
              <a:defRPr sz="2000">
                <a:latin typeface="Roboto Light"/>
                <a:ea typeface="Roboto Light"/>
                <a:cs typeface="Roboto Light"/>
                <a:sym typeface="Roboto Light"/>
              </a:defRPr>
            </a:lvl4pPr>
            <a:lvl5pPr lvl="4" algn="ctr">
              <a:lnSpc>
                <a:spcPct val="100000"/>
              </a:lnSpc>
              <a:spcBef>
                <a:spcPts val="0"/>
              </a:spcBef>
              <a:spcAft>
                <a:spcPts val="0"/>
              </a:spcAft>
              <a:buSzPts val="2000"/>
              <a:buFont typeface="Roboto Light"/>
              <a:buNone/>
              <a:defRPr sz="2000">
                <a:latin typeface="Roboto Light"/>
                <a:ea typeface="Roboto Light"/>
                <a:cs typeface="Roboto Light"/>
                <a:sym typeface="Roboto Light"/>
              </a:defRPr>
            </a:lvl5pPr>
            <a:lvl6pPr lvl="5" algn="ctr">
              <a:lnSpc>
                <a:spcPct val="100000"/>
              </a:lnSpc>
              <a:spcBef>
                <a:spcPts val="0"/>
              </a:spcBef>
              <a:spcAft>
                <a:spcPts val="0"/>
              </a:spcAft>
              <a:buSzPts val="2000"/>
              <a:buFont typeface="Roboto Light"/>
              <a:buNone/>
              <a:defRPr sz="2000">
                <a:latin typeface="Roboto Light"/>
                <a:ea typeface="Roboto Light"/>
                <a:cs typeface="Roboto Light"/>
                <a:sym typeface="Roboto Light"/>
              </a:defRPr>
            </a:lvl6pPr>
            <a:lvl7pPr lvl="6" algn="ctr">
              <a:lnSpc>
                <a:spcPct val="100000"/>
              </a:lnSpc>
              <a:spcBef>
                <a:spcPts val="0"/>
              </a:spcBef>
              <a:spcAft>
                <a:spcPts val="0"/>
              </a:spcAft>
              <a:buSzPts val="2000"/>
              <a:buFont typeface="Roboto Light"/>
              <a:buNone/>
              <a:defRPr sz="2000">
                <a:latin typeface="Roboto Light"/>
                <a:ea typeface="Roboto Light"/>
                <a:cs typeface="Roboto Light"/>
                <a:sym typeface="Roboto Light"/>
              </a:defRPr>
            </a:lvl7pPr>
            <a:lvl8pPr lvl="7" algn="ctr">
              <a:lnSpc>
                <a:spcPct val="100000"/>
              </a:lnSpc>
              <a:spcBef>
                <a:spcPts val="0"/>
              </a:spcBef>
              <a:spcAft>
                <a:spcPts val="0"/>
              </a:spcAft>
              <a:buSzPts val="2000"/>
              <a:buFont typeface="Roboto Light"/>
              <a:buNone/>
              <a:defRPr sz="2000">
                <a:latin typeface="Roboto Light"/>
                <a:ea typeface="Roboto Light"/>
                <a:cs typeface="Roboto Light"/>
                <a:sym typeface="Roboto Light"/>
              </a:defRPr>
            </a:lvl8pPr>
            <a:lvl9pPr lvl="8" algn="ctr">
              <a:lnSpc>
                <a:spcPct val="100000"/>
              </a:lnSpc>
              <a:spcBef>
                <a:spcPts val="0"/>
              </a:spcBef>
              <a:spcAft>
                <a:spcPts val="0"/>
              </a:spcAft>
              <a:buSzPts val="2000"/>
              <a:buFont typeface="Roboto Light"/>
              <a:buNone/>
              <a:defRPr sz="2000">
                <a:latin typeface="Roboto Light"/>
                <a:ea typeface="Roboto Light"/>
                <a:cs typeface="Roboto Light"/>
                <a:sym typeface="Roboto Light"/>
              </a:defRPr>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atin typeface="Roboto"/>
                <a:ea typeface="Roboto"/>
                <a:cs typeface="Roboto"/>
                <a:sym typeface="Roboto"/>
              </a:defRPr>
            </a:lvl1pPr>
            <a:lvl2pPr lvl="1">
              <a:buNone/>
              <a:defRPr>
                <a:latin typeface="Roboto"/>
                <a:ea typeface="Roboto"/>
                <a:cs typeface="Roboto"/>
                <a:sym typeface="Roboto"/>
              </a:defRPr>
            </a:lvl2pPr>
            <a:lvl3pPr lvl="2">
              <a:buNone/>
              <a:defRPr>
                <a:latin typeface="Roboto"/>
                <a:ea typeface="Roboto"/>
                <a:cs typeface="Roboto"/>
                <a:sym typeface="Roboto"/>
              </a:defRPr>
            </a:lvl3pPr>
            <a:lvl4pPr lvl="3">
              <a:buNone/>
              <a:defRPr>
                <a:latin typeface="Roboto"/>
                <a:ea typeface="Roboto"/>
                <a:cs typeface="Roboto"/>
                <a:sym typeface="Roboto"/>
              </a:defRPr>
            </a:lvl4pPr>
            <a:lvl5pPr lvl="4">
              <a:buNone/>
              <a:defRPr>
                <a:latin typeface="Roboto"/>
                <a:ea typeface="Roboto"/>
                <a:cs typeface="Roboto"/>
                <a:sym typeface="Roboto"/>
              </a:defRPr>
            </a:lvl5pPr>
            <a:lvl6pPr lvl="5">
              <a:buNone/>
              <a:defRPr>
                <a:latin typeface="Roboto"/>
                <a:ea typeface="Roboto"/>
                <a:cs typeface="Roboto"/>
                <a:sym typeface="Roboto"/>
              </a:defRPr>
            </a:lvl6pPr>
            <a:lvl7pPr lvl="6">
              <a:buNone/>
              <a:defRPr>
                <a:latin typeface="Roboto"/>
                <a:ea typeface="Roboto"/>
                <a:cs typeface="Roboto"/>
                <a:sym typeface="Roboto"/>
              </a:defRPr>
            </a:lvl7pPr>
            <a:lvl8pPr lvl="7">
              <a:buNone/>
              <a:defRPr>
                <a:latin typeface="Roboto"/>
                <a:ea typeface="Roboto"/>
                <a:cs typeface="Roboto"/>
                <a:sym typeface="Roboto"/>
              </a:defRPr>
            </a:lvl8pPr>
            <a:lvl9pPr lvl="8">
              <a:buNone/>
              <a:defRPr>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
        <p:nvSpPr>
          <p:cNvPr id="13" name="Google Shape;13;p2"/>
          <p:cNvSpPr/>
          <p:nvPr/>
        </p:nvSpPr>
        <p:spPr>
          <a:xfrm>
            <a:off x="-125" y="5056825"/>
            <a:ext cx="9144000" cy="90600"/>
          </a:xfrm>
          <a:prstGeom prst="rect">
            <a:avLst/>
          </a:prstGeom>
          <a:gradFill>
            <a:gsLst>
              <a:gs pos="0">
                <a:srgbClr val="008C48"/>
              </a:gs>
              <a:gs pos="5000">
                <a:srgbClr val="008C48"/>
              </a:gs>
              <a:gs pos="100000">
                <a:srgbClr val="00B8E1"/>
              </a:gs>
            </a:gsLst>
            <a:lin ang="2700006" scaled="0"/>
          </a:gra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600" b="0" i="0" u="none" strike="noStrike" cap="none">
              <a:solidFill>
                <a:srgbClr val="FFFFFF"/>
              </a:solidFill>
              <a:latin typeface="Lucida Sans"/>
              <a:ea typeface="Lucida Sans"/>
              <a:cs typeface="Lucida Sans"/>
              <a:sym typeface="Lucida Sans"/>
            </a:endParaRPr>
          </a:p>
        </p:txBody>
      </p:sp>
      <p:sp>
        <p:nvSpPr>
          <p:cNvPr id="14" name="Google Shape;14;p2"/>
          <p:cNvSpPr/>
          <p:nvPr/>
        </p:nvSpPr>
        <p:spPr>
          <a:xfrm>
            <a:off x="2295566" y="4844097"/>
            <a:ext cx="4552800" cy="172200"/>
          </a:xfrm>
          <a:prstGeom prst="rect">
            <a:avLst/>
          </a:prstGeom>
          <a:noFill/>
          <a:ln>
            <a:noFill/>
          </a:ln>
        </p:spPr>
        <p:txBody>
          <a:bodyPr spcFirstLastPara="1" wrap="square" lIns="31875" tIns="31875" rIns="31875" bIns="31875" anchor="ctr" anchorCtr="0">
            <a:noAutofit/>
          </a:bodyPr>
          <a:lstStyle/>
          <a:p>
            <a:pPr marL="0" marR="0" lvl="0" indent="0" algn="ctr" rtl="0">
              <a:spcBef>
                <a:spcPts val="0"/>
              </a:spcBef>
              <a:spcAft>
                <a:spcPts val="0"/>
              </a:spcAft>
              <a:buNone/>
            </a:pPr>
            <a:r>
              <a:rPr lang="en-GB" sz="700" i="0" u="none" strike="noStrike" cap="none">
                <a:solidFill>
                  <a:srgbClr val="A5A5A5"/>
                </a:solidFill>
                <a:latin typeface="Roboto Thin"/>
                <a:ea typeface="Roboto Thin"/>
                <a:cs typeface="Roboto Thin"/>
                <a:sym typeface="Roboto Thin"/>
              </a:rPr>
              <a:t>Copyright © Government Technology Agency. Not to be reproduced without permission.</a:t>
            </a:r>
            <a:endParaRPr sz="700" i="0" u="none" strike="noStrike" cap="none">
              <a:solidFill>
                <a:srgbClr val="A5A5A5"/>
              </a:solidFill>
              <a:latin typeface="Roboto Thin"/>
              <a:ea typeface="Roboto Thin"/>
              <a:cs typeface="Roboto Thin"/>
              <a:sym typeface="Roboto Thin"/>
            </a:endParaRPr>
          </a:p>
        </p:txBody>
      </p:sp>
      <p:pic>
        <p:nvPicPr>
          <p:cNvPr id="15" name="Google Shape;15;p2"/>
          <p:cNvPicPr preferRelativeResize="0"/>
          <p:nvPr/>
        </p:nvPicPr>
        <p:blipFill rotWithShape="1">
          <a:blip r:embed="rId2">
            <a:alphaModFix/>
          </a:blip>
          <a:srcRect/>
          <a:stretch/>
        </p:blipFill>
        <p:spPr>
          <a:xfrm>
            <a:off x="8092859" y="76200"/>
            <a:ext cx="970140" cy="5727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sp>
        <p:nvSpPr>
          <p:cNvPr id="17" name="Google Shape;17;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dk2"/>
              </a:buClr>
              <a:buSzPts val="3600"/>
              <a:buFont typeface="Roboto Medium"/>
              <a:buNone/>
              <a:defRPr sz="3600">
                <a:solidFill>
                  <a:schemeClr val="dk2"/>
                </a:solidFill>
                <a:latin typeface="Roboto Medium"/>
                <a:ea typeface="Roboto Medium"/>
                <a:cs typeface="Roboto Medium"/>
                <a:sym typeface="Roboto Medium"/>
              </a:defRPr>
            </a:lvl1pPr>
            <a:lvl2pPr lvl="1" algn="ctr">
              <a:spcBef>
                <a:spcPts val="0"/>
              </a:spcBef>
              <a:spcAft>
                <a:spcPts val="0"/>
              </a:spcAft>
              <a:buClr>
                <a:schemeClr val="dk2"/>
              </a:buClr>
              <a:buSzPts val="3600"/>
              <a:buFont typeface="Roboto Medium"/>
              <a:buNone/>
              <a:defRPr sz="3600">
                <a:solidFill>
                  <a:schemeClr val="dk2"/>
                </a:solidFill>
                <a:latin typeface="Roboto Medium"/>
                <a:ea typeface="Roboto Medium"/>
                <a:cs typeface="Roboto Medium"/>
                <a:sym typeface="Roboto Medium"/>
              </a:defRPr>
            </a:lvl2pPr>
            <a:lvl3pPr lvl="2" algn="ctr">
              <a:spcBef>
                <a:spcPts val="0"/>
              </a:spcBef>
              <a:spcAft>
                <a:spcPts val="0"/>
              </a:spcAft>
              <a:buClr>
                <a:schemeClr val="dk2"/>
              </a:buClr>
              <a:buSzPts val="3600"/>
              <a:buFont typeface="Roboto Medium"/>
              <a:buNone/>
              <a:defRPr sz="3600">
                <a:solidFill>
                  <a:schemeClr val="dk2"/>
                </a:solidFill>
                <a:latin typeface="Roboto Medium"/>
                <a:ea typeface="Roboto Medium"/>
                <a:cs typeface="Roboto Medium"/>
                <a:sym typeface="Roboto Medium"/>
              </a:defRPr>
            </a:lvl3pPr>
            <a:lvl4pPr lvl="3" algn="ctr">
              <a:spcBef>
                <a:spcPts val="0"/>
              </a:spcBef>
              <a:spcAft>
                <a:spcPts val="0"/>
              </a:spcAft>
              <a:buClr>
                <a:schemeClr val="dk2"/>
              </a:buClr>
              <a:buSzPts val="3600"/>
              <a:buFont typeface="Roboto Medium"/>
              <a:buNone/>
              <a:defRPr sz="3600">
                <a:solidFill>
                  <a:schemeClr val="dk2"/>
                </a:solidFill>
                <a:latin typeface="Roboto Medium"/>
                <a:ea typeface="Roboto Medium"/>
                <a:cs typeface="Roboto Medium"/>
                <a:sym typeface="Roboto Medium"/>
              </a:defRPr>
            </a:lvl4pPr>
            <a:lvl5pPr lvl="4" algn="ctr">
              <a:spcBef>
                <a:spcPts val="0"/>
              </a:spcBef>
              <a:spcAft>
                <a:spcPts val="0"/>
              </a:spcAft>
              <a:buClr>
                <a:schemeClr val="dk2"/>
              </a:buClr>
              <a:buSzPts val="3600"/>
              <a:buFont typeface="Roboto Medium"/>
              <a:buNone/>
              <a:defRPr sz="3600">
                <a:solidFill>
                  <a:schemeClr val="dk2"/>
                </a:solidFill>
                <a:latin typeface="Roboto Medium"/>
                <a:ea typeface="Roboto Medium"/>
                <a:cs typeface="Roboto Medium"/>
                <a:sym typeface="Roboto Medium"/>
              </a:defRPr>
            </a:lvl5pPr>
            <a:lvl6pPr lvl="5" algn="ctr">
              <a:spcBef>
                <a:spcPts val="0"/>
              </a:spcBef>
              <a:spcAft>
                <a:spcPts val="0"/>
              </a:spcAft>
              <a:buClr>
                <a:schemeClr val="dk2"/>
              </a:buClr>
              <a:buSzPts val="3600"/>
              <a:buFont typeface="Roboto Medium"/>
              <a:buNone/>
              <a:defRPr sz="3600">
                <a:solidFill>
                  <a:schemeClr val="dk2"/>
                </a:solidFill>
                <a:latin typeface="Roboto Medium"/>
                <a:ea typeface="Roboto Medium"/>
                <a:cs typeface="Roboto Medium"/>
                <a:sym typeface="Roboto Medium"/>
              </a:defRPr>
            </a:lvl6pPr>
            <a:lvl7pPr lvl="6" algn="ctr">
              <a:spcBef>
                <a:spcPts val="0"/>
              </a:spcBef>
              <a:spcAft>
                <a:spcPts val="0"/>
              </a:spcAft>
              <a:buClr>
                <a:schemeClr val="dk2"/>
              </a:buClr>
              <a:buSzPts val="3600"/>
              <a:buFont typeface="Roboto Medium"/>
              <a:buNone/>
              <a:defRPr sz="3600">
                <a:solidFill>
                  <a:schemeClr val="dk2"/>
                </a:solidFill>
                <a:latin typeface="Roboto Medium"/>
                <a:ea typeface="Roboto Medium"/>
                <a:cs typeface="Roboto Medium"/>
                <a:sym typeface="Roboto Medium"/>
              </a:defRPr>
            </a:lvl7pPr>
            <a:lvl8pPr lvl="7" algn="ctr">
              <a:spcBef>
                <a:spcPts val="0"/>
              </a:spcBef>
              <a:spcAft>
                <a:spcPts val="0"/>
              </a:spcAft>
              <a:buClr>
                <a:schemeClr val="dk2"/>
              </a:buClr>
              <a:buSzPts val="3600"/>
              <a:buFont typeface="Roboto Medium"/>
              <a:buNone/>
              <a:defRPr sz="3600">
                <a:solidFill>
                  <a:schemeClr val="dk2"/>
                </a:solidFill>
                <a:latin typeface="Roboto Medium"/>
                <a:ea typeface="Roboto Medium"/>
                <a:cs typeface="Roboto Medium"/>
                <a:sym typeface="Roboto Medium"/>
              </a:defRPr>
            </a:lvl8pPr>
            <a:lvl9pPr lvl="8" algn="ctr">
              <a:spcBef>
                <a:spcPts val="0"/>
              </a:spcBef>
              <a:spcAft>
                <a:spcPts val="0"/>
              </a:spcAft>
              <a:buClr>
                <a:schemeClr val="dk2"/>
              </a:buClr>
              <a:buSzPts val="3600"/>
              <a:buFont typeface="Roboto Medium"/>
              <a:buNone/>
              <a:defRPr sz="3600">
                <a:solidFill>
                  <a:schemeClr val="dk2"/>
                </a:solidFill>
                <a:latin typeface="Roboto Medium"/>
                <a:ea typeface="Roboto Medium"/>
                <a:cs typeface="Roboto Medium"/>
                <a:sym typeface="Roboto Medium"/>
              </a:defRPr>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atin typeface="Roboto"/>
                <a:ea typeface="Roboto"/>
                <a:cs typeface="Roboto"/>
                <a:sym typeface="Roboto"/>
              </a:defRPr>
            </a:lvl1pPr>
            <a:lvl2pPr lvl="1">
              <a:buNone/>
              <a:defRPr>
                <a:latin typeface="Roboto"/>
                <a:ea typeface="Roboto"/>
                <a:cs typeface="Roboto"/>
                <a:sym typeface="Roboto"/>
              </a:defRPr>
            </a:lvl2pPr>
            <a:lvl3pPr lvl="2">
              <a:buNone/>
              <a:defRPr>
                <a:latin typeface="Roboto"/>
                <a:ea typeface="Roboto"/>
                <a:cs typeface="Roboto"/>
                <a:sym typeface="Roboto"/>
              </a:defRPr>
            </a:lvl3pPr>
            <a:lvl4pPr lvl="3">
              <a:buNone/>
              <a:defRPr>
                <a:latin typeface="Roboto"/>
                <a:ea typeface="Roboto"/>
                <a:cs typeface="Roboto"/>
                <a:sym typeface="Roboto"/>
              </a:defRPr>
            </a:lvl4pPr>
            <a:lvl5pPr lvl="4">
              <a:buNone/>
              <a:defRPr>
                <a:latin typeface="Roboto"/>
                <a:ea typeface="Roboto"/>
                <a:cs typeface="Roboto"/>
                <a:sym typeface="Roboto"/>
              </a:defRPr>
            </a:lvl5pPr>
            <a:lvl6pPr lvl="5">
              <a:buNone/>
              <a:defRPr>
                <a:latin typeface="Roboto"/>
                <a:ea typeface="Roboto"/>
                <a:cs typeface="Roboto"/>
                <a:sym typeface="Roboto"/>
              </a:defRPr>
            </a:lvl6pPr>
            <a:lvl7pPr lvl="6">
              <a:buNone/>
              <a:defRPr>
                <a:latin typeface="Roboto"/>
                <a:ea typeface="Roboto"/>
                <a:cs typeface="Roboto"/>
                <a:sym typeface="Roboto"/>
              </a:defRPr>
            </a:lvl7pPr>
            <a:lvl8pPr lvl="7">
              <a:buNone/>
              <a:defRPr>
                <a:latin typeface="Roboto"/>
                <a:ea typeface="Roboto"/>
                <a:cs typeface="Roboto"/>
                <a:sym typeface="Roboto"/>
              </a:defRPr>
            </a:lvl8pPr>
            <a:lvl9pPr lvl="8">
              <a:buNone/>
              <a:defRPr>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
        <p:nvSpPr>
          <p:cNvPr id="19" name="Google Shape;19;p3"/>
          <p:cNvSpPr/>
          <p:nvPr/>
        </p:nvSpPr>
        <p:spPr>
          <a:xfrm>
            <a:off x="-125" y="5056825"/>
            <a:ext cx="9144000" cy="90600"/>
          </a:xfrm>
          <a:prstGeom prst="rect">
            <a:avLst/>
          </a:prstGeom>
          <a:gradFill>
            <a:gsLst>
              <a:gs pos="0">
                <a:srgbClr val="008C48"/>
              </a:gs>
              <a:gs pos="5000">
                <a:srgbClr val="008C48"/>
              </a:gs>
              <a:gs pos="100000">
                <a:srgbClr val="00B8E1"/>
              </a:gs>
            </a:gsLst>
            <a:lin ang="2700006" scaled="0"/>
          </a:gra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600" b="0" i="0" u="none" strike="noStrike" cap="none">
              <a:solidFill>
                <a:srgbClr val="FFFFFF"/>
              </a:solidFill>
              <a:latin typeface="Lucida Sans"/>
              <a:ea typeface="Lucida Sans"/>
              <a:cs typeface="Lucida Sans"/>
              <a:sym typeface="Lucida Sans"/>
            </a:endParaRPr>
          </a:p>
        </p:txBody>
      </p:sp>
      <p:sp>
        <p:nvSpPr>
          <p:cNvPr id="20" name="Google Shape;20;p3"/>
          <p:cNvSpPr/>
          <p:nvPr/>
        </p:nvSpPr>
        <p:spPr>
          <a:xfrm>
            <a:off x="2295566" y="4844097"/>
            <a:ext cx="4552800" cy="172200"/>
          </a:xfrm>
          <a:prstGeom prst="rect">
            <a:avLst/>
          </a:prstGeom>
          <a:noFill/>
          <a:ln>
            <a:noFill/>
          </a:ln>
        </p:spPr>
        <p:txBody>
          <a:bodyPr spcFirstLastPara="1" wrap="square" lIns="31875" tIns="31875" rIns="31875" bIns="31875" anchor="ctr" anchorCtr="0">
            <a:noAutofit/>
          </a:bodyPr>
          <a:lstStyle/>
          <a:p>
            <a:pPr marL="0" marR="0" lvl="0" indent="0" algn="ctr" rtl="0">
              <a:spcBef>
                <a:spcPts val="0"/>
              </a:spcBef>
              <a:spcAft>
                <a:spcPts val="0"/>
              </a:spcAft>
              <a:buNone/>
            </a:pPr>
            <a:r>
              <a:rPr lang="en-GB" sz="700" i="0" u="none" strike="noStrike" cap="none">
                <a:solidFill>
                  <a:srgbClr val="A5A5A5"/>
                </a:solidFill>
                <a:latin typeface="Roboto Thin"/>
                <a:ea typeface="Roboto Thin"/>
                <a:cs typeface="Roboto Thin"/>
                <a:sym typeface="Roboto Thin"/>
              </a:rPr>
              <a:t>Copyright © Government Technology Agency. Not to be reproduced without permission.</a:t>
            </a:r>
            <a:endParaRPr sz="700" i="0" u="none" strike="noStrike" cap="none">
              <a:solidFill>
                <a:srgbClr val="A5A5A5"/>
              </a:solidFill>
              <a:latin typeface="Roboto Thin"/>
              <a:ea typeface="Roboto Thin"/>
              <a:cs typeface="Roboto Thin"/>
              <a:sym typeface="Roboto Thin"/>
            </a:endParaRPr>
          </a:p>
        </p:txBody>
      </p:sp>
      <p:pic>
        <p:nvPicPr>
          <p:cNvPr id="21" name="Google Shape;21;p3"/>
          <p:cNvPicPr preferRelativeResize="0"/>
          <p:nvPr/>
        </p:nvPicPr>
        <p:blipFill rotWithShape="1">
          <a:blip r:embed="rId2">
            <a:alphaModFix/>
          </a:blip>
          <a:srcRect/>
          <a:stretch/>
        </p:blipFill>
        <p:spPr>
          <a:xfrm>
            <a:off x="8092859" y="76200"/>
            <a:ext cx="970140" cy="5727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2"/>
        <p:cNvGrpSpPr/>
        <p:nvPr/>
      </p:nvGrpSpPr>
      <p:grpSpPr>
        <a:xfrm>
          <a:off x="0" y="0"/>
          <a:ext cx="0" cy="0"/>
          <a:chOff x="0" y="0"/>
          <a:chExt cx="0" cy="0"/>
        </a:xfrm>
      </p:grpSpPr>
      <p:sp>
        <p:nvSpPr>
          <p:cNvPr id="23" name="Google Shape;23;p4"/>
          <p:cNvSpPr txBox="1">
            <a:spLocks noGrp="1"/>
          </p:cNvSpPr>
          <p:nvPr>
            <p:ph type="body" idx="1"/>
          </p:nvPr>
        </p:nvSpPr>
        <p:spPr>
          <a:xfrm>
            <a:off x="311700" y="908675"/>
            <a:ext cx="8520600" cy="36603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atin typeface="Roboto"/>
                <a:ea typeface="Roboto"/>
                <a:cs typeface="Roboto"/>
                <a:sym typeface="Roboto"/>
              </a:defRPr>
            </a:lvl1pPr>
            <a:lvl2pPr lvl="1">
              <a:buNone/>
              <a:defRPr>
                <a:latin typeface="Roboto"/>
                <a:ea typeface="Roboto"/>
                <a:cs typeface="Roboto"/>
                <a:sym typeface="Roboto"/>
              </a:defRPr>
            </a:lvl2pPr>
            <a:lvl3pPr lvl="2">
              <a:buNone/>
              <a:defRPr>
                <a:latin typeface="Roboto"/>
                <a:ea typeface="Roboto"/>
                <a:cs typeface="Roboto"/>
                <a:sym typeface="Roboto"/>
              </a:defRPr>
            </a:lvl3pPr>
            <a:lvl4pPr lvl="3">
              <a:buNone/>
              <a:defRPr>
                <a:latin typeface="Roboto"/>
                <a:ea typeface="Roboto"/>
                <a:cs typeface="Roboto"/>
                <a:sym typeface="Roboto"/>
              </a:defRPr>
            </a:lvl4pPr>
            <a:lvl5pPr lvl="4">
              <a:buNone/>
              <a:defRPr>
                <a:latin typeface="Roboto"/>
                <a:ea typeface="Roboto"/>
                <a:cs typeface="Roboto"/>
                <a:sym typeface="Roboto"/>
              </a:defRPr>
            </a:lvl5pPr>
            <a:lvl6pPr lvl="5">
              <a:buNone/>
              <a:defRPr>
                <a:latin typeface="Roboto"/>
                <a:ea typeface="Roboto"/>
                <a:cs typeface="Roboto"/>
                <a:sym typeface="Roboto"/>
              </a:defRPr>
            </a:lvl6pPr>
            <a:lvl7pPr lvl="6">
              <a:buNone/>
              <a:defRPr>
                <a:latin typeface="Roboto"/>
                <a:ea typeface="Roboto"/>
                <a:cs typeface="Roboto"/>
                <a:sym typeface="Roboto"/>
              </a:defRPr>
            </a:lvl7pPr>
            <a:lvl8pPr lvl="7">
              <a:buNone/>
              <a:defRPr>
                <a:latin typeface="Roboto"/>
                <a:ea typeface="Roboto"/>
                <a:cs typeface="Roboto"/>
                <a:sym typeface="Roboto"/>
              </a:defRPr>
            </a:lvl8pPr>
            <a:lvl9pPr lvl="8">
              <a:buNone/>
              <a:defRPr>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
        <p:nvSpPr>
          <p:cNvPr id="25" name="Google Shape;25;p4"/>
          <p:cNvSpPr/>
          <p:nvPr/>
        </p:nvSpPr>
        <p:spPr>
          <a:xfrm>
            <a:off x="-125" y="5056825"/>
            <a:ext cx="9144000" cy="90600"/>
          </a:xfrm>
          <a:prstGeom prst="rect">
            <a:avLst/>
          </a:prstGeom>
          <a:gradFill>
            <a:gsLst>
              <a:gs pos="0">
                <a:srgbClr val="008C48"/>
              </a:gs>
              <a:gs pos="5000">
                <a:srgbClr val="008C48"/>
              </a:gs>
              <a:gs pos="100000">
                <a:srgbClr val="00B8E1"/>
              </a:gs>
            </a:gsLst>
            <a:lin ang="2700006" scaled="0"/>
          </a:gra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600" b="0" i="0" u="none" strike="noStrike" cap="none">
              <a:solidFill>
                <a:srgbClr val="FFFFFF"/>
              </a:solidFill>
              <a:latin typeface="Lucida Sans"/>
              <a:ea typeface="Lucida Sans"/>
              <a:cs typeface="Lucida Sans"/>
              <a:sym typeface="Lucida Sans"/>
            </a:endParaRPr>
          </a:p>
        </p:txBody>
      </p:sp>
      <p:sp>
        <p:nvSpPr>
          <p:cNvPr id="26" name="Google Shape;26;p4"/>
          <p:cNvSpPr/>
          <p:nvPr/>
        </p:nvSpPr>
        <p:spPr>
          <a:xfrm>
            <a:off x="2295566" y="4844097"/>
            <a:ext cx="4552800" cy="172200"/>
          </a:xfrm>
          <a:prstGeom prst="rect">
            <a:avLst/>
          </a:prstGeom>
          <a:noFill/>
          <a:ln>
            <a:noFill/>
          </a:ln>
        </p:spPr>
        <p:txBody>
          <a:bodyPr spcFirstLastPara="1" wrap="square" lIns="31875" tIns="31875" rIns="31875" bIns="31875" anchor="ctr" anchorCtr="0">
            <a:noAutofit/>
          </a:bodyPr>
          <a:lstStyle/>
          <a:p>
            <a:pPr marL="0" marR="0" lvl="0" indent="0" algn="ctr" rtl="0">
              <a:spcBef>
                <a:spcPts val="0"/>
              </a:spcBef>
              <a:spcAft>
                <a:spcPts val="0"/>
              </a:spcAft>
              <a:buNone/>
            </a:pPr>
            <a:r>
              <a:rPr lang="en-GB" sz="700" i="0" u="none" strike="noStrike" cap="none">
                <a:solidFill>
                  <a:srgbClr val="A5A5A5"/>
                </a:solidFill>
                <a:latin typeface="Roboto Thin"/>
                <a:ea typeface="Roboto Thin"/>
                <a:cs typeface="Roboto Thin"/>
                <a:sym typeface="Roboto Thin"/>
              </a:rPr>
              <a:t>Copyright © Government Technology Agency. Not to be reproduced without permission.</a:t>
            </a:r>
            <a:endParaRPr sz="700" i="0" u="none" strike="noStrike" cap="none">
              <a:solidFill>
                <a:srgbClr val="A5A5A5"/>
              </a:solidFill>
              <a:latin typeface="Roboto Thin"/>
              <a:ea typeface="Roboto Thin"/>
              <a:cs typeface="Roboto Thin"/>
              <a:sym typeface="Roboto Thin"/>
            </a:endParaRPr>
          </a:p>
        </p:txBody>
      </p:sp>
      <p:sp>
        <p:nvSpPr>
          <p:cNvPr id="27" name="Google Shape;27;p4"/>
          <p:cNvSpPr txBox="1">
            <a:spLocks noGrp="1"/>
          </p:cNvSpPr>
          <p:nvPr>
            <p:ph type="title"/>
          </p:nvPr>
        </p:nvSpPr>
        <p:spPr>
          <a:xfrm>
            <a:off x="311700" y="73176"/>
            <a:ext cx="4937700" cy="572700"/>
          </a:xfrm>
          <a:prstGeom prst="rect">
            <a:avLst/>
          </a:prstGeom>
        </p:spPr>
        <p:txBody>
          <a:bodyPr spcFirstLastPara="1" wrap="square" lIns="91425" tIns="91425" rIns="91425" bIns="91425" anchor="t" anchorCtr="0">
            <a:normAutofit/>
          </a:bodyPr>
          <a:lstStyle>
            <a:lvl1pPr lvl="0" rtl="0">
              <a:spcBef>
                <a:spcPts val="0"/>
              </a:spcBef>
              <a:spcAft>
                <a:spcPts val="0"/>
              </a:spcAft>
              <a:buClr>
                <a:schemeClr val="lt1"/>
              </a:buClr>
              <a:buSzPts val="2000"/>
              <a:buNone/>
              <a:defRPr sz="2000">
                <a:solidFill>
                  <a:schemeClr val="lt1"/>
                </a:solidFill>
              </a:defRPr>
            </a:lvl1pPr>
            <a:lvl2pPr lvl="1" rtl="0">
              <a:spcBef>
                <a:spcPts val="0"/>
              </a:spcBef>
              <a:spcAft>
                <a:spcPts val="0"/>
              </a:spcAft>
              <a:buClr>
                <a:schemeClr val="lt1"/>
              </a:buClr>
              <a:buSzPts val="2000"/>
              <a:buNone/>
              <a:defRPr sz="2000">
                <a:solidFill>
                  <a:schemeClr val="lt1"/>
                </a:solidFill>
              </a:defRPr>
            </a:lvl2pPr>
            <a:lvl3pPr lvl="2" rtl="0">
              <a:spcBef>
                <a:spcPts val="0"/>
              </a:spcBef>
              <a:spcAft>
                <a:spcPts val="0"/>
              </a:spcAft>
              <a:buClr>
                <a:schemeClr val="lt1"/>
              </a:buClr>
              <a:buSzPts val="2000"/>
              <a:buNone/>
              <a:defRPr sz="2000">
                <a:solidFill>
                  <a:schemeClr val="lt1"/>
                </a:solidFill>
              </a:defRPr>
            </a:lvl3pPr>
            <a:lvl4pPr lvl="3" rtl="0">
              <a:spcBef>
                <a:spcPts val="0"/>
              </a:spcBef>
              <a:spcAft>
                <a:spcPts val="0"/>
              </a:spcAft>
              <a:buClr>
                <a:schemeClr val="lt1"/>
              </a:buClr>
              <a:buSzPts val="2000"/>
              <a:buNone/>
              <a:defRPr sz="2000">
                <a:solidFill>
                  <a:schemeClr val="lt1"/>
                </a:solidFill>
              </a:defRPr>
            </a:lvl4pPr>
            <a:lvl5pPr lvl="4" rtl="0">
              <a:spcBef>
                <a:spcPts val="0"/>
              </a:spcBef>
              <a:spcAft>
                <a:spcPts val="0"/>
              </a:spcAft>
              <a:buClr>
                <a:schemeClr val="lt1"/>
              </a:buClr>
              <a:buSzPts val="2000"/>
              <a:buNone/>
              <a:defRPr sz="2000">
                <a:solidFill>
                  <a:schemeClr val="lt1"/>
                </a:solidFill>
              </a:defRPr>
            </a:lvl5pPr>
            <a:lvl6pPr lvl="5" rtl="0">
              <a:spcBef>
                <a:spcPts val="0"/>
              </a:spcBef>
              <a:spcAft>
                <a:spcPts val="0"/>
              </a:spcAft>
              <a:buClr>
                <a:schemeClr val="lt1"/>
              </a:buClr>
              <a:buSzPts val="2000"/>
              <a:buNone/>
              <a:defRPr sz="2000">
                <a:solidFill>
                  <a:schemeClr val="lt1"/>
                </a:solidFill>
              </a:defRPr>
            </a:lvl6pPr>
            <a:lvl7pPr lvl="6" rtl="0">
              <a:spcBef>
                <a:spcPts val="0"/>
              </a:spcBef>
              <a:spcAft>
                <a:spcPts val="0"/>
              </a:spcAft>
              <a:buClr>
                <a:schemeClr val="lt1"/>
              </a:buClr>
              <a:buSzPts val="2000"/>
              <a:buNone/>
              <a:defRPr sz="2000">
                <a:solidFill>
                  <a:schemeClr val="lt1"/>
                </a:solidFill>
              </a:defRPr>
            </a:lvl7pPr>
            <a:lvl8pPr lvl="7" rtl="0">
              <a:spcBef>
                <a:spcPts val="0"/>
              </a:spcBef>
              <a:spcAft>
                <a:spcPts val="0"/>
              </a:spcAft>
              <a:buClr>
                <a:schemeClr val="lt1"/>
              </a:buClr>
              <a:buSzPts val="2000"/>
              <a:buNone/>
              <a:defRPr sz="2000">
                <a:solidFill>
                  <a:schemeClr val="lt1"/>
                </a:solidFill>
              </a:defRPr>
            </a:lvl8pPr>
            <a:lvl9pPr lvl="8" rtl="0">
              <a:spcBef>
                <a:spcPts val="0"/>
              </a:spcBef>
              <a:spcAft>
                <a:spcPts val="0"/>
              </a:spcAft>
              <a:buClr>
                <a:schemeClr val="lt1"/>
              </a:buClr>
              <a:buSzPts val="2000"/>
              <a:buNone/>
              <a:defRPr sz="2000">
                <a:solidFill>
                  <a:schemeClr val="lt1"/>
                </a:solidFill>
              </a:defRPr>
            </a:lvl9pPr>
          </a:lstStyle>
          <a:p>
            <a:endParaRPr/>
          </a:p>
        </p:txBody>
      </p:sp>
      <p:pic>
        <p:nvPicPr>
          <p:cNvPr id="28" name="Google Shape;28;p4"/>
          <p:cNvPicPr preferRelativeResize="0"/>
          <p:nvPr/>
        </p:nvPicPr>
        <p:blipFill rotWithShape="1">
          <a:blip r:embed="rId2">
            <a:alphaModFix/>
          </a:blip>
          <a:srcRect/>
          <a:stretch/>
        </p:blipFill>
        <p:spPr>
          <a:xfrm>
            <a:off x="8092859" y="73163"/>
            <a:ext cx="970140" cy="572700"/>
          </a:xfrm>
          <a:prstGeom prst="rect">
            <a:avLst/>
          </a:prstGeom>
          <a:noFill/>
          <a:ln>
            <a:noFill/>
          </a:ln>
        </p:spPr>
      </p:pic>
    </p:spTree>
  </p:cSld>
  <p:clrMapOvr>
    <a:masterClrMapping/>
  </p:clrMapOvr>
  <p:extLst>
    <p:ext uri="{DCECCB84-F9BA-43D5-87BE-67443E8EF086}">
      <p15:sldGuideLst xmlns:p15="http://schemas.microsoft.com/office/powerpoint/2012/main">
        <p15:guide id="1" pos="624">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1" name="Google Shape;31;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2" name="Google Shape;32;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 name="Google Shape;3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atin typeface="Roboto"/>
                <a:ea typeface="Roboto"/>
                <a:cs typeface="Roboto"/>
                <a:sym typeface="Roboto"/>
              </a:defRPr>
            </a:lvl1pPr>
            <a:lvl2pPr lvl="1">
              <a:buNone/>
              <a:defRPr>
                <a:latin typeface="Roboto"/>
                <a:ea typeface="Roboto"/>
                <a:cs typeface="Roboto"/>
                <a:sym typeface="Roboto"/>
              </a:defRPr>
            </a:lvl2pPr>
            <a:lvl3pPr lvl="2">
              <a:buNone/>
              <a:defRPr>
                <a:latin typeface="Roboto"/>
                <a:ea typeface="Roboto"/>
                <a:cs typeface="Roboto"/>
                <a:sym typeface="Roboto"/>
              </a:defRPr>
            </a:lvl3pPr>
            <a:lvl4pPr lvl="3">
              <a:buNone/>
              <a:defRPr>
                <a:latin typeface="Roboto"/>
                <a:ea typeface="Roboto"/>
                <a:cs typeface="Roboto"/>
                <a:sym typeface="Roboto"/>
              </a:defRPr>
            </a:lvl4pPr>
            <a:lvl5pPr lvl="4">
              <a:buNone/>
              <a:defRPr>
                <a:latin typeface="Roboto"/>
                <a:ea typeface="Roboto"/>
                <a:cs typeface="Roboto"/>
                <a:sym typeface="Roboto"/>
              </a:defRPr>
            </a:lvl5pPr>
            <a:lvl6pPr lvl="5">
              <a:buNone/>
              <a:defRPr>
                <a:latin typeface="Roboto"/>
                <a:ea typeface="Roboto"/>
                <a:cs typeface="Roboto"/>
                <a:sym typeface="Roboto"/>
              </a:defRPr>
            </a:lvl6pPr>
            <a:lvl7pPr lvl="6">
              <a:buNone/>
              <a:defRPr>
                <a:latin typeface="Roboto"/>
                <a:ea typeface="Roboto"/>
                <a:cs typeface="Roboto"/>
                <a:sym typeface="Roboto"/>
              </a:defRPr>
            </a:lvl7pPr>
            <a:lvl8pPr lvl="7">
              <a:buNone/>
              <a:defRPr>
                <a:latin typeface="Roboto"/>
                <a:ea typeface="Roboto"/>
                <a:cs typeface="Roboto"/>
                <a:sym typeface="Roboto"/>
              </a:defRPr>
            </a:lvl8pPr>
            <a:lvl9pPr lvl="8">
              <a:buNone/>
              <a:defRPr>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
        <p:nvSpPr>
          <p:cNvPr id="34" name="Google Shape;34;p5"/>
          <p:cNvSpPr/>
          <p:nvPr/>
        </p:nvSpPr>
        <p:spPr>
          <a:xfrm>
            <a:off x="-125" y="5056825"/>
            <a:ext cx="9144000" cy="90600"/>
          </a:xfrm>
          <a:prstGeom prst="rect">
            <a:avLst/>
          </a:prstGeom>
          <a:gradFill>
            <a:gsLst>
              <a:gs pos="0">
                <a:srgbClr val="008C48"/>
              </a:gs>
              <a:gs pos="5000">
                <a:srgbClr val="008C48"/>
              </a:gs>
              <a:gs pos="100000">
                <a:srgbClr val="00B8E1"/>
              </a:gs>
            </a:gsLst>
            <a:lin ang="2700006" scaled="0"/>
          </a:gra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600" b="0" i="0" u="none" strike="noStrike" cap="none">
              <a:solidFill>
                <a:srgbClr val="FFFFFF"/>
              </a:solidFill>
              <a:latin typeface="Lucida Sans"/>
              <a:ea typeface="Lucida Sans"/>
              <a:cs typeface="Lucida Sans"/>
              <a:sym typeface="Lucida Sans"/>
            </a:endParaRPr>
          </a:p>
        </p:txBody>
      </p:sp>
      <p:sp>
        <p:nvSpPr>
          <p:cNvPr id="35" name="Google Shape;35;p5"/>
          <p:cNvSpPr/>
          <p:nvPr/>
        </p:nvSpPr>
        <p:spPr>
          <a:xfrm>
            <a:off x="2295566" y="4844097"/>
            <a:ext cx="4552800" cy="172200"/>
          </a:xfrm>
          <a:prstGeom prst="rect">
            <a:avLst/>
          </a:prstGeom>
          <a:noFill/>
          <a:ln>
            <a:noFill/>
          </a:ln>
        </p:spPr>
        <p:txBody>
          <a:bodyPr spcFirstLastPara="1" wrap="square" lIns="31875" tIns="31875" rIns="31875" bIns="31875" anchor="ctr" anchorCtr="0">
            <a:noAutofit/>
          </a:bodyPr>
          <a:lstStyle/>
          <a:p>
            <a:pPr marL="0" marR="0" lvl="0" indent="0" algn="ctr" rtl="0">
              <a:spcBef>
                <a:spcPts val="0"/>
              </a:spcBef>
              <a:spcAft>
                <a:spcPts val="0"/>
              </a:spcAft>
              <a:buNone/>
            </a:pPr>
            <a:r>
              <a:rPr lang="en-GB" sz="700" i="0" u="none" strike="noStrike" cap="none">
                <a:solidFill>
                  <a:srgbClr val="A5A5A5"/>
                </a:solidFill>
                <a:latin typeface="Roboto Thin"/>
                <a:ea typeface="Roboto Thin"/>
                <a:cs typeface="Roboto Thin"/>
                <a:sym typeface="Roboto Thin"/>
              </a:rPr>
              <a:t>Copyright © Government Technology Agency. Not to be reproduced without permission.</a:t>
            </a:r>
            <a:endParaRPr sz="700" i="0" u="none" strike="noStrike" cap="none">
              <a:solidFill>
                <a:srgbClr val="A5A5A5"/>
              </a:solidFill>
              <a:latin typeface="Roboto Thin"/>
              <a:ea typeface="Roboto Thin"/>
              <a:cs typeface="Roboto Thin"/>
              <a:sym typeface="Roboto Thin"/>
            </a:endParaRPr>
          </a:p>
        </p:txBody>
      </p:sp>
      <p:pic>
        <p:nvPicPr>
          <p:cNvPr id="36" name="Google Shape;36;p5"/>
          <p:cNvPicPr preferRelativeResize="0"/>
          <p:nvPr/>
        </p:nvPicPr>
        <p:blipFill rotWithShape="1">
          <a:blip r:embed="rId2">
            <a:alphaModFix/>
          </a:blip>
          <a:srcRect/>
          <a:stretch/>
        </p:blipFill>
        <p:spPr>
          <a:xfrm>
            <a:off x="8092859" y="76200"/>
            <a:ext cx="970140" cy="5727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9" name="Google Shape;39;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atin typeface="Roboto"/>
                <a:ea typeface="Roboto"/>
                <a:cs typeface="Roboto"/>
                <a:sym typeface="Roboto"/>
              </a:defRPr>
            </a:lvl1pPr>
            <a:lvl2pPr lvl="1">
              <a:buNone/>
              <a:defRPr>
                <a:latin typeface="Roboto"/>
                <a:ea typeface="Roboto"/>
                <a:cs typeface="Roboto"/>
                <a:sym typeface="Roboto"/>
              </a:defRPr>
            </a:lvl2pPr>
            <a:lvl3pPr lvl="2">
              <a:buNone/>
              <a:defRPr>
                <a:latin typeface="Roboto"/>
                <a:ea typeface="Roboto"/>
                <a:cs typeface="Roboto"/>
                <a:sym typeface="Roboto"/>
              </a:defRPr>
            </a:lvl3pPr>
            <a:lvl4pPr lvl="3">
              <a:buNone/>
              <a:defRPr>
                <a:latin typeface="Roboto"/>
                <a:ea typeface="Roboto"/>
                <a:cs typeface="Roboto"/>
                <a:sym typeface="Roboto"/>
              </a:defRPr>
            </a:lvl4pPr>
            <a:lvl5pPr lvl="4">
              <a:buNone/>
              <a:defRPr>
                <a:latin typeface="Roboto"/>
                <a:ea typeface="Roboto"/>
                <a:cs typeface="Roboto"/>
                <a:sym typeface="Roboto"/>
              </a:defRPr>
            </a:lvl5pPr>
            <a:lvl6pPr lvl="5">
              <a:buNone/>
              <a:defRPr>
                <a:latin typeface="Roboto"/>
                <a:ea typeface="Roboto"/>
                <a:cs typeface="Roboto"/>
                <a:sym typeface="Roboto"/>
              </a:defRPr>
            </a:lvl6pPr>
            <a:lvl7pPr lvl="6">
              <a:buNone/>
              <a:defRPr>
                <a:latin typeface="Roboto"/>
                <a:ea typeface="Roboto"/>
                <a:cs typeface="Roboto"/>
                <a:sym typeface="Roboto"/>
              </a:defRPr>
            </a:lvl7pPr>
            <a:lvl8pPr lvl="7">
              <a:buNone/>
              <a:defRPr>
                <a:latin typeface="Roboto"/>
                <a:ea typeface="Roboto"/>
                <a:cs typeface="Roboto"/>
                <a:sym typeface="Roboto"/>
              </a:defRPr>
            </a:lvl8pPr>
            <a:lvl9pPr lvl="8">
              <a:buNone/>
              <a:defRPr>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
        <p:nvSpPr>
          <p:cNvPr id="40" name="Google Shape;40;p6"/>
          <p:cNvSpPr/>
          <p:nvPr/>
        </p:nvSpPr>
        <p:spPr>
          <a:xfrm>
            <a:off x="-125" y="5056825"/>
            <a:ext cx="9144000" cy="90600"/>
          </a:xfrm>
          <a:prstGeom prst="rect">
            <a:avLst/>
          </a:prstGeom>
          <a:gradFill>
            <a:gsLst>
              <a:gs pos="0">
                <a:srgbClr val="008C48"/>
              </a:gs>
              <a:gs pos="5000">
                <a:srgbClr val="008C48"/>
              </a:gs>
              <a:gs pos="100000">
                <a:srgbClr val="00B8E1"/>
              </a:gs>
            </a:gsLst>
            <a:lin ang="2700006" scaled="0"/>
          </a:gra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600" b="0" i="0" u="none" strike="noStrike" cap="none">
              <a:solidFill>
                <a:srgbClr val="FFFFFF"/>
              </a:solidFill>
              <a:latin typeface="Lucida Sans"/>
              <a:ea typeface="Lucida Sans"/>
              <a:cs typeface="Lucida Sans"/>
              <a:sym typeface="Lucida Sans"/>
            </a:endParaRPr>
          </a:p>
        </p:txBody>
      </p:sp>
      <p:sp>
        <p:nvSpPr>
          <p:cNvPr id="41" name="Google Shape;41;p6"/>
          <p:cNvSpPr/>
          <p:nvPr/>
        </p:nvSpPr>
        <p:spPr>
          <a:xfrm>
            <a:off x="2295566" y="4844097"/>
            <a:ext cx="4552800" cy="172200"/>
          </a:xfrm>
          <a:prstGeom prst="rect">
            <a:avLst/>
          </a:prstGeom>
          <a:noFill/>
          <a:ln>
            <a:noFill/>
          </a:ln>
        </p:spPr>
        <p:txBody>
          <a:bodyPr spcFirstLastPara="1" wrap="square" lIns="31875" tIns="31875" rIns="31875" bIns="31875" anchor="ctr" anchorCtr="0">
            <a:noAutofit/>
          </a:bodyPr>
          <a:lstStyle/>
          <a:p>
            <a:pPr marL="0" marR="0" lvl="0" indent="0" algn="ctr" rtl="0">
              <a:spcBef>
                <a:spcPts val="0"/>
              </a:spcBef>
              <a:spcAft>
                <a:spcPts val="0"/>
              </a:spcAft>
              <a:buNone/>
            </a:pPr>
            <a:r>
              <a:rPr lang="en-GB" sz="700" i="0" u="none" strike="noStrike" cap="none">
                <a:solidFill>
                  <a:srgbClr val="A5A5A5"/>
                </a:solidFill>
                <a:latin typeface="Roboto Thin"/>
                <a:ea typeface="Roboto Thin"/>
                <a:cs typeface="Roboto Thin"/>
                <a:sym typeface="Roboto Thin"/>
              </a:rPr>
              <a:t>Copyright © Government Technology Agency. Not to be reproduced without permission.</a:t>
            </a:r>
            <a:endParaRPr sz="700" i="0" u="none" strike="noStrike" cap="none">
              <a:solidFill>
                <a:srgbClr val="A5A5A5"/>
              </a:solidFill>
              <a:latin typeface="Roboto Thin"/>
              <a:ea typeface="Roboto Thin"/>
              <a:cs typeface="Roboto Thin"/>
              <a:sym typeface="Roboto Thin"/>
            </a:endParaRPr>
          </a:p>
        </p:txBody>
      </p:sp>
      <p:pic>
        <p:nvPicPr>
          <p:cNvPr id="42" name="Google Shape;42;p6"/>
          <p:cNvPicPr preferRelativeResize="0"/>
          <p:nvPr/>
        </p:nvPicPr>
        <p:blipFill rotWithShape="1">
          <a:blip r:embed="rId2">
            <a:alphaModFix/>
          </a:blip>
          <a:srcRect/>
          <a:stretch/>
        </p:blipFill>
        <p:spPr>
          <a:xfrm>
            <a:off x="8092859" y="76200"/>
            <a:ext cx="970140" cy="5727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3"/>
        <p:cNvGrpSpPr/>
        <p:nvPr/>
      </p:nvGrpSpPr>
      <p:grpSpPr>
        <a:xfrm>
          <a:off x="0" y="0"/>
          <a:ext cx="0" cy="0"/>
          <a:chOff x="0" y="0"/>
          <a:chExt cx="0" cy="0"/>
        </a:xfrm>
      </p:grpSpPr>
      <p:sp>
        <p:nvSpPr>
          <p:cNvPr id="44" name="Google Shape;44;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5" name="Google Shape;45;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6" name="Google Shape;46;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atin typeface="Roboto"/>
                <a:ea typeface="Roboto"/>
                <a:cs typeface="Roboto"/>
                <a:sym typeface="Roboto"/>
              </a:defRPr>
            </a:lvl1pPr>
            <a:lvl2pPr lvl="1">
              <a:buNone/>
              <a:defRPr>
                <a:latin typeface="Roboto"/>
                <a:ea typeface="Roboto"/>
                <a:cs typeface="Roboto"/>
                <a:sym typeface="Roboto"/>
              </a:defRPr>
            </a:lvl2pPr>
            <a:lvl3pPr lvl="2">
              <a:buNone/>
              <a:defRPr>
                <a:latin typeface="Roboto"/>
                <a:ea typeface="Roboto"/>
                <a:cs typeface="Roboto"/>
                <a:sym typeface="Roboto"/>
              </a:defRPr>
            </a:lvl3pPr>
            <a:lvl4pPr lvl="3">
              <a:buNone/>
              <a:defRPr>
                <a:latin typeface="Roboto"/>
                <a:ea typeface="Roboto"/>
                <a:cs typeface="Roboto"/>
                <a:sym typeface="Roboto"/>
              </a:defRPr>
            </a:lvl4pPr>
            <a:lvl5pPr lvl="4">
              <a:buNone/>
              <a:defRPr>
                <a:latin typeface="Roboto"/>
                <a:ea typeface="Roboto"/>
                <a:cs typeface="Roboto"/>
                <a:sym typeface="Roboto"/>
              </a:defRPr>
            </a:lvl5pPr>
            <a:lvl6pPr lvl="5">
              <a:buNone/>
              <a:defRPr>
                <a:latin typeface="Roboto"/>
                <a:ea typeface="Roboto"/>
                <a:cs typeface="Roboto"/>
                <a:sym typeface="Roboto"/>
              </a:defRPr>
            </a:lvl6pPr>
            <a:lvl7pPr lvl="6">
              <a:buNone/>
              <a:defRPr>
                <a:latin typeface="Roboto"/>
                <a:ea typeface="Roboto"/>
                <a:cs typeface="Roboto"/>
                <a:sym typeface="Roboto"/>
              </a:defRPr>
            </a:lvl7pPr>
            <a:lvl8pPr lvl="7">
              <a:buNone/>
              <a:defRPr>
                <a:latin typeface="Roboto"/>
                <a:ea typeface="Roboto"/>
                <a:cs typeface="Roboto"/>
                <a:sym typeface="Roboto"/>
              </a:defRPr>
            </a:lvl8pPr>
            <a:lvl9pPr lvl="8">
              <a:buNone/>
              <a:defRPr>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
        <p:nvSpPr>
          <p:cNvPr id="47" name="Google Shape;47;p7"/>
          <p:cNvSpPr/>
          <p:nvPr/>
        </p:nvSpPr>
        <p:spPr>
          <a:xfrm>
            <a:off x="-125" y="5056825"/>
            <a:ext cx="9144000" cy="90600"/>
          </a:xfrm>
          <a:prstGeom prst="rect">
            <a:avLst/>
          </a:prstGeom>
          <a:gradFill>
            <a:gsLst>
              <a:gs pos="0">
                <a:srgbClr val="008C48"/>
              </a:gs>
              <a:gs pos="5000">
                <a:srgbClr val="008C48"/>
              </a:gs>
              <a:gs pos="100000">
                <a:srgbClr val="00B8E1"/>
              </a:gs>
            </a:gsLst>
            <a:lin ang="2700006" scaled="0"/>
          </a:gra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600" b="0" i="0" u="none" strike="noStrike" cap="none">
              <a:solidFill>
                <a:srgbClr val="FFFFFF"/>
              </a:solidFill>
              <a:latin typeface="Lucida Sans"/>
              <a:ea typeface="Lucida Sans"/>
              <a:cs typeface="Lucida Sans"/>
              <a:sym typeface="Lucida Sans"/>
            </a:endParaRPr>
          </a:p>
        </p:txBody>
      </p:sp>
      <p:sp>
        <p:nvSpPr>
          <p:cNvPr id="48" name="Google Shape;48;p7"/>
          <p:cNvSpPr/>
          <p:nvPr/>
        </p:nvSpPr>
        <p:spPr>
          <a:xfrm>
            <a:off x="2295566" y="4844097"/>
            <a:ext cx="4552800" cy="172200"/>
          </a:xfrm>
          <a:prstGeom prst="rect">
            <a:avLst/>
          </a:prstGeom>
          <a:noFill/>
          <a:ln>
            <a:noFill/>
          </a:ln>
        </p:spPr>
        <p:txBody>
          <a:bodyPr spcFirstLastPara="1" wrap="square" lIns="31875" tIns="31875" rIns="31875" bIns="31875" anchor="ctr" anchorCtr="0">
            <a:noAutofit/>
          </a:bodyPr>
          <a:lstStyle/>
          <a:p>
            <a:pPr marL="0" marR="0" lvl="0" indent="0" algn="ctr" rtl="0">
              <a:spcBef>
                <a:spcPts val="0"/>
              </a:spcBef>
              <a:spcAft>
                <a:spcPts val="0"/>
              </a:spcAft>
              <a:buNone/>
            </a:pPr>
            <a:r>
              <a:rPr lang="en-GB" sz="700" i="0" u="none" strike="noStrike" cap="none">
                <a:solidFill>
                  <a:srgbClr val="A5A5A5"/>
                </a:solidFill>
                <a:latin typeface="Roboto Thin"/>
                <a:ea typeface="Roboto Thin"/>
                <a:cs typeface="Roboto Thin"/>
                <a:sym typeface="Roboto Thin"/>
              </a:rPr>
              <a:t>Copyright © Government Technology Agency. Not to be reproduced without permission.</a:t>
            </a:r>
            <a:endParaRPr sz="700" i="0" u="none" strike="noStrike" cap="none">
              <a:solidFill>
                <a:srgbClr val="A5A5A5"/>
              </a:solidFill>
              <a:latin typeface="Roboto Thin"/>
              <a:ea typeface="Roboto Thin"/>
              <a:cs typeface="Roboto Thin"/>
              <a:sym typeface="Roboto Thin"/>
            </a:endParaRPr>
          </a:p>
        </p:txBody>
      </p:sp>
      <p:pic>
        <p:nvPicPr>
          <p:cNvPr id="49" name="Google Shape;49;p7"/>
          <p:cNvPicPr preferRelativeResize="0"/>
          <p:nvPr/>
        </p:nvPicPr>
        <p:blipFill rotWithShape="1">
          <a:blip r:embed="rId2">
            <a:alphaModFix/>
          </a:blip>
          <a:srcRect/>
          <a:stretch/>
        </p:blipFill>
        <p:spPr>
          <a:xfrm>
            <a:off x="8092859" y="76200"/>
            <a:ext cx="970140" cy="5727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0"/>
        <p:cNvGrpSpPr/>
        <p:nvPr/>
      </p:nvGrpSpPr>
      <p:grpSpPr>
        <a:xfrm>
          <a:off x="0" y="0"/>
          <a:ext cx="0" cy="0"/>
          <a:chOff x="0" y="0"/>
          <a:chExt cx="0" cy="0"/>
        </a:xfrm>
      </p:grpSpPr>
      <p:sp>
        <p:nvSpPr>
          <p:cNvPr id="51" name="Google Shape;51;p8"/>
          <p:cNvSpPr txBox="1">
            <a:spLocks noGrp="1"/>
          </p:cNvSpPr>
          <p:nvPr>
            <p:ph type="title"/>
          </p:nvPr>
        </p:nvSpPr>
        <p:spPr>
          <a:xfrm>
            <a:off x="490250" y="2805450"/>
            <a:ext cx="8477100" cy="1051200"/>
          </a:xfrm>
          <a:prstGeom prst="rect">
            <a:avLst/>
          </a:prstGeom>
          <a:ln>
            <a:noFill/>
          </a:ln>
        </p:spPr>
        <p:txBody>
          <a:bodyPr spcFirstLastPara="1" wrap="square" lIns="91425" tIns="91425" rIns="91425" bIns="91425" anchor="ctr" anchorCtr="0">
            <a:normAutofit/>
          </a:bodyPr>
          <a:lstStyle>
            <a:lvl1pPr lvl="0">
              <a:spcBef>
                <a:spcPts val="0"/>
              </a:spcBef>
              <a:spcAft>
                <a:spcPts val="0"/>
              </a:spcAft>
              <a:buClr>
                <a:schemeClr val="dk2"/>
              </a:buClr>
              <a:buSzPts val="3600"/>
              <a:buNone/>
              <a:defRPr sz="3600">
                <a:solidFill>
                  <a:schemeClr val="dk2"/>
                </a:solidFill>
              </a:defRPr>
            </a:lvl1pPr>
            <a:lvl2pPr lvl="1">
              <a:spcBef>
                <a:spcPts val="0"/>
              </a:spcBef>
              <a:spcAft>
                <a:spcPts val="0"/>
              </a:spcAft>
              <a:buClr>
                <a:schemeClr val="dk2"/>
              </a:buClr>
              <a:buSzPts val="3600"/>
              <a:buNone/>
              <a:defRPr sz="3600">
                <a:solidFill>
                  <a:schemeClr val="dk2"/>
                </a:solidFill>
              </a:defRPr>
            </a:lvl2pPr>
            <a:lvl3pPr lvl="2">
              <a:spcBef>
                <a:spcPts val="0"/>
              </a:spcBef>
              <a:spcAft>
                <a:spcPts val="0"/>
              </a:spcAft>
              <a:buClr>
                <a:schemeClr val="dk2"/>
              </a:buClr>
              <a:buSzPts val="3600"/>
              <a:buNone/>
              <a:defRPr sz="3600">
                <a:solidFill>
                  <a:schemeClr val="dk2"/>
                </a:solidFill>
              </a:defRPr>
            </a:lvl3pPr>
            <a:lvl4pPr lvl="3">
              <a:spcBef>
                <a:spcPts val="0"/>
              </a:spcBef>
              <a:spcAft>
                <a:spcPts val="0"/>
              </a:spcAft>
              <a:buClr>
                <a:schemeClr val="dk2"/>
              </a:buClr>
              <a:buSzPts val="3600"/>
              <a:buNone/>
              <a:defRPr sz="3600">
                <a:solidFill>
                  <a:schemeClr val="dk2"/>
                </a:solidFill>
              </a:defRPr>
            </a:lvl4pPr>
            <a:lvl5pPr lvl="4">
              <a:spcBef>
                <a:spcPts val="0"/>
              </a:spcBef>
              <a:spcAft>
                <a:spcPts val="0"/>
              </a:spcAft>
              <a:buClr>
                <a:schemeClr val="dk2"/>
              </a:buClr>
              <a:buSzPts val="3600"/>
              <a:buNone/>
              <a:defRPr sz="3600">
                <a:solidFill>
                  <a:schemeClr val="dk2"/>
                </a:solidFill>
              </a:defRPr>
            </a:lvl5pPr>
            <a:lvl6pPr lvl="5">
              <a:spcBef>
                <a:spcPts val="0"/>
              </a:spcBef>
              <a:spcAft>
                <a:spcPts val="0"/>
              </a:spcAft>
              <a:buClr>
                <a:schemeClr val="dk2"/>
              </a:buClr>
              <a:buSzPts val="3600"/>
              <a:buNone/>
              <a:defRPr sz="3600">
                <a:solidFill>
                  <a:schemeClr val="dk2"/>
                </a:solidFill>
              </a:defRPr>
            </a:lvl6pPr>
            <a:lvl7pPr lvl="6">
              <a:spcBef>
                <a:spcPts val="0"/>
              </a:spcBef>
              <a:spcAft>
                <a:spcPts val="0"/>
              </a:spcAft>
              <a:buClr>
                <a:schemeClr val="dk2"/>
              </a:buClr>
              <a:buSzPts val="3600"/>
              <a:buNone/>
              <a:defRPr sz="3600">
                <a:solidFill>
                  <a:schemeClr val="dk2"/>
                </a:solidFill>
              </a:defRPr>
            </a:lvl7pPr>
            <a:lvl8pPr lvl="7">
              <a:spcBef>
                <a:spcPts val="0"/>
              </a:spcBef>
              <a:spcAft>
                <a:spcPts val="0"/>
              </a:spcAft>
              <a:buClr>
                <a:schemeClr val="dk2"/>
              </a:buClr>
              <a:buSzPts val="3600"/>
              <a:buNone/>
              <a:defRPr sz="3600">
                <a:solidFill>
                  <a:schemeClr val="dk2"/>
                </a:solidFill>
              </a:defRPr>
            </a:lvl8pPr>
            <a:lvl9pPr lvl="8">
              <a:spcBef>
                <a:spcPts val="0"/>
              </a:spcBef>
              <a:spcAft>
                <a:spcPts val="0"/>
              </a:spcAft>
              <a:buClr>
                <a:schemeClr val="dk2"/>
              </a:buClr>
              <a:buSzPts val="3600"/>
              <a:buNone/>
              <a:defRPr sz="3600">
                <a:solidFill>
                  <a:schemeClr val="dk2"/>
                </a:solidFill>
              </a:defRPr>
            </a:lvl9pPr>
          </a:lstStyle>
          <a:p>
            <a:endParaRPr/>
          </a:p>
        </p:txBody>
      </p:sp>
      <p:sp>
        <p:nvSpPr>
          <p:cNvPr id="52" name="Google Shape;52;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atin typeface="Roboto"/>
                <a:ea typeface="Roboto"/>
                <a:cs typeface="Roboto"/>
                <a:sym typeface="Roboto"/>
              </a:defRPr>
            </a:lvl1pPr>
            <a:lvl2pPr lvl="1">
              <a:buNone/>
              <a:defRPr>
                <a:latin typeface="Roboto"/>
                <a:ea typeface="Roboto"/>
                <a:cs typeface="Roboto"/>
                <a:sym typeface="Roboto"/>
              </a:defRPr>
            </a:lvl2pPr>
            <a:lvl3pPr lvl="2">
              <a:buNone/>
              <a:defRPr>
                <a:latin typeface="Roboto"/>
                <a:ea typeface="Roboto"/>
                <a:cs typeface="Roboto"/>
                <a:sym typeface="Roboto"/>
              </a:defRPr>
            </a:lvl3pPr>
            <a:lvl4pPr lvl="3">
              <a:buNone/>
              <a:defRPr>
                <a:latin typeface="Roboto"/>
                <a:ea typeface="Roboto"/>
                <a:cs typeface="Roboto"/>
                <a:sym typeface="Roboto"/>
              </a:defRPr>
            </a:lvl4pPr>
            <a:lvl5pPr lvl="4">
              <a:buNone/>
              <a:defRPr>
                <a:latin typeface="Roboto"/>
                <a:ea typeface="Roboto"/>
                <a:cs typeface="Roboto"/>
                <a:sym typeface="Roboto"/>
              </a:defRPr>
            </a:lvl5pPr>
            <a:lvl6pPr lvl="5">
              <a:buNone/>
              <a:defRPr>
                <a:latin typeface="Roboto"/>
                <a:ea typeface="Roboto"/>
                <a:cs typeface="Roboto"/>
                <a:sym typeface="Roboto"/>
              </a:defRPr>
            </a:lvl6pPr>
            <a:lvl7pPr lvl="6">
              <a:buNone/>
              <a:defRPr>
                <a:latin typeface="Roboto"/>
                <a:ea typeface="Roboto"/>
                <a:cs typeface="Roboto"/>
                <a:sym typeface="Roboto"/>
              </a:defRPr>
            </a:lvl7pPr>
            <a:lvl8pPr lvl="7">
              <a:buNone/>
              <a:defRPr>
                <a:latin typeface="Roboto"/>
                <a:ea typeface="Roboto"/>
                <a:cs typeface="Roboto"/>
                <a:sym typeface="Roboto"/>
              </a:defRPr>
            </a:lvl8pPr>
            <a:lvl9pPr lvl="8">
              <a:buNone/>
              <a:defRPr>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
        <p:nvSpPr>
          <p:cNvPr id="53" name="Google Shape;53;p8"/>
          <p:cNvSpPr/>
          <p:nvPr/>
        </p:nvSpPr>
        <p:spPr>
          <a:xfrm>
            <a:off x="-125" y="5056825"/>
            <a:ext cx="9144000" cy="90600"/>
          </a:xfrm>
          <a:prstGeom prst="rect">
            <a:avLst/>
          </a:prstGeom>
          <a:gradFill>
            <a:gsLst>
              <a:gs pos="0">
                <a:srgbClr val="008C48"/>
              </a:gs>
              <a:gs pos="5000">
                <a:srgbClr val="008C48"/>
              </a:gs>
              <a:gs pos="100000">
                <a:srgbClr val="00B8E1"/>
              </a:gs>
            </a:gsLst>
            <a:lin ang="2700006" scaled="0"/>
          </a:gra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600" b="0" i="0" u="none" strike="noStrike" cap="none">
              <a:solidFill>
                <a:srgbClr val="FFFFFF"/>
              </a:solidFill>
              <a:latin typeface="Lucida Sans"/>
              <a:ea typeface="Lucida Sans"/>
              <a:cs typeface="Lucida Sans"/>
              <a:sym typeface="Lucida Sans"/>
            </a:endParaRPr>
          </a:p>
        </p:txBody>
      </p:sp>
      <p:sp>
        <p:nvSpPr>
          <p:cNvPr id="54" name="Google Shape;54;p8"/>
          <p:cNvSpPr/>
          <p:nvPr/>
        </p:nvSpPr>
        <p:spPr>
          <a:xfrm>
            <a:off x="2295566" y="4844097"/>
            <a:ext cx="4552800" cy="172200"/>
          </a:xfrm>
          <a:prstGeom prst="rect">
            <a:avLst/>
          </a:prstGeom>
          <a:noFill/>
          <a:ln>
            <a:noFill/>
          </a:ln>
        </p:spPr>
        <p:txBody>
          <a:bodyPr spcFirstLastPara="1" wrap="square" lIns="31875" tIns="31875" rIns="31875" bIns="31875" anchor="ctr" anchorCtr="0">
            <a:noAutofit/>
          </a:bodyPr>
          <a:lstStyle/>
          <a:p>
            <a:pPr marL="0" marR="0" lvl="0" indent="0" algn="ctr" rtl="0">
              <a:spcBef>
                <a:spcPts val="0"/>
              </a:spcBef>
              <a:spcAft>
                <a:spcPts val="0"/>
              </a:spcAft>
              <a:buNone/>
            </a:pPr>
            <a:r>
              <a:rPr lang="en-GB" sz="700" i="0" u="none" strike="noStrike" cap="none">
                <a:solidFill>
                  <a:srgbClr val="A5A5A5"/>
                </a:solidFill>
                <a:latin typeface="Roboto Thin"/>
                <a:ea typeface="Roboto Thin"/>
                <a:cs typeface="Roboto Thin"/>
                <a:sym typeface="Roboto Thin"/>
              </a:rPr>
              <a:t>Copyright © Government Technology Agency. Not to be reproduced without permission.</a:t>
            </a:r>
            <a:endParaRPr sz="700" i="0" u="none" strike="noStrike" cap="none">
              <a:solidFill>
                <a:srgbClr val="A5A5A5"/>
              </a:solidFill>
              <a:latin typeface="Roboto Thin"/>
              <a:ea typeface="Roboto Thin"/>
              <a:cs typeface="Roboto Thin"/>
              <a:sym typeface="Roboto Thin"/>
            </a:endParaRPr>
          </a:p>
        </p:txBody>
      </p:sp>
      <p:sp>
        <p:nvSpPr>
          <p:cNvPr id="55" name="Google Shape;55;p8"/>
          <p:cNvSpPr txBox="1">
            <a:spLocks noGrp="1"/>
          </p:cNvSpPr>
          <p:nvPr>
            <p:ph type="subTitle" idx="1"/>
          </p:nvPr>
        </p:nvSpPr>
        <p:spPr>
          <a:xfrm>
            <a:off x="490250" y="3596125"/>
            <a:ext cx="6367800" cy="480300"/>
          </a:xfrm>
          <a:prstGeom prst="rect">
            <a:avLst/>
          </a:prstGeom>
          <a:ln>
            <a:noFill/>
          </a:ln>
        </p:spPr>
        <p:txBody>
          <a:bodyPr spcFirstLastPara="1" wrap="square" lIns="91425" tIns="91425" rIns="91425" bIns="91425" anchor="t" anchorCtr="0">
            <a:normAutofit/>
          </a:bodyPr>
          <a:lstStyle>
            <a:lvl1pPr lvl="0" rtl="0">
              <a:lnSpc>
                <a:spcPct val="100000"/>
              </a:lnSpc>
              <a:spcBef>
                <a:spcPts val="0"/>
              </a:spcBef>
              <a:spcAft>
                <a:spcPts val="0"/>
              </a:spcAft>
              <a:buSzPts val="1800"/>
              <a:buFont typeface="Roboto Light"/>
              <a:buNone/>
              <a:defRPr>
                <a:latin typeface="Roboto Light"/>
                <a:ea typeface="Roboto Light"/>
                <a:cs typeface="Roboto Light"/>
                <a:sym typeface="Roboto Light"/>
              </a:defRPr>
            </a:lvl1pPr>
            <a:lvl2pPr lvl="1" rtl="0">
              <a:lnSpc>
                <a:spcPct val="100000"/>
              </a:lnSpc>
              <a:spcBef>
                <a:spcPts val="0"/>
              </a:spcBef>
              <a:spcAft>
                <a:spcPts val="0"/>
              </a:spcAft>
              <a:buSzPts val="1800"/>
              <a:buFont typeface="Roboto Light"/>
              <a:buNone/>
              <a:defRPr sz="1800">
                <a:latin typeface="Roboto Light"/>
                <a:ea typeface="Roboto Light"/>
                <a:cs typeface="Roboto Light"/>
                <a:sym typeface="Roboto Light"/>
              </a:defRPr>
            </a:lvl2pPr>
            <a:lvl3pPr lvl="2" rtl="0">
              <a:lnSpc>
                <a:spcPct val="100000"/>
              </a:lnSpc>
              <a:spcBef>
                <a:spcPts val="0"/>
              </a:spcBef>
              <a:spcAft>
                <a:spcPts val="0"/>
              </a:spcAft>
              <a:buSzPts val="1800"/>
              <a:buFont typeface="Roboto Light"/>
              <a:buNone/>
              <a:defRPr sz="1800">
                <a:latin typeface="Roboto Light"/>
                <a:ea typeface="Roboto Light"/>
                <a:cs typeface="Roboto Light"/>
                <a:sym typeface="Roboto Light"/>
              </a:defRPr>
            </a:lvl3pPr>
            <a:lvl4pPr lvl="3" rtl="0">
              <a:lnSpc>
                <a:spcPct val="100000"/>
              </a:lnSpc>
              <a:spcBef>
                <a:spcPts val="0"/>
              </a:spcBef>
              <a:spcAft>
                <a:spcPts val="0"/>
              </a:spcAft>
              <a:buSzPts val="1800"/>
              <a:buFont typeface="Roboto Light"/>
              <a:buNone/>
              <a:defRPr sz="1800">
                <a:latin typeface="Roboto Light"/>
                <a:ea typeface="Roboto Light"/>
                <a:cs typeface="Roboto Light"/>
                <a:sym typeface="Roboto Light"/>
              </a:defRPr>
            </a:lvl4pPr>
            <a:lvl5pPr lvl="4" rtl="0">
              <a:lnSpc>
                <a:spcPct val="100000"/>
              </a:lnSpc>
              <a:spcBef>
                <a:spcPts val="0"/>
              </a:spcBef>
              <a:spcAft>
                <a:spcPts val="0"/>
              </a:spcAft>
              <a:buSzPts val="1800"/>
              <a:buFont typeface="Roboto Light"/>
              <a:buNone/>
              <a:defRPr sz="1800">
                <a:latin typeface="Roboto Light"/>
                <a:ea typeface="Roboto Light"/>
                <a:cs typeface="Roboto Light"/>
                <a:sym typeface="Roboto Light"/>
              </a:defRPr>
            </a:lvl5pPr>
            <a:lvl6pPr lvl="5" rtl="0">
              <a:lnSpc>
                <a:spcPct val="100000"/>
              </a:lnSpc>
              <a:spcBef>
                <a:spcPts val="0"/>
              </a:spcBef>
              <a:spcAft>
                <a:spcPts val="0"/>
              </a:spcAft>
              <a:buSzPts val="1800"/>
              <a:buFont typeface="Roboto Light"/>
              <a:buNone/>
              <a:defRPr sz="1800">
                <a:latin typeface="Roboto Light"/>
                <a:ea typeface="Roboto Light"/>
                <a:cs typeface="Roboto Light"/>
                <a:sym typeface="Roboto Light"/>
              </a:defRPr>
            </a:lvl6pPr>
            <a:lvl7pPr lvl="6" rtl="0">
              <a:lnSpc>
                <a:spcPct val="100000"/>
              </a:lnSpc>
              <a:spcBef>
                <a:spcPts val="0"/>
              </a:spcBef>
              <a:spcAft>
                <a:spcPts val="0"/>
              </a:spcAft>
              <a:buSzPts val="1800"/>
              <a:buFont typeface="Roboto Light"/>
              <a:buNone/>
              <a:defRPr sz="1800">
                <a:latin typeface="Roboto Light"/>
                <a:ea typeface="Roboto Light"/>
                <a:cs typeface="Roboto Light"/>
                <a:sym typeface="Roboto Light"/>
              </a:defRPr>
            </a:lvl7pPr>
            <a:lvl8pPr lvl="7" rtl="0">
              <a:lnSpc>
                <a:spcPct val="100000"/>
              </a:lnSpc>
              <a:spcBef>
                <a:spcPts val="0"/>
              </a:spcBef>
              <a:spcAft>
                <a:spcPts val="0"/>
              </a:spcAft>
              <a:buSzPts val="1800"/>
              <a:buFont typeface="Roboto Light"/>
              <a:buNone/>
              <a:defRPr sz="1800">
                <a:latin typeface="Roboto Light"/>
                <a:ea typeface="Roboto Light"/>
                <a:cs typeface="Roboto Light"/>
                <a:sym typeface="Roboto Light"/>
              </a:defRPr>
            </a:lvl8pPr>
            <a:lvl9pPr lvl="8" rtl="0">
              <a:lnSpc>
                <a:spcPct val="100000"/>
              </a:lnSpc>
              <a:spcBef>
                <a:spcPts val="0"/>
              </a:spcBef>
              <a:spcAft>
                <a:spcPts val="0"/>
              </a:spcAft>
              <a:buSzPts val="1800"/>
              <a:buFont typeface="Roboto Light"/>
              <a:buNone/>
              <a:defRPr sz="1800">
                <a:latin typeface="Roboto Light"/>
                <a:ea typeface="Roboto Light"/>
                <a:cs typeface="Roboto Light"/>
                <a:sym typeface="Roboto Light"/>
              </a:defRPr>
            </a:lvl9pPr>
          </a:lstStyle>
          <a:p>
            <a:endParaRPr/>
          </a:p>
        </p:txBody>
      </p:sp>
      <p:pic>
        <p:nvPicPr>
          <p:cNvPr id="56" name="Google Shape;56;p8"/>
          <p:cNvPicPr preferRelativeResize="0"/>
          <p:nvPr/>
        </p:nvPicPr>
        <p:blipFill rotWithShape="1">
          <a:blip r:embed="rId2">
            <a:alphaModFix/>
          </a:blip>
          <a:srcRect/>
          <a:stretch/>
        </p:blipFill>
        <p:spPr>
          <a:xfrm>
            <a:off x="8092859" y="76200"/>
            <a:ext cx="970140" cy="5727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7"/>
        <p:cNvGrpSpPr/>
        <p:nvPr/>
      </p:nvGrpSpPr>
      <p:grpSpPr>
        <a:xfrm>
          <a:off x="0" y="0"/>
          <a:ext cx="0" cy="0"/>
          <a:chOff x="0" y="0"/>
          <a:chExt cx="0" cy="0"/>
        </a:xfrm>
      </p:grpSpPr>
      <p:sp>
        <p:nvSpPr>
          <p:cNvPr id="58" name="Google Shape;58;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60" name="Google Shape;60;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1" name="Google Shape;61;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62" name="Google Shape;62;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atin typeface="Roboto"/>
                <a:ea typeface="Roboto"/>
                <a:cs typeface="Roboto"/>
                <a:sym typeface="Roboto"/>
              </a:defRPr>
            </a:lvl1pPr>
            <a:lvl2pPr lvl="1">
              <a:buNone/>
              <a:defRPr>
                <a:latin typeface="Roboto"/>
                <a:ea typeface="Roboto"/>
                <a:cs typeface="Roboto"/>
                <a:sym typeface="Roboto"/>
              </a:defRPr>
            </a:lvl2pPr>
            <a:lvl3pPr lvl="2">
              <a:buNone/>
              <a:defRPr>
                <a:latin typeface="Roboto"/>
                <a:ea typeface="Roboto"/>
                <a:cs typeface="Roboto"/>
                <a:sym typeface="Roboto"/>
              </a:defRPr>
            </a:lvl3pPr>
            <a:lvl4pPr lvl="3">
              <a:buNone/>
              <a:defRPr>
                <a:latin typeface="Roboto"/>
                <a:ea typeface="Roboto"/>
                <a:cs typeface="Roboto"/>
                <a:sym typeface="Roboto"/>
              </a:defRPr>
            </a:lvl4pPr>
            <a:lvl5pPr lvl="4">
              <a:buNone/>
              <a:defRPr>
                <a:latin typeface="Roboto"/>
                <a:ea typeface="Roboto"/>
                <a:cs typeface="Roboto"/>
                <a:sym typeface="Roboto"/>
              </a:defRPr>
            </a:lvl5pPr>
            <a:lvl6pPr lvl="5">
              <a:buNone/>
              <a:defRPr>
                <a:latin typeface="Roboto"/>
                <a:ea typeface="Roboto"/>
                <a:cs typeface="Roboto"/>
                <a:sym typeface="Roboto"/>
              </a:defRPr>
            </a:lvl6pPr>
            <a:lvl7pPr lvl="6">
              <a:buNone/>
              <a:defRPr>
                <a:latin typeface="Roboto"/>
                <a:ea typeface="Roboto"/>
                <a:cs typeface="Roboto"/>
                <a:sym typeface="Roboto"/>
              </a:defRPr>
            </a:lvl7pPr>
            <a:lvl8pPr lvl="7">
              <a:buNone/>
              <a:defRPr>
                <a:latin typeface="Roboto"/>
                <a:ea typeface="Roboto"/>
                <a:cs typeface="Roboto"/>
                <a:sym typeface="Roboto"/>
              </a:defRPr>
            </a:lvl8pPr>
            <a:lvl9pPr lvl="8">
              <a:buNone/>
              <a:defRPr>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3"/>
        <p:cNvGrpSpPr/>
        <p:nvPr/>
      </p:nvGrpSpPr>
      <p:grpSpPr>
        <a:xfrm>
          <a:off x="0" y="0"/>
          <a:ext cx="0" cy="0"/>
          <a:chOff x="0" y="0"/>
          <a:chExt cx="0" cy="0"/>
        </a:xfrm>
      </p:grpSpPr>
      <p:sp>
        <p:nvSpPr>
          <p:cNvPr id="64" name="Google Shape;64;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65" name="Google Shape;65;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atin typeface="Roboto"/>
                <a:ea typeface="Roboto"/>
                <a:cs typeface="Roboto"/>
                <a:sym typeface="Roboto"/>
              </a:defRPr>
            </a:lvl1pPr>
            <a:lvl2pPr lvl="1">
              <a:buNone/>
              <a:defRPr>
                <a:latin typeface="Roboto"/>
                <a:ea typeface="Roboto"/>
                <a:cs typeface="Roboto"/>
                <a:sym typeface="Roboto"/>
              </a:defRPr>
            </a:lvl2pPr>
            <a:lvl3pPr lvl="2">
              <a:buNone/>
              <a:defRPr>
                <a:latin typeface="Roboto"/>
                <a:ea typeface="Roboto"/>
                <a:cs typeface="Roboto"/>
                <a:sym typeface="Roboto"/>
              </a:defRPr>
            </a:lvl3pPr>
            <a:lvl4pPr lvl="3">
              <a:buNone/>
              <a:defRPr>
                <a:latin typeface="Roboto"/>
                <a:ea typeface="Roboto"/>
                <a:cs typeface="Roboto"/>
                <a:sym typeface="Roboto"/>
              </a:defRPr>
            </a:lvl4pPr>
            <a:lvl5pPr lvl="4">
              <a:buNone/>
              <a:defRPr>
                <a:latin typeface="Roboto"/>
                <a:ea typeface="Roboto"/>
                <a:cs typeface="Roboto"/>
                <a:sym typeface="Roboto"/>
              </a:defRPr>
            </a:lvl5pPr>
            <a:lvl6pPr lvl="5">
              <a:buNone/>
              <a:defRPr>
                <a:latin typeface="Roboto"/>
                <a:ea typeface="Roboto"/>
                <a:cs typeface="Roboto"/>
                <a:sym typeface="Roboto"/>
              </a:defRPr>
            </a:lvl6pPr>
            <a:lvl7pPr lvl="6">
              <a:buNone/>
              <a:defRPr>
                <a:latin typeface="Roboto"/>
                <a:ea typeface="Roboto"/>
                <a:cs typeface="Roboto"/>
                <a:sym typeface="Roboto"/>
              </a:defRPr>
            </a:lvl7pPr>
            <a:lvl8pPr lvl="7">
              <a:buNone/>
              <a:defRPr>
                <a:latin typeface="Roboto"/>
                <a:ea typeface="Roboto"/>
                <a:cs typeface="Roboto"/>
                <a:sym typeface="Roboto"/>
              </a:defRPr>
            </a:lvl8pPr>
            <a:lvl9pPr lvl="8">
              <a:buNone/>
              <a:defRPr>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1">
  <p:cSld name="CAPTION_ONLY_1">
    <p:spTree>
      <p:nvGrpSpPr>
        <p:cNvPr id="1" name="Shape 66"/>
        <p:cNvGrpSpPr/>
        <p:nvPr/>
      </p:nvGrpSpPr>
      <p:grpSpPr>
        <a:xfrm>
          <a:off x="0" y="0"/>
          <a:ext cx="0" cy="0"/>
          <a:chOff x="0" y="0"/>
          <a:chExt cx="0" cy="0"/>
        </a:xfrm>
      </p:grpSpPr>
      <p:sp>
        <p:nvSpPr>
          <p:cNvPr id="67" name="Google Shape;67;p11"/>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rtl="0">
              <a:lnSpc>
                <a:spcPct val="100000"/>
              </a:lnSpc>
              <a:spcBef>
                <a:spcPts val="0"/>
              </a:spcBef>
              <a:spcAft>
                <a:spcPts val="0"/>
              </a:spcAft>
              <a:buSzPts val="1800"/>
              <a:buNone/>
              <a:defRPr/>
            </a:lvl1pPr>
          </a:lstStyle>
          <a:p>
            <a:endParaRPr/>
          </a:p>
        </p:txBody>
      </p:sp>
      <p:sp>
        <p:nvSpPr>
          <p:cNvPr id="68" name="Google Shape;68;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atin typeface="Roboto"/>
                <a:ea typeface="Roboto"/>
                <a:cs typeface="Roboto"/>
                <a:sym typeface="Roboto"/>
              </a:defRPr>
            </a:lvl1pPr>
            <a:lvl2pPr lvl="1" rtl="0">
              <a:buNone/>
              <a:defRPr>
                <a:latin typeface="Roboto"/>
                <a:ea typeface="Roboto"/>
                <a:cs typeface="Roboto"/>
                <a:sym typeface="Roboto"/>
              </a:defRPr>
            </a:lvl2pPr>
            <a:lvl3pPr lvl="2" rtl="0">
              <a:buNone/>
              <a:defRPr>
                <a:latin typeface="Roboto"/>
                <a:ea typeface="Roboto"/>
                <a:cs typeface="Roboto"/>
                <a:sym typeface="Roboto"/>
              </a:defRPr>
            </a:lvl3pPr>
            <a:lvl4pPr lvl="3" rtl="0">
              <a:buNone/>
              <a:defRPr>
                <a:latin typeface="Roboto"/>
                <a:ea typeface="Roboto"/>
                <a:cs typeface="Roboto"/>
                <a:sym typeface="Roboto"/>
              </a:defRPr>
            </a:lvl4pPr>
            <a:lvl5pPr lvl="4" rtl="0">
              <a:buNone/>
              <a:defRPr>
                <a:latin typeface="Roboto"/>
                <a:ea typeface="Roboto"/>
                <a:cs typeface="Roboto"/>
                <a:sym typeface="Roboto"/>
              </a:defRPr>
            </a:lvl5pPr>
            <a:lvl6pPr lvl="5" rtl="0">
              <a:buNone/>
              <a:defRPr>
                <a:latin typeface="Roboto"/>
                <a:ea typeface="Roboto"/>
                <a:cs typeface="Roboto"/>
                <a:sym typeface="Roboto"/>
              </a:defRPr>
            </a:lvl6pPr>
            <a:lvl7pPr lvl="6" rtl="0">
              <a:buNone/>
              <a:defRPr>
                <a:latin typeface="Roboto"/>
                <a:ea typeface="Roboto"/>
                <a:cs typeface="Roboto"/>
                <a:sym typeface="Roboto"/>
              </a:defRPr>
            </a:lvl7pPr>
            <a:lvl8pPr lvl="7" rtl="0">
              <a:buNone/>
              <a:defRPr>
                <a:latin typeface="Roboto"/>
                <a:ea typeface="Roboto"/>
                <a:cs typeface="Roboto"/>
                <a:sym typeface="Roboto"/>
              </a:defRPr>
            </a:lvl8pPr>
            <a:lvl9pPr lvl="8" rtl="0">
              <a:buNone/>
              <a:defRPr>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
        <p:nvSpPr>
          <p:cNvPr id="69" name="Google Shape;69;p11"/>
          <p:cNvSpPr/>
          <p:nvPr/>
        </p:nvSpPr>
        <p:spPr>
          <a:xfrm>
            <a:off x="-125" y="5056825"/>
            <a:ext cx="9144000" cy="90600"/>
          </a:xfrm>
          <a:prstGeom prst="rect">
            <a:avLst/>
          </a:prstGeom>
          <a:gradFill>
            <a:gsLst>
              <a:gs pos="0">
                <a:srgbClr val="008C48"/>
              </a:gs>
              <a:gs pos="5000">
                <a:srgbClr val="008C48"/>
              </a:gs>
              <a:gs pos="100000">
                <a:srgbClr val="00B8E1"/>
              </a:gs>
            </a:gsLst>
            <a:lin ang="2700006" scaled="0"/>
          </a:gra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600" b="0" i="0" u="none" strike="noStrike" cap="none">
              <a:solidFill>
                <a:srgbClr val="FFFFFF"/>
              </a:solidFill>
              <a:latin typeface="Lucida Sans"/>
              <a:ea typeface="Lucida Sans"/>
              <a:cs typeface="Lucida Sans"/>
              <a:sym typeface="Lucida Sans"/>
            </a:endParaRPr>
          </a:p>
        </p:txBody>
      </p:sp>
      <p:sp>
        <p:nvSpPr>
          <p:cNvPr id="70" name="Google Shape;70;p11"/>
          <p:cNvSpPr/>
          <p:nvPr/>
        </p:nvSpPr>
        <p:spPr>
          <a:xfrm>
            <a:off x="2295566" y="4844097"/>
            <a:ext cx="4552800" cy="172200"/>
          </a:xfrm>
          <a:prstGeom prst="rect">
            <a:avLst/>
          </a:prstGeom>
          <a:noFill/>
          <a:ln>
            <a:noFill/>
          </a:ln>
        </p:spPr>
        <p:txBody>
          <a:bodyPr spcFirstLastPara="1" wrap="square" lIns="31875" tIns="31875" rIns="31875" bIns="31875" anchor="ctr" anchorCtr="0">
            <a:noAutofit/>
          </a:bodyPr>
          <a:lstStyle/>
          <a:p>
            <a:pPr marL="0" marR="0" lvl="0" indent="0" algn="ctr" rtl="0">
              <a:spcBef>
                <a:spcPts val="0"/>
              </a:spcBef>
              <a:spcAft>
                <a:spcPts val="0"/>
              </a:spcAft>
              <a:buNone/>
            </a:pPr>
            <a:r>
              <a:rPr lang="en-GB" sz="700" i="0" u="none" strike="noStrike" cap="none">
                <a:solidFill>
                  <a:srgbClr val="A5A5A5"/>
                </a:solidFill>
                <a:latin typeface="Roboto Thin"/>
                <a:ea typeface="Roboto Thin"/>
                <a:cs typeface="Roboto Thin"/>
                <a:sym typeface="Roboto Thin"/>
              </a:rPr>
              <a:t>Copyright © Government Technology Agency. Not to be reproduced without permission.</a:t>
            </a:r>
            <a:endParaRPr sz="700" i="0" u="none" strike="noStrike" cap="none">
              <a:solidFill>
                <a:srgbClr val="A5A5A5"/>
              </a:solidFill>
              <a:latin typeface="Roboto Thin"/>
              <a:ea typeface="Roboto Thin"/>
              <a:cs typeface="Roboto Thin"/>
              <a:sym typeface="Roboto Thin"/>
            </a:endParaRPr>
          </a:p>
        </p:txBody>
      </p:sp>
      <p:pic>
        <p:nvPicPr>
          <p:cNvPr id="71" name="Google Shape;71;p11"/>
          <p:cNvPicPr preferRelativeResize="0"/>
          <p:nvPr/>
        </p:nvPicPr>
        <p:blipFill rotWithShape="1">
          <a:blip r:embed="rId2">
            <a:alphaModFix/>
          </a:blip>
          <a:srcRect/>
          <a:stretch/>
        </p:blipFill>
        <p:spPr>
          <a:xfrm>
            <a:off x="8092859" y="76200"/>
            <a:ext cx="970140" cy="5727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1 1">
  <p:cSld name="CAPTION_ONLY_1_1">
    <p:spTree>
      <p:nvGrpSpPr>
        <p:cNvPr id="1" name="Shape 72"/>
        <p:cNvGrpSpPr/>
        <p:nvPr/>
      </p:nvGrpSpPr>
      <p:grpSpPr>
        <a:xfrm>
          <a:off x="0" y="0"/>
          <a:ext cx="0" cy="0"/>
          <a:chOff x="0" y="0"/>
          <a:chExt cx="0" cy="0"/>
        </a:xfrm>
      </p:grpSpPr>
      <p:sp>
        <p:nvSpPr>
          <p:cNvPr id="73" name="Google Shape;73;p12"/>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rtl="0">
              <a:lnSpc>
                <a:spcPct val="100000"/>
              </a:lnSpc>
              <a:spcBef>
                <a:spcPts val="0"/>
              </a:spcBef>
              <a:spcAft>
                <a:spcPts val="0"/>
              </a:spcAft>
              <a:buSzPts val="1800"/>
              <a:buNone/>
              <a:defRPr/>
            </a:lvl1pPr>
          </a:lstStyle>
          <a:p>
            <a:endParaRPr/>
          </a:p>
        </p:txBody>
      </p:sp>
      <p:sp>
        <p:nvSpPr>
          <p:cNvPr id="74" name="Google Shape;74;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atin typeface="Roboto"/>
                <a:ea typeface="Roboto"/>
                <a:cs typeface="Roboto"/>
                <a:sym typeface="Roboto"/>
              </a:defRPr>
            </a:lvl1pPr>
            <a:lvl2pPr lvl="1" rtl="0">
              <a:buNone/>
              <a:defRPr>
                <a:latin typeface="Roboto"/>
                <a:ea typeface="Roboto"/>
                <a:cs typeface="Roboto"/>
                <a:sym typeface="Roboto"/>
              </a:defRPr>
            </a:lvl2pPr>
            <a:lvl3pPr lvl="2" rtl="0">
              <a:buNone/>
              <a:defRPr>
                <a:latin typeface="Roboto"/>
                <a:ea typeface="Roboto"/>
                <a:cs typeface="Roboto"/>
                <a:sym typeface="Roboto"/>
              </a:defRPr>
            </a:lvl3pPr>
            <a:lvl4pPr lvl="3" rtl="0">
              <a:buNone/>
              <a:defRPr>
                <a:latin typeface="Roboto"/>
                <a:ea typeface="Roboto"/>
                <a:cs typeface="Roboto"/>
                <a:sym typeface="Roboto"/>
              </a:defRPr>
            </a:lvl4pPr>
            <a:lvl5pPr lvl="4" rtl="0">
              <a:buNone/>
              <a:defRPr>
                <a:latin typeface="Roboto"/>
                <a:ea typeface="Roboto"/>
                <a:cs typeface="Roboto"/>
                <a:sym typeface="Roboto"/>
              </a:defRPr>
            </a:lvl5pPr>
            <a:lvl6pPr lvl="5" rtl="0">
              <a:buNone/>
              <a:defRPr>
                <a:latin typeface="Roboto"/>
                <a:ea typeface="Roboto"/>
                <a:cs typeface="Roboto"/>
                <a:sym typeface="Roboto"/>
              </a:defRPr>
            </a:lvl6pPr>
            <a:lvl7pPr lvl="6" rtl="0">
              <a:buNone/>
              <a:defRPr>
                <a:latin typeface="Roboto"/>
                <a:ea typeface="Roboto"/>
                <a:cs typeface="Roboto"/>
                <a:sym typeface="Roboto"/>
              </a:defRPr>
            </a:lvl7pPr>
            <a:lvl8pPr lvl="7" rtl="0">
              <a:buNone/>
              <a:defRPr>
                <a:latin typeface="Roboto"/>
                <a:ea typeface="Roboto"/>
                <a:cs typeface="Roboto"/>
                <a:sym typeface="Roboto"/>
              </a:defRPr>
            </a:lvl8pPr>
            <a:lvl9pPr lvl="8" rtl="0">
              <a:buNone/>
              <a:defRPr>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
        <p:nvSpPr>
          <p:cNvPr id="75" name="Google Shape;75;p12"/>
          <p:cNvSpPr/>
          <p:nvPr/>
        </p:nvSpPr>
        <p:spPr>
          <a:xfrm>
            <a:off x="-125" y="5056825"/>
            <a:ext cx="9144000" cy="90600"/>
          </a:xfrm>
          <a:prstGeom prst="rect">
            <a:avLst/>
          </a:prstGeom>
          <a:gradFill>
            <a:gsLst>
              <a:gs pos="0">
                <a:srgbClr val="008C48"/>
              </a:gs>
              <a:gs pos="5000">
                <a:srgbClr val="008C48"/>
              </a:gs>
              <a:gs pos="100000">
                <a:srgbClr val="00B8E1"/>
              </a:gs>
            </a:gsLst>
            <a:lin ang="2700006" scaled="0"/>
          </a:gra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600" b="0" i="0" u="none" strike="noStrike" cap="none">
              <a:solidFill>
                <a:srgbClr val="FFFFFF"/>
              </a:solidFill>
              <a:latin typeface="Lucida Sans"/>
              <a:ea typeface="Lucida Sans"/>
              <a:cs typeface="Lucida Sans"/>
              <a:sym typeface="Lucida Sans"/>
            </a:endParaRPr>
          </a:p>
        </p:txBody>
      </p:sp>
      <p:sp>
        <p:nvSpPr>
          <p:cNvPr id="76" name="Google Shape;76;p12"/>
          <p:cNvSpPr/>
          <p:nvPr/>
        </p:nvSpPr>
        <p:spPr>
          <a:xfrm>
            <a:off x="2295566" y="4844097"/>
            <a:ext cx="4552800" cy="172200"/>
          </a:xfrm>
          <a:prstGeom prst="rect">
            <a:avLst/>
          </a:prstGeom>
          <a:noFill/>
          <a:ln>
            <a:noFill/>
          </a:ln>
        </p:spPr>
        <p:txBody>
          <a:bodyPr spcFirstLastPara="1" wrap="square" lIns="31875" tIns="31875" rIns="31875" bIns="31875" anchor="ctr" anchorCtr="0">
            <a:noAutofit/>
          </a:bodyPr>
          <a:lstStyle/>
          <a:p>
            <a:pPr marL="0" marR="0" lvl="0" indent="0" algn="ctr" rtl="0">
              <a:spcBef>
                <a:spcPts val="0"/>
              </a:spcBef>
              <a:spcAft>
                <a:spcPts val="0"/>
              </a:spcAft>
              <a:buNone/>
            </a:pPr>
            <a:r>
              <a:rPr lang="en-GB" sz="700" i="0" u="none" strike="noStrike" cap="none">
                <a:solidFill>
                  <a:srgbClr val="A5A5A5"/>
                </a:solidFill>
                <a:latin typeface="Roboto Thin"/>
                <a:ea typeface="Roboto Thin"/>
                <a:cs typeface="Roboto Thin"/>
                <a:sym typeface="Roboto Thin"/>
              </a:rPr>
              <a:t>Copyright © Government Technology Agency. Not to be reproduced without permission.</a:t>
            </a:r>
            <a:endParaRPr sz="700" i="0" u="none" strike="noStrike" cap="none">
              <a:solidFill>
                <a:srgbClr val="A5A5A5"/>
              </a:solidFill>
              <a:latin typeface="Roboto Thin"/>
              <a:ea typeface="Roboto Thin"/>
              <a:cs typeface="Roboto Thin"/>
              <a:sym typeface="Roboto Thin"/>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77"/>
        <p:cNvGrpSpPr/>
        <p:nvPr/>
      </p:nvGrpSpPr>
      <p:grpSpPr>
        <a:xfrm>
          <a:off x="0" y="0"/>
          <a:ext cx="0" cy="0"/>
          <a:chOff x="0" y="0"/>
          <a:chExt cx="0" cy="0"/>
        </a:xfrm>
      </p:grpSpPr>
      <p:sp>
        <p:nvSpPr>
          <p:cNvPr id="78" name="Google Shape;78;p13"/>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9" name="Google Shape;79;p13"/>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80" name="Google Shape;80;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atin typeface="Roboto"/>
                <a:ea typeface="Roboto"/>
                <a:cs typeface="Roboto"/>
                <a:sym typeface="Roboto"/>
              </a:defRPr>
            </a:lvl1pPr>
            <a:lvl2pPr lvl="1">
              <a:buNone/>
              <a:defRPr>
                <a:latin typeface="Roboto"/>
                <a:ea typeface="Roboto"/>
                <a:cs typeface="Roboto"/>
                <a:sym typeface="Roboto"/>
              </a:defRPr>
            </a:lvl2pPr>
            <a:lvl3pPr lvl="2">
              <a:buNone/>
              <a:defRPr>
                <a:latin typeface="Roboto"/>
                <a:ea typeface="Roboto"/>
                <a:cs typeface="Roboto"/>
                <a:sym typeface="Roboto"/>
              </a:defRPr>
            </a:lvl3pPr>
            <a:lvl4pPr lvl="3">
              <a:buNone/>
              <a:defRPr>
                <a:latin typeface="Roboto"/>
                <a:ea typeface="Roboto"/>
                <a:cs typeface="Roboto"/>
                <a:sym typeface="Roboto"/>
              </a:defRPr>
            </a:lvl4pPr>
            <a:lvl5pPr lvl="4">
              <a:buNone/>
              <a:defRPr>
                <a:latin typeface="Roboto"/>
                <a:ea typeface="Roboto"/>
                <a:cs typeface="Roboto"/>
                <a:sym typeface="Roboto"/>
              </a:defRPr>
            </a:lvl5pPr>
            <a:lvl6pPr lvl="5">
              <a:buNone/>
              <a:defRPr>
                <a:latin typeface="Roboto"/>
                <a:ea typeface="Roboto"/>
                <a:cs typeface="Roboto"/>
                <a:sym typeface="Roboto"/>
              </a:defRPr>
            </a:lvl6pPr>
            <a:lvl7pPr lvl="6">
              <a:buNone/>
              <a:defRPr>
                <a:latin typeface="Roboto"/>
                <a:ea typeface="Roboto"/>
                <a:cs typeface="Roboto"/>
                <a:sym typeface="Roboto"/>
              </a:defRPr>
            </a:lvl7pPr>
            <a:lvl8pPr lvl="7">
              <a:buNone/>
              <a:defRPr>
                <a:latin typeface="Roboto"/>
                <a:ea typeface="Roboto"/>
                <a:cs typeface="Roboto"/>
                <a:sym typeface="Roboto"/>
              </a:defRPr>
            </a:lvl8pPr>
            <a:lvl9pPr lvl="8">
              <a:buNone/>
              <a:defRPr>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ig number 1">
  <p:cSld name="BIG_NUMBER_1">
    <p:spTree>
      <p:nvGrpSpPr>
        <p:cNvPr id="1" name="Shape 81"/>
        <p:cNvGrpSpPr/>
        <p:nvPr/>
      </p:nvGrpSpPr>
      <p:grpSpPr>
        <a:xfrm>
          <a:off x="0" y="0"/>
          <a:ext cx="0" cy="0"/>
          <a:chOff x="0" y="0"/>
          <a:chExt cx="0" cy="0"/>
        </a:xfrm>
      </p:grpSpPr>
      <p:sp>
        <p:nvSpPr>
          <p:cNvPr id="82" name="Google Shape;82;p14"/>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83" name="Google Shape;83;p14"/>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rtl="0">
              <a:spcBef>
                <a:spcPts val="0"/>
              </a:spcBef>
              <a:spcAft>
                <a:spcPts val="0"/>
              </a:spcAft>
              <a:buSzPts val="1800"/>
              <a:buChar char="●"/>
              <a:defRPr/>
            </a:lvl1pPr>
            <a:lvl2pPr marL="914400" lvl="1" indent="-317500" algn="ctr" rtl="0">
              <a:spcBef>
                <a:spcPts val="0"/>
              </a:spcBef>
              <a:spcAft>
                <a:spcPts val="0"/>
              </a:spcAft>
              <a:buSzPts val="1400"/>
              <a:buChar char="○"/>
              <a:defRPr/>
            </a:lvl2pPr>
            <a:lvl3pPr marL="1371600" lvl="2" indent="-317500" algn="ctr" rtl="0">
              <a:spcBef>
                <a:spcPts val="0"/>
              </a:spcBef>
              <a:spcAft>
                <a:spcPts val="0"/>
              </a:spcAft>
              <a:buSzPts val="1400"/>
              <a:buChar char="■"/>
              <a:defRPr/>
            </a:lvl3pPr>
            <a:lvl4pPr marL="1828800" lvl="3" indent="-317500" algn="ctr" rtl="0">
              <a:spcBef>
                <a:spcPts val="0"/>
              </a:spcBef>
              <a:spcAft>
                <a:spcPts val="0"/>
              </a:spcAft>
              <a:buSzPts val="1400"/>
              <a:buChar char="●"/>
              <a:defRPr/>
            </a:lvl4pPr>
            <a:lvl5pPr marL="2286000" lvl="4" indent="-317500" algn="ctr" rtl="0">
              <a:spcBef>
                <a:spcPts val="0"/>
              </a:spcBef>
              <a:spcAft>
                <a:spcPts val="0"/>
              </a:spcAft>
              <a:buSzPts val="1400"/>
              <a:buChar char="○"/>
              <a:defRPr/>
            </a:lvl5pPr>
            <a:lvl6pPr marL="2743200" lvl="5" indent="-317500" algn="ctr" rtl="0">
              <a:spcBef>
                <a:spcPts val="0"/>
              </a:spcBef>
              <a:spcAft>
                <a:spcPts val="0"/>
              </a:spcAft>
              <a:buSzPts val="1400"/>
              <a:buChar char="■"/>
              <a:defRPr/>
            </a:lvl6pPr>
            <a:lvl7pPr marL="3200400" lvl="6" indent="-317500" algn="ctr" rtl="0">
              <a:spcBef>
                <a:spcPts val="0"/>
              </a:spcBef>
              <a:spcAft>
                <a:spcPts val="0"/>
              </a:spcAft>
              <a:buSzPts val="1400"/>
              <a:buChar char="●"/>
              <a:defRPr/>
            </a:lvl7pPr>
            <a:lvl8pPr marL="3657600" lvl="7" indent="-317500" algn="ctr" rtl="0">
              <a:spcBef>
                <a:spcPts val="0"/>
              </a:spcBef>
              <a:spcAft>
                <a:spcPts val="0"/>
              </a:spcAft>
              <a:buSzPts val="1400"/>
              <a:buChar char="○"/>
              <a:defRPr/>
            </a:lvl8pPr>
            <a:lvl9pPr marL="4114800" lvl="8" indent="-317500" algn="ctr" rtl="0">
              <a:spcBef>
                <a:spcPts val="0"/>
              </a:spcBef>
              <a:spcAft>
                <a:spcPts val="0"/>
              </a:spcAft>
              <a:buSzPts val="1400"/>
              <a:buChar char="■"/>
              <a:defRPr/>
            </a:lvl9pPr>
          </a:lstStyle>
          <a:p>
            <a:endParaRPr/>
          </a:p>
        </p:txBody>
      </p:sp>
      <p:sp>
        <p:nvSpPr>
          <p:cNvPr id="84" name="Google Shape;84;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atin typeface="Roboto"/>
                <a:ea typeface="Roboto"/>
                <a:cs typeface="Roboto"/>
                <a:sym typeface="Roboto"/>
              </a:defRPr>
            </a:lvl1pPr>
            <a:lvl2pPr lvl="1" rtl="0">
              <a:buNone/>
              <a:defRPr>
                <a:latin typeface="Roboto"/>
                <a:ea typeface="Roboto"/>
                <a:cs typeface="Roboto"/>
                <a:sym typeface="Roboto"/>
              </a:defRPr>
            </a:lvl2pPr>
            <a:lvl3pPr lvl="2" rtl="0">
              <a:buNone/>
              <a:defRPr>
                <a:latin typeface="Roboto"/>
                <a:ea typeface="Roboto"/>
                <a:cs typeface="Roboto"/>
                <a:sym typeface="Roboto"/>
              </a:defRPr>
            </a:lvl3pPr>
            <a:lvl4pPr lvl="3" rtl="0">
              <a:buNone/>
              <a:defRPr>
                <a:latin typeface="Roboto"/>
                <a:ea typeface="Roboto"/>
                <a:cs typeface="Roboto"/>
                <a:sym typeface="Roboto"/>
              </a:defRPr>
            </a:lvl4pPr>
            <a:lvl5pPr lvl="4" rtl="0">
              <a:buNone/>
              <a:defRPr>
                <a:latin typeface="Roboto"/>
                <a:ea typeface="Roboto"/>
                <a:cs typeface="Roboto"/>
                <a:sym typeface="Roboto"/>
              </a:defRPr>
            </a:lvl5pPr>
            <a:lvl6pPr lvl="5" rtl="0">
              <a:buNone/>
              <a:defRPr>
                <a:latin typeface="Roboto"/>
                <a:ea typeface="Roboto"/>
                <a:cs typeface="Roboto"/>
                <a:sym typeface="Roboto"/>
              </a:defRPr>
            </a:lvl6pPr>
            <a:lvl7pPr lvl="6" rtl="0">
              <a:buNone/>
              <a:defRPr>
                <a:latin typeface="Roboto"/>
                <a:ea typeface="Roboto"/>
                <a:cs typeface="Roboto"/>
                <a:sym typeface="Roboto"/>
              </a:defRPr>
            </a:lvl7pPr>
            <a:lvl8pPr lvl="7" rtl="0">
              <a:buNone/>
              <a:defRPr>
                <a:latin typeface="Roboto"/>
                <a:ea typeface="Roboto"/>
                <a:cs typeface="Roboto"/>
                <a:sym typeface="Roboto"/>
              </a:defRPr>
            </a:lvl8pPr>
            <a:lvl9pPr lvl="8" rtl="0">
              <a:buNone/>
              <a:defRPr>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
        <p:nvSpPr>
          <p:cNvPr id="85" name="Google Shape;85;p14"/>
          <p:cNvSpPr/>
          <p:nvPr/>
        </p:nvSpPr>
        <p:spPr>
          <a:xfrm>
            <a:off x="-125" y="5056825"/>
            <a:ext cx="9144000" cy="90600"/>
          </a:xfrm>
          <a:prstGeom prst="rect">
            <a:avLst/>
          </a:prstGeom>
          <a:gradFill>
            <a:gsLst>
              <a:gs pos="0">
                <a:srgbClr val="008C48"/>
              </a:gs>
              <a:gs pos="5000">
                <a:srgbClr val="008C48"/>
              </a:gs>
              <a:gs pos="100000">
                <a:srgbClr val="00B8E1"/>
              </a:gs>
            </a:gsLst>
            <a:lin ang="2700006" scaled="0"/>
          </a:gra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600" b="0" i="0" u="none" strike="noStrike" cap="none">
              <a:solidFill>
                <a:srgbClr val="FFFFFF"/>
              </a:solidFill>
              <a:latin typeface="Lucida Sans"/>
              <a:ea typeface="Lucida Sans"/>
              <a:cs typeface="Lucida Sans"/>
              <a:sym typeface="Lucida Sans"/>
            </a:endParaRPr>
          </a:p>
        </p:txBody>
      </p:sp>
      <p:sp>
        <p:nvSpPr>
          <p:cNvPr id="86" name="Google Shape;86;p14"/>
          <p:cNvSpPr/>
          <p:nvPr/>
        </p:nvSpPr>
        <p:spPr>
          <a:xfrm>
            <a:off x="2295566" y="4844097"/>
            <a:ext cx="4552800" cy="172200"/>
          </a:xfrm>
          <a:prstGeom prst="rect">
            <a:avLst/>
          </a:prstGeom>
          <a:noFill/>
          <a:ln>
            <a:noFill/>
          </a:ln>
        </p:spPr>
        <p:txBody>
          <a:bodyPr spcFirstLastPara="1" wrap="square" lIns="31875" tIns="31875" rIns="31875" bIns="31875" anchor="ctr" anchorCtr="0">
            <a:noAutofit/>
          </a:bodyPr>
          <a:lstStyle/>
          <a:p>
            <a:pPr marL="0" marR="0" lvl="0" indent="0" algn="ctr" rtl="0">
              <a:spcBef>
                <a:spcPts val="0"/>
              </a:spcBef>
              <a:spcAft>
                <a:spcPts val="0"/>
              </a:spcAft>
              <a:buNone/>
            </a:pPr>
            <a:r>
              <a:rPr lang="en-GB" sz="700" i="0" u="none" strike="noStrike" cap="none">
                <a:solidFill>
                  <a:srgbClr val="A5A5A5"/>
                </a:solidFill>
                <a:latin typeface="Roboto Thin"/>
                <a:ea typeface="Roboto Thin"/>
                <a:cs typeface="Roboto Thin"/>
                <a:sym typeface="Roboto Thin"/>
              </a:rPr>
              <a:t>Copyright © Government Technology Agency. Not to be reproduced without permission.</a:t>
            </a:r>
            <a:endParaRPr sz="700" i="0" u="none" strike="noStrike" cap="none">
              <a:solidFill>
                <a:srgbClr val="A5A5A5"/>
              </a:solidFill>
              <a:latin typeface="Roboto Thin"/>
              <a:ea typeface="Roboto Thin"/>
              <a:cs typeface="Roboto Thin"/>
              <a:sym typeface="Roboto Thin"/>
            </a:endParaRPr>
          </a:p>
        </p:txBody>
      </p:sp>
      <p:pic>
        <p:nvPicPr>
          <p:cNvPr id="87" name="Google Shape;87;p14"/>
          <p:cNvPicPr preferRelativeResize="0"/>
          <p:nvPr/>
        </p:nvPicPr>
        <p:blipFill rotWithShape="1">
          <a:blip r:embed="rId2">
            <a:alphaModFix/>
          </a:blip>
          <a:srcRect/>
          <a:stretch/>
        </p:blipFill>
        <p:spPr>
          <a:xfrm>
            <a:off x="8092859" y="76200"/>
            <a:ext cx="970140" cy="5727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8"/>
        <p:cNvGrpSpPr/>
        <p:nvPr/>
      </p:nvGrpSpPr>
      <p:grpSpPr>
        <a:xfrm>
          <a:off x="0" y="0"/>
          <a:ext cx="0" cy="0"/>
          <a:chOff x="0" y="0"/>
          <a:chExt cx="0" cy="0"/>
        </a:xfrm>
      </p:grpSpPr>
      <p:sp>
        <p:nvSpPr>
          <p:cNvPr id="89" name="Google Shape;89;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atin typeface="Roboto"/>
                <a:ea typeface="Roboto"/>
                <a:cs typeface="Roboto"/>
                <a:sym typeface="Roboto"/>
              </a:defRPr>
            </a:lvl1pPr>
            <a:lvl2pPr lvl="1">
              <a:buNone/>
              <a:defRPr>
                <a:latin typeface="Roboto"/>
                <a:ea typeface="Roboto"/>
                <a:cs typeface="Roboto"/>
                <a:sym typeface="Roboto"/>
              </a:defRPr>
            </a:lvl2pPr>
            <a:lvl3pPr lvl="2">
              <a:buNone/>
              <a:defRPr>
                <a:latin typeface="Roboto"/>
                <a:ea typeface="Roboto"/>
                <a:cs typeface="Roboto"/>
                <a:sym typeface="Roboto"/>
              </a:defRPr>
            </a:lvl3pPr>
            <a:lvl4pPr lvl="3">
              <a:buNone/>
              <a:defRPr>
                <a:latin typeface="Roboto"/>
                <a:ea typeface="Roboto"/>
                <a:cs typeface="Roboto"/>
                <a:sym typeface="Roboto"/>
              </a:defRPr>
            </a:lvl4pPr>
            <a:lvl5pPr lvl="4">
              <a:buNone/>
              <a:defRPr>
                <a:latin typeface="Roboto"/>
                <a:ea typeface="Roboto"/>
                <a:cs typeface="Roboto"/>
                <a:sym typeface="Roboto"/>
              </a:defRPr>
            </a:lvl5pPr>
            <a:lvl6pPr lvl="5">
              <a:buNone/>
              <a:defRPr>
                <a:latin typeface="Roboto"/>
                <a:ea typeface="Roboto"/>
                <a:cs typeface="Roboto"/>
                <a:sym typeface="Roboto"/>
              </a:defRPr>
            </a:lvl6pPr>
            <a:lvl7pPr lvl="6">
              <a:buNone/>
              <a:defRPr>
                <a:latin typeface="Roboto"/>
                <a:ea typeface="Roboto"/>
                <a:cs typeface="Roboto"/>
                <a:sym typeface="Roboto"/>
              </a:defRPr>
            </a:lvl7pPr>
            <a:lvl8pPr lvl="7">
              <a:buNone/>
              <a:defRPr>
                <a:latin typeface="Roboto"/>
                <a:ea typeface="Roboto"/>
                <a:cs typeface="Roboto"/>
                <a:sym typeface="Roboto"/>
              </a:defRPr>
            </a:lvl8pPr>
            <a:lvl9pPr lvl="8">
              <a:buNone/>
              <a:defRPr>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GovTech Layout">
  <p:cSld name="BLANK_1">
    <p:spTree>
      <p:nvGrpSpPr>
        <p:cNvPr id="1" name="Shape 90"/>
        <p:cNvGrpSpPr/>
        <p:nvPr/>
      </p:nvGrpSpPr>
      <p:grpSpPr>
        <a:xfrm>
          <a:off x="0" y="0"/>
          <a:ext cx="0" cy="0"/>
          <a:chOff x="0" y="0"/>
          <a:chExt cx="0" cy="0"/>
        </a:xfrm>
      </p:grpSpPr>
      <p:sp>
        <p:nvSpPr>
          <p:cNvPr id="91" name="Google Shape;91;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atin typeface="Roboto"/>
                <a:ea typeface="Roboto"/>
                <a:cs typeface="Roboto"/>
                <a:sym typeface="Roboto"/>
              </a:defRPr>
            </a:lvl1pPr>
            <a:lvl2pPr lvl="1" rtl="0">
              <a:buNone/>
              <a:defRPr>
                <a:latin typeface="Roboto"/>
                <a:ea typeface="Roboto"/>
                <a:cs typeface="Roboto"/>
                <a:sym typeface="Roboto"/>
              </a:defRPr>
            </a:lvl2pPr>
            <a:lvl3pPr lvl="2" rtl="0">
              <a:buNone/>
              <a:defRPr>
                <a:latin typeface="Roboto"/>
                <a:ea typeface="Roboto"/>
                <a:cs typeface="Roboto"/>
                <a:sym typeface="Roboto"/>
              </a:defRPr>
            </a:lvl3pPr>
            <a:lvl4pPr lvl="3" rtl="0">
              <a:buNone/>
              <a:defRPr>
                <a:latin typeface="Roboto"/>
                <a:ea typeface="Roboto"/>
                <a:cs typeface="Roboto"/>
                <a:sym typeface="Roboto"/>
              </a:defRPr>
            </a:lvl4pPr>
            <a:lvl5pPr lvl="4" rtl="0">
              <a:buNone/>
              <a:defRPr>
                <a:latin typeface="Roboto"/>
                <a:ea typeface="Roboto"/>
                <a:cs typeface="Roboto"/>
                <a:sym typeface="Roboto"/>
              </a:defRPr>
            </a:lvl5pPr>
            <a:lvl6pPr lvl="5" rtl="0">
              <a:buNone/>
              <a:defRPr>
                <a:latin typeface="Roboto"/>
                <a:ea typeface="Roboto"/>
                <a:cs typeface="Roboto"/>
                <a:sym typeface="Roboto"/>
              </a:defRPr>
            </a:lvl6pPr>
            <a:lvl7pPr lvl="6" rtl="0">
              <a:buNone/>
              <a:defRPr>
                <a:latin typeface="Roboto"/>
                <a:ea typeface="Roboto"/>
                <a:cs typeface="Roboto"/>
                <a:sym typeface="Roboto"/>
              </a:defRPr>
            </a:lvl7pPr>
            <a:lvl8pPr lvl="7" rtl="0">
              <a:buNone/>
              <a:defRPr>
                <a:latin typeface="Roboto"/>
                <a:ea typeface="Roboto"/>
                <a:cs typeface="Roboto"/>
                <a:sym typeface="Roboto"/>
              </a:defRPr>
            </a:lvl8pPr>
            <a:lvl9pPr lvl="8" rtl="0">
              <a:buNone/>
              <a:defRPr>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
        <p:nvSpPr>
          <p:cNvPr id="92" name="Google Shape;92;p16"/>
          <p:cNvSpPr/>
          <p:nvPr/>
        </p:nvSpPr>
        <p:spPr>
          <a:xfrm>
            <a:off x="-125" y="5056825"/>
            <a:ext cx="9144000" cy="90600"/>
          </a:xfrm>
          <a:prstGeom prst="rect">
            <a:avLst/>
          </a:prstGeom>
          <a:gradFill>
            <a:gsLst>
              <a:gs pos="0">
                <a:srgbClr val="008C48"/>
              </a:gs>
              <a:gs pos="5000">
                <a:srgbClr val="008C48"/>
              </a:gs>
              <a:gs pos="100000">
                <a:srgbClr val="00B8E1"/>
              </a:gs>
            </a:gsLst>
            <a:lin ang="2700006" scaled="0"/>
          </a:gradFill>
          <a:ln>
            <a:noFill/>
          </a:ln>
        </p:spPr>
        <p:txBody>
          <a:bodyPr spcFirstLastPara="1" wrap="square" lIns="50800" tIns="50800" rIns="50800" bIns="50800" anchor="ctr" anchorCtr="0">
            <a:noAutofit/>
          </a:bodyPr>
          <a:lstStyle/>
          <a:p>
            <a:pPr marL="0" marR="0" lvl="0" indent="0" algn="l" rtl="0">
              <a:spcBef>
                <a:spcPts val="0"/>
              </a:spcBef>
              <a:spcAft>
                <a:spcPts val="0"/>
              </a:spcAft>
              <a:buNone/>
            </a:pPr>
            <a:endParaRPr sz="600" b="0" i="0" u="none" strike="noStrike" cap="none">
              <a:solidFill>
                <a:srgbClr val="FFFFFF"/>
              </a:solidFill>
              <a:latin typeface="Lucida Sans"/>
              <a:ea typeface="Lucida Sans"/>
              <a:cs typeface="Lucida Sans"/>
              <a:sym typeface="Lucida Sans"/>
            </a:endParaRPr>
          </a:p>
        </p:txBody>
      </p:sp>
      <p:sp>
        <p:nvSpPr>
          <p:cNvPr id="93" name="Google Shape;93;p16"/>
          <p:cNvSpPr/>
          <p:nvPr/>
        </p:nvSpPr>
        <p:spPr>
          <a:xfrm>
            <a:off x="2295566" y="4844097"/>
            <a:ext cx="4552800" cy="172200"/>
          </a:xfrm>
          <a:prstGeom prst="rect">
            <a:avLst/>
          </a:prstGeom>
          <a:noFill/>
          <a:ln>
            <a:noFill/>
          </a:ln>
        </p:spPr>
        <p:txBody>
          <a:bodyPr spcFirstLastPara="1" wrap="square" lIns="31875" tIns="31875" rIns="31875" bIns="31875" anchor="ctr" anchorCtr="0">
            <a:noAutofit/>
          </a:bodyPr>
          <a:lstStyle/>
          <a:p>
            <a:pPr marL="0" marR="0" lvl="0" indent="0" algn="ctr" rtl="0">
              <a:spcBef>
                <a:spcPts val="0"/>
              </a:spcBef>
              <a:spcAft>
                <a:spcPts val="0"/>
              </a:spcAft>
              <a:buNone/>
            </a:pPr>
            <a:r>
              <a:rPr lang="en-GB" sz="700" i="0" u="none" strike="noStrike" cap="none">
                <a:solidFill>
                  <a:srgbClr val="A5A5A5"/>
                </a:solidFill>
                <a:latin typeface="Roboto Thin"/>
                <a:ea typeface="Roboto Thin"/>
                <a:cs typeface="Roboto Thin"/>
                <a:sym typeface="Roboto Thin"/>
              </a:rPr>
              <a:t>Copyright © Government Technology Agency. Not to be reproduced without permission.</a:t>
            </a:r>
            <a:endParaRPr sz="700" i="0" u="none" strike="noStrike" cap="none">
              <a:solidFill>
                <a:srgbClr val="A5A5A5"/>
              </a:solidFill>
              <a:latin typeface="Roboto Thin"/>
              <a:ea typeface="Roboto Thin"/>
              <a:cs typeface="Roboto Thin"/>
              <a:sym typeface="Roboto Thin"/>
            </a:endParaRPr>
          </a:p>
        </p:txBody>
      </p:sp>
      <p:pic>
        <p:nvPicPr>
          <p:cNvPr id="94" name="Google Shape;94;p16"/>
          <p:cNvPicPr preferRelativeResize="0"/>
          <p:nvPr/>
        </p:nvPicPr>
        <p:blipFill rotWithShape="1">
          <a:blip r:embed="rId2">
            <a:alphaModFix/>
          </a:blip>
          <a:srcRect/>
          <a:stretch/>
        </p:blipFill>
        <p:spPr>
          <a:xfrm>
            <a:off x="8092859" y="76200"/>
            <a:ext cx="970140" cy="5727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Roboto"/>
              <a:buNone/>
              <a:defRPr sz="2800" b="1">
                <a:solidFill>
                  <a:schemeClr val="dk1"/>
                </a:solidFill>
                <a:latin typeface="Roboto"/>
                <a:ea typeface="Roboto"/>
                <a:cs typeface="Roboto"/>
                <a:sym typeface="Roboto"/>
              </a:defRPr>
            </a:lvl1pPr>
            <a:lvl2pPr lvl="1">
              <a:spcBef>
                <a:spcPts val="0"/>
              </a:spcBef>
              <a:spcAft>
                <a:spcPts val="0"/>
              </a:spcAft>
              <a:buClr>
                <a:schemeClr val="dk1"/>
              </a:buClr>
              <a:buSzPts val="2800"/>
              <a:buFont typeface="Roboto"/>
              <a:buNone/>
              <a:defRPr sz="2800" b="1">
                <a:solidFill>
                  <a:schemeClr val="dk1"/>
                </a:solidFill>
                <a:latin typeface="Roboto"/>
                <a:ea typeface="Roboto"/>
                <a:cs typeface="Roboto"/>
                <a:sym typeface="Roboto"/>
              </a:defRPr>
            </a:lvl2pPr>
            <a:lvl3pPr lvl="2">
              <a:spcBef>
                <a:spcPts val="0"/>
              </a:spcBef>
              <a:spcAft>
                <a:spcPts val="0"/>
              </a:spcAft>
              <a:buClr>
                <a:schemeClr val="dk1"/>
              </a:buClr>
              <a:buSzPts val="2800"/>
              <a:buFont typeface="Roboto"/>
              <a:buNone/>
              <a:defRPr sz="2800" b="1">
                <a:solidFill>
                  <a:schemeClr val="dk1"/>
                </a:solidFill>
                <a:latin typeface="Roboto"/>
                <a:ea typeface="Roboto"/>
                <a:cs typeface="Roboto"/>
                <a:sym typeface="Roboto"/>
              </a:defRPr>
            </a:lvl3pPr>
            <a:lvl4pPr lvl="3">
              <a:spcBef>
                <a:spcPts val="0"/>
              </a:spcBef>
              <a:spcAft>
                <a:spcPts val="0"/>
              </a:spcAft>
              <a:buClr>
                <a:schemeClr val="dk1"/>
              </a:buClr>
              <a:buSzPts val="2800"/>
              <a:buFont typeface="Roboto"/>
              <a:buNone/>
              <a:defRPr sz="2800" b="1">
                <a:solidFill>
                  <a:schemeClr val="dk1"/>
                </a:solidFill>
                <a:latin typeface="Roboto"/>
                <a:ea typeface="Roboto"/>
                <a:cs typeface="Roboto"/>
                <a:sym typeface="Roboto"/>
              </a:defRPr>
            </a:lvl4pPr>
            <a:lvl5pPr lvl="4">
              <a:spcBef>
                <a:spcPts val="0"/>
              </a:spcBef>
              <a:spcAft>
                <a:spcPts val="0"/>
              </a:spcAft>
              <a:buClr>
                <a:schemeClr val="dk1"/>
              </a:buClr>
              <a:buSzPts val="2800"/>
              <a:buFont typeface="Roboto"/>
              <a:buNone/>
              <a:defRPr sz="2800" b="1">
                <a:solidFill>
                  <a:schemeClr val="dk1"/>
                </a:solidFill>
                <a:latin typeface="Roboto"/>
                <a:ea typeface="Roboto"/>
                <a:cs typeface="Roboto"/>
                <a:sym typeface="Roboto"/>
              </a:defRPr>
            </a:lvl5pPr>
            <a:lvl6pPr lvl="5">
              <a:spcBef>
                <a:spcPts val="0"/>
              </a:spcBef>
              <a:spcAft>
                <a:spcPts val="0"/>
              </a:spcAft>
              <a:buClr>
                <a:schemeClr val="dk1"/>
              </a:buClr>
              <a:buSzPts val="2800"/>
              <a:buFont typeface="Roboto"/>
              <a:buNone/>
              <a:defRPr sz="2800" b="1">
                <a:solidFill>
                  <a:schemeClr val="dk1"/>
                </a:solidFill>
                <a:latin typeface="Roboto"/>
                <a:ea typeface="Roboto"/>
                <a:cs typeface="Roboto"/>
                <a:sym typeface="Roboto"/>
              </a:defRPr>
            </a:lvl6pPr>
            <a:lvl7pPr lvl="6">
              <a:spcBef>
                <a:spcPts val="0"/>
              </a:spcBef>
              <a:spcAft>
                <a:spcPts val="0"/>
              </a:spcAft>
              <a:buClr>
                <a:schemeClr val="dk1"/>
              </a:buClr>
              <a:buSzPts val="2800"/>
              <a:buFont typeface="Roboto"/>
              <a:buNone/>
              <a:defRPr sz="2800" b="1">
                <a:solidFill>
                  <a:schemeClr val="dk1"/>
                </a:solidFill>
                <a:latin typeface="Roboto"/>
                <a:ea typeface="Roboto"/>
                <a:cs typeface="Roboto"/>
                <a:sym typeface="Roboto"/>
              </a:defRPr>
            </a:lvl7pPr>
            <a:lvl8pPr lvl="7">
              <a:spcBef>
                <a:spcPts val="0"/>
              </a:spcBef>
              <a:spcAft>
                <a:spcPts val="0"/>
              </a:spcAft>
              <a:buClr>
                <a:schemeClr val="dk1"/>
              </a:buClr>
              <a:buSzPts val="2800"/>
              <a:buFont typeface="Roboto"/>
              <a:buNone/>
              <a:defRPr sz="2800" b="1">
                <a:solidFill>
                  <a:schemeClr val="dk1"/>
                </a:solidFill>
                <a:latin typeface="Roboto"/>
                <a:ea typeface="Roboto"/>
                <a:cs typeface="Roboto"/>
                <a:sym typeface="Roboto"/>
              </a:defRPr>
            </a:lvl8pPr>
            <a:lvl9pPr lvl="8">
              <a:spcBef>
                <a:spcPts val="0"/>
              </a:spcBef>
              <a:spcAft>
                <a:spcPts val="0"/>
              </a:spcAft>
              <a:buClr>
                <a:schemeClr val="dk1"/>
              </a:buClr>
              <a:buSzPts val="2800"/>
              <a:buFont typeface="Roboto"/>
              <a:buNone/>
              <a:defRPr sz="2800" b="1">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marL="914400" lvl="1"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marL="1371600" lvl="2"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marL="1828800" lvl="3"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marL="2286000" lvl="4"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marL="2743200" lvl="5"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marL="3200400" lvl="6"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marL="3657600" lvl="7"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marL="4114800" lvl="8"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image" Target="../media/image20.pn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3.gif"/><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2.xml"/><Relationship Id="rId1" Type="http://schemas.openxmlformats.org/officeDocument/2006/relationships/slideLayout" Target="../slideLayouts/slideLayout3.xml"/><Relationship Id="rId4" Type="http://schemas.openxmlformats.org/officeDocument/2006/relationships/image" Target="../media/image32.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7"/>
          <p:cNvSpPr txBox="1">
            <a:spLocks noGrp="1"/>
          </p:cNvSpPr>
          <p:nvPr>
            <p:ph type="ctrTitle"/>
          </p:nvPr>
        </p:nvSpPr>
        <p:spPr>
          <a:xfrm>
            <a:off x="311700" y="2004575"/>
            <a:ext cx="8520600" cy="79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GB" sz="3900"/>
              <a:t>Hacking Humans with AI as a Service</a:t>
            </a:r>
            <a:endParaRPr/>
          </a:p>
        </p:txBody>
      </p:sp>
      <p:sp>
        <p:nvSpPr>
          <p:cNvPr id="100" name="Google Shape;100;p17"/>
          <p:cNvSpPr txBox="1">
            <a:spLocks noGrp="1"/>
          </p:cNvSpPr>
          <p:nvPr>
            <p:ph type="subTitle" idx="1"/>
          </p:nvPr>
        </p:nvSpPr>
        <p:spPr>
          <a:xfrm>
            <a:off x="2303850" y="2909125"/>
            <a:ext cx="4536300" cy="1944900"/>
          </a:xfrm>
          <a:prstGeom prst="rect">
            <a:avLst/>
          </a:prstGeom>
        </p:spPr>
        <p:txBody>
          <a:bodyPr spcFirstLastPara="1" wrap="square" lIns="91425" tIns="91425" rIns="91425" bIns="91425" anchor="t" anchorCtr="0">
            <a:normAutofit/>
          </a:bodyPr>
          <a:lstStyle/>
          <a:p>
            <a:pPr marL="0" lvl="0" indent="0" algn="ctr" rtl="0">
              <a:lnSpc>
                <a:spcPct val="80000"/>
              </a:lnSpc>
              <a:spcBef>
                <a:spcPts val="0"/>
              </a:spcBef>
              <a:spcAft>
                <a:spcPts val="0"/>
              </a:spcAft>
              <a:buNone/>
            </a:pPr>
            <a:r>
              <a:rPr lang="en-GB" sz="1400"/>
              <a:t>Eugene Lim, Glenice Tan, Tan Kee Hock, Timothy Lee</a:t>
            </a:r>
            <a:endParaRPr sz="1400"/>
          </a:p>
          <a:p>
            <a:pPr marL="0" lvl="0" indent="0" algn="ctr" rtl="0">
              <a:lnSpc>
                <a:spcPct val="80000"/>
              </a:lnSpc>
              <a:spcBef>
                <a:spcPts val="0"/>
              </a:spcBef>
              <a:spcAft>
                <a:spcPts val="0"/>
              </a:spcAft>
              <a:buNone/>
            </a:pPr>
            <a:endParaRPr sz="1400"/>
          </a:p>
          <a:p>
            <a:pPr marL="0" lvl="0" indent="0" algn="ctr" rtl="0">
              <a:lnSpc>
                <a:spcPct val="80000"/>
              </a:lnSpc>
              <a:spcBef>
                <a:spcPts val="0"/>
              </a:spcBef>
              <a:spcAft>
                <a:spcPts val="0"/>
              </a:spcAft>
              <a:buNone/>
            </a:pPr>
            <a:r>
              <a:rPr lang="en-GB" sz="1400"/>
              <a:t>DEF CON 29</a:t>
            </a:r>
            <a:endParaRPr sz="1400"/>
          </a:p>
          <a:p>
            <a:pPr marL="0" lvl="0" indent="0" algn="ctr" rtl="0">
              <a:lnSpc>
                <a:spcPct val="80000"/>
              </a:lnSpc>
              <a:spcBef>
                <a:spcPts val="0"/>
              </a:spcBef>
              <a:spcAft>
                <a:spcPts val="0"/>
              </a:spcAft>
              <a:buNone/>
            </a:pPr>
            <a:endParaRPr sz="1400"/>
          </a:p>
          <a:p>
            <a:pPr marL="0" lvl="0" indent="0" algn="ctr" rtl="0">
              <a:lnSpc>
                <a:spcPct val="80000"/>
              </a:lnSpc>
              <a:spcBef>
                <a:spcPts val="0"/>
              </a:spcBef>
              <a:spcAft>
                <a:spcPts val="0"/>
              </a:spcAft>
              <a:buClr>
                <a:schemeClr val="dk1"/>
              </a:buClr>
              <a:buSzPts val="1100"/>
              <a:buFont typeface="Arial"/>
              <a:buNone/>
            </a:pPr>
            <a:r>
              <a:rPr lang="en-GB" sz="1400" b="1" i="1">
                <a:latin typeface="Roboto"/>
                <a:ea typeface="Roboto"/>
                <a:cs typeface="Roboto"/>
                <a:sym typeface="Roboto"/>
              </a:rPr>
              <a:t>Disclaimer</a:t>
            </a:r>
            <a:r>
              <a:rPr lang="en-GB" sz="1400" i="1">
                <a:latin typeface="Roboto Thin"/>
                <a:ea typeface="Roboto Thin"/>
                <a:cs typeface="Roboto Thin"/>
                <a:sym typeface="Roboto Thin"/>
              </a:rPr>
              <a:t/>
            </a:r>
            <a:br>
              <a:rPr lang="en-GB" sz="1400" i="1">
                <a:latin typeface="Roboto Thin"/>
                <a:ea typeface="Roboto Thin"/>
                <a:cs typeface="Roboto Thin"/>
                <a:sym typeface="Roboto Thin"/>
              </a:rPr>
            </a:br>
            <a:endParaRPr sz="500" i="1">
              <a:latin typeface="Roboto Thin"/>
              <a:ea typeface="Roboto Thin"/>
              <a:cs typeface="Roboto Thin"/>
              <a:sym typeface="Roboto Thin"/>
            </a:endParaRPr>
          </a:p>
          <a:p>
            <a:pPr marL="0" lvl="0" indent="0" algn="ctr" rtl="0">
              <a:lnSpc>
                <a:spcPct val="80000"/>
              </a:lnSpc>
              <a:spcBef>
                <a:spcPts val="0"/>
              </a:spcBef>
              <a:spcAft>
                <a:spcPts val="0"/>
              </a:spcAft>
              <a:buNone/>
            </a:pPr>
            <a:r>
              <a:rPr lang="en-GB" sz="1400" i="1">
                <a:latin typeface="Roboto Thin"/>
                <a:ea typeface="Roboto Thin"/>
                <a:cs typeface="Roboto Thin"/>
                <a:sym typeface="Roboto Thin"/>
              </a:rPr>
              <a:t>Materials presented are based on research conducted. Not to be attributed to any entity</a:t>
            </a:r>
            <a:r>
              <a:rPr lang="en-GB" sz="1400">
                <a:latin typeface="Roboto Thin"/>
                <a:ea typeface="Roboto Thin"/>
                <a:cs typeface="Roboto Thin"/>
                <a:sym typeface="Roboto Thin"/>
              </a:rPr>
              <a:t>.</a:t>
            </a:r>
            <a:endParaRPr sz="1400">
              <a:latin typeface="Roboto Thin"/>
              <a:ea typeface="Roboto Thin"/>
              <a:cs typeface="Roboto Thin"/>
              <a:sym typeface="Roboto Thin"/>
            </a:endParaRPr>
          </a:p>
          <a:p>
            <a:pPr marL="0" lvl="0" indent="0" algn="ctr" rtl="0">
              <a:lnSpc>
                <a:spcPct val="80000"/>
              </a:lnSpc>
              <a:spcBef>
                <a:spcPts val="0"/>
              </a:spcBef>
              <a:spcAft>
                <a:spcPts val="0"/>
              </a:spcAft>
              <a:buNone/>
            </a:pPr>
            <a:endParaRPr sz="1400"/>
          </a:p>
        </p:txBody>
      </p:sp>
      <p:pic>
        <p:nvPicPr>
          <p:cNvPr id="101" name="Google Shape;101;p17"/>
          <p:cNvPicPr preferRelativeResize="0"/>
          <p:nvPr/>
        </p:nvPicPr>
        <p:blipFill>
          <a:blip r:embed="rId3">
            <a:alphaModFix/>
          </a:blip>
          <a:stretch>
            <a:fillRect/>
          </a:stretch>
        </p:blipFill>
        <p:spPr>
          <a:xfrm>
            <a:off x="2667000" y="775850"/>
            <a:ext cx="3810000" cy="12287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8"/>
          <p:cNvSpPr/>
          <p:nvPr/>
        </p:nvSpPr>
        <p:spPr>
          <a:xfrm>
            <a:off x="0" y="120881"/>
            <a:ext cx="2421600" cy="402600"/>
          </a:xfrm>
          <a:prstGeom prst="rect">
            <a:avLst/>
          </a:prstGeom>
          <a:gradFill>
            <a:gsLst>
              <a:gs pos="0">
                <a:srgbClr val="00C0F3"/>
              </a:gs>
              <a:gs pos="100000">
                <a:srgbClr val="008E4E"/>
              </a:gs>
            </a:gsLst>
            <a:lin ang="270000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Lucida Sans"/>
              <a:ea typeface="Lucida Sans"/>
              <a:cs typeface="Lucida Sans"/>
              <a:sym typeface="Lucida Sans"/>
            </a:endParaRPr>
          </a:p>
        </p:txBody>
      </p:sp>
      <p:sp>
        <p:nvSpPr>
          <p:cNvPr id="107" name="Google Shape;107;p18"/>
          <p:cNvSpPr txBox="1">
            <a:spLocks noGrp="1"/>
          </p:cNvSpPr>
          <p:nvPr>
            <p:ph type="title"/>
          </p:nvPr>
        </p:nvSpPr>
        <p:spPr>
          <a:xfrm>
            <a:off x="311700" y="73176"/>
            <a:ext cx="49377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Meet the Team</a:t>
            </a:r>
            <a:endParaRPr/>
          </a:p>
        </p:txBody>
      </p:sp>
      <p:sp>
        <p:nvSpPr>
          <p:cNvPr id="108" name="Google Shape;108;p18"/>
          <p:cNvSpPr txBox="1"/>
          <p:nvPr/>
        </p:nvSpPr>
        <p:spPr>
          <a:xfrm>
            <a:off x="166960" y="3565572"/>
            <a:ext cx="3590100" cy="5784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767677"/>
              </a:buClr>
              <a:buSzPts val="2400"/>
              <a:buFont typeface="Arial"/>
              <a:buNone/>
            </a:pPr>
            <a:r>
              <a:rPr lang="en-GB" sz="1800">
                <a:solidFill>
                  <a:schemeClr val="dk2"/>
                </a:solidFill>
                <a:latin typeface="Roboto Medium"/>
                <a:ea typeface="Roboto Medium"/>
                <a:cs typeface="Roboto Medium"/>
                <a:sym typeface="Roboto Medium"/>
              </a:rPr>
              <a:t>Eugene Lim</a:t>
            </a:r>
            <a:endParaRPr sz="1800">
              <a:solidFill>
                <a:schemeClr val="dk2"/>
              </a:solidFill>
              <a:latin typeface="Roboto Medium"/>
              <a:ea typeface="Roboto Medium"/>
              <a:cs typeface="Roboto Medium"/>
              <a:sym typeface="Roboto Medium"/>
            </a:endParaRPr>
          </a:p>
        </p:txBody>
      </p:sp>
      <p:sp>
        <p:nvSpPr>
          <p:cNvPr id="109" name="Google Shape;109;p18"/>
          <p:cNvSpPr txBox="1"/>
          <p:nvPr/>
        </p:nvSpPr>
        <p:spPr>
          <a:xfrm>
            <a:off x="613550" y="3874550"/>
            <a:ext cx="2697000" cy="5784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AFABAB"/>
              </a:buClr>
              <a:buSzPts val="2400"/>
              <a:buFont typeface="Arial"/>
              <a:buNone/>
            </a:pPr>
            <a:r>
              <a:rPr lang="en-GB" sz="1700">
                <a:solidFill>
                  <a:schemeClr val="dk2"/>
                </a:solidFill>
                <a:latin typeface="Roboto Light"/>
                <a:ea typeface="Roboto Light"/>
                <a:cs typeface="Roboto Light"/>
                <a:sym typeface="Roboto Light"/>
              </a:rPr>
              <a:t>@spaceraccoonsec</a:t>
            </a:r>
            <a:endParaRPr sz="1700">
              <a:solidFill>
                <a:schemeClr val="dk2"/>
              </a:solidFill>
              <a:latin typeface="Roboto Light"/>
              <a:ea typeface="Roboto Light"/>
              <a:cs typeface="Roboto Light"/>
              <a:sym typeface="Roboto Light"/>
            </a:endParaRPr>
          </a:p>
        </p:txBody>
      </p:sp>
      <p:grpSp>
        <p:nvGrpSpPr>
          <p:cNvPr id="110" name="Google Shape;110;p18"/>
          <p:cNvGrpSpPr/>
          <p:nvPr/>
        </p:nvGrpSpPr>
        <p:grpSpPr>
          <a:xfrm>
            <a:off x="792000" y="1044000"/>
            <a:ext cx="2340000" cy="2340000"/>
            <a:chOff x="816725" y="1066213"/>
            <a:chExt cx="2340000" cy="2340000"/>
          </a:xfrm>
        </p:grpSpPr>
        <p:sp>
          <p:nvSpPr>
            <p:cNvPr id="111" name="Google Shape;111;p18"/>
            <p:cNvSpPr/>
            <p:nvPr/>
          </p:nvSpPr>
          <p:spPr>
            <a:xfrm>
              <a:off x="816725" y="1066213"/>
              <a:ext cx="2340000" cy="2340000"/>
            </a:xfrm>
            <a:prstGeom prst="ellipse">
              <a:avLst/>
            </a:prstGeom>
            <a:gradFill>
              <a:gsLst>
                <a:gs pos="0">
                  <a:srgbClr val="00C0F3"/>
                </a:gs>
                <a:gs pos="100000">
                  <a:srgbClr val="008E4E"/>
                </a:gs>
              </a:gsLst>
              <a:lin ang="2700006"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Font typeface="Arial"/>
                <a:buNone/>
              </a:pPr>
              <a:endParaRPr sz="1350">
                <a:solidFill>
                  <a:srgbClr val="FFFFFF"/>
                </a:solidFill>
                <a:latin typeface="Lucida Sans"/>
                <a:ea typeface="Lucida Sans"/>
                <a:cs typeface="Lucida Sans"/>
                <a:sym typeface="Lucida Sans"/>
              </a:endParaRPr>
            </a:p>
          </p:txBody>
        </p:sp>
        <p:pic>
          <p:nvPicPr>
            <p:cNvPr id="112" name="Google Shape;112;p18"/>
            <p:cNvPicPr preferRelativeResize="0"/>
            <p:nvPr/>
          </p:nvPicPr>
          <p:blipFill>
            <a:blip r:embed="rId3">
              <a:alphaModFix/>
            </a:blip>
            <a:stretch>
              <a:fillRect/>
            </a:stretch>
          </p:blipFill>
          <p:spPr>
            <a:xfrm>
              <a:off x="900876" y="1140138"/>
              <a:ext cx="2172300" cy="2172300"/>
            </a:xfrm>
            <a:prstGeom prst="ellipse">
              <a:avLst/>
            </a:prstGeom>
            <a:noFill/>
            <a:ln>
              <a:noFill/>
            </a:ln>
          </p:spPr>
        </p:pic>
      </p:grpSp>
      <p:grpSp>
        <p:nvGrpSpPr>
          <p:cNvPr id="113" name="Google Shape;113;p18"/>
          <p:cNvGrpSpPr/>
          <p:nvPr/>
        </p:nvGrpSpPr>
        <p:grpSpPr>
          <a:xfrm>
            <a:off x="3449309" y="1405308"/>
            <a:ext cx="5427315" cy="1778056"/>
            <a:chOff x="5250500" y="2329500"/>
            <a:chExt cx="5971957" cy="1778056"/>
          </a:xfrm>
        </p:grpSpPr>
        <p:sp>
          <p:nvSpPr>
            <p:cNvPr id="114" name="Google Shape;114;p18"/>
            <p:cNvSpPr txBox="1"/>
            <p:nvPr/>
          </p:nvSpPr>
          <p:spPr>
            <a:xfrm>
              <a:off x="5250503" y="2329500"/>
              <a:ext cx="5590800" cy="42750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rgbClr val="404040"/>
                </a:buClr>
                <a:buSzPts val="2400"/>
                <a:buFont typeface="Noto Sans Symbols"/>
                <a:buNone/>
              </a:pPr>
              <a:r>
                <a:rPr lang="en-GB" sz="1700" b="1">
                  <a:solidFill>
                    <a:srgbClr val="404040"/>
                  </a:solidFill>
                  <a:latin typeface="Roboto"/>
                  <a:ea typeface="Roboto"/>
                  <a:cs typeface="Roboto"/>
                  <a:sym typeface="Roboto"/>
                </a:rPr>
                <a:t>AppSec and Vulnerability Research</a:t>
              </a:r>
              <a:endParaRPr sz="1700">
                <a:solidFill>
                  <a:srgbClr val="404040"/>
                </a:solidFill>
                <a:latin typeface="Roboto"/>
                <a:ea typeface="Roboto"/>
                <a:cs typeface="Roboto"/>
                <a:sym typeface="Roboto"/>
              </a:endParaRPr>
            </a:p>
          </p:txBody>
        </p:sp>
        <p:sp>
          <p:nvSpPr>
            <p:cNvPr id="115" name="Google Shape;115;p18"/>
            <p:cNvSpPr txBox="1"/>
            <p:nvPr/>
          </p:nvSpPr>
          <p:spPr>
            <a:xfrm>
              <a:off x="5255457" y="2714164"/>
              <a:ext cx="5967000" cy="4275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AFABAB"/>
                </a:buClr>
                <a:buSzPts val="2000"/>
                <a:buFont typeface="Noto Sans Symbols"/>
                <a:buNone/>
              </a:pPr>
              <a:r>
                <a:rPr lang="en-GB" sz="1500">
                  <a:solidFill>
                    <a:schemeClr val="dk2"/>
                  </a:solidFill>
                  <a:latin typeface="Roboto Light"/>
                  <a:ea typeface="Roboto Light"/>
                  <a:cs typeface="Roboto Light"/>
                  <a:sym typeface="Roboto Light"/>
                </a:rPr>
                <a:t>With a dash of white hat hacking</a:t>
              </a:r>
              <a:endParaRPr sz="900">
                <a:solidFill>
                  <a:schemeClr val="dk2"/>
                </a:solidFill>
                <a:latin typeface="Roboto Light"/>
                <a:ea typeface="Roboto Light"/>
                <a:cs typeface="Roboto Light"/>
                <a:sym typeface="Roboto Light"/>
              </a:endParaRPr>
            </a:p>
          </p:txBody>
        </p:sp>
        <p:sp>
          <p:nvSpPr>
            <p:cNvPr id="116" name="Google Shape;116;p18"/>
            <p:cNvSpPr txBox="1"/>
            <p:nvPr/>
          </p:nvSpPr>
          <p:spPr>
            <a:xfrm>
              <a:off x="5250500" y="3295403"/>
              <a:ext cx="5967000" cy="42750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rgbClr val="404040"/>
                </a:buClr>
                <a:buSzPts val="2400"/>
                <a:buFont typeface="Noto Sans Symbols"/>
                <a:buNone/>
              </a:pPr>
              <a:r>
                <a:rPr lang="en-GB" sz="1700" b="1">
                  <a:solidFill>
                    <a:srgbClr val="404040"/>
                  </a:solidFill>
                  <a:latin typeface="Roboto"/>
                  <a:ea typeface="Roboto"/>
                  <a:cs typeface="Roboto"/>
                  <a:sym typeface="Roboto"/>
                </a:rPr>
                <a:t>Digital Humanities and Web Development</a:t>
              </a:r>
              <a:endParaRPr sz="1700">
                <a:solidFill>
                  <a:srgbClr val="404040"/>
                </a:solidFill>
                <a:latin typeface="Roboto"/>
                <a:ea typeface="Roboto"/>
                <a:cs typeface="Roboto"/>
                <a:sym typeface="Roboto"/>
              </a:endParaRPr>
            </a:p>
          </p:txBody>
        </p:sp>
        <p:sp>
          <p:nvSpPr>
            <p:cNvPr id="117" name="Google Shape;117;p18"/>
            <p:cNvSpPr txBox="1"/>
            <p:nvPr/>
          </p:nvSpPr>
          <p:spPr>
            <a:xfrm>
              <a:off x="5255457" y="3680056"/>
              <a:ext cx="5967000" cy="4275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AFABAB"/>
                </a:buClr>
                <a:buSzPts val="2000"/>
                <a:buFont typeface="Noto Sans Symbols"/>
                <a:buNone/>
              </a:pPr>
              <a:r>
                <a:rPr lang="en-GB" sz="1500">
                  <a:solidFill>
                    <a:schemeClr val="dk2"/>
                  </a:solidFill>
                  <a:latin typeface="Roboto Light"/>
                  <a:ea typeface="Roboto Light"/>
                  <a:cs typeface="Roboto Light"/>
                  <a:sym typeface="Roboto Light"/>
                </a:rPr>
                <a:t>History and Computer Science, Yale University</a:t>
              </a:r>
              <a:endParaRPr sz="1500">
                <a:solidFill>
                  <a:schemeClr val="dk2"/>
                </a:solidFill>
                <a:latin typeface="Roboto Light"/>
                <a:ea typeface="Roboto Light"/>
                <a:cs typeface="Roboto Light"/>
                <a:sym typeface="Roboto Light"/>
              </a:endParaRPr>
            </a:p>
          </p:txBody>
        </p:sp>
      </p:grpSp>
      <p:sp>
        <p:nvSpPr>
          <p:cNvPr id="118" name="Google Shape;118;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9"/>
          <p:cNvSpPr/>
          <p:nvPr/>
        </p:nvSpPr>
        <p:spPr>
          <a:xfrm>
            <a:off x="0" y="120881"/>
            <a:ext cx="2421600" cy="402600"/>
          </a:xfrm>
          <a:prstGeom prst="rect">
            <a:avLst/>
          </a:prstGeom>
          <a:gradFill>
            <a:gsLst>
              <a:gs pos="0">
                <a:srgbClr val="00C0F3"/>
              </a:gs>
              <a:gs pos="100000">
                <a:srgbClr val="008E4E"/>
              </a:gs>
            </a:gsLst>
            <a:lin ang="270000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Lucida Sans"/>
              <a:ea typeface="Lucida Sans"/>
              <a:cs typeface="Lucida Sans"/>
              <a:sym typeface="Lucida Sans"/>
            </a:endParaRPr>
          </a:p>
        </p:txBody>
      </p:sp>
      <p:sp>
        <p:nvSpPr>
          <p:cNvPr id="124" name="Google Shape;124;p19"/>
          <p:cNvSpPr txBox="1">
            <a:spLocks noGrp="1"/>
          </p:cNvSpPr>
          <p:nvPr>
            <p:ph type="title"/>
          </p:nvPr>
        </p:nvSpPr>
        <p:spPr>
          <a:xfrm>
            <a:off x="311700" y="73176"/>
            <a:ext cx="49377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Meet the Team</a:t>
            </a:r>
            <a:endParaRPr/>
          </a:p>
        </p:txBody>
      </p:sp>
      <p:sp>
        <p:nvSpPr>
          <p:cNvPr id="125" name="Google Shape;125;p19"/>
          <p:cNvSpPr txBox="1"/>
          <p:nvPr/>
        </p:nvSpPr>
        <p:spPr>
          <a:xfrm>
            <a:off x="166960" y="3555522"/>
            <a:ext cx="3590100" cy="5784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767677"/>
              </a:buClr>
              <a:buSzPts val="2400"/>
              <a:buFont typeface="Arial"/>
              <a:buNone/>
            </a:pPr>
            <a:r>
              <a:rPr lang="en-GB" sz="1800">
                <a:solidFill>
                  <a:schemeClr val="dk2"/>
                </a:solidFill>
                <a:latin typeface="Roboto Medium"/>
                <a:ea typeface="Roboto Medium"/>
                <a:cs typeface="Roboto Medium"/>
                <a:sym typeface="Roboto Medium"/>
              </a:rPr>
              <a:t>Glenice Tan</a:t>
            </a:r>
            <a:endParaRPr sz="1800">
              <a:solidFill>
                <a:schemeClr val="dk2"/>
              </a:solidFill>
              <a:latin typeface="Roboto Medium"/>
              <a:ea typeface="Roboto Medium"/>
              <a:cs typeface="Roboto Medium"/>
              <a:sym typeface="Roboto Medium"/>
            </a:endParaRPr>
          </a:p>
        </p:txBody>
      </p:sp>
      <p:grpSp>
        <p:nvGrpSpPr>
          <p:cNvPr id="126" name="Google Shape;126;p19"/>
          <p:cNvGrpSpPr/>
          <p:nvPr/>
        </p:nvGrpSpPr>
        <p:grpSpPr>
          <a:xfrm>
            <a:off x="3525509" y="1475633"/>
            <a:ext cx="5427315" cy="1778056"/>
            <a:chOff x="5250500" y="2399825"/>
            <a:chExt cx="5971957" cy="1778056"/>
          </a:xfrm>
        </p:grpSpPr>
        <p:sp>
          <p:nvSpPr>
            <p:cNvPr id="127" name="Google Shape;127;p19"/>
            <p:cNvSpPr txBox="1"/>
            <p:nvPr/>
          </p:nvSpPr>
          <p:spPr>
            <a:xfrm>
              <a:off x="5250503" y="2399825"/>
              <a:ext cx="5590800" cy="4275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404040"/>
                </a:buClr>
                <a:buSzPts val="2400"/>
                <a:buFont typeface="Noto Sans Symbols"/>
                <a:buNone/>
              </a:pPr>
              <a:r>
                <a:rPr lang="en-GB" sz="1800" b="1">
                  <a:solidFill>
                    <a:srgbClr val="404040"/>
                  </a:solidFill>
                  <a:latin typeface="Roboto"/>
                  <a:ea typeface="Roboto"/>
                  <a:cs typeface="Roboto"/>
                  <a:sym typeface="Roboto"/>
                </a:rPr>
                <a:t>Red Team and Social Engineering</a:t>
              </a:r>
              <a:endParaRPr sz="1800" b="1">
                <a:solidFill>
                  <a:srgbClr val="404040"/>
                </a:solidFill>
                <a:latin typeface="Roboto"/>
                <a:ea typeface="Roboto"/>
                <a:cs typeface="Roboto"/>
                <a:sym typeface="Roboto"/>
              </a:endParaRPr>
            </a:p>
          </p:txBody>
        </p:sp>
        <p:sp>
          <p:nvSpPr>
            <p:cNvPr id="128" name="Google Shape;128;p19"/>
            <p:cNvSpPr txBox="1"/>
            <p:nvPr/>
          </p:nvSpPr>
          <p:spPr>
            <a:xfrm>
              <a:off x="5255457" y="2784489"/>
              <a:ext cx="5967000" cy="4275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AFABAB"/>
                </a:buClr>
                <a:buSzPts val="2000"/>
                <a:buFont typeface="Noto Sans Symbols"/>
                <a:buNone/>
              </a:pPr>
              <a:r>
                <a:rPr lang="en-GB" sz="1500">
                  <a:solidFill>
                    <a:srgbClr val="666666"/>
                  </a:solidFill>
                  <a:latin typeface="Roboto Light"/>
                  <a:ea typeface="Roboto Light"/>
                  <a:cs typeface="Roboto Light"/>
                  <a:sym typeface="Roboto Light"/>
                </a:rPr>
                <a:t>Plus a focus on web security and cloud</a:t>
              </a:r>
              <a:endParaRPr sz="1500">
                <a:solidFill>
                  <a:srgbClr val="666666"/>
                </a:solidFill>
                <a:latin typeface="Roboto Light"/>
                <a:ea typeface="Roboto Light"/>
                <a:cs typeface="Roboto Light"/>
                <a:sym typeface="Roboto Light"/>
              </a:endParaRPr>
            </a:p>
          </p:txBody>
        </p:sp>
        <p:sp>
          <p:nvSpPr>
            <p:cNvPr id="129" name="Google Shape;129;p19"/>
            <p:cNvSpPr txBox="1"/>
            <p:nvPr/>
          </p:nvSpPr>
          <p:spPr>
            <a:xfrm>
              <a:off x="5250500" y="3365728"/>
              <a:ext cx="5967000" cy="4275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404040"/>
                </a:buClr>
                <a:buSzPts val="2220"/>
                <a:buFont typeface="Noto Sans Symbols"/>
                <a:buNone/>
              </a:pPr>
              <a:r>
                <a:rPr lang="en-GB" sz="1700" b="1">
                  <a:solidFill>
                    <a:srgbClr val="404040"/>
                  </a:solidFill>
                  <a:latin typeface="Roboto"/>
                  <a:ea typeface="Roboto"/>
                  <a:cs typeface="Roboto"/>
                  <a:sym typeface="Roboto"/>
                </a:rPr>
                <a:t>Data Analysis and Vulnerability Research</a:t>
              </a:r>
              <a:endParaRPr sz="1700" b="1">
                <a:solidFill>
                  <a:srgbClr val="404040"/>
                </a:solidFill>
                <a:latin typeface="Roboto"/>
                <a:ea typeface="Roboto"/>
                <a:cs typeface="Roboto"/>
                <a:sym typeface="Roboto"/>
              </a:endParaRPr>
            </a:p>
          </p:txBody>
        </p:sp>
        <p:sp>
          <p:nvSpPr>
            <p:cNvPr id="130" name="Google Shape;130;p19"/>
            <p:cNvSpPr txBox="1"/>
            <p:nvPr/>
          </p:nvSpPr>
          <p:spPr>
            <a:xfrm>
              <a:off x="5255457" y="3750381"/>
              <a:ext cx="5967000" cy="4275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AFABAB"/>
                </a:buClr>
                <a:buSzPts val="2000"/>
                <a:buFont typeface="Noto Sans Symbols"/>
                <a:buNone/>
              </a:pPr>
              <a:r>
                <a:rPr lang="en-GB" sz="1500">
                  <a:solidFill>
                    <a:srgbClr val="666666"/>
                  </a:solidFill>
                  <a:latin typeface="Roboto Light"/>
                  <a:ea typeface="Roboto Light"/>
                  <a:cs typeface="Roboto Light"/>
                  <a:sym typeface="Roboto Light"/>
                </a:rPr>
                <a:t>Information Security, National University of Singapore</a:t>
              </a:r>
              <a:endParaRPr sz="1500">
                <a:solidFill>
                  <a:srgbClr val="666666"/>
                </a:solidFill>
                <a:latin typeface="Roboto Light"/>
                <a:ea typeface="Roboto Light"/>
                <a:cs typeface="Roboto Light"/>
                <a:sym typeface="Roboto Light"/>
              </a:endParaRPr>
            </a:p>
            <a:p>
              <a:pPr marL="0" marR="0" lvl="0" indent="0" algn="l" rtl="0">
                <a:lnSpc>
                  <a:spcPct val="90000"/>
                </a:lnSpc>
                <a:spcBef>
                  <a:spcPts val="0"/>
                </a:spcBef>
                <a:spcAft>
                  <a:spcPts val="0"/>
                </a:spcAft>
                <a:buClr>
                  <a:srgbClr val="AFABAB"/>
                </a:buClr>
                <a:buSzPts val="2000"/>
                <a:buFont typeface="Noto Sans Symbols"/>
                <a:buNone/>
              </a:pPr>
              <a:endParaRPr sz="1500">
                <a:solidFill>
                  <a:srgbClr val="AFABAB"/>
                </a:solidFill>
                <a:latin typeface="Quattrocento Sans"/>
                <a:ea typeface="Quattrocento Sans"/>
                <a:cs typeface="Quattrocento Sans"/>
                <a:sym typeface="Quattrocento Sans"/>
              </a:endParaRPr>
            </a:p>
          </p:txBody>
        </p:sp>
      </p:grpSp>
      <p:sp>
        <p:nvSpPr>
          <p:cNvPr id="131" name="Google Shape;131;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3</a:t>
            </a:fld>
            <a:endParaRPr/>
          </a:p>
        </p:txBody>
      </p:sp>
      <p:grpSp>
        <p:nvGrpSpPr>
          <p:cNvPr id="132" name="Google Shape;132;p19"/>
          <p:cNvGrpSpPr/>
          <p:nvPr/>
        </p:nvGrpSpPr>
        <p:grpSpPr>
          <a:xfrm>
            <a:off x="792000" y="1044000"/>
            <a:ext cx="2340000" cy="2340000"/>
            <a:chOff x="816725" y="1066213"/>
            <a:chExt cx="2340000" cy="2340000"/>
          </a:xfrm>
        </p:grpSpPr>
        <p:sp>
          <p:nvSpPr>
            <p:cNvPr id="133" name="Google Shape;133;p19"/>
            <p:cNvSpPr/>
            <p:nvPr/>
          </p:nvSpPr>
          <p:spPr>
            <a:xfrm>
              <a:off x="816725" y="1066213"/>
              <a:ext cx="2340000" cy="2340000"/>
            </a:xfrm>
            <a:prstGeom prst="ellipse">
              <a:avLst/>
            </a:prstGeom>
            <a:gradFill>
              <a:gsLst>
                <a:gs pos="0">
                  <a:srgbClr val="00C0F3"/>
                </a:gs>
                <a:gs pos="100000">
                  <a:srgbClr val="008E4E"/>
                </a:gs>
              </a:gsLst>
              <a:lin ang="2700006"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sz="1350">
                <a:solidFill>
                  <a:srgbClr val="FFFFFF"/>
                </a:solidFill>
                <a:latin typeface="Lucida Sans"/>
                <a:ea typeface="Lucida Sans"/>
                <a:cs typeface="Lucida Sans"/>
                <a:sym typeface="Lucida Sans"/>
              </a:endParaRPr>
            </a:p>
          </p:txBody>
        </p:sp>
        <p:pic>
          <p:nvPicPr>
            <p:cNvPr id="134" name="Google Shape;134;p19"/>
            <p:cNvPicPr preferRelativeResize="0"/>
            <p:nvPr/>
          </p:nvPicPr>
          <p:blipFill rotWithShape="1">
            <a:blip r:embed="rId3">
              <a:alphaModFix/>
            </a:blip>
            <a:srcRect/>
            <a:stretch/>
          </p:blipFill>
          <p:spPr>
            <a:xfrm>
              <a:off x="900576" y="1150063"/>
              <a:ext cx="2172300" cy="2172300"/>
            </a:xfrm>
            <a:prstGeom prst="ellipse">
              <a:avLst/>
            </a:prstGeom>
            <a:noFill/>
            <a:ln>
              <a:noFill/>
            </a:ln>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0"/>
          <p:cNvSpPr/>
          <p:nvPr/>
        </p:nvSpPr>
        <p:spPr>
          <a:xfrm>
            <a:off x="0" y="120881"/>
            <a:ext cx="2421600" cy="402600"/>
          </a:xfrm>
          <a:prstGeom prst="rect">
            <a:avLst/>
          </a:prstGeom>
          <a:gradFill>
            <a:gsLst>
              <a:gs pos="0">
                <a:srgbClr val="00C0F3"/>
              </a:gs>
              <a:gs pos="100000">
                <a:srgbClr val="008E4E"/>
              </a:gs>
            </a:gsLst>
            <a:lin ang="270000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Lucida Sans"/>
              <a:ea typeface="Lucida Sans"/>
              <a:cs typeface="Lucida Sans"/>
              <a:sym typeface="Lucida Sans"/>
            </a:endParaRPr>
          </a:p>
        </p:txBody>
      </p:sp>
      <p:sp>
        <p:nvSpPr>
          <p:cNvPr id="140" name="Google Shape;140;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4</a:t>
            </a:fld>
            <a:endParaRPr/>
          </a:p>
        </p:txBody>
      </p:sp>
      <p:sp>
        <p:nvSpPr>
          <p:cNvPr id="141" name="Google Shape;141;p20"/>
          <p:cNvSpPr txBox="1">
            <a:spLocks noGrp="1"/>
          </p:cNvSpPr>
          <p:nvPr>
            <p:ph type="title"/>
          </p:nvPr>
        </p:nvSpPr>
        <p:spPr>
          <a:xfrm>
            <a:off x="311700" y="73176"/>
            <a:ext cx="49377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Meet the Team</a:t>
            </a:r>
            <a:endParaRPr/>
          </a:p>
        </p:txBody>
      </p:sp>
      <p:grpSp>
        <p:nvGrpSpPr>
          <p:cNvPr id="142" name="Google Shape;142;p20"/>
          <p:cNvGrpSpPr/>
          <p:nvPr/>
        </p:nvGrpSpPr>
        <p:grpSpPr>
          <a:xfrm>
            <a:off x="3525509" y="1678528"/>
            <a:ext cx="5427315" cy="1778056"/>
            <a:chOff x="5250500" y="2329513"/>
            <a:chExt cx="5971957" cy="1778056"/>
          </a:xfrm>
        </p:grpSpPr>
        <p:sp>
          <p:nvSpPr>
            <p:cNvPr id="143" name="Google Shape;143;p20"/>
            <p:cNvSpPr txBox="1"/>
            <p:nvPr/>
          </p:nvSpPr>
          <p:spPr>
            <a:xfrm>
              <a:off x="5250503" y="2329513"/>
              <a:ext cx="5590800" cy="4275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404040"/>
                </a:buClr>
                <a:buSzPts val="2400"/>
                <a:buFont typeface="Noto Sans Symbols"/>
                <a:buNone/>
              </a:pPr>
              <a:r>
                <a:rPr lang="en-GB" sz="1700" b="1">
                  <a:solidFill>
                    <a:srgbClr val="404040"/>
                  </a:solidFill>
                  <a:latin typeface="Roboto"/>
                  <a:ea typeface="Roboto"/>
                  <a:cs typeface="Roboto"/>
                  <a:sym typeface="Roboto"/>
                </a:rPr>
                <a:t>Red Team and Cyber Engineering</a:t>
              </a:r>
              <a:endParaRPr sz="1700" b="1">
                <a:solidFill>
                  <a:srgbClr val="404040"/>
                </a:solidFill>
                <a:latin typeface="Roboto"/>
                <a:ea typeface="Roboto"/>
                <a:cs typeface="Roboto"/>
                <a:sym typeface="Roboto"/>
              </a:endParaRPr>
            </a:p>
          </p:txBody>
        </p:sp>
        <p:sp>
          <p:nvSpPr>
            <p:cNvPr id="144" name="Google Shape;144;p20"/>
            <p:cNvSpPr txBox="1"/>
            <p:nvPr/>
          </p:nvSpPr>
          <p:spPr>
            <a:xfrm>
              <a:off x="5255457" y="2714177"/>
              <a:ext cx="5967000" cy="4275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AFABAB"/>
                </a:buClr>
                <a:buSzPts val="2000"/>
                <a:buFont typeface="Noto Sans Symbols"/>
                <a:buNone/>
              </a:pPr>
              <a:r>
                <a:rPr lang="en-GB" sz="1500">
                  <a:solidFill>
                    <a:schemeClr val="dk2"/>
                  </a:solidFill>
                  <a:latin typeface="Roboto Light"/>
                  <a:ea typeface="Roboto Light"/>
                  <a:cs typeface="Roboto Light"/>
                  <a:sym typeface="Roboto Light"/>
                </a:rPr>
                <a:t>Loves Capture the Flag competitions</a:t>
              </a:r>
              <a:endParaRPr sz="1500">
                <a:solidFill>
                  <a:schemeClr val="dk2"/>
                </a:solidFill>
                <a:latin typeface="Roboto Light"/>
                <a:ea typeface="Roboto Light"/>
                <a:cs typeface="Roboto Light"/>
                <a:sym typeface="Roboto Light"/>
              </a:endParaRPr>
            </a:p>
          </p:txBody>
        </p:sp>
        <p:sp>
          <p:nvSpPr>
            <p:cNvPr id="145" name="Google Shape;145;p20"/>
            <p:cNvSpPr txBox="1"/>
            <p:nvPr/>
          </p:nvSpPr>
          <p:spPr>
            <a:xfrm>
              <a:off x="5250500" y="3295415"/>
              <a:ext cx="5967000" cy="4275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404040"/>
                </a:buClr>
                <a:buSzPts val="2400"/>
                <a:buFont typeface="Noto Sans Symbols"/>
                <a:buNone/>
              </a:pPr>
              <a:r>
                <a:rPr lang="en-GB" sz="1700" b="1">
                  <a:solidFill>
                    <a:srgbClr val="404040"/>
                  </a:solidFill>
                  <a:latin typeface="Roboto"/>
                  <a:ea typeface="Roboto"/>
                  <a:cs typeface="Roboto"/>
                  <a:sym typeface="Roboto"/>
                </a:rPr>
                <a:t>Data Security and Automation</a:t>
              </a:r>
              <a:endParaRPr sz="1700" b="1">
                <a:solidFill>
                  <a:srgbClr val="404040"/>
                </a:solidFill>
                <a:latin typeface="Roboto"/>
                <a:ea typeface="Roboto"/>
                <a:cs typeface="Roboto"/>
                <a:sym typeface="Roboto"/>
              </a:endParaRPr>
            </a:p>
          </p:txBody>
        </p:sp>
        <p:sp>
          <p:nvSpPr>
            <p:cNvPr id="146" name="Google Shape;146;p20"/>
            <p:cNvSpPr txBox="1"/>
            <p:nvPr/>
          </p:nvSpPr>
          <p:spPr>
            <a:xfrm>
              <a:off x="5255457" y="3680068"/>
              <a:ext cx="5967000" cy="4275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AFABAB"/>
                </a:buClr>
                <a:buSzPts val="2000"/>
                <a:buFont typeface="Noto Sans Symbols"/>
                <a:buNone/>
              </a:pPr>
              <a:r>
                <a:rPr lang="en-GB" sz="1500">
                  <a:solidFill>
                    <a:schemeClr val="dk2"/>
                  </a:solidFill>
                  <a:latin typeface="Roboto Light"/>
                  <a:ea typeface="Roboto Light"/>
                  <a:cs typeface="Roboto Light"/>
                  <a:sym typeface="Roboto Light"/>
                </a:rPr>
                <a:t>Information Systems, Singapore Management University</a:t>
              </a:r>
              <a:endParaRPr sz="1500">
                <a:solidFill>
                  <a:schemeClr val="dk2"/>
                </a:solidFill>
                <a:latin typeface="Roboto Light"/>
                <a:ea typeface="Roboto Light"/>
                <a:cs typeface="Roboto Light"/>
                <a:sym typeface="Roboto Light"/>
              </a:endParaRPr>
            </a:p>
            <a:p>
              <a:pPr marL="0" marR="0" lvl="0" indent="0" algn="l" rtl="0">
                <a:lnSpc>
                  <a:spcPct val="90000"/>
                </a:lnSpc>
                <a:spcBef>
                  <a:spcPts val="0"/>
                </a:spcBef>
                <a:spcAft>
                  <a:spcPts val="0"/>
                </a:spcAft>
                <a:buClr>
                  <a:srgbClr val="AFABAB"/>
                </a:buClr>
                <a:buSzPts val="2000"/>
                <a:buFont typeface="Noto Sans Symbols"/>
                <a:buNone/>
              </a:pPr>
              <a:endParaRPr sz="1600">
                <a:solidFill>
                  <a:srgbClr val="AFABAB"/>
                </a:solidFill>
                <a:latin typeface="Quattrocento Sans"/>
                <a:ea typeface="Quattrocento Sans"/>
                <a:cs typeface="Quattrocento Sans"/>
                <a:sym typeface="Quattrocento Sans"/>
              </a:endParaRPr>
            </a:p>
          </p:txBody>
        </p:sp>
      </p:grpSp>
      <p:sp>
        <p:nvSpPr>
          <p:cNvPr id="147" name="Google Shape;147;p20"/>
          <p:cNvSpPr txBox="1"/>
          <p:nvPr/>
        </p:nvSpPr>
        <p:spPr>
          <a:xfrm>
            <a:off x="818350" y="3564375"/>
            <a:ext cx="2234700" cy="3936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767677"/>
              </a:buClr>
              <a:buSzPts val="2400"/>
              <a:buFont typeface="Arial"/>
              <a:buNone/>
            </a:pPr>
            <a:r>
              <a:rPr lang="en-GB" sz="1700">
                <a:solidFill>
                  <a:schemeClr val="dk2"/>
                </a:solidFill>
                <a:latin typeface="Roboto Medium"/>
                <a:ea typeface="Roboto Medium"/>
                <a:cs typeface="Roboto Medium"/>
                <a:sym typeface="Roboto Medium"/>
              </a:rPr>
              <a:t>Tan Kee Hock</a:t>
            </a:r>
            <a:endParaRPr sz="1700">
              <a:solidFill>
                <a:schemeClr val="dk2"/>
              </a:solidFill>
              <a:latin typeface="Roboto Medium"/>
              <a:ea typeface="Roboto Medium"/>
              <a:cs typeface="Roboto Medium"/>
              <a:sym typeface="Roboto Medium"/>
            </a:endParaRPr>
          </a:p>
        </p:txBody>
      </p:sp>
      <p:grpSp>
        <p:nvGrpSpPr>
          <p:cNvPr id="148" name="Google Shape;148;p20"/>
          <p:cNvGrpSpPr/>
          <p:nvPr/>
        </p:nvGrpSpPr>
        <p:grpSpPr>
          <a:xfrm>
            <a:off x="792000" y="1044000"/>
            <a:ext cx="2340000" cy="2340000"/>
            <a:chOff x="733750" y="1092538"/>
            <a:chExt cx="2340000" cy="2340000"/>
          </a:xfrm>
        </p:grpSpPr>
        <p:sp>
          <p:nvSpPr>
            <p:cNvPr id="149" name="Google Shape;149;p20"/>
            <p:cNvSpPr/>
            <p:nvPr/>
          </p:nvSpPr>
          <p:spPr>
            <a:xfrm>
              <a:off x="733750" y="1092538"/>
              <a:ext cx="2340000" cy="2340000"/>
            </a:xfrm>
            <a:prstGeom prst="ellipse">
              <a:avLst/>
            </a:prstGeom>
            <a:gradFill>
              <a:gsLst>
                <a:gs pos="0">
                  <a:srgbClr val="00C0F3"/>
                </a:gs>
                <a:gs pos="100000">
                  <a:srgbClr val="008E4E"/>
                </a:gs>
              </a:gsLst>
              <a:lin ang="2700006"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sz="1350">
                <a:solidFill>
                  <a:srgbClr val="FFFFFF"/>
                </a:solidFill>
                <a:latin typeface="Lucida Sans"/>
                <a:ea typeface="Lucida Sans"/>
                <a:cs typeface="Lucida Sans"/>
                <a:sym typeface="Lucida Sans"/>
              </a:endParaRPr>
            </a:p>
          </p:txBody>
        </p:sp>
        <p:pic>
          <p:nvPicPr>
            <p:cNvPr id="150" name="Google Shape;150;p20"/>
            <p:cNvPicPr preferRelativeResize="0"/>
            <p:nvPr/>
          </p:nvPicPr>
          <p:blipFill rotWithShape="1">
            <a:blip r:embed="rId3">
              <a:alphaModFix/>
            </a:blip>
            <a:srcRect/>
            <a:stretch/>
          </p:blipFill>
          <p:spPr>
            <a:xfrm>
              <a:off x="818350" y="1177138"/>
              <a:ext cx="2170800" cy="2170800"/>
            </a:xfrm>
            <a:prstGeom prst="ellipse">
              <a:avLst/>
            </a:prstGeom>
            <a:noFill/>
            <a:ln>
              <a:noFill/>
            </a:ln>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1"/>
          <p:cNvSpPr/>
          <p:nvPr/>
        </p:nvSpPr>
        <p:spPr>
          <a:xfrm>
            <a:off x="0" y="120881"/>
            <a:ext cx="2421600" cy="402600"/>
          </a:xfrm>
          <a:prstGeom prst="rect">
            <a:avLst/>
          </a:prstGeom>
          <a:gradFill>
            <a:gsLst>
              <a:gs pos="0">
                <a:srgbClr val="00C0F3"/>
              </a:gs>
              <a:gs pos="100000">
                <a:srgbClr val="008E4E"/>
              </a:gs>
            </a:gsLst>
            <a:lin ang="270000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Lucida Sans"/>
              <a:ea typeface="Lucida Sans"/>
              <a:cs typeface="Lucida Sans"/>
              <a:sym typeface="Lucida Sans"/>
            </a:endParaRPr>
          </a:p>
        </p:txBody>
      </p:sp>
      <p:sp>
        <p:nvSpPr>
          <p:cNvPr id="156" name="Google Shape;156;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5</a:t>
            </a:fld>
            <a:endParaRPr/>
          </a:p>
        </p:txBody>
      </p:sp>
      <p:sp>
        <p:nvSpPr>
          <p:cNvPr id="157" name="Google Shape;157;p21"/>
          <p:cNvSpPr txBox="1">
            <a:spLocks noGrp="1"/>
          </p:cNvSpPr>
          <p:nvPr>
            <p:ph type="title"/>
          </p:nvPr>
        </p:nvSpPr>
        <p:spPr>
          <a:xfrm>
            <a:off x="311700" y="73176"/>
            <a:ext cx="49377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Meet the Team</a:t>
            </a:r>
            <a:endParaRPr/>
          </a:p>
        </p:txBody>
      </p:sp>
      <p:sp>
        <p:nvSpPr>
          <p:cNvPr id="158" name="Google Shape;158;p21"/>
          <p:cNvSpPr txBox="1"/>
          <p:nvPr/>
        </p:nvSpPr>
        <p:spPr>
          <a:xfrm>
            <a:off x="191685" y="3555522"/>
            <a:ext cx="3590100" cy="5784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767677"/>
              </a:buClr>
              <a:buSzPts val="2400"/>
              <a:buFont typeface="Arial"/>
              <a:buNone/>
            </a:pPr>
            <a:r>
              <a:rPr lang="en-GB" sz="1800">
                <a:solidFill>
                  <a:schemeClr val="dk2"/>
                </a:solidFill>
                <a:latin typeface="Roboto Medium"/>
                <a:ea typeface="Roboto Medium"/>
                <a:cs typeface="Roboto Medium"/>
                <a:sym typeface="Roboto Medium"/>
              </a:rPr>
              <a:t>Timothy Lee</a:t>
            </a:r>
            <a:endParaRPr sz="1800">
              <a:solidFill>
                <a:schemeClr val="dk2"/>
              </a:solidFill>
              <a:latin typeface="Roboto Medium"/>
              <a:ea typeface="Roboto Medium"/>
              <a:cs typeface="Roboto Medium"/>
              <a:sym typeface="Roboto Medium"/>
            </a:endParaRPr>
          </a:p>
        </p:txBody>
      </p:sp>
      <p:grpSp>
        <p:nvGrpSpPr>
          <p:cNvPr id="159" name="Google Shape;159;p21"/>
          <p:cNvGrpSpPr/>
          <p:nvPr/>
        </p:nvGrpSpPr>
        <p:grpSpPr>
          <a:xfrm>
            <a:off x="3525509" y="1405320"/>
            <a:ext cx="5427315" cy="1778056"/>
            <a:chOff x="5250500" y="2329513"/>
            <a:chExt cx="5971957" cy="1778056"/>
          </a:xfrm>
        </p:grpSpPr>
        <p:sp>
          <p:nvSpPr>
            <p:cNvPr id="160" name="Google Shape;160;p21"/>
            <p:cNvSpPr txBox="1"/>
            <p:nvPr/>
          </p:nvSpPr>
          <p:spPr>
            <a:xfrm>
              <a:off x="5250503" y="2329513"/>
              <a:ext cx="5590800" cy="4275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1100"/>
                <a:buFont typeface="Arial"/>
                <a:buNone/>
              </a:pPr>
              <a:r>
                <a:rPr lang="en-GB" sz="1700" b="1">
                  <a:solidFill>
                    <a:srgbClr val="404040"/>
                  </a:solidFill>
                  <a:latin typeface="Roboto"/>
                  <a:ea typeface="Roboto"/>
                  <a:cs typeface="Roboto"/>
                  <a:sym typeface="Roboto"/>
                </a:rPr>
                <a:t>Mobile Pentest and Red Team</a:t>
              </a:r>
              <a:endParaRPr sz="1700" b="1">
                <a:solidFill>
                  <a:srgbClr val="404040"/>
                </a:solidFill>
                <a:latin typeface="Roboto"/>
                <a:ea typeface="Roboto"/>
                <a:cs typeface="Roboto"/>
                <a:sym typeface="Roboto"/>
              </a:endParaRPr>
            </a:p>
          </p:txBody>
        </p:sp>
        <p:sp>
          <p:nvSpPr>
            <p:cNvPr id="161" name="Google Shape;161;p21"/>
            <p:cNvSpPr txBox="1"/>
            <p:nvPr/>
          </p:nvSpPr>
          <p:spPr>
            <a:xfrm>
              <a:off x="5255457" y="2714177"/>
              <a:ext cx="5967000" cy="4275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100"/>
                <a:buFont typeface="Arial"/>
                <a:buNone/>
              </a:pPr>
              <a:r>
                <a:rPr lang="en-GB" sz="1500">
                  <a:solidFill>
                    <a:schemeClr val="dk2"/>
                  </a:solidFill>
                  <a:latin typeface="Roboto Light"/>
                  <a:ea typeface="Roboto Light"/>
                  <a:cs typeface="Roboto Light"/>
                  <a:sym typeface="Roboto Light"/>
                </a:rPr>
                <a:t>Plus reverse engineering</a:t>
              </a:r>
              <a:endParaRPr sz="1500">
                <a:solidFill>
                  <a:schemeClr val="dk2"/>
                </a:solidFill>
                <a:latin typeface="Roboto Light"/>
                <a:ea typeface="Roboto Light"/>
                <a:cs typeface="Roboto Light"/>
                <a:sym typeface="Roboto Light"/>
              </a:endParaRPr>
            </a:p>
          </p:txBody>
        </p:sp>
        <p:sp>
          <p:nvSpPr>
            <p:cNvPr id="162" name="Google Shape;162;p21"/>
            <p:cNvSpPr txBox="1"/>
            <p:nvPr/>
          </p:nvSpPr>
          <p:spPr>
            <a:xfrm>
              <a:off x="5250500" y="3295415"/>
              <a:ext cx="5967000" cy="4275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1100"/>
                <a:buFont typeface="Arial"/>
                <a:buNone/>
              </a:pPr>
              <a:r>
                <a:rPr lang="en-GB" sz="1700" b="1">
                  <a:solidFill>
                    <a:srgbClr val="404040"/>
                  </a:solidFill>
                  <a:latin typeface="Roboto"/>
                  <a:ea typeface="Roboto"/>
                  <a:cs typeface="Roboto"/>
                  <a:sym typeface="Roboto"/>
                </a:rPr>
                <a:t>Web Development and Cybersecurity</a:t>
              </a:r>
              <a:endParaRPr sz="1700" b="1">
                <a:solidFill>
                  <a:srgbClr val="404040"/>
                </a:solidFill>
                <a:latin typeface="Roboto"/>
                <a:ea typeface="Roboto"/>
                <a:cs typeface="Roboto"/>
                <a:sym typeface="Roboto"/>
              </a:endParaRPr>
            </a:p>
          </p:txBody>
        </p:sp>
        <p:sp>
          <p:nvSpPr>
            <p:cNvPr id="163" name="Google Shape;163;p21"/>
            <p:cNvSpPr txBox="1"/>
            <p:nvPr/>
          </p:nvSpPr>
          <p:spPr>
            <a:xfrm>
              <a:off x="5255457" y="3680068"/>
              <a:ext cx="5967000" cy="4275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100"/>
                <a:buFont typeface="Arial"/>
                <a:buNone/>
              </a:pPr>
              <a:r>
                <a:rPr lang="en-GB" sz="1500">
                  <a:solidFill>
                    <a:schemeClr val="dk2"/>
                  </a:solidFill>
                  <a:latin typeface="Roboto Light"/>
                  <a:ea typeface="Roboto Light"/>
                  <a:cs typeface="Roboto Light"/>
                  <a:sym typeface="Roboto Light"/>
                </a:rPr>
                <a:t>Computer Science, Nanyang Technological University</a:t>
              </a:r>
              <a:endParaRPr sz="1500">
                <a:solidFill>
                  <a:schemeClr val="dk2"/>
                </a:solidFill>
                <a:latin typeface="Roboto Light"/>
                <a:ea typeface="Roboto Light"/>
                <a:cs typeface="Roboto Light"/>
                <a:sym typeface="Roboto Light"/>
              </a:endParaRPr>
            </a:p>
            <a:p>
              <a:pPr marL="0" marR="0" lvl="0" indent="0" algn="l" rtl="0">
                <a:lnSpc>
                  <a:spcPct val="90000"/>
                </a:lnSpc>
                <a:spcBef>
                  <a:spcPts val="0"/>
                </a:spcBef>
                <a:spcAft>
                  <a:spcPts val="0"/>
                </a:spcAft>
                <a:buClr>
                  <a:srgbClr val="AFABAB"/>
                </a:buClr>
                <a:buSzPts val="2000"/>
                <a:buFont typeface="Noto Sans Symbols"/>
                <a:buNone/>
              </a:pPr>
              <a:endParaRPr sz="1600">
                <a:solidFill>
                  <a:srgbClr val="AFABAB"/>
                </a:solidFill>
                <a:latin typeface="Quattrocento Sans"/>
                <a:ea typeface="Quattrocento Sans"/>
                <a:cs typeface="Quattrocento Sans"/>
                <a:sym typeface="Quattrocento Sans"/>
              </a:endParaRPr>
            </a:p>
          </p:txBody>
        </p:sp>
      </p:grpSp>
      <p:grpSp>
        <p:nvGrpSpPr>
          <p:cNvPr id="164" name="Google Shape;164;p21"/>
          <p:cNvGrpSpPr/>
          <p:nvPr/>
        </p:nvGrpSpPr>
        <p:grpSpPr>
          <a:xfrm>
            <a:off x="792000" y="1044000"/>
            <a:ext cx="2340000" cy="2340000"/>
            <a:chOff x="816725" y="1066213"/>
            <a:chExt cx="2340000" cy="2340000"/>
          </a:xfrm>
        </p:grpSpPr>
        <p:sp>
          <p:nvSpPr>
            <p:cNvPr id="165" name="Google Shape;165;p21"/>
            <p:cNvSpPr/>
            <p:nvPr/>
          </p:nvSpPr>
          <p:spPr>
            <a:xfrm>
              <a:off x="816725" y="1066213"/>
              <a:ext cx="2340000" cy="2340000"/>
            </a:xfrm>
            <a:prstGeom prst="ellipse">
              <a:avLst/>
            </a:prstGeom>
            <a:gradFill>
              <a:gsLst>
                <a:gs pos="0">
                  <a:srgbClr val="00C0F3"/>
                </a:gs>
                <a:gs pos="100000">
                  <a:srgbClr val="008E4E"/>
                </a:gs>
              </a:gsLst>
              <a:lin ang="2700006"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sz="1350">
                <a:solidFill>
                  <a:srgbClr val="FFFFFF"/>
                </a:solidFill>
                <a:latin typeface="Lucida Sans"/>
                <a:ea typeface="Lucida Sans"/>
                <a:cs typeface="Lucida Sans"/>
                <a:sym typeface="Lucida Sans"/>
              </a:endParaRPr>
            </a:p>
          </p:txBody>
        </p:sp>
        <p:pic>
          <p:nvPicPr>
            <p:cNvPr id="166" name="Google Shape;166;p21"/>
            <p:cNvPicPr preferRelativeResize="0"/>
            <p:nvPr/>
          </p:nvPicPr>
          <p:blipFill rotWithShape="1">
            <a:blip r:embed="rId3">
              <a:alphaModFix/>
            </a:blip>
            <a:srcRect t="169" b="159"/>
            <a:stretch/>
          </p:blipFill>
          <p:spPr>
            <a:xfrm>
              <a:off x="901325" y="1150825"/>
              <a:ext cx="2170800" cy="2170800"/>
            </a:xfrm>
            <a:prstGeom prst="ellipse">
              <a:avLst/>
            </a:prstGeom>
            <a:noFill/>
            <a:ln>
              <a:noFill/>
            </a:ln>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2"/>
          <p:cNvSpPr/>
          <p:nvPr/>
        </p:nvSpPr>
        <p:spPr>
          <a:xfrm>
            <a:off x="0" y="120881"/>
            <a:ext cx="2421600" cy="402600"/>
          </a:xfrm>
          <a:prstGeom prst="rect">
            <a:avLst/>
          </a:prstGeom>
          <a:gradFill>
            <a:gsLst>
              <a:gs pos="0">
                <a:srgbClr val="00C0F3"/>
              </a:gs>
              <a:gs pos="100000">
                <a:srgbClr val="008E4E"/>
              </a:gs>
            </a:gsLst>
            <a:lin ang="270000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Lucida Sans"/>
              <a:ea typeface="Lucida Sans"/>
              <a:cs typeface="Lucida Sans"/>
              <a:sym typeface="Lucida Sans"/>
            </a:endParaRPr>
          </a:p>
        </p:txBody>
      </p:sp>
      <p:sp>
        <p:nvSpPr>
          <p:cNvPr id="172" name="Google Shape;172;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6</a:t>
            </a:fld>
            <a:endParaRPr/>
          </a:p>
        </p:txBody>
      </p:sp>
      <p:sp>
        <p:nvSpPr>
          <p:cNvPr id="173" name="Google Shape;173;p22"/>
          <p:cNvSpPr txBox="1">
            <a:spLocks noGrp="1"/>
          </p:cNvSpPr>
          <p:nvPr>
            <p:ph type="title"/>
          </p:nvPr>
        </p:nvSpPr>
        <p:spPr>
          <a:xfrm>
            <a:off x="311700" y="73176"/>
            <a:ext cx="49377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Overview</a:t>
            </a:r>
            <a:endParaRPr/>
          </a:p>
        </p:txBody>
      </p:sp>
      <p:sp>
        <p:nvSpPr>
          <p:cNvPr id="174" name="Google Shape;174;p22"/>
          <p:cNvSpPr txBox="1"/>
          <p:nvPr/>
        </p:nvSpPr>
        <p:spPr>
          <a:xfrm>
            <a:off x="186226" y="1900200"/>
            <a:ext cx="3333000" cy="36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b="1">
                <a:solidFill>
                  <a:srgbClr val="A31515"/>
                </a:solidFill>
                <a:latin typeface="Roboto"/>
                <a:ea typeface="Roboto"/>
                <a:cs typeface="Roboto"/>
                <a:sym typeface="Roboto"/>
              </a:rPr>
              <a:t>Hacking Humans: </a:t>
            </a:r>
            <a:endParaRPr b="1">
              <a:solidFill>
                <a:srgbClr val="A31515"/>
              </a:solidFill>
              <a:latin typeface="Roboto"/>
              <a:ea typeface="Roboto"/>
              <a:cs typeface="Roboto"/>
              <a:sym typeface="Roboto"/>
            </a:endParaRPr>
          </a:p>
          <a:p>
            <a:pPr marL="0" lvl="0" indent="0" algn="ctr" rtl="0">
              <a:spcBef>
                <a:spcPts val="0"/>
              </a:spcBef>
              <a:spcAft>
                <a:spcPts val="0"/>
              </a:spcAft>
              <a:buNone/>
            </a:pPr>
            <a:r>
              <a:rPr lang="en-GB" b="1">
                <a:solidFill>
                  <a:srgbClr val="A31515"/>
                </a:solidFill>
                <a:latin typeface="Roboto"/>
                <a:ea typeface="Roboto"/>
                <a:cs typeface="Roboto"/>
                <a:sym typeface="Roboto"/>
              </a:rPr>
              <a:t>The Traditional way</a:t>
            </a:r>
            <a:endParaRPr b="1">
              <a:solidFill>
                <a:srgbClr val="A31515"/>
              </a:solidFill>
              <a:latin typeface="Roboto"/>
              <a:ea typeface="Roboto"/>
              <a:cs typeface="Roboto"/>
              <a:sym typeface="Roboto"/>
            </a:endParaRPr>
          </a:p>
        </p:txBody>
      </p:sp>
      <p:sp>
        <p:nvSpPr>
          <p:cNvPr id="175" name="Google Shape;175;p22"/>
          <p:cNvSpPr txBox="1"/>
          <p:nvPr/>
        </p:nvSpPr>
        <p:spPr>
          <a:xfrm>
            <a:off x="3008912" y="1901450"/>
            <a:ext cx="3333000" cy="36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b="1">
                <a:solidFill>
                  <a:srgbClr val="42B0E8"/>
                </a:solidFill>
                <a:latin typeface="Roboto"/>
                <a:ea typeface="Roboto"/>
                <a:cs typeface="Roboto"/>
                <a:sym typeface="Roboto"/>
              </a:rPr>
              <a:t>The AI Market</a:t>
            </a:r>
            <a:br>
              <a:rPr lang="en-GB" b="1">
                <a:solidFill>
                  <a:srgbClr val="42B0E8"/>
                </a:solidFill>
                <a:latin typeface="Roboto"/>
                <a:ea typeface="Roboto"/>
                <a:cs typeface="Roboto"/>
                <a:sym typeface="Roboto"/>
              </a:rPr>
            </a:br>
            <a:r>
              <a:rPr lang="en-GB" b="1">
                <a:solidFill>
                  <a:srgbClr val="42B0E8"/>
                </a:solidFill>
                <a:latin typeface="Roboto"/>
                <a:ea typeface="Roboto"/>
                <a:cs typeface="Roboto"/>
                <a:sym typeface="Roboto"/>
              </a:rPr>
              <a:t>Landscape</a:t>
            </a:r>
            <a:endParaRPr b="1">
              <a:solidFill>
                <a:srgbClr val="42B0E8"/>
              </a:solidFill>
              <a:latin typeface="Roboto"/>
              <a:ea typeface="Roboto"/>
              <a:cs typeface="Roboto"/>
              <a:sym typeface="Roboto"/>
            </a:endParaRPr>
          </a:p>
        </p:txBody>
      </p:sp>
      <p:sp>
        <p:nvSpPr>
          <p:cNvPr id="176" name="Google Shape;176;p22"/>
          <p:cNvSpPr txBox="1"/>
          <p:nvPr/>
        </p:nvSpPr>
        <p:spPr>
          <a:xfrm>
            <a:off x="4662238" y="3663526"/>
            <a:ext cx="3075000" cy="36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b="1">
                <a:solidFill>
                  <a:srgbClr val="004A57"/>
                </a:solidFill>
                <a:latin typeface="Roboto"/>
                <a:ea typeface="Roboto"/>
                <a:cs typeface="Roboto"/>
                <a:sym typeface="Roboto"/>
              </a:rPr>
              <a:t>Conclusion</a:t>
            </a:r>
            <a:endParaRPr b="1">
              <a:solidFill>
                <a:srgbClr val="004A57"/>
              </a:solidFill>
              <a:latin typeface="Roboto"/>
              <a:ea typeface="Roboto"/>
              <a:cs typeface="Roboto"/>
              <a:sym typeface="Roboto"/>
            </a:endParaRPr>
          </a:p>
        </p:txBody>
      </p:sp>
      <p:sp>
        <p:nvSpPr>
          <p:cNvPr id="177" name="Google Shape;177;p22"/>
          <p:cNvSpPr txBox="1"/>
          <p:nvPr/>
        </p:nvSpPr>
        <p:spPr>
          <a:xfrm>
            <a:off x="945676" y="1159975"/>
            <a:ext cx="1814100" cy="786000"/>
          </a:xfrm>
          <a:prstGeom prst="rect">
            <a:avLst/>
          </a:prstGeom>
          <a:solidFill>
            <a:srgbClr val="B02C20"/>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4000">
                <a:solidFill>
                  <a:schemeClr val="lt1"/>
                </a:solidFill>
                <a:latin typeface="Roboto"/>
                <a:ea typeface="Roboto"/>
                <a:cs typeface="Roboto"/>
                <a:sym typeface="Roboto"/>
              </a:rPr>
              <a:t>01</a:t>
            </a:r>
            <a:endParaRPr sz="4000">
              <a:solidFill>
                <a:schemeClr val="lt1"/>
              </a:solidFill>
              <a:latin typeface="Roboto"/>
              <a:ea typeface="Roboto"/>
              <a:cs typeface="Roboto"/>
              <a:sym typeface="Roboto"/>
            </a:endParaRPr>
          </a:p>
        </p:txBody>
      </p:sp>
      <p:sp>
        <p:nvSpPr>
          <p:cNvPr id="178" name="Google Shape;178;p22"/>
          <p:cNvSpPr txBox="1"/>
          <p:nvPr/>
        </p:nvSpPr>
        <p:spPr>
          <a:xfrm>
            <a:off x="3743313" y="1159975"/>
            <a:ext cx="1864200" cy="786000"/>
          </a:xfrm>
          <a:prstGeom prst="rect">
            <a:avLst/>
          </a:prstGeom>
          <a:solidFill>
            <a:srgbClr val="42B0E8"/>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4000">
                <a:solidFill>
                  <a:schemeClr val="lt1"/>
                </a:solidFill>
                <a:latin typeface="Roboto"/>
                <a:ea typeface="Roboto"/>
                <a:cs typeface="Roboto"/>
                <a:sym typeface="Roboto"/>
              </a:rPr>
              <a:t>02</a:t>
            </a:r>
            <a:endParaRPr sz="4000">
              <a:solidFill>
                <a:schemeClr val="lt1"/>
              </a:solidFill>
              <a:latin typeface="Roboto"/>
              <a:ea typeface="Roboto"/>
              <a:cs typeface="Roboto"/>
              <a:sym typeface="Roboto"/>
            </a:endParaRPr>
          </a:p>
        </p:txBody>
      </p:sp>
      <p:sp>
        <p:nvSpPr>
          <p:cNvPr id="179" name="Google Shape;179;p22"/>
          <p:cNvSpPr txBox="1"/>
          <p:nvPr/>
        </p:nvSpPr>
        <p:spPr>
          <a:xfrm>
            <a:off x="1587238" y="3663526"/>
            <a:ext cx="3075000" cy="36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b="1">
                <a:solidFill>
                  <a:srgbClr val="008C48"/>
                </a:solidFill>
                <a:latin typeface="Roboto"/>
                <a:ea typeface="Roboto"/>
                <a:cs typeface="Roboto"/>
                <a:sym typeface="Roboto"/>
              </a:rPr>
              <a:t>Defenses against the Dark Arts:</a:t>
            </a:r>
            <a:br>
              <a:rPr lang="en-GB" b="1">
                <a:solidFill>
                  <a:srgbClr val="008C48"/>
                </a:solidFill>
                <a:latin typeface="Roboto"/>
                <a:ea typeface="Roboto"/>
                <a:cs typeface="Roboto"/>
                <a:sym typeface="Roboto"/>
              </a:rPr>
            </a:br>
            <a:r>
              <a:rPr lang="en-GB" b="1">
                <a:solidFill>
                  <a:srgbClr val="008C48"/>
                </a:solidFill>
                <a:latin typeface="Roboto"/>
                <a:ea typeface="Roboto"/>
                <a:cs typeface="Roboto"/>
                <a:sym typeface="Roboto"/>
              </a:rPr>
              <a:t>Protecting the Humans</a:t>
            </a:r>
            <a:endParaRPr b="1">
              <a:solidFill>
                <a:srgbClr val="008C48"/>
              </a:solidFill>
              <a:latin typeface="Roboto"/>
              <a:ea typeface="Roboto"/>
              <a:cs typeface="Roboto"/>
              <a:sym typeface="Roboto"/>
            </a:endParaRPr>
          </a:p>
        </p:txBody>
      </p:sp>
      <p:sp>
        <p:nvSpPr>
          <p:cNvPr id="180" name="Google Shape;180;p22"/>
          <p:cNvSpPr txBox="1"/>
          <p:nvPr/>
        </p:nvSpPr>
        <p:spPr>
          <a:xfrm>
            <a:off x="5831625" y="1901450"/>
            <a:ext cx="3333000" cy="36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b="1">
                <a:solidFill>
                  <a:schemeClr val="accent4"/>
                </a:solidFill>
                <a:latin typeface="Roboto"/>
                <a:ea typeface="Roboto"/>
                <a:cs typeface="Roboto"/>
                <a:sym typeface="Roboto"/>
              </a:rPr>
              <a:t>Hacking Humans: </a:t>
            </a:r>
            <a:endParaRPr b="1">
              <a:solidFill>
                <a:schemeClr val="accent4"/>
              </a:solidFill>
              <a:latin typeface="Roboto"/>
              <a:ea typeface="Roboto"/>
              <a:cs typeface="Roboto"/>
              <a:sym typeface="Roboto"/>
            </a:endParaRPr>
          </a:p>
          <a:p>
            <a:pPr marL="0" lvl="0" indent="0" algn="ctr" rtl="0">
              <a:spcBef>
                <a:spcPts val="0"/>
              </a:spcBef>
              <a:spcAft>
                <a:spcPts val="0"/>
              </a:spcAft>
              <a:buNone/>
            </a:pPr>
            <a:r>
              <a:rPr lang="en-GB" b="1">
                <a:solidFill>
                  <a:schemeClr val="accent4"/>
                </a:solidFill>
                <a:latin typeface="Roboto"/>
                <a:ea typeface="Roboto"/>
                <a:cs typeface="Roboto"/>
                <a:sym typeface="Roboto"/>
              </a:rPr>
              <a:t>The AI way</a:t>
            </a:r>
            <a:endParaRPr b="1">
              <a:solidFill>
                <a:schemeClr val="accent4"/>
              </a:solidFill>
              <a:latin typeface="Roboto"/>
              <a:ea typeface="Roboto"/>
              <a:cs typeface="Roboto"/>
              <a:sym typeface="Roboto"/>
            </a:endParaRPr>
          </a:p>
        </p:txBody>
      </p:sp>
      <p:sp>
        <p:nvSpPr>
          <p:cNvPr id="181" name="Google Shape;181;p22"/>
          <p:cNvSpPr txBox="1"/>
          <p:nvPr/>
        </p:nvSpPr>
        <p:spPr>
          <a:xfrm>
            <a:off x="6566025" y="1159975"/>
            <a:ext cx="1864200" cy="786000"/>
          </a:xfrm>
          <a:prstGeom prst="rect">
            <a:avLst/>
          </a:prstGeom>
          <a:solidFill>
            <a:schemeClr val="accent4"/>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4000">
                <a:solidFill>
                  <a:schemeClr val="lt1"/>
                </a:solidFill>
                <a:latin typeface="Roboto"/>
                <a:ea typeface="Roboto"/>
                <a:cs typeface="Roboto"/>
                <a:sym typeface="Roboto"/>
              </a:rPr>
              <a:t>03</a:t>
            </a:r>
            <a:endParaRPr sz="4000">
              <a:solidFill>
                <a:schemeClr val="lt1"/>
              </a:solidFill>
              <a:latin typeface="Roboto"/>
              <a:ea typeface="Roboto"/>
              <a:cs typeface="Roboto"/>
              <a:sym typeface="Roboto"/>
            </a:endParaRPr>
          </a:p>
        </p:txBody>
      </p:sp>
      <p:sp>
        <p:nvSpPr>
          <p:cNvPr id="182" name="Google Shape;182;p22"/>
          <p:cNvSpPr txBox="1"/>
          <p:nvPr/>
        </p:nvSpPr>
        <p:spPr>
          <a:xfrm>
            <a:off x="2279851" y="2903550"/>
            <a:ext cx="1814100" cy="786000"/>
          </a:xfrm>
          <a:prstGeom prst="rect">
            <a:avLst/>
          </a:prstGeom>
          <a:solidFill>
            <a:srgbClr val="098658"/>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4000">
                <a:solidFill>
                  <a:schemeClr val="lt1"/>
                </a:solidFill>
                <a:latin typeface="Roboto"/>
                <a:ea typeface="Roboto"/>
                <a:cs typeface="Roboto"/>
                <a:sym typeface="Roboto"/>
              </a:rPr>
              <a:t>04</a:t>
            </a:r>
            <a:endParaRPr sz="4000">
              <a:solidFill>
                <a:schemeClr val="lt1"/>
              </a:solidFill>
              <a:latin typeface="Roboto"/>
              <a:ea typeface="Roboto"/>
              <a:cs typeface="Roboto"/>
              <a:sym typeface="Roboto"/>
            </a:endParaRPr>
          </a:p>
        </p:txBody>
      </p:sp>
      <p:sp>
        <p:nvSpPr>
          <p:cNvPr id="183" name="Google Shape;183;p22"/>
          <p:cNvSpPr txBox="1"/>
          <p:nvPr/>
        </p:nvSpPr>
        <p:spPr>
          <a:xfrm>
            <a:off x="5292701" y="2903550"/>
            <a:ext cx="1814100" cy="786000"/>
          </a:xfrm>
          <a:prstGeom prst="rect">
            <a:avLst/>
          </a:prstGeom>
          <a:solidFill>
            <a:srgbClr val="004A57"/>
          </a:solid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4000">
                <a:solidFill>
                  <a:schemeClr val="lt1"/>
                </a:solidFill>
                <a:latin typeface="Roboto"/>
                <a:ea typeface="Roboto"/>
                <a:cs typeface="Roboto"/>
                <a:sym typeface="Roboto"/>
              </a:rPr>
              <a:t>05</a:t>
            </a:r>
            <a:endParaRPr sz="4000">
              <a:solidFill>
                <a:schemeClr val="lt1"/>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3"/>
          <p:cNvSpPr txBox="1">
            <a:spLocks noGrp="1"/>
          </p:cNvSpPr>
          <p:nvPr>
            <p:ph type="title"/>
          </p:nvPr>
        </p:nvSpPr>
        <p:spPr>
          <a:xfrm>
            <a:off x="490250" y="2805450"/>
            <a:ext cx="8477100" cy="10512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GB"/>
              <a:t>Hacking Humans - The Traditional Way</a:t>
            </a:r>
            <a:endParaRPr/>
          </a:p>
        </p:txBody>
      </p:sp>
      <p:sp>
        <p:nvSpPr>
          <p:cNvPr id="189" name="Google Shape;189;p23"/>
          <p:cNvSpPr txBox="1">
            <a:spLocks noGrp="1"/>
          </p:cNvSpPr>
          <p:nvPr>
            <p:ph type="subTitle" idx="1"/>
          </p:nvPr>
        </p:nvSpPr>
        <p:spPr>
          <a:xfrm>
            <a:off x="490250" y="3596125"/>
            <a:ext cx="6367800" cy="480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Social Engineering 101</a:t>
            </a:r>
            <a:endParaRPr/>
          </a:p>
        </p:txBody>
      </p:sp>
      <p:sp>
        <p:nvSpPr>
          <p:cNvPr id="190" name="Google Shape;190;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24"/>
          <p:cNvSpPr/>
          <p:nvPr/>
        </p:nvSpPr>
        <p:spPr>
          <a:xfrm>
            <a:off x="0" y="120875"/>
            <a:ext cx="4457700" cy="402600"/>
          </a:xfrm>
          <a:prstGeom prst="rect">
            <a:avLst/>
          </a:prstGeom>
          <a:gradFill>
            <a:gsLst>
              <a:gs pos="0">
                <a:srgbClr val="00C0F3"/>
              </a:gs>
              <a:gs pos="100000">
                <a:srgbClr val="008E4E"/>
              </a:gs>
            </a:gsLst>
            <a:lin ang="270000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Lucida Sans"/>
              <a:ea typeface="Lucida Sans"/>
              <a:cs typeface="Lucida Sans"/>
              <a:sym typeface="Lucida Sans"/>
            </a:endParaRPr>
          </a:p>
        </p:txBody>
      </p:sp>
      <p:sp>
        <p:nvSpPr>
          <p:cNvPr id="196" name="Google Shape;196;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8</a:t>
            </a:fld>
            <a:endParaRPr/>
          </a:p>
        </p:txBody>
      </p:sp>
      <p:sp>
        <p:nvSpPr>
          <p:cNvPr id="197" name="Google Shape;197;p24"/>
          <p:cNvSpPr txBox="1">
            <a:spLocks noGrp="1"/>
          </p:cNvSpPr>
          <p:nvPr>
            <p:ph type="title"/>
          </p:nvPr>
        </p:nvSpPr>
        <p:spPr>
          <a:xfrm>
            <a:off x="311700" y="73176"/>
            <a:ext cx="49377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Social Engineering 101</a:t>
            </a:r>
            <a:endParaRPr/>
          </a:p>
        </p:txBody>
      </p:sp>
      <p:sp>
        <p:nvSpPr>
          <p:cNvPr id="198" name="Google Shape;198;p24"/>
          <p:cNvSpPr txBox="1">
            <a:spLocks noGrp="1"/>
          </p:cNvSpPr>
          <p:nvPr>
            <p:ph type="body" idx="1"/>
          </p:nvPr>
        </p:nvSpPr>
        <p:spPr>
          <a:xfrm>
            <a:off x="311700" y="908675"/>
            <a:ext cx="8520600" cy="36603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GB"/>
              <a:t>Social Engineering refers to the </a:t>
            </a:r>
            <a:r>
              <a:rPr lang="en-GB" b="1"/>
              <a:t>psychological manipulation</a:t>
            </a:r>
            <a:r>
              <a:rPr lang="en-GB"/>
              <a:t> of people into performing actions or divulging information.</a:t>
            </a:r>
            <a:endParaRPr/>
          </a:p>
          <a:p>
            <a:pPr marL="457200" lvl="0" indent="-342900" algn="l" rtl="0">
              <a:spcBef>
                <a:spcPts val="0"/>
              </a:spcBef>
              <a:spcAft>
                <a:spcPts val="0"/>
              </a:spcAft>
              <a:buSzPts val="1800"/>
              <a:buChar char="●"/>
            </a:pPr>
            <a:r>
              <a:rPr lang="en-GB"/>
              <a:t>Common Influencing Tactics used by social engineers:</a:t>
            </a:r>
            <a:endParaRPr/>
          </a:p>
          <a:p>
            <a:pPr marL="0" lvl="0" indent="0" algn="l" rtl="0">
              <a:spcBef>
                <a:spcPts val="1200"/>
              </a:spcBef>
              <a:spcAft>
                <a:spcPts val="1200"/>
              </a:spcAft>
              <a:buNone/>
            </a:pPr>
            <a:endParaRPr/>
          </a:p>
        </p:txBody>
      </p:sp>
      <p:grpSp>
        <p:nvGrpSpPr>
          <p:cNvPr id="199" name="Google Shape;199;p24"/>
          <p:cNvGrpSpPr/>
          <p:nvPr/>
        </p:nvGrpSpPr>
        <p:grpSpPr>
          <a:xfrm>
            <a:off x="1374772" y="2229766"/>
            <a:ext cx="6364275" cy="2339066"/>
            <a:chOff x="1758164" y="2077422"/>
            <a:chExt cx="5962967" cy="2141610"/>
          </a:xfrm>
        </p:grpSpPr>
        <p:grpSp>
          <p:nvGrpSpPr>
            <p:cNvPr id="200" name="Google Shape;200;p24"/>
            <p:cNvGrpSpPr/>
            <p:nvPr/>
          </p:nvGrpSpPr>
          <p:grpSpPr>
            <a:xfrm>
              <a:off x="1758331" y="3194860"/>
              <a:ext cx="5962793" cy="548777"/>
              <a:chOff x="2283025" y="2322567"/>
              <a:chExt cx="5267950" cy="643501"/>
            </a:xfrm>
          </p:grpSpPr>
          <p:sp>
            <p:nvSpPr>
              <p:cNvPr id="201" name="Google Shape;201;p24"/>
              <p:cNvSpPr/>
              <p:nvPr/>
            </p:nvSpPr>
            <p:spPr>
              <a:xfrm>
                <a:off x="3728375" y="2322568"/>
                <a:ext cx="3822600" cy="643500"/>
              </a:xfrm>
              <a:prstGeom prst="rect">
                <a:avLst/>
              </a:prstGeom>
              <a:solidFill>
                <a:srgbClr val="EEEEE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00" b="0" i="0" u="none" strike="noStrike" cap="none">
                  <a:solidFill>
                    <a:srgbClr val="000000"/>
                  </a:solidFill>
                  <a:latin typeface="Arial"/>
                  <a:ea typeface="Arial"/>
                  <a:cs typeface="Arial"/>
                  <a:sym typeface="Arial"/>
                </a:endParaRPr>
              </a:p>
            </p:txBody>
          </p:sp>
          <p:sp>
            <p:nvSpPr>
              <p:cNvPr id="202" name="Google Shape;202;p24"/>
              <p:cNvSpPr/>
              <p:nvPr/>
            </p:nvSpPr>
            <p:spPr>
              <a:xfrm flipH="1">
                <a:off x="2283025" y="2322575"/>
                <a:ext cx="1844400" cy="642600"/>
              </a:xfrm>
              <a:prstGeom prst="rect">
                <a:avLst/>
              </a:prstGeom>
              <a:solidFill>
                <a:srgbClr val="11648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00" b="0" i="0" u="none" strike="noStrike" cap="none">
                  <a:solidFill>
                    <a:srgbClr val="000000"/>
                  </a:solidFill>
                  <a:latin typeface="Arial"/>
                  <a:ea typeface="Arial"/>
                  <a:cs typeface="Arial"/>
                  <a:sym typeface="Arial"/>
                </a:endParaRPr>
              </a:p>
            </p:txBody>
          </p:sp>
          <p:sp>
            <p:nvSpPr>
              <p:cNvPr id="203" name="Google Shape;203;p24"/>
              <p:cNvSpPr/>
              <p:nvPr/>
            </p:nvSpPr>
            <p:spPr>
              <a:xfrm rot="-5400000">
                <a:off x="3501574" y="1934671"/>
                <a:ext cx="643356" cy="1419149"/>
              </a:xfrm>
              <a:prstGeom prst="flowChartOffpageConnector">
                <a:avLst/>
              </a:prstGeom>
              <a:solidFill>
                <a:srgbClr val="11648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00" b="0" i="0" u="none" strike="noStrike" cap="none">
                  <a:solidFill>
                    <a:srgbClr val="000000"/>
                  </a:solidFill>
                  <a:latin typeface="Arial"/>
                  <a:ea typeface="Arial"/>
                  <a:cs typeface="Arial"/>
                  <a:sym typeface="Arial"/>
                </a:endParaRPr>
              </a:p>
            </p:txBody>
          </p:sp>
          <p:sp>
            <p:nvSpPr>
              <p:cNvPr id="204" name="Google Shape;204;p24"/>
              <p:cNvSpPr/>
              <p:nvPr/>
            </p:nvSpPr>
            <p:spPr>
              <a:xfrm>
                <a:off x="2283030" y="2399947"/>
                <a:ext cx="1765500" cy="495900"/>
              </a:xfrm>
              <a:prstGeom prst="rect">
                <a:avLst/>
              </a:prstGeom>
              <a:noFill/>
              <a:ln>
                <a:noFill/>
              </a:ln>
            </p:spPr>
            <p:txBody>
              <a:bodyPr spcFirstLastPara="1" wrap="square" lIns="121900" tIns="121900" rIns="121900" bIns="121900" anchor="ctr" anchorCtr="0">
                <a:noAutofit/>
              </a:bodyPr>
              <a:lstStyle/>
              <a:p>
                <a:pPr marL="0" marR="0" lvl="0" indent="0" algn="l" rtl="0">
                  <a:lnSpc>
                    <a:spcPct val="115000"/>
                  </a:lnSpc>
                  <a:spcBef>
                    <a:spcPts val="0"/>
                  </a:spcBef>
                  <a:spcAft>
                    <a:spcPts val="0"/>
                  </a:spcAft>
                  <a:buClr>
                    <a:srgbClr val="000000"/>
                  </a:buClr>
                  <a:buSzPts val="2100"/>
                  <a:buFont typeface="Arial"/>
                  <a:buNone/>
                </a:pPr>
                <a:r>
                  <a:rPr lang="en-GB" sz="1500" b="0" i="0" u="none" strike="noStrike" cap="none">
                    <a:solidFill>
                      <a:srgbClr val="FFFFFF"/>
                    </a:solidFill>
                    <a:latin typeface="Roboto Medium"/>
                    <a:ea typeface="Roboto Medium"/>
                    <a:cs typeface="Roboto Medium"/>
                    <a:sym typeface="Roboto Medium"/>
                  </a:rPr>
                  <a:t>Context-specific factors</a:t>
                </a:r>
                <a:endParaRPr sz="1500" b="0" i="0" u="none" strike="noStrike" cap="none">
                  <a:solidFill>
                    <a:srgbClr val="FFFFFF"/>
                  </a:solidFill>
                  <a:latin typeface="Roboto"/>
                  <a:ea typeface="Roboto"/>
                  <a:cs typeface="Roboto"/>
                  <a:sym typeface="Roboto"/>
                </a:endParaRPr>
              </a:p>
            </p:txBody>
          </p:sp>
          <p:sp>
            <p:nvSpPr>
              <p:cNvPr id="205" name="Google Shape;205;p24"/>
              <p:cNvSpPr/>
              <p:nvPr/>
            </p:nvSpPr>
            <p:spPr>
              <a:xfrm>
                <a:off x="4387850" y="2323750"/>
                <a:ext cx="2971200" cy="642300"/>
              </a:xfrm>
              <a:prstGeom prst="rect">
                <a:avLst/>
              </a:prstGeom>
              <a:noFill/>
              <a:ln>
                <a:noFill/>
              </a:ln>
            </p:spPr>
            <p:txBody>
              <a:bodyPr spcFirstLastPara="1" wrap="square" lIns="121900" tIns="121900" rIns="121900" bIns="121900" anchor="ctr" anchorCtr="0">
                <a:noAutofit/>
              </a:bodyPr>
              <a:lstStyle/>
              <a:p>
                <a:pPr marL="609600" marR="0" lvl="0" indent="-374650" algn="l" rtl="0">
                  <a:lnSpc>
                    <a:spcPct val="115000"/>
                  </a:lnSpc>
                  <a:spcBef>
                    <a:spcPts val="0"/>
                  </a:spcBef>
                  <a:spcAft>
                    <a:spcPts val="0"/>
                  </a:spcAft>
                  <a:buClr>
                    <a:srgbClr val="3F3F3F"/>
                  </a:buClr>
                  <a:buSzPts val="1100"/>
                  <a:buFont typeface="Roboto"/>
                  <a:buChar char="●"/>
                </a:pPr>
                <a:r>
                  <a:rPr lang="en-GB" sz="1100" b="0" i="0" u="none" strike="noStrike" cap="none">
                    <a:solidFill>
                      <a:srgbClr val="3F3F3F"/>
                    </a:solidFill>
                    <a:latin typeface="Roboto"/>
                    <a:ea typeface="Roboto"/>
                    <a:cs typeface="Roboto"/>
                    <a:sym typeface="Roboto"/>
                  </a:rPr>
                  <a:t>Dependent on the nature of work </a:t>
                </a:r>
                <a:endParaRPr sz="1100" b="0" i="0" u="none" strike="noStrike" cap="none">
                  <a:solidFill>
                    <a:srgbClr val="3F3F3F"/>
                  </a:solidFill>
                  <a:latin typeface="Roboto"/>
                  <a:ea typeface="Roboto"/>
                  <a:cs typeface="Roboto"/>
                  <a:sym typeface="Roboto"/>
                </a:endParaRPr>
              </a:p>
              <a:p>
                <a:pPr marL="609600" marR="0" lvl="0" indent="-374650" algn="l" rtl="0">
                  <a:lnSpc>
                    <a:spcPct val="115000"/>
                  </a:lnSpc>
                  <a:spcBef>
                    <a:spcPts val="0"/>
                  </a:spcBef>
                  <a:spcAft>
                    <a:spcPts val="0"/>
                  </a:spcAft>
                  <a:buClr>
                    <a:srgbClr val="3F3F3F"/>
                  </a:buClr>
                  <a:buSzPts val="1100"/>
                  <a:buFont typeface="Roboto"/>
                  <a:buChar char="●"/>
                </a:pPr>
                <a:r>
                  <a:rPr lang="en-GB" sz="1100" b="0" i="0" u="none" strike="noStrike" cap="none">
                    <a:solidFill>
                      <a:srgbClr val="3F3F3F"/>
                    </a:solidFill>
                    <a:latin typeface="Roboto"/>
                    <a:ea typeface="Roboto"/>
                    <a:cs typeface="Roboto"/>
                    <a:sym typeface="Roboto"/>
                  </a:rPr>
                  <a:t>Attacker exploits a pattern the targets are comfortable in</a:t>
                </a:r>
                <a:endParaRPr sz="1100" b="0" i="0" u="none" strike="noStrike" cap="none">
                  <a:solidFill>
                    <a:srgbClr val="3F3F3F"/>
                  </a:solidFill>
                  <a:latin typeface="Roboto"/>
                  <a:ea typeface="Roboto"/>
                  <a:cs typeface="Roboto"/>
                  <a:sym typeface="Roboto"/>
                </a:endParaRPr>
              </a:p>
            </p:txBody>
          </p:sp>
        </p:grpSp>
        <p:grpSp>
          <p:nvGrpSpPr>
            <p:cNvPr id="206" name="Google Shape;206;p24"/>
            <p:cNvGrpSpPr/>
            <p:nvPr/>
          </p:nvGrpSpPr>
          <p:grpSpPr>
            <a:xfrm>
              <a:off x="1758164" y="2636145"/>
              <a:ext cx="5962960" cy="548777"/>
              <a:chOff x="2282877" y="2322567"/>
              <a:chExt cx="5268098" cy="643501"/>
            </a:xfrm>
          </p:grpSpPr>
          <p:sp>
            <p:nvSpPr>
              <p:cNvPr id="207" name="Google Shape;207;p24"/>
              <p:cNvSpPr/>
              <p:nvPr/>
            </p:nvSpPr>
            <p:spPr>
              <a:xfrm>
                <a:off x="3728375" y="2322568"/>
                <a:ext cx="3822600" cy="643500"/>
              </a:xfrm>
              <a:prstGeom prst="rect">
                <a:avLst/>
              </a:prstGeom>
              <a:solidFill>
                <a:srgbClr val="EEEEE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00" b="0" i="0" u="none" strike="noStrike" cap="none">
                  <a:solidFill>
                    <a:srgbClr val="000000"/>
                  </a:solidFill>
                  <a:latin typeface="Arial"/>
                  <a:ea typeface="Arial"/>
                  <a:cs typeface="Arial"/>
                  <a:sym typeface="Arial"/>
                </a:endParaRPr>
              </a:p>
            </p:txBody>
          </p:sp>
          <p:sp>
            <p:nvSpPr>
              <p:cNvPr id="208" name="Google Shape;208;p24"/>
              <p:cNvSpPr/>
              <p:nvPr/>
            </p:nvSpPr>
            <p:spPr>
              <a:xfrm flipH="1">
                <a:off x="2283025" y="2322575"/>
                <a:ext cx="1844400" cy="642600"/>
              </a:xfrm>
              <a:prstGeom prst="rect">
                <a:avLst/>
              </a:prstGeom>
              <a:solidFill>
                <a:srgbClr val="11648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00" b="0" i="0" u="none" strike="noStrike" cap="none">
                  <a:solidFill>
                    <a:srgbClr val="000000"/>
                  </a:solidFill>
                  <a:latin typeface="Arial"/>
                  <a:ea typeface="Arial"/>
                  <a:cs typeface="Arial"/>
                  <a:sym typeface="Arial"/>
                </a:endParaRPr>
              </a:p>
            </p:txBody>
          </p:sp>
          <p:sp>
            <p:nvSpPr>
              <p:cNvPr id="209" name="Google Shape;209;p24"/>
              <p:cNvSpPr/>
              <p:nvPr/>
            </p:nvSpPr>
            <p:spPr>
              <a:xfrm rot="-5400000">
                <a:off x="3501574" y="1934671"/>
                <a:ext cx="643356" cy="1419149"/>
              </a:xfrm>
              <a:prstGeom prst="flowChartOffpageConnector">
                <a:avLst/>
              </a:prstGeom>
              <a:solidFill>
                <a:srgbClr val="11648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00" b="0" i="0" u="none" strike="noStrike" cap="none">
                  <a:solidFill>
                    <a:srgbClr val="000000"/>
                  </a:solidFill>
                  <a:latin typeface="Arial"/>
                  <a:ea typeface="Arial"/>
                  <a:cs typeface="Arial"/>
                  <a:sym typeface="Arial"/>
                </a:endParaRPr>
              </a:p>
            </p:txBody>
          </p:sp>
          <p:sp>
            <p:nvSpPr>
              <p:cNvPr id="210" name="Google Shape;210;p24"/>
              <p:cNvSpPr/>
              <p:nvPr/>
            </p:nvSpPr>
            <p:spPr>
              <a:xfrm flipH="1">
                <a:off x="2282877" y="2399956"/>
                <a:ext cx="1602000" cy="495900"/>
              </a:xfrm>
              <a:prstGeom prst="rect">
                <a:avLst/>
              </a:prstGeom>
              <a:solidFill>
                <a:srgbClr val="11648E"/>
              </a:solidFill>
              <a:ln>
                <a:noFill/>
              </a:ln>
            </p:spPr>
            <p:txBody>
              <a:bodyPr spcFirstLastPara="1" wrap="square" lIns="121900" tIns="121900" rIns="121900" bIns="121900" anchor="ctr" anchorCtr="0">
                <a:noAutofit/>
              </a:bodyPr>
              <a:lstStyle/>
              <a:p>
                <a:pPr marL="0" marR="0" lvl="0" indent="0" algn="l" rtl="0">
                  <a:lnSpc>
                    <a:spcPct val="115000"/>
                  </a:lnSpc>
                  <a:spcBef>
                    <a:spcPts val="0"/>
                  </a:spcBef>
                  <a:spcAft>
                    <a:spcPts val="0"/>
                  </a:spcAft>
                  <a:buClr>
                    <a:srgbClr val="000000"/>
                  </a:buClr>
                  <a:buSzPts val="2100"/>
                  <a:buFont typeface="Arial"/>
                  <a:buNone/>
                </a:pPr>
                <a:r>
                  <a:rPr lang="en-GB" sz="1500" b="0" i="0" u="none" strike="noStrike" cap="none">
                    <a:solidFill>
                      <a:srgbClr val="FFFFFF"/>
                    </a:solidFill>
                    <a:latin typeface="Roboto Medium"/>
                    <a:ea typeface="Roboto Medium"/>
                    <a:cs typeface="Roboto Medium"/>
                    <a:sym typeface="Roboto Medium"/>
                  </a:rPr>
                  <a:t>Scarcity</a:t>
                </a:r>
                <a:endParaRPr sz="1500" b="0" i="0" u="none" strike="noStrike" cap="none">
                  <a:solidFill>
                    <a:srgbClr val="FFFFFF"/>
                  </a:solidFill>
                  <a:latin typeface="Roboto"/>
                  <a:ea typeface="Roboto"/>
                  <a:cs typeface="Roboto"/>
                  <a:sym typeface="Roboto"/>
                </a:endParaRPr>
              </a:p>
            </p:txBody>
          </p:sp>
          <p:sp>
            <p:nvSpPr>
              <p:cNvPr id="211" name="Google Shape;211;p24"/>
              <p:cNvSpPr/>
              <p:nvPr/>
            </p:nvSpPr>
            <p:spPr>
              <a:xfrm>
                <a:off x="4387850" y="2323750"/>
                <a:ext cx="2971200" cy="642300"/>
              </a:xfrm>
              <a:prstGeom prst="rect">
                <a:avLst/>
              </a:prstGeom>
              <a:noFill/>
              <a:ln>
                <a:noFill/>
              </a:ln>
            </p:spPr>
            <p:txBody>
              <a:bodyPr spcFirstLastPara="1" wrap="square" lIns="121900" tIns="121900" rIns="121900" bIns="121900" anchor="ctr" anchorCtr="0">
                <a:noAutofit/>
              </a:bodyPr>
              <a:lstStyle/>
              <a:p>
                <a:pPr marL="609600" marR="0" lvl="0" indent="-374650" algn="l" rtl="0">
                  <a:lnSpc>
                    <a:spcPct val="115000"/>
                  </a:lnSpc>
                  <a:spcBef>
                    <a:spcPts val="0"/>
                  </a:spcBef>
                  <a:spcAft>
                    <a:spcPts val="0"/>
                  </a:spcAft>
                  <a:buClr>
                    <a:srgbClr val="3F3F3F"/>
                  </a:buClr>
                  <a:buSzPts val="1100"/>
                  <a:buFont typeface="Roboto"/>
                  <a:buChar char="●"/>
                </a:pPr>
                <a:r>
                  <a:rPr lang="en-GB" sz="1100" b="0" i="0" u="none" strike="noStrike" cap="none">
                    <a:solidFill>
                      <a:srgbClr val="3F3F3F"/>
                    </a:solidFill>
                    <a:latin typeface="Roboto"/>
                    <a:ea typeface="Roboto"/>
                    <a:cs typeface="Roboto"/>
                    <a:sym typeface="Roboto"/>
                  </a:rPr>
                  <a:t>Create a feeling of urgency </a:t>
                </a:r>
                <a:endParaRPr sz="1100" b="0" i="0" u="none" strike="noStrike" cap="none">
                  <a:solidFill>
                    <a:srgbClr val="3F3F3F"/>
                  </a:solidFill>
                  <a:latin typeface="Roboto"/>
                  <a:ea typeface="Roboto"/>
                  <a:cs typeface="Roboto"/>
                  <a:sym typeface="Roboto"/>
                </a:endParaRPr>
              </a:p>
              <a:p>
                <a:pPr marL="609600" marR="0" lvl="0" indent="-374650" algn="l" rtl="0">
                  <a:lnSpc>
                    <a:spcPct val="115000"/>
                  </a:lnSpc>
                  <a:spcBef>
                    <a:spcPts val="0"/>
                  </a:spcBef>
                  <a:spcAft>
                    <a:spcPts val="0"/>
                  </a:spcAft>
                  <a:buClr>
                    <a:srgbClr val="3F3F3F"/>
                  </a:buClr>
                  <a:buSzPts val="1100"/>
                  <a:buFont typeface="Roboto"/>
                  <a:buChar char="●"/>
                </a:pPr>
                <a:r>
                  <a:rPr lang="en-GB" sz="1100" b="0" i="0" u="none" strike="noStrike" cap="none">
                    <a:solidFill>
                      <a:srgbClr val="3F3F3F"/>
                    </a:solidFill>
                    <a:latin typeface="Roboto"/>
                    <a:ea typeface="Roboto"/>
                    <a:cs typeface="Roboto"/>
                    <a:sym typeface="Roboto"/>
                  </a:rPr>
                  <a:t>Manipulate the decision-making process</a:t>
                </a:r>
                <a:endParaRPr sz="1100" b="0" i="0" u="none" strike="noStrike" cap="none">
                  <a:solidFill>
                    <a:srgbClr val="3F3F3F"/>
                  </a:solidFill>
                  <a:latin typeface="Roboto"/>
                  <a:ea typeface="Roboto"/>
                  <a:cs typeface="Roboto"/>
                  <a:sym typeface="Roboto"/>
                </a:endParaRPr>
              </a:p>
            </p:txBody>
          </p:sp>
        </p:grpSp>
        <p:grpSp>
          <p:nvGrpSpPr>
            <p:cNvPr id="212" name="Google Shape;212;p24"/>
            <p:cNvGrpSpPr/>
            <p:nvPr/>
          </p:nvGrpSpPr>
          <p:grpSpPr>
            <a:xfrm>
              <a:off x="1758327" y="2077422"/>
              <a:ext cx="5962796" cy="548777"/>
              <a:chOff x="2283022" y="2322567"/>
              <a:chExt cx="5267953" cy="643501"/>
            </a:xfrm>
          </p:grpSpPr>
          <p:sp>
            <p:nvSpPr>
              <p:cNvPr id="213" name="Google Shape;213;p24"/>
              <p:cNvSpPr/>
              <p:nvPr/>
            </p:nvSpPr>
            <p:spPr>
              <a:xfrm>
                <a:off x="3728375" y="2322568"/>
                <a:ext cx="3822600" cy="643500"/>
              </a:xfrm>
              <a:prstGeom prst="rect">
                <a:avLst/>
              </a:prstGeom>
              <a:solidFill>
                <a:srgbClr val="EEEEE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00" b="0" i="0" u="none" strike="noStrike" cap="none">
                  <a:solidFill>
                    <a:srgbClr val="000000"/>
                  </a:solidFill>
                  <a:latin typeface="Arial"/>
                  <a:ea typeface="Arial"/>
                  <a:cs typeface="Arial"/>
                  <a:sym typeface="Arial"/>
                </a:endParaRPr>
              </a:p>
            </p:txBody>
          </p:sp>
          <p:sp>
            <p:nvSpPr>
              <p:cNvPr id="214" name="Google Shape;214;p24"/>
              <p:cNvSpPr/>
              <p:nvPr/>
            </p:nvSpPr>
            <p:spPr>
              <a:xfrm flipH="1">
                <a:off x="2283025" y="2322575"/>
                <a:ext cx="1844400" cy="642600"/>
              </a:xfrm>
              <a:prstGeom prst="rect">
                <a:avLst/>
              </a:prstGeom>
              <a:solidFill>
                <a:srgbClr val="11648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00" b="0" i="0" u="none" strike="noStrike" cap="none">
                  <a:solidFill>
                    <a:srgbClr val="000000"/>
                  </a:solidFill>
                  <a:latin typeface="Arial"/>
                  <a:ea typeface="Arial"/>
                  <a:cs typeface="Arial"/>
                  <a:sym typeface="Arial"/>
                </a:endParaRPr>
              </a:p>
            </p:txBody>
          </p:sp>
          <p:sp>
            <p:nvSpPr>
              <p:cNvPr id="215" name="Google Shape;215;p24"/>
              <p:cNvSpPr/>
              <p:nvPr/>
            </p:nvSpPr>
            <p:spPr>
              <a:xfrm rot="-5400000">
                <a:off x="3501574" y="1934671"/>
                <a:ext cx="643356" cy="1419149"/>
              </a:xfrm>
              <a:prstGeom prst="flowChartOffpageConnector">
                <a:avLst/>
              </a:prstGeom>
              <a:solidFill>
                <a:srgbClr val="11648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00" b="0" i="0" u="none" strike="noStrike" cap="none">
                  <a:solidFill>
                    <a:srgbClr val="000000"/>
                  </a:solidFill>
                  <a:latin typeface="Arial"/>
                  <a:ea typeface="Arial"/>
                  <a:cs typeface="Arial"/>
                  <a:sym typeface="Arial"/>
                </a:endParaRPr>
              </a:p>
            </p:txBody>
          </p:sp>
          <p:sp>
            <p:nvSpPr>
              <p:cNvPr id="216" name="Google Shape;216;p24"/>
              <p:cNvSpPr/>
              <p:nvPr/>
            </p:nvSpPr>
            <p:spPr>
              <a:xfrm>
                <a:off x="2283022" y="2399959"/>
                <a:ext cx="2000400" cy="495900"/>
              </a:xfrm>
              <a:prstGeom prst="rect">
                <a:avLst/>
              </a:prstGeom>
              <a:noFill/>
              <a:ln>
                <a:noFill/>
              </a:ln>
            </p:spPr>
            <p:txBody>
              <a:bodyPr spcFirstLastPara="1" wrap="square" lIns="121900" tIns="121900" rIns="121900" bIns="121900" anchor="ctr" anchorCtr="0">
                <a:noAutofit/>
              </a:bodyPr>
              <a:lstStyle/>
              <a:p>
                <a:pPr marL="0" marR="0" lvl="0" indent="0" algn="l" rtl="0">
                  <a:lnSpc>
                    <a:spcPct val="115000"/>
                  </a:lnSpc>
                  <a:spcBef>
                    <a:spcPts val="0"/>
                  </a:spcBef>
                  <a:spcAft>
                    <a:spcPts val="0"/>
                  </a:spcAft>
                  <a:buClr>
                    <a:srgbClr val="000000"/>
                  </a:buClr>
                  <a:buSzPts val="2100"/>
                  <a:buFont typeface="Arial"/>
                  <a:buNone/>
                </a:pPr>
                <a:r>
                  <a:rPr lang="en-GB" sz="1500" b="0" i="0" u="none" strike="noStrike" cap="none">
                    <a:solidFill>
                      <a:srgbClr val="FFFFFF"/>
                    </a:solidFill>
                    <a:latin typeface="Roboto Medium"/>
                    <a:ea typeface="Roboto Medium"/>
                    <a:cs typeface="Roboto Medium"/>
                    <a:sym typeface="Roboto Medium"/>
                  </a:rPr>
                  <a:t>Authority</a:t>
                </a:r>
                <a:endParaRPr sz="1500" b="0" i="0" u="none" strike="noStrike" cap="none">
                  <a:solidFill>
                    <a:srgbClr val="FFFFFF"/>
                  </a:solidFill>
                  <a:latin typeface="Roboto"/>
                  <a:ea typeface="Roboto"/>
                  <a:cs typeface="Roboto"/>
                  <a:sym typeface="Roboto"/>
                </a:endParaRPr>
              </a:p>
            </p:txBody>
          </p:sp>
          <p:sp>
            <p:nvSpPr>
              <p:cNvPr id="217" name="Google Shape;217;p24"/>
              <p:cNvSpPr/>
              <p:nvPr/>
            </p:nvSpPr>
            <p:spPr>
              <a:xfrm>
                <a:off x="4387850" y="2323750"/>
                <a:ext cx="2971200" cy="642300"/>
              </a:xfrm>
              <a:prstGeom prst="rect">
                <a:avLst/>
              </a:prstGeom>
              <a:noFill/>
              <a:ln>
                <a:noFill/>
              </a:ln>
            </p:spPr>
            <p:txBody>
              <a:bodyPr spcFirstLastPara="1" wrap="square" lIns="121900" tIns="121900" rIns="121900" bIns="121900" anchor="ctr" anchorCtr="0">
                <a:noAutofit/>
              </a:bodyPr>
              <a:lstStyle/>
              <a:p>
                <a:pPr marL="609600" marR="0" lvl="0" indent="-374650" algn="l" rtl="0">
                  <a:lnSpc>
                    <a:spcPct val="115000"/>
                  </a:lnSpc>
                  <a:spcBef>
                    <a:spcPts val="0"/>
                  </a:spcBef>
                  <a:spcAft>
                    <a:spcPts val="0"/>
                  </a:spcAft>
                  <a:buClr>
                    <a:srgbClr val="3F3F3F"/>
                  </a:buClr>
                  <a:buSzPts val="1100"/>
                  <a:buFont typeface="Roboto"/>
                  <a:buChar char="●"/>
                </a:pPr>
                <a:r>
                  <a:rPr lang="en-GB" sz="1100" b="0" i="0" u="none" strike="noStrike" cap="none">
                    <a:solidFill>
                      <a:srgbClr val="3F3F3F"/>
                    </a:solidFill>
                    <a:latin typeface="Roboto"/>
                    <a:ea typeface="Roboto"/>
                    <a:cs typeface="Roboto"/>
                    <a:sym typeface="Roboto"/>
                  </a:rPr>
                  <a:t>Claims to be from an individual or community with a right to exercise power</a:t>
                </a:r>
                <a:endParaRPr sz="1100" b="0" i="0" u="none" strike="noStrike" cap="none">
                  <a:solidFill>
                    <a:srgbClr val="3F3F3F"/>
                  </a:solidFill>
                  <a:latin typeface="Roboto"/>
                  <a:ea typeface="Roboto"/>
                  <a:cs typeface="Roboto"/>
                  <a:sym typeface="Roboto"/>
                </a:endParaRPr>
              </a:p>
            </p:txBody>
          </p:sp>
        </p:grpSp>
        <p:sp>
          <p:nvSpPr>
            <p:cNvPr id="218" name="Google Shape;218;p24"/>
            <p:cNvSpPr txBox="1"/>
            <p:nvPr/>
          </p:nvSpPr>
          <p:spPr>
            <a:xfrm>
              <a:off x="2229330" y="3814032"/>
              <a:ext cx="5491800" cy="405000"/>
            </a:xfrm>
            <a:prstGeom prst="rect">
              <a:avLst/>
            </a:prstGeom>
            <a:noFill/>
            <a:ln>
              <a:noFill/>
            </a:ln>
          </p:spPr>
          <p:txBody>
            <a:bodyPr spcFirstLastPara="1" wrap="square" lIns="91425" tIns="91425" rIns="91425" bIns="91425" anchor="ctr" anchorCtr="0">
              <a:noAutofit/>
            </a:bodyPr>
            <a:lstStyle/>
            <a:p>
              <a:pPr marL="0" lvl="0" indent="0" algn="r" rtl="0">
                <a:spcBef>
                  <a:spcPts val="600"/>
                </a:spcBef>
                <a:spcAft>
                  <a:spcPts val="0"/>
                </a:spcAft>
                <a:buNone/>
              </a:pPr>
              <a:r>
                <a:rPr lang="en-GB" sz="1100">
                  <a:solidFill>
                    <a:srgbClr val="828282"/>
                  </a:solidFill>
                  <a:latin typeface="Quattrocento Sans"/>
                  <a:ea typeface="Quattrocento Sans"/>
                  <a:cs typeface="Quattrocento Sans"/>
                  <a:sym typeface="Quattrocento Sans"/>
                </a:rPr>
                <a:t>- Emma J.Williams, “Exploring susceptibility to phishing in the workplace,” 2018</a:t>
              </a:r>
              <a:endParaRPr sz="1100">
                <a:solidFill>
                  <a:srgbClr val="828282"/>
                </a:solidFill>
                <a:latin typeface="Quattrocento Sans"/>
                <a:ea typeface="Quattrocento Sans"/>
                <a:cs typeface="Quattrocento Sans"/>
                <a:sym typeface="Quattrocento Sans"/>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5"/>
          <p:cNvSpPr/>
          <p:nvPr/>
        </p:nvSpPr>
        <p:spPr>
          <a:xfrm>
            <a:off x="0" y="120875"/>
            <a:ext cx="4457700" cy="402600"/>
          </a:xfrm>
          <a:prstGeom prst="rect">
            <a:avLst/>
          </a:prstGeom>
          <a:gradFill>
            <a:gsLst>
              <a:gs pos="0">
                <a:srgbClr val="00C0F3"/>
              </a:gs>
              <a:gs pos="100000">
                <a:srgbClr val="008E4E"/>
              </a:gs>
            </a:gsLst>
            <a:lin ang="270000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Lucida Sans"/>
              <a:ea typeface="Lucida Sans"/>
              <a:cs typeface="Lucida Sans"/>
              <a:sym typeface="Lucida Sans"/>
            </a:endParaRPr>
          </a:p>
        </p:txBody>
      </p:sp>
      <p:sp>
        <p:nvSpPr>
          <p:cNvPr id="224" name="Google Shape;224;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9</a:t>
            </a:fld>
            <a:endParaRPr/>
          </a:p>
        </p:txBody>
      </p:sp>
      <p:sp>
        <p:nvSpPr>
          <p:cNvPr id="225" name="Google Shape;225;p25"/>
          <p:cNvSpPr txBox="1">
            <a:spLocks noGrp="1"/>
          </p:cNvSpPr>
          <p:nvPr>
            <p:ph type="title"/>
          </p:nvPr>
        </p:nvSpPr>
        <p:spPr>
          <a:xfrm>
            <a:off x="311700" y="73176"/>
            <a:ext cx="49377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Social Engineering 101</a:t>
            </a:r>
            <a:endParaRPr/>
          </a:p>
        </p:txBody>
      </p:sp>
      <p:sp>
        <p:nvSpPr>
          <p:cNvPr id="226" name="Google Shape;226;p25"/>
          <p:cNvSpPr txBox="1">
            <a:spLocks noGrp="1"/>
          </p:cNvSpPr>
          <p:nvPr>
            <p:ph type="body" idx="1"/>
          </p:nvPr>
        </p:nvSpPr>
        <p:spPr>
          <a:xfrm>
            <a:off x="311700" y="908675"/>
            <a:ext cx="8520600" cy="36603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GB"/>
              <a:t>3 common attack vectors of Social Engineering</a:t>
            </a:r>
            <a:endParaRPr/>
          </a:p>
          <a:p>
            <a:pPr marL="457200" lvl="0" indent="0" algn="l" rtl="0">
              <a:spcBef>
                <a:spcPts val="1200"/>
              </a:spcBef>
              <a:spcAft>
                <a:spcPts val="0"/>
              </a:spcAft>
              <a:buNone/>
            </a:pPr>
            <a:endParaRPr/>
          </a:p>
          <a:p>
            <a:pPr marL="457200" lvl="0" indent="0" algn="l" rtl="0">
              <a:spcBef>
                <a:spcPts val="1200"/>
              </a:spcBef>
              <a:spcAft>
                <a:spcPts val="0"/>
              </a:spcAft>
              <a:buNone/>
            </a:pPr>
            <a:endParaRPr/>
          </a:p>
          <a:p>
            <a:pPr marL="457200" lvl="0" indent="0" algn="l" rtl="0">
              <a:spcBef>
                <a:spcPts val="1200"/>
              </a:spcBef>
              <a:spcAft>
                <a:spcPts val="0"/>
              </a:spcAft>
              <a:buNone/>
            </a:pPr>
            <a:endParaRPr/>
          </a:p>
          <a:p>
            <a:pPr marL="457200" lvl="0" indent="-342900" algn="l" rtl="0">
              <a:spcBef>
                <a:spcPts val="1200"/>
              </a:spcBef>
              <a:spcAft>
                <a:spcPts val="0"/>
              </a:spcAft>
              <a:buSzPts val="1800"/>
              <a:buChar char="●"/>
            </a:pPr>
            <a:r>
              <a:rPr lang="en-GB"/>
              <a:t>Social Engineering is an art leveraged for different purposes</a:t>
            </a:r>
            <a:endParaRPr/>
          </a:p>
        </p:txBody>
      </p:sp>
      <p:sp>
        <p:nvSpPr>
          <p:cNvPr id="227" name="Google Shape;227;p25"/>
          <p:cNvSpPr/>
          <p:nvPr/>
        </p:nvSpPr>
        <p:spPr>
          <a:xfrm>
            <a:off x="1794700" y="3300650"/>
            <a:ext cx="1804800" cy="1035900"/>
          </a:xfrm>
          <a:prstGeom prst="rect">
            <a:avLst/>
          </a:prstGeom>
          <a:solidFill>
            <a:srgbClr val="A31515"/>
          </a:solidFill>
          <a:ln w="9525" cap="flat" cmpd="sng">
            <a:solidFill>
              <a:srgbClr val="A3151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700">
                <a:solidFill>
                  <a:schemeClr val="lt1"/>
                </a:solidFill>
                <a:latin typeface="Roboto"/>
                <a:ea typeface="Roboto"/>
                <a:cs typeface="Roboto"/>
                <a:sym typeface="Roboto"/>
              </a:rPr>
              <a:t>Malicious actors</a:t>
            </a:r>
            <a:endParaRPr sz="1700">
              <a:solidFill>
                <a:schemeClr val="lt1"/>
              </a:solidFill>
              <a:latin typeface="Roboto"/>
              <a:ea typeface="Roboto"/>
              <a:cs typeface="Roboto"/>
              <a:sym typeface="Roboto"/>
            </a:endParaRPr>
          </a:p>
        </p:txBody>
      </p:sp>
      <p:sp>
        <p:nvSpPr>
          <p:cNvPr id="228" name="Google Shape;228;p25"/>
          <p:cNvSpPr/>
          <p:nvPr/>
        </p:nvSpPr>
        <p:spPr>
          <a:xfrm>
            <a:off x="3992450" y="3300650"/>
            <a:ext cx="1804800" cy="10359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700">
                <a:solidFill>
                  <a:schemeClr val="lt1"/>
                </a:solidFill>
                <a:latin typeface="Roboto"/>
                <a:ea typeface="Roboto"/>
                <a:cs typeface="Roboto"/>
                <a:sym typeface="Roboto"/>
              </a:rPr>
              <a:t>Red Team exercises</a:t>
            </a:r>
            <a:endParaRPr sz="1700">
              <a:solidFill>
                <a:schemeClr val="lt1"/>
              </a:solidFill>
              <a:latin typeface="Roboto"/>
              <a:ea typeface="Roboto"/>
              <a:cs typeface="Roboto"/>
              <a:sym typeface="Roboto"/>
            </a:endParaRPr>
          </a:p>
        </p:txBody>
      </p:sp>
      <p:sp>
        <p:nvSpPr>
          <p:cNvPr id="229" name="Google Shape;229;p25"/>
          <p:cNvSpPr/>
          <p:nvPr/>
        </p:nvSpPr>
        <p:spPr>
          <a:xfrm>
            <a:off x="6190200" y="3300650"/>
            <a:ext cx="1804800" cy="1035900"/>
          </a:xfrm>
          <a:prstGeom prst="rect">
            <a:avLst/>
          </a:prstGeom>
          <a:solidFill>
            <a:srgbClr val="098658"/>
          </a:solidFill>
          <a:ln w="9525" cap="flat" cmpd="sng">
            <a:solidFill>
              <a:srgbClr val="008C4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700">
                <a:solidFill>
                  <a:schemeClr val="lt1"/>
                </a:solidFill>
                <a:latin typeface="Roboto"/>
                <a:ea typeface="Roboto"/>
                <a:cs typeface="Roboto"/>
                <a:sym typeface="Roboto"/>
              </a:rPr>
              <a:t>Security Training &amp; Awareness</a:t>
            </a:r>
            <a:endParaRPr sz="1700">
              <a:solidFill>
                <a:schemeClr val="lt1"/>
              </a:solidFill>
              <a:latin typeface="Roboto"/>
              <a:ea typeface="Roboto"/>
              <a:cs typeface="Roboto"/>
              <a:sym typeface="Roboto"/>
            </a:endParaRPr>
          </a:p>
        </p:txBody>
      </p:sp>
      <p:sp>
        <p:nvSpPr>
          <p:cNvPr id="230" name="Google Shape;230;p25"/>
          <p:cNvSpPr/>
          <p:nvPr/>
        </p:nvSpPr>
        <p:spPr>
          <a:xfrm>
            <a:off x="1794700" y="1574100"/>
            <a:ext cx="1804800" cy="1035900"/>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700">
                <a:solidFill>
                  <a:schemeClr val="lt1"/>
                </a:solidFill>
                <a:latin typeface="Roboto"/>
                <a:ea typeface="Roboto"/>
                <a:cs typeface="Roboto"/>
                <a:sym typeface="Roboto"/>
              </a:rPr>
              <a:t>Email Phishing</a:t>
            </a:r>
            <a:endParaRPr sz="1700">
              <a:solidFill>
                <a:schemeClr val="lt1"/>
              </a:solidFill>
              <a:latin typeface="Roboto"/>
              <a:ea typeface="Roboto"/>
              <a:cs typeface="Roboto"/>
              <a:sym typeface="Roboto"/>
            </a:endParaRPr>
          </a:p>
        </p:txBody>
      </p:sp>
      <p:sp>
        <p:nvSpPr>
          <p:cNvPr id="231" name="Google Shape;231;p25"/>
          <p:cNvSpPr/>
          <p:nvPr/>
        </p:nvSpPr>
        <p:spPr>
          <a:xfrm>
            <a:off x="3992450" y="1574100"/>
            <a:ext cx="1804800" cy="1035900"/>
          </a:xfrm>
          <a:prstGeom prst="rect">
            <a:avLst/>
          </a:prstGeom>
          <a:solidFill>
            <a:srgbClr val="004A57"/>
          </a:solidFill>
          <a:ln w="9525" cap="flat" cmpd="sng">
            <a:solidFill>
              <a:srgbClr val="004A5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700">
                <a:solidFill>
                  <a:schemeClr val="lt1"/>
                </a:solidFill>
                <a:latin typeface="Roboto"/>
                <a:ea typeface="Roboto"/>
                <a:cs typeface="Roboto"/>
                <a:sym typeface="Roboto"/>
              </a:rPr>
              <a:t>Voice Phishing / </a:t>
            </a:r>
            <a:endParaRPr sz="1700">
              <a:solidFill>
                <a:schemeClr val="lt1"/>
              </a:solidFill>
              <a:latin typeface="Roboto"/>
              <a:ea typeface="Roboto"/>
              <a:cs typeface="Roboto"/>
              <a:sym typeface="Roboto"/>
            </a:endParaRPr>
          </a:p>
          <a:p>
            <a:pPr marL="0" lvl="0" indent="0" algn="ctr" rtl="0">
              <a:spcBef>
                <a:spcPts val="0"/>
              </a:spcBef>
              <a:spcAft>
                <a:spcPts val="0"/>
              </a:spcAft>
              <a:buNone/>
            </a:pPr>
            <a:r>
              <a:rPr lang="en-GB" sz="1700">
                <a:solidFill>
                  <a:schemeClr val="lt1"/>
                </a:solidFill>
                <a:latin typeface="Roboto"/>
                <a:ea typeface="Roboto"/>
                <a:cs typeface="Roboto"/>
                <a:sym typeface="Roboto"/>
              </a:rPr>
              <a:t>Vishing</a:t>
            </a:r>
            <a:endParaRPr sz="1700">
              <a:solidFill>
                <a:schemeClr val="lt1"/>
              </a:solidFill>
              <a:latin typeface="Roboto"/>
              <a:ea typeface="Roboto"/>
              <a:cs typeface="Roboto"/>
              <a:sym typeface="Roboto"/>
            </a:endParaRPr>
          </a:p>
        </p:txBody>
      </p:sp>
      <p:sp>
        <p:nvSpPr>
          <p:cNvPr id="232" name="Google Shape;232;p25"/>
          <p:cNvSpPr/>
          <p:nvPr/>
        </p:nvSpPr>
        <p:spPr>
          <a:xfrm>
            <a:off x="6190200" y="1574100"/>
            <a:ext cx="1804800" cy="1035900"/>
          </a:xfrm>
          <a:prstGeom prst="rect">
            <a:avLst/>
          </a:prstGeom>
          <a:solidFill>
            <a:srgbClr val="42B0E8"/>
          </a:solidFill>
          <a:ln w="9525" cap="flat" cmpd="sng">
            <a:solidFill>
              <a:srgbClr val="42B0E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700">
                <a:solidFill>
                  <a:schemeClr val="lt1"/>
                </a:solidFill>
                <a:latin typeface="Roboto"/>
                <a:ea typeface="Roboto"/>
                <a:cs typeface="Roboto"/>
                <a:sym typeface="Roboto"/>
              </a:rPr>
              <a:t>In-person / Physical</a:t>
            </a:r>
            <a:endParaRPr sz="1700">
              <a:solidFill>
                <a:schemeClr val="lt1"/>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6"/>
          <p:cNvSpPr/>
          <p:nvPr/>
        </p:nvSpPr>
        <p:spPr>
          <a:xfrm>
            <a:off x="0" y="120875"/>
            <a:ext cx="4457700" cy="402600"/>
          </a:xfrm>
          <a:prstGeom prst="rect">
            <a:avLst/>
          </a:prstGeom>
          <a:gradFill>
            <a:gsLst>
              <a:gs pos="0">
                <a:srgbClr val="00C0F3"/>
              </a:gs>
              <a:gs pos="100000">
                <a:srgbClr val="008E4E"/>
              </a:gs>
            </a:gsLst>
            <a:lin ang="270000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Lucida Sans"/>
              <a:ea typeface="Lucida Sans"/>
              <a:cs typeface="Lucida Sans"/>
              <a:sym typeface="Lucida Sans"/>
            </a:endParaRPr>
          </a:p>
        </p:txBody>
      </p:sp>
      <p:sp>
        <p:nvSpPr>
          <p:cNvPr id="238" name="Google Shape;238;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10</a:t>
            </a:fld>
            <a:endParaRPr/>
          </a:p>
        </p:txBody>
      </p:sp>
      <p:sp>
        <p:nvSpPr>
          <p:cNvPr id="239" name="Google Shape;239;p26"/>
          <p:cNvSpPr txBox="1">
            <a:spLocks noGrp="1"/>
          </p:cNvSpPr>
          <p:nvPr>
            <p:ph type="title"/>
          </p:nvPr>
        </p:nvSpPr>
        <p:spPr>
          <a:xfrm>
            <a:off x="311700" y="73176"/>
            <a:ext cx="49377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Social Engineering 101</a:t>
            </a:r>
            <a:endParaRPr/>
          </a:p>
        </p:txBody>
      </p:sp>
      <p:sp>
        <p:nvSpPr>
          <p:cNvPr id="240" name="Google Shape;240;p26"/>
          <p:cNvSpPr txBox="1">
            <a:spLocks noGrp="1"/>
          </p:cNvSpPr>
          <p:nvPr>
            <p:ph type="body" idx="1"/>
          </p:nvPr>
        </p:nvSpPr>
        <p:spPr>
          <a:xfrm>
            <a:off x="311700" y="908675"/>
            <a:ext cx="8520600" cy="36603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GB"/>
              <a:t>Humans are often deemed as the weakest link in the security chains. </a:t>
            </a:r>
            <a:endParaRPr/>
          </a:p>
        </p:txBody>
      </p:sp>
      <p:grpSp>
        <p:nvGrpSpPr>
          <p:cNvPr id="241" name="Google Shape;241;p26"/>
          <p:cNvGrpSpPr/>
          <p:nvPr/>
        </p:nvGrpSpPr>
        <p:grpSpPr>
          <a:xfrm>
            <a:off x="4523746" y="1499904"/>
            <a:ext cx="2589488" cy="3057300"/>
            <a:chOff x="1118224" y="283725"/>
            <a:chExt cx="2090826" cy="4076400"/>
          </a:xfrm>
        </p:grpSpPr>
        <p:sp>
          <p:nvSpPr>
            <p:cNvPr id="242" name="Google Shape;242;p26"/>
            <p:cNvSpPr/>
            <p:nvPr/>
          </p:nvSpPr>
          <p:spPr>
            <a:xfrm>
              <a:off x="1178650" y="283725"/>
              <a:ext cx="2030400" cy="4076400"/>
            </a:xfrm>
            <a:prstGeom prst="rect">
              <a:avLst/>
            </a:prstGeom>
            <a:solidFill>
              <a:srgbClr val="11648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700" b="0" i="0" u="none" strike="noStrike" cap="none">
                <a:solidFill>
                  <a:srgbClr val="0C58D3"/>
                </a:solidFill>
                <a:latin typeface="Arial"/>
                <a:ea typeface="Arial"/>
                <a:cs typeface="Arial"/>
                <a:sym typeface="Arial"/>
              </a:endParaRPr>
            </a:p>
          </p:txBody>
        </p:sp>
        <p:sp>
          <p:nvSpPr>
            <p:cNvPr id="243" name="Google Shape;243;p26"/>
            <p:cNvSpPr/>
            <p:nvPr/>
          </p:nvSpPr>
          <p:spPr>
            <a:xfrm>
              <a:off x="1118224" y="341749"/>
              <a:ext cx="2048100" cy="2490600"/>
            </a:xfrm>
            <a:prstGeom prst="rect">
              <a:avLst/>
            </a:prstGeom>
            <a:solidFill>
              <a:srgbClr val="FFFFFF"/>
            </a:solidFill>
            <a:ln w="19050" cap="flat" cmpd="sng">
              <a:solidFill>
                <a:srgbClr val="11648E"/>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700" b="0" i="0" u="none" strike="noStrike" cap="none">
                <a:solidFill>
                  <a:srgbClr val="000000"/>
                </a:solidFill>
                <a:latin typeface="Arial"/>
                <a:ea typeface="Arial"/>
                <a:cs typeface="Arial"/>
                <a:sym typeface="Arial"/>
              </a:endParaRPr>
            </a:p>
          </p:txBody>
        </p:sp>
        <p:sp>
          <p:nvSpPr>
            <p:cNvPr id="244" name="Google Shape;244;p26"/>
            <p:cNvSpPr/>
            <p:nvPr/>
          </p:nvSpPr>
          <p:spPr>
            <a:xfrm>
              <a:off x="1233929" y="1225056"/>
              <a:ext cx="1815000" cy="12285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100" b="0" i="0" u="none" strike="noStrike" cap="none">
                  <a:solidFill>
                    <a:srgbClr val="11648E"/>
                  </a:solidFill>
                  <a:latin typeface="Roboto Medium"/>
                  <a:ea typeface="Roboto Medium"/>
                  <a:cs typeface="Roboto Medium"/>
                  <a:sym typeface="Roboto Medium"/>
                </a:rPr>
                <a:t>of users fell for simulated spear-phishing emails.</a:t>
              </a:r>
              <a:endParaRPr sz="1100" b="0" i="0" u="none" strike="noStrike" cap="none">
                <a:solidFill>
                  <a:srgbClr val="11648E"/>
                </a:solidFill>
                <a:latin typeface="Roboto Medium"/>
                <a:ea typeface="Roboto Medium"/>
                <a:cs typeface="Roboto Medium"/>
                <a:sym typeface="Roboto Medium"/>
              </a:endParaRPr>
            </a:p>
            <a:p>
              <a:pPr marL="0" marR="0" lvl="0" indent="0" algn="l" rtl="0">
                <a:lnSpc>
                  <a:spcPct val="100000"/>
                </a:lnSpc>
                <a:spcBef>
                  <a:spcPts val="0"/>
                </a:spcBef>
                <a:spcAft>
                  <a:spcPts val="0"/>
                </a:spcAft>
                <a:buClr>
                  <a:srgbClr val="000000"/>
                </a:buClr>
                <a:buSzPts val="1800"/>
                <a:buFont typeface="Arial"/>
                <a:buNone/>
              </a:pPr>
              <a:endParaRPr sz="1100" b="0" i="0" u="none" strike="noStrike" cap="none">
                <a:solidFill>
                  <a:srgbClr val="11648E"/>
                </a:solidFill>
                <a:latin typeface="Roboto Medium"/>
                <a:ea typeface="Roboto Medium"/>
                <a:cs typeface="Roboto Medium"/>
                <a:sym typeface="Roboto Medium"/>
              </a:endParaRPr>
            </a:p>
            <a:p>
              <a:pPr marL="0" marR="0" lvl="0" indent="0" algn="l" rtl="0">
                <a:lnSpc>
                  <a:spcPct val="100000"/>
                </a:lnSpc>
                <a:spcBef>
                  <a:spcPts val="0"/>
                </a:spcBef>
                <a:spcAft>
                  <a:spcPts val="0"/>
                </a:spcAft>
                <a:buClr>
                  <a:srgbClr val="000000"/>
                </a:buClr>
                <a:buSzPts val="1800"/>
                <a:buFont typeface="Arial"/>
                <a:buNone/>
              </a:pPr>
              <a:endParaRPr sz="1100" b="0" i="0" u="none" strike="noStrike" cap="none">
                <a:solidFill>
                  <a:srgbClr val="11648E"/>
                </a:solidFill>
                <a:latin typeface="Roboto Medium"/>
                <a:ea typeface="Roboto Medium"/>
                <a:cs typeface="Roboto Medium"/>
                <a:sym typeface="Roboto Medium"/>
              </a:endParaRPr>
            </a:p>
            <a:p>
              <a:pPr marL="0" marR="0" lvl="0" indent="0" algn="l" rtl="0">
                <a:lnSpc>
                  <a:spcPct val="100000"/>
                </a:lnSpc>
                <a:spcBef>
                  <a:spcPts val="0"/>
                </a:spcBef>
                <a:spcAft>
                  <a:spcPts val="0"/>
                </a:spcAft>
                <a:buClr>
                  <a:srgbClr val="000000"/>
                </a:buClr>
                <a:buSzPts val="1800"/>
                <a:buFont typeface="Arial"/>
                <a:buNone/>
              </a:pPr>
              <a:endParaRPr sz="1100" b="0" i="0" u="none" strike="noStrike" cap="none">
                <a:solidFill>
                  <a:srgbClr val="11648E"/>
                </a:solidFill>
                <a:latin typeface="Roboto Medium"/>
                <a:ea typeface="Roboto Medium"/>
                <a:cs typeface="Roboto Medium"/>
                <a:sym typeface="Roboto Medium"/>
              </a:endParaRPr>
            </a:p>
          </p:txBody>
        </p:sp>
        <p:sp>
          <p:nvSpPr>
            <p:cNvPr id="245" name="Google Shape;245;p26"/>
            <p:cNvSpPr/>
            <p:nvPr/>
          </p:nvSpPr>
          <p:spPr>
            <a:xfrm>
              <a:off x="1233850" y="470600"/>
              <a:ext cx="1815000" cy="6750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5300"/>
                <a:buFont typeface="Arial"/>
                <a:buNone/>
              </a:pPr>
              <a:r>
                <a:rPr lang="en-GB" sz="3800" b="1" i="0" u="none" strike="noStrike" cap="none">
                  <a:solidFill>
                    <a:srgbClr val="11648E"/>
                  </a:solidFill>
                  <a:latin typeface="Roboto"/>
                  <a:ea typeface="Roboto"/>
                  <a:cs typeface="Roboto"/>
                  <a:sym typeface="Roboto"/>
                </a:rPr>
                <a:t>43</a:t>
              </a:r>
              <a:r>
                <a:rPr lang="en-GB" sz="3800" b="0" i="0" u="none" strike="noStrike" cap="none">
                  <a:solidFill>
                    <a:srgbClr val="11648E"/>
                  </a:solidFill>
                  <a:latin typeface="Roboto Thin"/>
                  <a:ea typeface="Roboto Thin"/>
                  <a:cs typeface="Roboto Thin"/>
                  <a:sym typeface="Roboto Thin"/>
                </a:rPr>
                <a:t>%</a:t>
              </a:r>
              <a:endParaRPr sz="3800" b="0" i="0" u="none" strike="noStrike" cap="none">
                <a:solidFill>
                  <a:srgbClr val="11648E"/>
                </a:solidFill>
                <a:latin typeface="Roboto Thin"/>
                <a:ea typeface="Roboto Thin"/>
                <a:cs typeface="Roboto Thin"/>
                <a:sym typeface="Roboto Thin"/>
              </a:endParaRPr>
            </a:p>
          </p:txBody>
        </p:sp>
        <p:sp>
          <p:nvSpPr>
            <p:cNvPr id="246" name="Google Shape;246;p26"/>
            <p:cNvSpPr/>
            <p:nvPr/>
          </p:nvSpPr>
          <p:spPr>
            <a:xfrm rot="5400000">
              <a:off x="1938871" y="2785391"/>
              <a:ext cx="389100" cy="278100"/>
            </a:xfrm>
            <a:prstGeom prst="rightArrow">
              <a:avLst>
                <a:gd name="adj1" fmla="val 34239"/>
                <a:gd name="adj2" fmla="val 57035"/>
              </a:avLst>
            </a:prstGeom>
            <a:solidFill>
              <a:srgbClr val="FFFFFF"/>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700" b="0" i="0" u="none" strike="noStrike" cap="none">
                <a:solidFill>
                  <a:srgbClr val="000000"/>
                </a:solidFill>
                <a:latin typeface="Arial"/>
                <a:ea typeface="Arial"/>
                <a:cs typeface="Arial"/>
                <a:sym typeface="Arial"/>
              </a:endParaRPr>
            </a:p>
          </p:txBody>
        </p:sp>
        <p:sp>
          <p:nvSpPr>
            <p:cNvPr id="247" name="Google Shape;247;p26"/>
            <p:cNvSpPr/>
            <p:nvPr/>
          </p:nvSpPr>
          <p:spPr>
            <a:xfrm>
              <a:off x="1164361" y="3172455"/>
              <a:ext cx="2030400" cy="1085400"/>
            </a:xfrm>
            <a:prstGeom prst="rect">
              <a:avLst/>
            </a:prstGeom>
            <a:noFill/>
            <a:ln>
              <a:noFill/>
            </a:ln>
          </p:spPr>
          <p:txBody>
            <a:bodyPr spcFirstLastPara="1" wrap="square" lIns="121900" tIns="121900" rIns="121900" bIns="121900" anchor="t" anchorCtr="0">
              <a:noAutofit/>
            </a:bodyPr>
            <a:lstStyle/>
            <a:p>
              <a:pPr marL="0" marR="0" lvl="0" indent="0" algn="l" rtl="0">
                <a:lnSpc>
                  <a:spcPct val="115000"/>
                </a:lnSpc>
                <a:spcBef>
                  <a:spcPts val="0"/>
                </a:spcBef>
                <a:spcAft>
                  <a:spcPts val="0"/>
                </a:spcAft>
                <a:buClr>
                  <a:srgbClr val="000000"/>
                </a:buClr>
                <a:buSzPts val="1500"/>
                <a:buFont typeface="Arial"/>
                <a:buNone/>
              </a:pPr>
              <a:r>
                <a:rPr lang="en-GB" sz="1000" b="0" i="0" u="none" strike="noStrike" cap="none">
                  <a:solidFill>
                    <a:srgbClr val="FFFFFF"/>
                  </a:solidFill>
                  <a:latin typeface="Roboto"/>
                  <a:ea typeface="Roboto"/>
                  <a:cs typeface="Roboto"/>
                  <a:sym typeface="Roboto"/>
                </a:rPr>
                <a:t>- Tian Lin et. al., “Susceptibility to Spear-Phishing Emails,” 2019</a:t>
              </a:r>
              <a:endParaRPr sz="1000" b="0" i="0" u="none" strike="noStrike" cap="none">
                <a:solidFill>
                  <a:srgbClr val="FFFFFF"/>
                </a:solidFill>
                <a:latin typeface="Roboto"/>
                <a:ea typeface="Roboto"/>
                <a:cs typeface="Roboto"/>
                <a:sym typeface="Roboto"/>
              </a:endParaRPr>
            </a:p>
          </p:txBody>
        </p:sp>
      </p:grpSp>
      <p:grpSp>
        <p:nvGrpSpPr>
          <p:cNvPr id="248" name="Google Shape;248;p26"/>
          <p:cNvGrpSpPr/>
          <p:nvPr/>
        </p:nvGrpSpPr>
        <p:grpSpPr>
          <a:xfrm>
            <a:off x="1869219" y="1499904"/>
            <a:ext cx="2589488" cy="3057300"/>
            <a:chOff x="1118224" y="283725"/>
            <a:chExt cx="2090826" cy="4076400"/>
          </a:xfrm>
        </p:grpSpPr>
        <p:sp>
          <p:nvSpPr>
            <p:cNvPr id="249" name="Google Shape;249;p26"/>
            <p:cNvSpPr/>
            <p:nvPr/>
          </p:nvSpPr>
          <p:spPr>
            <a:xfrm>
              <a:off x="1178650" y="283725"/>
              <a:ext cx="2030400" cy="4076400"/>
            </a:xfrm>
            <a:prstGeom prst="rect">
              <a:avLst/>
            </a:prstGeom>
            <a:solidFill>
              <a:schemeClr val="accent4"/>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700" b="0" i="0" u="none" strike="noStrike" cap="none">
                <a:solidFill>
                  <a:srgbClr val="000000"/>
                </a:solidFill>
                <a:latin typeface="Arial"/>
                <a:ea typeface="Arial"/>
                <a:cs typeface="Arial"/>
                <a:sym typeface="Arial"/>
              </a:endParaRPr>
            </a:p>
          </p:txBody>
        </p:sp>
        <p:sp>
          <p:nvSpPr>
            <p:cNvPr id="250" name="Google Shape;250;p26"/>
            <p:cNvSpPr/>
            <p:nvPr/>
          </p:nvSpPr>
          <p:spPr>
            <a:xfrm>
              <a:off x="1118224" y="341749"/>
              <a:ext cx="2048100" cy="2490600"/>
            </a:xfrm>
            <a:prstGeom prst="rect">
              <a:avLst/>
            </a:prstGeom>
            <a:solidFill>
              <a:srgbClr val="FFFFFF"/>
            </a:solidFill>
            <a:ln w="19050" cap="flat" cmpd="sng">
              <a:solidFill>
                <a:schemeClr val="accent4"/>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700" b="0" i="0" u="none" strike="noStrike" cap="none">
                <a:solidFill>
                  <a:srgbClr val="000000"/>
                </a:solidFill>
                <a:latin typeface="Arial"/>
                <a:ea typeface="Arial"/>
                <a:cs typeface="Arial"/>
                <a:sym typeface="Arial"/>
              </a:endParaRPr>
            </a:p>
          </p:txBody>
        </p:sp>
        <p:sp>
          <p:nvSpPr>
            <p:cNvPr id="251" name="Google Shape;251;p26"/>
            <p:cNvSpPr/>
            <p:nvPr/>
          </p:nvSpPr>
          <p:spPr>
            <a:xfrm>
              <a:off x="1233923" y="1225065"/>
              <a:ext cx="1815000" cy="13845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100" b="0" i="0" u="none" strike="noStrike" cap="none">
                  <a:solidFill>
                    <a:schemeClr val="accent4"/>
                  </a:solidFill>
                  <a:latin typeface="Roboto Medium"/>
                  <a:ea typeface="Roboto Medium"/>
                  <a:cs typeface="Roboto Medium"/>
                  <a:sym typeface="Roboto Medium"/>
                </a:rPr>
                <a:t>of employees clicked on phishing email links even with a phishing-related training program.</a:t>
              </a:r>
              <a:endParaRPr sz="1100" b="0" i="0" u="none" strike="noStrike" cap="none">
                <a:solidFill>
                  <a:schemeClr val="accent4"/>
                </a:solidFill>
                <a:latin typeface="Roboto Medium"/>
                <a:ea typeface="Roboto Medium"/>
                <a:cs typeface="Roboto Medium"/>
                <a:sym typeface="Roboto Medium"/>
              </a:endParaRPr>
            </a:p>
            <a:p>
              <a:pPr marL="0" marR="0" lvl="0" indent="0" algn="l" rtl="0">
                <a:lnSpc>
                  <a:spcPct val="100000"/>
                </a:lnSpc>
                <a:spcBef>
                  <a:spcPts val="0"/>
                </a:spcBef>
                <a:spcAft>
                  <a:spcPts val="0"/>
                </a:spcAft>
                <a:buClr>
                  <a:srgbClr val="000000"/>
                </a:buClr>
                <a:buSzPts val="1800"/>
                <a:buFont typeface="Arial"/>
                <a:buNone/>
              </a:pPr>
              <a:endParaRPr sz="1100" b="0" i="0" u="none" strike="noStrike" cap="none">
                <a:solidFill>
                  <a:schemeClr val="accent4"/>
                </a:solidFill>
                <a:latin typeface="Roboto Medium"/>
                <a:ea typeface="Roboto Medium"/>
                <a:cs typeface="Roboto Medium"/>
                <a:sym typeface="Roboto Medium"/>
              </a:endParaRPr>
            </a:p>
            <a:p>
              <a:pPr marL="0" marR="0" lvl="0" indent="0" algn="l" rtl="0">
                <a:lnSpc>
                  <a:spcPct val="100000"/>
                </a:lnSpc>
                <a:spcBef>
                  <a:spcPts val="0"/>
                </a:spcBef>
                <a:spcAft>
                  <a:spcPts val="0"/>
                </a:spcAft>
                <a:buClr>
                  <a:srgbClr val="000000"/>
                </a:buClr>
                <a:buSzPts val="1800"/>
                <a:buFont typeface="Arial"/>
                <a:buNone/>
              </a:pPr>
              <a:endParaRPr sz="1100" b="0" i="0" u="none" strike="noStrike" cap="none">
                <a:solidFill>
                  <a:schemeClr val="accent4"/>
                </a:solidFill>
                <a:latin typeface="Roboto Medium"/>
                <a:ea typeface="Roboto Medium"/>
                <a:cs typeface="Roboto Medium"/>
                <a:sym typeface="Roboto Medium"/>
              </a:endParaRPr>
            </a:p>
          </p:txBody>
        </p:sp>
        <p:sp>
          <p:nvSpPr>
            <p:cNvPr id="252" name="Google Shape;252;p26"/>
            <p:cNvSpPr/>
            <p:nvPr/>
          </p:nvSpPr>
          <p:spPr>
            <a:xfrm>
              <a:off x="1233850" y="470600"/>
              <a:ext cx="1815000" cy="6750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5300"/>
                <a:buFont typeface="Arial"/>
                <a:buNone/>
              </a:pPr>
              <a:r>
                <a:rPr lang="en-GB" sz="3800" b="1" i="0" u="none" strike="noStrike" cap="none">
                  <a:solidFill>
                    <a:schemeClr val="accent4"/>
                  </a:solidFill>
                  <a:latin typeface="Roboto"/>
                  <a:ea typeface="Roboto"/>
                  <a:cs typeface="Roboto"/>
                  <a:sym typeface="Roboto"/>
                </a:rPr>
                <a:t>19.8</a:t>
              </a:r>
              <a:r>
                <a:rPr lang="en-GB" sz="3800" b="0" i="0" u="none" strike="noStrike" cap="none">
                  <a:solidFill>
                    <a:schemeClr val="accent4"/>
                  </a:solidFill>
                  <a:latin typeface="Roboto Thin"/>
                  <a:ea typeface="Roboto Thin"/>
                  <a:cs typeface="Roboto Thin"/>
                  <a:sym typeface="Roboto Thin"/>
                </a:rPr>
                <a:t>%</a:t>
              </a:r>
              <a:endParaRPr sz="3800" b="0" i="0" u="none" strike="noStrike" cap="none">
                <a:solidFill>
                  <a:schemeClr val="accent4"/>
                </a:solidFill>
                <a:latin typeface="Roboto Thin"/>
                <a:ea typeface="Roboto Thin"/>
                <a:cs typeface="Roboto Thin"/>
                <a:sym typeface="Roboto Thin"/>
              </a:endParaRPr>
            </a:p>
          </p:txBody>
        </p:sp>
        <p:sp>
          <p:nvSpPr>
            <p:cNvPr id="253" name="Google Shape;253;p26"/>
            <p:cNvSpPr/>
            <p:nvPr/>
          </p:nvSpPr>
          <p:spPr>
            <a:xfrm rot="5400000">
              <a:off x="1938871" y="2785391"/>
              <a:ext cx="389100" cy="278100"/>
            </a:xfrm>
            <a:prstGeom prst="rightArrow">
              <a:avLst>
                <a:gd name="adj1" fmla="val 34239"/>
                <a:gd name="adj2" fmla="val 57035"/>
              </a:avLst>
            </a:prstGeom>
            <a:solidFill>
              <a:srgbClr val="FFFFFF"/>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700" b="0" i="0" u="none" strike="noStrike" cap="none">
                <a:solidFill>
                  <a:srgbClr val="000000"/>
                </a:solidFill>
                <a:latin typeface="Arial"/>
                <a:ea typeface="Arial"/>
                <a:cs typeface="Arial"/>
                <a:sym typeface="Arial"/>
              </a:endParaRPr>
            </a:p>
          </p:txBody>
        </p:sp>
        <p:sp>
          <p:nvSpPr>
            <p:cNvPr id="254" name="Google Shape;254;p26"/>
            <p:cNvSpPr/>
            <p:nvPr/>
          </p:nvSpPr>
          <p:spPr>
            <a:xfrm>
              <a:off x="1164361" y="3172455"/>
              <a:ext cx="2030400" cy="1085400"/>
            </a:xfrm>
            <a:prstGeom prst="rect">
              <a:avLst/>
            </a:prstGeom>
            <a:noFill/>
            <a:ln>
              <a:noFill/>
            </a:ln>
          </p:spPr>
          <p:txBody>
            <a:bodyPr spcFirstLastPara="1" wrap="square" lIns="121900" tIns="121900" rIns="121900" bIns="121900" anchor="t" anchorCtr="0">
              <a:noAutofit/>
            </a:bodyPr>
            <a:lstStyle/>
            <a:p>
              <a:pPr marL="0" marR="0" lvl="0" indent="0" algn="l" rtl="0">
                <a:lnSpc>
                  <a:spcPct val="115000"/>
                </a:lnSpc>
                <a:spcBef>
                  <a:spcPts val="0"/>
                </a:spcBef>
                <a:spcAft>
                  <a:spcPts val="0"/>
                </a:spcAft>
                <a:buClr>
                  <a:srgbClr val="000000"/>
                </a:buClr>
                <a:buSzPts val="1500"/>
                <a:buFont typeface="Arial"/>
                <a:buNone/>
              </a:pPr>
              <a:r>
                <a:rPr lang="en-GB" sz="1000" b="0" i="0" u="none" strike="noStrike" cap="none">
                  <a:solidFill>
                    <a:srgbClr val="FFFFFF"/>
                  </a:solidFill>
                  <a:latin typeface="Roboto"/>
                  <a:ea typeface="Roboto"/>
                  <a:cs typeface="Roboto"/>
                  <a:sym typeface="Roboto"/>
                </a:rPr>
                <a:t>- Terranova Security, “Gone Phishing Tournament: 2020 Phishing Benchmark Global Report,” 2020</a:t>
              </a:r>
              <a:endParaRPr sz="1000" b="0" i="0" u="none" strike="noStrike" cap="none">
                <a:solidFill>
                  <a:srgbClr val="FFFFFF"/>
                </a:solidFill>
                <a:latin typeface="Roboto"/>
                <a:ea typeface="Roboto"/>
                <a:cs typeface="Roboto"/>
                <a:sym typeface="Roboto"/>
              </a:endParaRPr>
            </a:p>
            <a:p>
              <a:pPr marL="0" marR="0" lvl="0" indent="0" algn="l" rtl="0">
                <a:lnSpc>
                  <a:spcPct val="115000"/>
                </a:lnSpc>
                <a:spcBef>
                  <a:spcPts val="0"/>
                </a:spcBef>
                <a:spcAft>
                  <a:spcPts val="0"/>
                </a:spcAft>
                <a:buClr>
                  <a:srgbClr val="000000"/>
                </a:buClr>
                <a:buSzPts val="1500"/>
                <a:buFont typeface="Arial"/>
                <a:buNone/>
              </a:pPr>
              <a:endParaRPr sz="1000" b="0" i="0" u="none" strike="noStrike" cap="none">
                <a:solidFill>
                  <a:srgbClr val="FFFFFF"/>
                </a:solidFill>
                <a:latin typeface="Roboto"/>
                <a:ea typeface="Roboto"/>
                <a:cs typeface="Roboto"/>
                <a:sym typeface="Roboto"/>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11</a:t>
            </a:fld>
            <a:endParaRPr/>
          </a:p>
        </p:txBody>
      </p:sp>
      <p:pic>
        <p:nvPicPr>
          <p:cNvPr id="260" name="Google Shape;260;p27"/>
          <p:cNvPicPr preferRelativeResize="0"/>
          <p:nvPr/>
        </p:nvPicPr>
        <p:blipFill>
          <a:blip r:embed="rId3">
            <a:alphaModFix/>
          </a:blip>
          <a:stretch>
            <a:fillRect/>
          </a:stretch>
        </p:blipFill>
        <p:spPr>
          <a:xfrm>
            <a:off x="616700" y="824550"/>
            <a:ext cx="4327695" cy="2969000"/>
          </a:xfrm>
          <a:prstGeom prst="rect">
            <a:avLst/>
          </a:prstGeom>
          <a:noFill/>
          <a:ln>
            <a:noFill/>
          </a:ln>
        </p:spPr>
      </p:pic>
      <p:pic>
        <p:nvPicPr>
          <p:cNvPr id="261" name="Google Shape;261;p27"/>
          <p:cNvPicPr preferRelativeResize="0"/>
          <p:nvPr/>
        </p:nvPicPr>
        <p:blipFill>
          <a:blip r:embed="rId4">
            <a:alphaModFix/>
          </a:blip>
          <a:stretch>
            <a:fillRect/>
          </a:stretch>
        </p:blipFill>
        <p:spPr>
          <a:xfrm>
            <a:off x="1009164" y="1791875"/>
            <a:ext cx="5284824" cy="2604850"/>
          </a:xfrm>
          <a:prstGeom prst="rect">
            <a:avLst/>
          </a:prstGeom>
          <a:noFill/>
          <a:ln>
            <a:noFill/>
          </a:ln>
        </p:spPr>
      </p:pic>
      <p:pic>
        <p:nvPicPr>
          <p:cNvPr id="262" name="Google Shape;262;p27"/>
          <p:cNvPicPr preferRelativeResize="0"/>
          <p:nvPr/>
        </p:nvPicPr>
        <p:blipFill>
          <a:blip r:embed="rId5">
            <a:alphaModFix/>
          </a:blip>
          <a:stretch>
            <a:fillRect/>
          </a:stretch>
        </p:blipFill>
        <p:spPr>
          <a:xfrm>
            <a:off x="4377500" y="1216009"/>
            <a:ext cx="4565976" cy="2473924"/>
          </a:xfrm>
          <a:prstGeom prst="rect">
            <a:avLst/>
          </a:prstGeom>
          <a:noFill/>
          <a:ln>
            <a:noFill/>
          </a:ln>
        </p:spPr>
      </p:pic>
      <p:sp>
        <p:nvSpPr>
          <p:cNvPr id="263" name="Google Shape;263;p27"/>
          <p:cNvSpPr/>
          <p:nvPr/>
        </p:nvSpPr>
        <p:spPr>
          <a:xfrm>
            <a:off x="0" y="120875"/>
            <a:ext cx="4457700" cy="402600"/>
          </a:xfrm>
          <a:prstGeom prst="rect">
            <a:avLst/>
          </a:prstGeom>
          <a:gradFill>
            <a:gsLst>
              <a:gs pos="0">
                <a:srgbClr val="00C0F3"/>
              </a:gs>
              <a:gs pos="100000">
                <a:srgbClr val="008E4E"/>
              </a:gs>
            </a:gsLst>
            <a:lin ang="270000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Lucida Sans"/>
              <a:ea typeface="Lucida Sans"/>
              <a:cs typeface="Lucida Sans"/>
              <a:sym typeface="Lucida Sans"/>
            </a:endParaRPr>
          </a:p>
        </p:txBody>
      </p:sp>
      <p:sp>
        <p:nvSpPr>
          <p:cNvPr id="264" name="Google Shape;264;p27"/>
          <p:cNvSpPr txBox="1"/>
          <p:nvPr/>
        </p:nvSpPr>
        <p:spPr>
          <a:xfrm>
            <a:off x="311700" y="73176"/>
            <a:ext cx="4937700" cy="5727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en-GB" sz="2000" b="1">
                <a:solidFill>
                  <a:srgbClr val="FFFFFF"/>
                </a:solidFill>
                <a:latin typeface="Roboto"/>
                <a:ea typeface="Roboto"/>
                <a:cs typeface="Roboto"/>
                <a:sym typeface="Roboto"/>
              </a:rPr>
              <a:t>Phishing Email</a:t>
            </a:r>
            <a:endParaRPr sz="2000" b="1">
              <a:solidFill>
                <a:srgbClr val="FFFFFF"/>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12</a:t>
            </a:fld>
            <a:endParaRPr/>
          </a:p>
        </p:txBody>
      </p:sp>
      <p:sp>
        <p:nvSpPr>
          <p:cNvPr id="270" name="Google Shape;270;p28"/>
          <p:cNvSpPr txBox="1">
            <a:spLocks noGrp="1"/>
          </p:cNvSpPr>
          <p:nvPr>
            <p:ph type="title"/>
          </p:nvPr>
        </p:nvSpPr>
        <p:spPr>
          <a:xfrm>
            <a:off x="311700" y="73176"/>
            <a:ext cx="49377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pic>
        <p:nvPicPr>
          <p:cNvPr id="271" name="Google Shape;271;p28"/>
          <p:cNvPicPr preferRelativeResize="0"/>
          <p:nvPr/>
        </p:nvPicPr>
        <p:blipFill rotWithShape="1">
          <a:blip r:embed="rId3">
            <a:alphaModFix/>
          </a:blip>
          <a:srcRect t="9657"/>
          <a:stretch/>
        </p:blipFill>
        <p:spPr>
          <a:xfrm>
            <a:off x="311700" y="645875"/>
            <a:ext cx="7335926" cy="4260326"/>
          </a:xfrm>
          <a:prstGeom prst="rect">
            <a:avLst/>
          </a:prstGeom>
          <a:noFill/>
          <a:ln>
            <a:noFill/>
          </a:ln>
        </p:spPr>
      </p:pic>
      <p:sp>
        <p:nvSpPr>
          <p:cNvPr id="272" name="Google Shape;272;p28"/>
          <p:cNvSpPr/>
          <p:nvPr/>
        </p:nvSpPr>
        <p:spPr>
          <a:xfrm>
            <a:off x="0" y="120875"/>
            <a:ext cx="4457700" cy="402600"/>
          </a:xfrm>
          <a:prstGeom prst="rect">
            <a:avLst/>
          </a:prstGeom>
          <a:gradFill>
            <a:gsLst>
              <a:gs pos="0">
                <a:srgbClr val="00C0F3"/>
              </a:gs>
              <a:gs pos="100000">
                <a:srgbClr val="008E4E"/>
              </a:gs>
            </a:gsLst>
            <a:lin ang="270000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Lucida Sans"/>
              <a:ea typeface="Lucida Sans"/>
              <a:cs typeface="Lucida Sans"/>
              <a:sym typeface="Lucida Sans"/>
            </a:endParaRPr>
          </a:p>
        </p:txBody>
      </p:sp>
      <p:sp>
        <p:nvSpPr>
          <p:cNvPr id="273" name="Google Shape;273;p28"/>
          <p:cNvSpPr txBox="1">
            <a:spLocks noGrp="1"/>
          </p:cNvSpPr>
          <p:nvPr>
            <p:ph type="title"/>
          </p:nvPr>
        </p:nvSpPr>
        <p:spPr>
          <a:xfrm>
            <a:off x="311700" y="73176"/>
            <a:ext cx="49377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Typical Red Team Operation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78" name="Google Shape;278;p29"/>
          <p:cNvPicPr preferRelativeResize="0"/>
          <p:nvPr/>
        </p:nvPicPr>
        <p:blipFill rotWithShape="1">
          <a:blip r:embed="rId3">
            <a:alphaModFix/>
          </a:blip>
          <a:srcRect t="9657"/>
          <a:stretch/>
        </p:blipFill>
        <p:spPr>
          <a:xfrm>
            <a:off x="311700" y="645875"/>
            <a:ext cx="7335926" cy="4260326"/>
          </a:xfrm>
          <a:prstGeom prst="rect">
            <a:avLst/>
          </a:prstGeom>
          <a:noFill/>
          <a:ln>
            <a:noFill/>
          </a:ln>
        </p:spPr>
      </p:pic>
      <p:sp>
        <p:nvSpPr>
          <p:cNvPr id="279" name="Google Shape;279;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13</a:t>
            </a:fld>
            <a:endParaRPr/>
          </a:p>
        </p:txBody>
      </p:sp>
      <p:sp>
        <p:nvSpPr>
          <p:cNvPr id="280" name="Google Shape;280;p29"/>
          <p:cNvSpPr txBox="1">
            <a:spLocks noGrp="1"/>
          </p:cNvSpPr>
          <p:nvPr>
            <p:ph type="title"/>
          </p:nvPr>
        </p:nvSpPr>
        <p:spPr>
          <a:xfrm>
            <a:off x="311700" y="73176"/>
            <a:ext cx="49377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grpSp>
        <p:nvGrpSpPr>
          <p:cNvPr id="281" name="Google Shape;281;p29"/>
          <p:cNvGrpSpPr/>
          <p:nvPr/>
        </p:nvGrpSpPr>
        <p:grpSpPr>
          <a:xfrm>
            <a:off x="4781987" y="816420"/>
            <a:ext cx="2593251" cy="400090"/>
            <a:chOff x="881075" y="1159625"/>
            <a:chExt cx="2776500" cy="437400"/>
          </a:xfrm>
        </p:grpSpPr>
        <p:sp>
          <p:nvSpPr>
            <p:cNvPr id="282" name="Google Shape;282;p29"/>
            <p:cNvSpPr/>
            <p:nvPr/>
          </p:nvSpPr>
          <p:spPr>
            <a:xfrm>
              <a:off x="881075" y="1204925"/>
              <a:ext cx="2776500" cy="309600"/>
            </a:xfrm>
            <a:prstGeom prst="rect">
              <a:avLst/>
            </a:prstGeom>
            <a:solidFill>
              <a:srgbClr val="11648E"/>
            </a:solidFill>
            <a:ln w="9525" cap="flat" cmpd="sng">
              <a:solidFill>
                <a:srgbClr val="11648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29"/>
            <p:cNvSpPr txBox="1"/>
            <p:nvPr/>
          </p:nvSpPr>
          <p:spPr>
            <a:xfrm>
              <a:off x="1064525" y="1159625"/>
              <a:ext cx="2409600" cy="437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a:solidFill>
                    <a:schemeClr val="lt1"/>
                  </a:solidFill>
                  <a:latin typeface="Roboto"/>
                  <a:ea typeface="Roboto"/>
                  <a:cs typeface="Roboto"/>
                  <a:sym typeface="Roboto"/>
                </a:rPr>
                <a:t>OSINT</a:t>
              </a:r>
              <a:endParaRPr>
                <a:solidFill>
                  <a:schemeClr val="lt1"/>
                </a:solidFill>
                <a:latin typeface="Roboto"/>
                <a:ea typeface="Roboto"/>
                <a:cs typeface="Roboto"/>
                <a:sym typeface="Roboto"/>
              </a:endParaRPr>
            </a:p>
          </p:txBody>
        </p:sp>
      </p:grpSp>
      <p:sp>
        <p:nvSpPr>
          <p:cNvPr id="284" name="Google Shape;284;p29"/>
          <p:cNvSpPr/>
          <p:nvPr/>
        </p:nvSpPr>
        <p:spPr>
          <a:xfrm>
            <a:off x="4786027" y="1184623"/>
            <a:ext cx="2593200" cy="423900"/>
          </a:xfrm>
          <a:prstGeom prst="rect">
            <a:avLst/>
          </a:prstGeom>
          <a:noFill/>
          <a:ln w="9525" cap="flat" cmpd="sng">
            <a:solidFill>
              <a:srgbClr val="11648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GB" sz="1000" i="1">
                <a:latin typeface="Roboto Light"/>
                <a:ea typeface="Roboto Light"/>
                <a:cs typeface="Roboto Light"/>
                <a:sym typeface="Roboto Light"/>
              </a:rPr>
              <a:t>LinkedIn Profile, Twitter Profile, Blog Posts...</a:t>
            </a:r>
            <a:br>
              <a:rPr lang="en-GB" sz="1000" i="1">
                <a:latin typeface="Roboto Light"/>
                <a:ea typeface="Roboto Light"/>
                <a:cs typeface="Roboto Light"/>
                <a:sym typeface="Roboto Light"/>
              </a:rPr>
            </a:br>
            <a:r>
              <a:rPr lang="en-GB" sz="1000" i="1">
                <a:latin typeface="Roboto Light"/>
                <a:ea typeface="Roboto Light"/>
                <a:cs typeface="Roboto Light"/>
                <a:sym typeface="Roboto Light"/>
              </a:rPr>
              <a:t>Open-source tools</a:t>
            </a:r>
            <a:endParaRPr sz="1000" i="1">
              <a:latin typeface="Roboto Light"/>
              <a:ea typeface="Roboto Light"/>
              <a:cs typeface="Roboto Light"/>
              <a:sym typeface="Roboto Light"/>
            </a:endParaRPr>
          </a:p>
        </p:txBody>
      </p:sp>
      <p:sp>
        <p:nvSpPr>
          <p:cNvPr id="285" name="Google Shape;285;p29"/>
          <p:cNvSpPr/>
          <p:nvPr/>
        </p:nvSpPr>
        <p:spPr>
          <a:xfrm>
            <a:off x="1699170" y="892635"/>
            <a:ext cx="934200" cy="648000"/>
          </a:xfrm>
          <a:prstGeom prst="rect">
            <a:avLst/>
          </a:prstGeom>
          <a:noFill/>
          <a:ln w="9525" cap="flat" cmpd="sng">
            <a:solidFill>
              <a:srgbClr val="B02C2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9"/>
          <p:cNvSpPr/>
          <p:nvPr/>
        </p:nvSpPr>
        <p:spPr>
          <a:xfrm>
            <a:off x="0" y="120875"/>
            <a:ext cx="4457700" cy="402600"/>
          </a:xfrm>
          <a:prstGeom prst="rect">
            <a:avLst/>
          </a:prstGeom>
          <a:gradFill>
            <a:gsLst>
              <a:gs pos="0">
                <a:srgbClr val="00C0F3"/>
              </a:gs>
              <a:gs pos="100000">
                <a:srgbClr val="008E4E"/>
              </a:gs>
            </a:gsLst>
            <a:lin ang="270000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Lucida Sans"/>
              <a:ea typeface="Lucida Sans"/>
              <a:cs typeface="Lucida Sans"/>
              <a:sym typeface="Lucida Sans"/>
            </a:endParaRPr>
          </a:p>
        </p:txBody>
      </p:sp>
      <p:sp>
        <p:nvSpPr>
          <p:cNvPr id="287" name="Google Shape;287;p29"/>
          <p:cNvSpPr txBox="1">
            <a:spLocks noGrp="1"/>
          </p:cNvSpPr>
          <p:nvPr>
            <p:ph type="title"/>
          </p:nvPr>
        </p:nvSpPr>
        <p:spPr>
          <a:xfrm>
            <a:off x="311700" y="73176"/>
            <a:ext cx="49377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Typical Red Team Operation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pic>
        <p:nvPicPr>
          <p:cNvPr id="292" name="Google Shape;292;p30"/>
          <p:cNvPicPr preferRelativeResize="0"/>
          <p:nvPr/>
        </p:nvPicPr>
        <p:blipFill rotWithShape="1">
          <a:blip r:embed="rId3">
            <a:alphaModFix/>
          </a:blip>
          <a:srcRect t="9657"/>
          <a:stretch/>
        </p:blipFill>
        <p:spPr>
          <a:xfrm>
            <a:off x="311700" y="645875"/>
            <a:ext cx="7335926" cy="4260326"/>
          </a:xfrm>
          <a:prstGeom prst="rect">
            <a:avLst/>
          </a:prstGeom>
          <a:noFill/>
          <a:ln>
            <a:noFill/>
          </a:ln>
        </p:spPr>
      </p:pic>
      <p:sp>
        <p:nvSpPr>
          <p:cNvPr id="293" name="Google Shape;293;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14</a:t>
            </a:fld>
            <a:endParaRPr/>
          </a:p>
        </p:txBody>
      </p:sp>
      <p:sp>
        <p:nvSpPr>
          <p:cNvPr id="294" name="Google Shape;294;p30"/>
          <p:cNvSpPr txBox="1">
            <a:spLocks noGrp="1"/>
          </p:cNvSpPr>
          <p:nvPr>
            <p:ph type="title"/>
          </p:nvPr>
        </p:nvSpPr>
        <p:spPr>
          <a:xfrm>
            <a:off x="311700" y="73176"/>
            <a:ext cx="49377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grpSp>
        <p:nvGrpSpPr>
          <p:cNvPr id="295" name="Google Shape;295;p30"/>
          <p:cNvGrpSpPr/>
          <p:nvPr/>
        </p:nvGrpSpPr>
        <p:grpSpPr>
          <a:xfrm>
            <a:off x="4781987" y="816420"/>
            <a:ext cx="2593251" cy="400090"/>
            <a:chOff x="881075" y="1159625"/>
            <a:chExt cx="2776500" cy="437400"/>
          </a:xfrm>
        </p:grpSpPr>
        <p:sp>
          <p:nvSpPr>
            <p:cNvPr id="296" name="Google Shape;296;p30"/>
            <p:cNvSpPr/>
            <p:nvPr/>
          </p:nvSpPr>
          <p:spPr>
            <a:xfrm>
              <a:off x="881075" y="1204925"/>
              <a:ext cx="2776500" cy="309600"/>
            </a:xfrm>
            <a:prstGeom prst="rect">
              <a:avLst/>
            </a:prstGeom>
            <a:solidFill>
              <a:srgbClr val="11648E"/>
            </a:solidFill>
            <a:ln w="9525" cap="flat" cmpd="sng">
              <a:solidFill>
                <a:srgbClr val="11648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30"/>
            <p:cNvSpPr txBox="1"/>
            <p:nvPr/>
          </p:nvSpPr>
          <p:spPr>
            <a:xfrm>
              <a:off x="1064525" y="1159625"/>
              <a:ext cx="2409600" cy="437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a:solidFill>
                    <a:schemeClr val="lt1"/>
                  </a:solidFill>
                  <a:latin typeface="Roboto"/>
                  <a:ea typeface="Roboto"/>
                  <a:cs typeface="Roboto"/>
                  <a:sym typeface="Roboto"/>
                </a:rPr>
                <a:t>Craft Phishing Content</a:t>
              </a:r>
              <a:endParaRPr>
                <a:solidFill>
                  <a:schemeClr val="lt1"/>
                </a:solidFill>
                <a:latin typeface="Roboto"/>
                <a:ea typeface="Roboto"/>
                <a:cs typeface="Roboto"/>
                <a:sym typeface="Roboto"/>
              </a:endParaRPr>
            </a:p>
          </p:txBody>
        </p:sp>
      </p:grpSp>
      <p:sp>
        <p:nvSpPr>
          <p:cNvPr id="298" name="Google Shape;298;p30"/>
          <p:cNvSpPr/>
          <p:nvPr/>
        </p:nvSpPr>
        <p:spPr>
          <a:xfrm>
            <a:off x="4786027" y="1184623"/>
            <a:ext cx="2593200" cy="423900"/>
          </a:xfrm>
          <a:prstGeom prst="rect">
            <a:avLst/>
          </a:prstGeom>
          <a:noFill/>
          <a:ln w="9525" cap="flat" cmpd="sng">
            <a:solidFill>
              <a:srgbClr val="11648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GB" sz="1000" i="1">
                <a:solidFill>
                  <a:schemeClr val="dk1"/>
                </a:solidFill>
                <a:latin typeface="Roboto Light"/>
                <a:ea typeface="Roboto Light"/>
                <a:cs typeface="Roboto Light"/>
                <a:sym typeface="Roboto Light"/>
              </a:rPr>
              <a:t>Analyse and contextualise the information</a:t>
            </a:r>
            <a:endParaRPr sz="1000" i="1">
              <a:solidFill>
                <a:schemeClr val="dk1"/>
              </a:solidFill>
              <a:latin typeface="Roboto Light"/>
              <a:ea typeface="Roboto Light"/>
              <a:cs typeface="Roboto Light"/>
              <a:sym typeface="Roboto Light"/>
            </a:endParaRPr>
          </a:p>
          <a:p>
            <a:pPr marL="0" lvl="0" indent="0" algn="l" rtl="0">
              <a:spcBef>
                <a:spcPts val="0"/>
              </a:spcBef>
              <a:spcAft>
                <a:spcPts val="0"/>
              </a:spcAft>
              <a:buNone/>
            </a:pPr>
            <a:r>
              <a:rPr lang="en-GB" sz="1000" i="1">
                <a:solidFill>
                  <a:schemeClr val="dk1"/>
                </a:solidFill>
                <a:latin typeface="Roboto Light"/>
                <a:ea typeface="Roboto Light"/>
                <a:cs typeface="Roboto Light"/>
                <a:sym typeface="Roboto Light"/>
              </a:rPr>
              <a:t>Brainstorm, innovate and create pretext</a:t>
            </a:r>
            <a:endParaRPr sz="1000" i="1">
              <a:latin typeface="Roboto Light"/>
              <a:ea typeface="Roboto Light"/>
              <a:cs typeface="Roboto Light"/>
              <a:sym typeface="Roboto Light"/>
            </a:endParaRPr>
          </a:p>
        </p:txBody>
      </p:sp>
      <p:sp>
        <p:nvSpPr>
          <p:cNvPr id="299" name="Google Shape;299;p30"/>
          <p:cNvSpPr/>
          <p:nvPr/>
        </p:nvSpPr>
        <p:spPr>
          <a:xfrm>
            <a:off x="2651670" y="892635"/>
            <a:ext cx="934200" cy="648000"/>
          </a:xfrm>
          <a:prstGeom prst="rect">
            <a:avLst/>
          </a:prstGeom>
          <a:noFill/>
          <a:ln w="9525" cap="flat" cmpd="sng">
            <a:solidFill>
              <a:srgbClr val="B02C2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0"/>
          <p:cNvSpPr/>
          <p:nvPr/>
        </p:nvSpPr>
        <p:spPr>
          <a:xfrm>
            <a:off x="0" y="120875"/>
            <a:ext cx="4457700" cy="402600"/>
          </a:xfrm>
          <a:prstGeom prst="rect">
            <a:avLst/>
          </a:prstGeom>
          <a:gradFill>
            <a:gsLst>
              <a:gs pos="0">
                <a:srgbClr val="00C0F3"/>
              </a:gs>
              <a:gs pos="100000">
                <a:srgbClr val="008E4E"/>
              </a:gs>
            </a:gsLst>
            <a:lin ang="270000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Lucida Sans"/>
              <a:ea typeface="Lucida Sans"/>
              <a:cs typeface="Lucida Sans"/>
              <a:sym typeface="Lucida Sans"/>
            </a:endParaRPr>
          </a:p>
        </p:txBody>
      </p:sp>
      <p:sp>
        <p:nvSpPr>
          <p:cNvPr id="301" name="Google Shape;301;p30"/>
          <p:cNvSpPr txBox="1">
            <a:spLocks noGrp="1"/>
          </p:cNvSpPr>
          <p:nvPr>
            <p:ph type="title"/>
          </p:nvPr>
        </p:nvSpPr>
        <p:spPr>
          <a:xfrm>
            <a:off x="311700" y="73176"/>
            <a:ext cx="49377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Typical Red Team Operation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15</a:t>
            </a:fld>
            <a:endParaRPr/>
          </a:p>
        </p:txBody>
      </p:sp>
      <p:sp>
        <p:nvSpPr>
          <p:cNvPr id="307" name="Google Shape;307;p31"/>
          <p:cNvSpPr txBox="1">
            <a:spLocks noGrp="1"/>
          </p:cNvSpPr>
          <p:nvPr>
            <p:ph type="title"/>
          </p:nvPr>
        </p:nvSpPr>
        <p:spPr>
          <a:xfrm>
            <a:off x="311700" y="73176"/>
            <a:ext cx="49377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sp>
        <p:nvSpPr>
          <p:cNvPr id="308" name="Google Shape;308;p31"/>
          <p:cNvSpPr/>
          <p:nvPr/>
        </p:nvSpPr>
        <p:spPr>
          <a:xfrm>
            <a:off x="0" y="120875"/>
            <a:ext cx="4457700" cy="402600"/>
          </a:xfrm>
          <a:prstGeom prst="rect">
            <a:avLst/>
          </a:prstGeom>
          <a:gradFill>
            <a:gsLst>
              <a:gs pos="0">
                <a:srgbClr val="00C0F3"/>
              </a:gs>
              <a:gs pos="100000">
                <a:srgbClr val="008E4E"/>
              </a:gs>
            </a:gsLst>
            <a:lin ang="270000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Lucida Sans"/>
              <a:ea typeface="Lucida Sans"/>
              <a:cs typeface="Lucida Sans"/>
              <a:sym typeface="Lucida Sans"/>
            </a:endParaRPr>
          </a:p>
        </p:txBody>
      </p:sp>
      <p:sp>
        <p:nvSpPr>
          <p:cNvPr id="309" name="Google Shape;309;p31"/>
          <p:cNvSpPr txBox="1">
            <a:spLocks noGrp="1"/>
          </p:cNvSpPr>
          <p:nvPr>
            <p:ph type="title"/>
          </p:nvPr>
        </p:nvSpPr>
        <p:spPr>
          <a:xfrm>
            <a:off x="311700" y="73176"/>
            <a:ext cx="49377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Challenges in Phishing</a:t>
            </a:r>
            <a:endParaRPr/>
          </a:p>
        </p:txBody>
      </p:sp>
      <p:grpSp>
        <p:nvGrpSpPr>
          <p:cNvPr id="310" name="Google Shape;310;p31"/>
          <p:cNvGrpSpPr/>
          <p:nvPr/>
        </p:nvGrpSpPr>
        <p:grpSpPr>
          <a:xfrm>
            <a:off x="3071457" y="1504525"/>
            <a:ext cx="1944600" cy="1569600"/>
            <a:chOff x="3071457" y="2013875"/>
            <a:chExt cx="1944600" cy="1569600"/>
          </a:xfrm>
        </p:grpSpPr>
        <p:sp>
          <p:nvSpPr>
            <p:cNvPr id="311" name="Google Shape;311;p31"/>
            <p:cNvSpPr/>
            <p:nvPr/>
          </p:nvSpPr>
          <p:spPr>
            <a:xfrm rot="10800000" flipH="1">
              <a:off x="3071457" y="2013875"/>
              <a:ext cx="1944600" cy="1569600"/>
            </a:xfrm>
            <a:prstGeom prst="round2DiagRect">
              <a:avLst>
                <a:gd name="adj1" fmla="val 0"/>
                <a:gd name="adj2" fmla="val 17764"/>
              </a:avLst>
            </a:prstGeom>
            <a:solidFill>
              <a:srgbClr val="B02C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31"/>
            <p:cNvSpPr txBox="1"/>
            <p:nvPr/>
          </p:nvSpPr>
          <p:spPr>
            <a:xfrm>
              <a:off x="3316102" y="2256385"/>
              <a:ext cx="1451700" cy="45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500" b="1" u="sng">
                  <a:solidFill>
                    <a:srgbClr val="FFFFFF"/>
                  </a:solidFill>
                  <a:latin typeface="Roboto"/>
                  <a:ea typeface="Roboto"/>
                  <a:cs typeface="Roboto"/>
                  <a:sym typeface="Roboto"/>
                </a:rPr>
                <a:t>Effort</a:t>
              </a:r>
              <a:endParaRPr sz="1500" u="sng">
                <a:solidFill>
                  <a:srgbClr val="FFFFFF"/>
                </a:solidFill>
                <a:latin typeface="Roboto"/>
                <a:ea typeface="Roboto"/>
                <a:cs typeface="Roboto"/>
                <a:sym typeface="Roboto"/>
              </a:endParaRPr>
            </a:p>
          </p:txBody>
        </p:sp>
        <p:sp>
          <p:nvSpPr>
            <p:cNvPr id="313" name="Google Shape;313;p31"/>
            <p:cNvSpPr txBox="1"/>
            <p:nvPr/>
          </p:nvSpPr>
          <p:spPr>
            <a:xfrm>
              <a:off x="3316100" y="2716352"/>
              <a:ext cx="1451700" cy="512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GB" sz="1100">
                  <a:solidFill>
                    <a:srgbClr val="FFFFFF"/>
                  </a:solidFill>
                  <a:latin typeface="Roboto"/>
                  <a:ea typeface="Roboto"/>
                  <a:cs typeface="Roboto"/>
                  <a:sym typeface="Roboto"/>
                </a:rPr>
                <a:t>Contextualize and ideation</a:t>
              </a:r>
              <a:endParaRPr sz="1100">
                <a:solidFill>
                  <a:srgbClr val="FFFFFF"/>
                </a:solidFill>
                <a:latin typeface="Roboto"/>
                <a:ea typeface="Roboto"/>
                <a:cs typeface="Roboto"/>
                <a:sym typeface="Roboto"/>
              </a:endParaRPr>
            </a:p>
          </p:txBody>
        </p:sp>
      </p:grpSp>
      <p:grpSp>
        <p:nvGrpSpPr>
          <p:cNvPr id="314" name="Google Shape;314;p31"/>
          <p:cNvGrpSpPr/>
          <p:nvPr/>
        </p:nvGrpSpPr>
        <p:grpSpPr>
          <a:xfrm>
            <a:off x="1129244" y="1504525"/>
            <a:ext cx="1944600" cy="1569600"/>
            <a:chOff x="1126863" y="2013875"/>
            <a:chExt cx="1944600" cy="1569600"/>
          </a:xfrm>
        </p:grpSpPr>
        <p:sp>
          <p:nvSpPr>
            <p:cNvPr id="315" name="Google Shape;315;p31"/>
            <p:cNvSpPr/>
            <p:nvPr/>
          </p:nvSpPr>
          <p:spPr>
            <a:xfrm>
              <a:off x="1126863" y="2013875"/>
              <a:ext cx="1944600" cy="1569600"/>
            </a:xfrm>
            <a:prstGeom prst="round2DiagRect">
              <a:avLst>
                <a:gd name="adj1" fmla="val 0"/>
                <a:gd name="adj2" fmla="val 17764"/>
              </a:avLst>
            </a:prstGeom>
            <a:solidFill>
              <a:srgbClr val="D838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1"/>
            <p:cNvSpPr txBox="1"/>
            <p:nvPr/>
          </p:nvSpPr>
          <p:spPr>
            <a:xfrm>
              <a:off x="1351627" y="2256385"/>
              <a:ext cx="1451700" cy="45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500" b="1" u="sng">
                  <a:solidFill>
                    <a:srgbClr val="FFFFFF"/>
                  </a:solidFill>
                  <a:latin typeface="Roboto"/>
                  <a:ea typeface="Roboto"/>
                  <a:cs typeface="Roboto"/>
                  <a:sym typeface="Roboto"/>
                </a:rPr>
                <a:t>Time</a:t>
              </a:r>
              <a:endParaRPr sz="1500" u="sng">
                <a:solidFill>
                  <a:srgbClr val="FFFFFF"/>
                </a:solidFill>
                <a:latin typeface="Roboto"/>
                <a:ea typeface="Roboto"/>
                <a:cs typeface="Roboto"/>
                <a:sym typeface="Roboto"/>
              </a:endParaRPr>
            </a:p>
          </p:txBody>
        </p:sp>
        <p:sp>
          <p:nvSpPr>
            <p:cNvPr id="317" name="Google Shape;317;p31"/>
            <p:cNvSpPr txBox="1"/>
            <p:nvPr/>
          </p:nvSpPr>
          <p:spPr>
            <a:xfrm>
              <a:off x="1351638" y="2701275"/>
              <a:ext cx="1451700" cy="632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GB" sz="1100">
                  <a:solidFill>
                    <a:srgbClr val="FFFFFF"/>
                  </a:solidFill>
                  <a:latin typeface="Roboto"/>
                  <a:ea typeface="Roboto"/>
                  <a:cs typeface="Roboto"/>
                  <a:sym typeface="Roboto"/>
                </a:rPr>
                <a:t>Analyse results from OSINT</a:t>
              </a:r>
              <a:endParaRPr sz="1100">
                <a:solidFill>
                  <a:srgbClr val="FFFFFF"/>
                </a:solidFill>
                <a:latin typeface="Roboto"/>
                <a:ea typeface="Roboto"/>
                <a:cs typeface="Roboto"/>
                <a:sym typeface="Roboto"/>
              </a:endParaRPr>
            </a:p>
          </p:txBody>
        </p:sp>
      </p:grpSp>
      <p:grpSp>
        <p:nvGrpSpPr>
          <p:cNvPr id="318" name="Google Shape;318;p31"/>
          <p:cNvGrpSpPr/>
          <p:nvPr/>
        </p:nvGrpSpPr>
        <p:grpSpPr>
          <a:xfrm>
            <a:off x="5013556" y="1504525"/>
            <a:ext cx="3001200" cy="1569600"/>
            <a:chOff x="5015938" y="2013875"/>
            <a:chExt cx="3001200" cy="1569600"/>
          </a:xfrm>
        </p:grpSpPr>
        <p:sp>
          <p:nvSpPr>
            <p:cNvPr id="319" name="Google Shape;319;p31"/>
            <p:cNvSpPr/>
            <p:nvPr/>
          </p:nvSpPr>
          <p:spPr>
            <a:xfrm>
              <a:off x="5015938" y="2013875"/>
              <a:ext cx="3001200" cy="1569600"/>
            </a:xfrm>
            <a:prstGeom prst="round2DiagRect">
              <a:avLst>
                <a:gd name="adj1" fmla="val 0"/>
                <a:gd name="adj2" fmla="val 17764"/>
              </a:avLst>
            </a:prstGeom>
            <a:solidFill>
              <a:srgbClr val="80201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320" name="Google Shape;320;p31"/>
            <p:cNvSpPr txBox="1"/>
            <p:nvPr/>
          </p:nvSpPr>
          <p:spPr>
            <a:xfrm>
              <a:off x="5360226" y="2256387"/>
              <a:ext cx="2417100" cy="45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500" b="1" u="sng">
                  <a:solidFill>
                    <a:srgbClr val="FFFFFF"/>
                  </a:solidFill>
                  <a:latin typeface="Roboto"/>
                  <a:ea typeface="Roboto"/>
                  <a:cs typeface="Roboto"/>
                  <a:sym typeface="Roboto"/>
                </a:rPr>
                <a:t>Usable Phishing Pretext</a:t>
              </a:r>
              <a:endParaRPr sz="1500" u="sng">
                <a:solidFill>
                  <a:srgbClr val="FFFFFF"/>
                </a:solidFill>
                <a:latin typeface="Roboto"/>
                <a:ea typeface="Roboto"/>
                <a:cs typeface="Roboto"/>
                <a:sym typeface="Roboto"/>
              </a:endParaRPr>
            </a:p>
          </p:txBody>
        </p:sp>
        <p:sp>
          <p:nvSpPr>
            <p:cNvPr id="321" name="Google Shape;321;p31"/>
            <p:cNvSpPr txBox="1"/>
            <p:nvPr/>
          </p:nvSpPr>
          <p:spPr>
            <a:xfrm>
              <a:off x="5360225" y="2766503"/>
              <a:ext cx="2417100" cy="512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GB" sz="1100">
                  <a:solidFill>
                    <a:srgbClr val="FFFFFF"/>
                  </a:solidFill>
                  <a:latin typeface="Roboto"/>
                  <a:ea typeface="Roboto"/>
                  <a:cs typeface="Roboto"/>
                  <a:sym typeface="Roboto"/>
                </a:rPr>
                <a:t>Time and Effort increases exponentially for spear phishing with each new target</a:t>
              </a:r>
              <a:endParaRPr sz="1100">
                <a:solidFill>
                  <a:srgbClr val="FFFFFF"/>
                </a:solidFill>
                <a:latin typeface="Roboto"/>
                <a:ea typeface="Roboto"/>
                <a:cs typeface="Roboto"/>
                <a:sym typeface="Roboto"/>
              </a:endParaRPr>
            </a:p>
          </p:txBody>
        </p:sp>
      </p:grpSp>
      <p:grpSp>
        <p:nvGrpSpPr>
          <p:cNvPr id="322" name="Google Shape;322;p31"/>
          <p:cNvGrpSpPr/>
          <p:nvPr/>
        </p:nvGrpSpPr>
        <p:grpSpPr>
          <a:xfrm>
            <a:off x="4883103" y="2191920"/>
            <a:ext cx="261571" cy="260379"/>
            <a:chOff x="4858109" y="2631368"/>
            <a:chExt cx="316442" cy="315000"/>
          </a:xfrm>
        </p:grpSpPr>
        <p:sp>
          <p:nvSpPr>
            <p:cNvPr id="323" name="Google Shape;323;p31"/>
            <p:cNvSpPr/>
            <p:nvPr/>
          </p:nvSpPr>
          <p:spPr>
            <a:xfrm>
              <a:off x="4859551" y="2631368"/>
              <a:ext cx="315000" cy="3150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31"/>
            <p:cNvSpPr/>
            <p:nvPr/>
          </p:nvSpPr>
          <p:spPr>
            <a:xfrm>
              <a:off x="4858109" y="2739300"/>
              <a:ext cx="239100" cy="99000"/>
            </a:xfrm>
            <a:prstGeom prst="rightArrow">
              <a:avLst>
                <a:gd name="adj1" fmla="val 32020"/>
                <a:gd name="adj2" fmla="val 66970"/>
              </a:avLst>
            </a:prstGeom>
            <a:solidFill>
              <a:srgbClr val="B02C2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GB"/>
                <a:t/>
              </a:r>
              <a:br>
                <a:rPr lang="en-GB"/>
              </a:br>
              <a:endParaRPr/>
            </a:p>
          </p:txBody>
        </p:sp>
      </p:grpSp>
      <p:grpSp>
        <p:nvGrpSpPr>
          <p:cNvPr id="325" name="Google Shape;325;p31"/>
          <p:cNvGrpSpPr/>
          <p:nvPr/>
        </p:nvGrpSpPr>
        <p:grpSpPr>
          <a:xfrm>
            <a:off x="2945896" y="2191921"/>
            <a:ext cx="260366" cy="260366"/>
            <a:chOff x="3157188" y="909150"/>
            <a:chExt cx="470400" cy="470400"/>
          </a:xfrm>
        </p:grpSpPr>
        <p:sp>
          <p:nvSpPr>
            <p:cNvPr id="326" name="Google Shape;326;p31"/>
            <p:cNvSpPr/>
            <p:nvPr/>
          </p:nvSpPr>
          <p:spPr>
            <a:xfrm>
              <a:off x="3157188" y="909150"/>
              <a:ext cx="470400" cy="4704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31"/>
            <p:cNvSpPr/>
            <p:nvPr/>
          </p:nvSpPr>
          <p:spPr>
            <a:xfrm>
              <a:off x="3243138" y="995100"/>
              <a:ext cx="298500" cy="298500"/>
            </a:xfrm>
            <a:prstGeom prst="mathPlus">
              <a:avLst>
                <a:gd name="adj1" fmla="val 9900"/>
              </a:avLst>
            </a:prstGeom>
            <a:solidFill>
              <a:srgbClr val="D838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8" name="Google Shape;328;p31"/>
          <p:cNvSpPr/>
          <p:nvPr/>
        </p:nvSpPr>
        <p:spPr>
          <a:xfrm>
            <a:off x="1129250" y="3271875"/>
            <a:ext cx="1944600" cy="666000"/>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700">
                <a:solidFill>
                  <a:schemeClr val="lt1"/>
                </a:solidFill>
                <a:latin typeface="Roboto"/>
                <a:ea typeface="Roboto"/>
                <a:cs typeface="Roboto"/>
                <a:sym typeface="Roboto"/>
              </a:rPr>
              <a:t>Behaviour Analysis</a:t>
            </a:r>
            <a:endParaRPr sz="1700">
              <a:solidFill>
                <a:schemeClr val="lt1"/>
              </a:solidFill>
              <a:latin typeface="Roboto"/>
              <a:ea typeface="Roboto"/>
              <a:cs typeface="Roboto"/>
              <a:sym typeface="Roboto"/>
            </a:endParaRPr>
          </a:p>
        </p:txBody>
      </p:sp>
      <p:sp>
        <p:nvSpPr>
          <p:cNvPr id="329" name="Google Shape;329;p31"/>
          <p:cNvSpPr/>
          <p:nvPr/>
        </p:nvSpPr>
        <p:spPr>
          <a:xfrm>
            <a:off x="3136950" y="3271875"/>
            <a:ext cx="1876500" cy="6660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700">
                <a:solidFill>
                  <a:schemeClr val="lt1"/>
                </a:solidFill>
                <a:latin typeface="Roboto"/>
                <a:ea typeface="Roboto"/>
                <a:cs typeface="Roboto"/>
                <a:sym typeface="Roboto"/>
              </a:rPr>
              <a:t>Text Generation</a:t>
            </a:r>
            <a:endParaRPr sz="1700">
              <a:solidFill>
                <a:schemeClr val="lt1"/>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8"/>
                                        </p:tgtEl>
                                        <p:attrNameLst>
                                          <p:attrName>style.visibility</p:attrName>
                                        </p:attrNameLst>
                                      </p:cBhvr>
                                      <p:to>
                                        <p:strVal val="visible"/>
                                      </p:to>
                                    </p:set>
                                    <p:animEffect transition="in" filter="fade">
                                      <p:cBhvr>
                                        <p:cTn id="7" dur="1000"/>
                                        <p:tgtEl>
                                          <p:spTgt spid="3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9"/>
                                        </p:tgtEl>
                                        <p:attrNameLst>
                                          <p:attrName>style.visibility</p:attrName>
                                        </p:attrNameLst>
                                      </p:cBhvr>
                                      <p:to>
                                        <p:strVal val="visible"/>
                                      </p:to>
                                    </p:set>
                                    <p:animEffect transition="in" filter="fade">
                                      <p:cBhvr>
                                        <p:cTn id="12" dur="1000"/>
                                        <p:tgtEl>
                                          <p:spTgt spid="3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2"/>
          <p:cNvSpPr txBox="1">
            <a:spLocks noGrp="1"/>
          </p:cNvSpPr>
          <p:nvPr>
            <p:ph type="title"/>
          </p:nvPr>
        </p:nvSpPr>
        <p:spPr>
          <a:xfrm>
            <a:off x="490250" y="2805450"/>
            <a:ext cx="8477100" cy="10512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GB"/>
              <a:t>The AI Market Landscape</a:t>
            </a:r>
            <a:endParaRPr/>
          </a:p>
        </p:txBody>
      </p:sp>
      <p:sp>
        <p:nvSpPr>
          <p:cNvPr id="335" name="Google Shape;335;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16</a:t>
            </a:fld>
            <a:endParaRPr/>
          </a:p>
        </p:txBody>
      </p:sp>
      <p:sp>
        <p:nvSpPr>
          <p:cNvPr id="336" name="Google Shape;336;p32"/>
          <p:cNvSpPr txBox="1">
            <a:spLocks noGrp="1"/>
          </p:cNvSpPr>
          <p:nvPr>
            <p:ph type="subTitle" idx="1"/>
          </p:nvPr>
        </p:nvSpPr>
        <p:spPr>
          <a:xfrm>
            <a:off x="490250" y="3596125"/>
            <a:ext cx="6367800" cy="480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Staying trendy helps us to hack better</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33"/>
          <p:cNvSpPr/>
          <p:nvPr/>
        </p:nvSpPr>
        <p:spPr>
          <a:xfrm>
            <a:off x="0" y="120875"/>
            <a:ext cx="2454000" cy="402600"/>
          </a:xfrm>
          <a:prstGeom prst="rect">
            <a:avLst/>
          </a:prstGeom>
          <a:gradFill>
            <a:gsLst>
              <a:gs pos="0">
                <a:srgbClr val="00C0F3"/>
              </a:gs>
              <a:gs pos="100000">
                <a:srgbClr val="008E4E"/>
              </a:gs>
            </a:gsLst>
            <a:lin ang="270000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Lucida Sans"/>
              <a:ea typeface="Lucida Sans"/>
              <a:cs typeface="Lucida Sans"/>
              <a:sym typeface="Lucida Sans"/>
            </a:endParaRPr>
          </a:p>
        </p:txBody>
      </p:sp>
      <p:sp>
        <p:nvSpPr>
          <p:cNvPr id="342" name="Google Shape;342;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17</a:t>
            </a:fld>
            <a:endParaRPr/>
          </a:p>
        </p:txBody>
      </p:sp>
      <p:sp>
        <p:nvSpPr>
          <p:cNvPr id="343" name="Google Shape;343;p33"/>
          <p:cNvSpPr txBox="1">
            <a:spLocks noGrp="1"/>
          </p:cNvSpPr>
          <p:nvPr>
            <p:ph type="title"/>
          </p:nvPr>
        </p:nvSpPr>
        <p:spPr>
          <a:xfrm>
            <a:off x="311700" y="73175"/>
            <a:ext cx="21423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AI as a Service</a:t>
            </a:r>
            <a:endParaRPr/>
          </a:p>
        </p:txBody>
      </p:sp>
      <p:pic>
        <p:nvPicPr>
          <p:cNvPr id="344" name="Google Shape;344;p33"/>
          <p:cNvPicPr preferRelativeResize="0"/>
          <p:nvPr/>
        </p:nvPicPr>
        <p:blipFill>
          <a:blip r:embed="rId3">
            <a:alphaModFix/>
          </a:blip>
          <a:stretch>
            <a:fillRect/>
          </a:stretch>
        </p:blipFill>
        <p:spPr>
          <a:xfrm>
            <a:off x="365025" y="756550"/>
            <a:ext cx="4158899" cy="3444088"/>
          </a:xfrm>
          <a:prstGeom prst="rect">
            <a:avLst/>
          </a:prstGeom>
          <a:noFill/>
          <a:ln>
            <a:noFill/>
          </a:ln>
        </p:spPr>
      </p:pic>
      <p:grpSp>
        <p:nvGrpSpPr>
          <p:cNvPr id="345" name="Google Shape;345;p33"/>
          <p:cNvGrpSpPr/>
          <p:nvPr/>
        </p:nvGrpSpPr>
        <p:grpSpPr>
          <a:xfrm>
            <a:off x="365028" y="4289550"/>
            <a:ext cx="7936500" cy="548700"/>
            <a:chOff x="365028" y="4289550"/>
            <a:chExt cx="7936500" cy="548700"/>
          </a:xfrm>
        </p:grpSpPr>
        <p:sp>
          <p:nvSpPr>
            <p:cNvPr id="346" name="Google Shape;346;p33"/>
            <p:cNvSpPr/>
            <p:nvPr/>
          </p:nvSpPr>
          <p:spPr>
            <a:xfrm>
              <a:off x="365028" y="4294350"/>
              <a:ext cx="7936500" cy="539100"/>
            </a:xfrm>
            <a:prstGeom prst="rect">
              <a:avLst/>
            </a:prstGeom>
            <a:solidFill>
              <a:srgbClr val="0095AF"/>
            </a:solidFill>
            <a:ln w="9525" cap="flat" cmpd="sng">
              <a:solidFill>
                <a:srgbClr val="0095AF"/>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1200"/>
                </a:spcAft>
                <a:buClr>
                  <a:schemeClr val="dk1"/>
                </a:buClr>
                <a:buSzPts val="1100"/>
                <a:buFont typeface="Arial"/>
                <a:buNone/>
              </a:pPr>
              <a:endParaRPr sz="1800">
                <a:latin typeface="Roboto"/>
                <a:ea typeface="Roboto"/>
                <a:cs typeface="Roboto"/>
                <a:sym typeface="Roboto"/>
              </a:endParaRPr>
            </a:p>
          </p:txBody>
        </p:sp>
        <p:sp>
          <p:nvSpPr>
            <p:cNvPr id="347" name="Google Shape;347;p33"/>
            <p:cNvSpPr txBox="1"/>
            <p:nvPr/>
          </p:nvSpPr>
          <p:spPr>
            <a:xfrm>
              <a:off x="635028" y="4289550"/>
              <a:ext cx="7396500" cy="548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GB" sz="1100">
                  <a:solidFill>
                    <a:schemeClr val="lt1"/>
                  </a:solidFill>
                  <a:latin typeface="Roboto Light"/>
                  <a:ea typeface="Roboto Light"/>
                  <a:cs typeface="Roboto Light"/>
                  <a:sym typeface="Roboto Light"/>
                </a:rPr>
                <a:t>“AIaaS is short for </a:t>
              </a:r>
              <a:r>
                <a:rPr lang="en-GB" sz="1100" b="1" i="1">
                  <a:solidFill>
                    <a:schemeClr val="lt1"/>
                  </a:solidFill>
                  <a:latin typeface="Roboto"/>
                  <a:ea typeface="Roboto"/>
                  <a:cs typeface="Roboto"/>
                  <a:sym typeface="Roboto"/>
                </a:rPr>
                <a:t>artificial intelligence as a service</a:t>
              </a:r>
              <a:r>
                <a:rPr lang="en-GB" sz="1100" b="1">
                  <a:solidFill>
                    <a:schemeClr val="lt1"/>
                  </a:solidFill>
                  <a:latin typeface="Roboto"/>
                  <a:ea typeface="Roboto"/>
                  <a:cs typeface="Roboto"/>
                  <a:sym typeface="Roboto"/>
                </a:rPr>
                <a:t> </a:t>
              </a:r>
              <a:r>
                <a:rPr lang="en-GB" sz="1100">
                  <a:solidFill>
                    <a:schemeClr val="lt1"/>
                  </a:solidFill>
                  <a:latin typeface="Roboto Light"/>
                  <a:ea typeface="Roboto Light"/>
                  <a:cs typeface="Roboto Light"/>
                  <a:sym typeface="Roboto Light"/>
                </a:rPr>
                <a:t>and refers to companies that provide out-of-the-box AI solutions.”</a:t>
              </a:r>
              <a:endParaRPr sz="1100">
                <a:solidFill>
                  <a:schemeClr val="lt1"/>
                </a:solidFill>
                <a:latin typeface="Roboto Light"/>
                <a:ea typeface="Roboto Light"/>
                <a:cs typeface="Roboto Light"/>
                <a:sym typeface="Roboto Light"/>
              </a:endParaRPr>
            </a:p>
            <a:p>
              <a:pPr marL="0" lvl="0" indent="0" algn="l" rtl="0">
                <a:lnSpc>
                  <a:spcPct val="115000"/>
                </a:lnSpc>
                <a:spcBef>
                  <a:spcPts val="0"/>
                </a:spcBef>
                <a:spcAft>
                  <a:spcPts val="0"/>
                </a:spcAft>
                <a:buNone/>
              </a:pPr>
              <a:r>
                <a:rPr lang="en-GB" sz="1100">
                  <a:solidFill>
                    <a:schemeClr val="lt1"/>
                  </a:solidFill>
                  <a:latin typeface="Roboto Light"/>
                  <a:ea typeface="Roboto Light"/>
                  <a:cs typeface="Roboto Light"/>
                  <a:sym typeface="Roboto Light"/>
                </a:rPr>
                <a:t>-  MonkeyLearn</a:t>
              </a:r>
              <a:endParaRPr sz="1100">
                <a:solidFill>
                  <a:schemeClr val="lt1"/>
                </a:solidFill>
                <a:latin typeface="Roboto Light"/>
                <a:ea typeface="Roboto Light"/>
                <a:cs typeface="Roboto Light"/>
                <a:sym typeface="Roboto Light"/>
              </a:endParaRPr>
            </a:p>
          </p:txBody>
        </p:sp>
      </p:grpSp>
      <p:pic>
        <p:nvPicPr>
          <p:cNvPr id="348" name="Google Shape;348;p33"/>
          <p:cNvPicPr preferRelativeResize="0"/>
          <p:nvPr/>
        </p:nvPicPr>
        <p:blipFill>
          <a:blip r:embed="rId4">
            <a:alphaModFix/>
          </a:blip>
          <a:stretch>
            <a:fillRect/>
          </a:stretch>
        </p:blipFill>
        <p:spPr>
          <a:xfrm>
            <a:off x="4679925" y="756550"/>
            <a:ext cx="3621614" cy="344410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34"/>
          <p:cNvSpPr txBox="1"/>
          <p:nvPr/>
        </p:nvSpPr>
        <p:spPr>
          <a:xfrm>
            <a:off x="4201300" y="1841625"/>
            <a:ext cx="4483200" cy="2787900"/>
          </a:xfrm>
          <a:prstGeom prst="rect">
            <a:avLst/>
          </a:prstGeom>
          <a:noFill/>
          <a:ln>
            <a:noFill/>
          </a:ln>
        </p:spPr>
        <p:txBody>
          <a:bodyPr spcFirstLastPara="1" wrap="square" lIns="91425" tIns="91425" rIns="91425" bIns="91425" anchor="t" anchorCtr="0">
            <a:spAutoFit/>
          </a:bodyPr>
          <a:lstStyle/>
          <a:p>
            <a:pPr marL="0" lvl="0" indent="0" algn="l" rtl="0">
              <a:lnSpc>
                <a:spcPct val="130000"/>
              </a:lnSpc>
              <a:spcBef>
                <a:spcPts val="0"/>
              </a:spcBef>
              <a:spcAft>
                <a:spcPts val="0"/>
              </a:spcAft>
              <a:buNone/>
            </a:pPr>
            <a:r>
              <a:rPr lang="en-GB" sz="825">
                <a:solidFill>
                  <a:srgbClr val="A31515"/>
                </a:solidFill>
                <a:latin typeface="Courier New"/>
                <a:ea typeface="Courier New"/>
                <a:cs typeface="Courier New"/>
                <a:sym typeface="Courier New"/>
              </a:rPr>
              <a:t>"communication_advice"</a:t>
            </a:r>
            <a:r>
              <a:rPr lang="en-GB" sz="825">
                <a:solidFill>
                  <a:schemeClr val="dk1"/>
                </a:solidFill>
                <a:latin typeface="Courier New"/>
                <a:ea typeface="Courier New"/>
                <a:cs typeface="Courier New"/>
                <a:sym typeface="Courier New"/>
              </a:rPr>
              <a:t>: {</a:t>
            </a:r>
            <a:endParaRPr sz="825">
              <a:solidFill>
                <a:schemeClr val="dk1"/>
              </a:solidFill>
              <a:latin typeface="Courier New"/>
              <a:ea typeface="Courier New"/>
              <a:cs typeface="Courier New"/>
              <a:sym typeface="Courier New"/>
            </a:endParaRPr>
          </a:p>
          <a:p>
            <a:pPr marL="0" lvl="0" indent="0" algn="l" rtl="0">
              <a:lnSpc>
                <a:spcPct val="130000"/>
              </a:lnSpc>
              <a:spcBef>
                <a:spcPts val="0"/>
              </a:spcBef>
              <a:spcAft>
                <a:spcPts val="0"/>
              </a:spcAft>
              <a:buNone/>
            </a:pPr>
            <a:r>
              <a:rPr lang="en-GB" sz="825">
                <a:solidFill>
                  <a:schemeClr val="dk1"/>
                </a:solidFill>
                <a:latin typeface="Courier New"/>
                <a:ea typeface="Courier New"/>
                <a:cs typeface="Courier New"/>
                <a:sym typeface="Courier New"/>
              </a:rPr>
              <a:t>   </a:t>
            </a:r>
            <a:r>
              <a:rPr lang="en-GB" sz="825">
                <a:solidFill>
                  <a:srgbClr val="A31515"/>
                </a:solidFill>
                <a:latin typeface="Courier New"/>
                <a:ea typeface="Courier New"/>
                <a:cs typeface="Courier New"/>
                <a:sym typeface="Courier New"/>
              </a:rPr>
              <a:t>"_type"</a:t>
            </a:r>
            <a:r>
              <a:rPr lang="en-GB" sz="825">
                <a:solidFill>
                  <a:schemeClr val="dk1"/>
                </a:solidFill>
                <a:latin typeface="Courier New"/>
                <a:ea typeface="Courier New"/>
                <a:cs typeface="Courier New"/>
                <a:sym typeface="Courier New"/>
              </a:rPr>
              <a:t>: [</a:t>
            </a:r>
            <a:endParaRPr sz="825">
              <a:solidFill>
                <a:schemeClr val="dk1"/>
              </a:solidFill>
              <a:latin typeface="Courier New"/>
              <a:ea typeface="Courier New"/>
              <a:cs typeface="Courier New"/>
              <a:sym typeface="Courier New"/>
            </a:endParaRPr>
          </a:p>
          <a:p>
            <a:pPr marL="0" lvl="0" indent="0" algn="l" rtl="0">
              <a:lnSpc>
                <a:spcPct val="130000"/>
              </a:lnSpc>
              <a:spcBef>
                <a:spcPts val="0"/>
              </a:spcBef>
              <a:spcAft>
                <a:spcPts val="0"/>
              </a:spcAft>
              <a:buNone/>
            </a:pPr>
            <a:r>
              <a:rPr lang="en-GB" sz="825">
                <a:solidFill>
                  <a:schemeClr val="dk1"/>
                </a:solidFill>
                <a:latin typeface="Courier New"/>
                <a:ea typeface="Courier New"/>
                <a:cs typeface="Courier New"/>
                <a:sym typeface="Courier New"/>
              </a:rPr>
              <a:t>            </a:t>
            </a:r>
            <a:r>
              <a:rPr lang="en-GB" sz="825">
                <a:solidFill>
                  <a:srgbClr val="0451A5"/>
                </a:solidFill>
                <a:latin typeface="Courier New"/>
                <a:ea typeface="Courier New"/>
                <a:cs typeface="Courier New"/>
                <a:sym typeface="Courier New"/>
              </a:rPr>
              <a:t>"high calculativeness"</a:t>
            </a:r>
            <a:endParaRPr sz="825">
              <a:solidFill>
                <a:srgbClr val="0451A5"/>
              </a:solidFill>
              <a:latin typeface="Courier New"/>
              <a:ea typeface="Courier New"/>
              <a:cs typeface="Courier New"/>
              <a:sym typeface="Courier New"/>
            </a:endParaRPr>
          </a:p>
          <a:p>
            <a:pPr marL="0" lvl="0" indent="0" algn="l" rtl="0">
              <a:lnSpc>
                <a:spcPct val="130000"/>
              </a:lnSpc>
              <a:spcBef>
                <a:spcPts val="0"/>
              </a:spcBef>
              <a:spcAft>
                <a:spcPts val="0"/>
              </a:spcAft>
              <a:buNone/>
            </a:pPr>
            <a:r>
              <a:rPr lang="en-GB" sz="825">
                <a:solidFill>
                  <a:schemeClr val="dk1"/>
                </a:solidFill>
                <a:latin typeface="Courier New"/>
                <a:ea typeface="Courier New"/>
                <a:cs typeface="Courier New"/>
                <a:sym typeface="Courier New"/>
              </a:rPr>
              <a:t>            ],</a:t>
            </a:r>
            <a:endParaRPr sz="825">
              <a:solidFill>
                <a:schemeClr val="dk1"/>
              </a:solidFill>
              <a:latin typeface="Courier New"/>
              <a:ea typeface="Courier New"/>
              <a:cs typeface="Courier New"/>
              <a:sym typeface="Courier New"/>
            </a:endParaRPr>
          </a:p>
          <a:p>
            <a:pPr marL="0" lvl="0" indent="0" algn="l" rtl="0">
              <a:lnSpc>
                <a:spcPct val="130000"/>
              </a:lnSpc>
              <a:spcBef>
                <a:spcPts val="0"/>
              </a:spcBef>
              <a:spcAft>
                <a:spcPts val="0"/>
              </a:spcAft>
              <a:buNone/>
            </a:pPr>
            <a:r>
              <a:rPr lang="en-GB" sz="825">
                <a:solidFill>
                  <a:schemeClr val="dk1"/>
                </a:solidFill>
                <a:latin typeface="Courier New"/>
                <a:ea typeface="Courier New"/>
                <a:cs typeface="Courier New"/>
                <a:sym typeface="Courier New"/>
              </a:rPr>
              <a:t>   </a:t>
            </a:r>
            <a:r>
              <a:rPr lang="en-GB" sz="825">
                <a:solidFill>
                  <a:srgbClr val="A31515"/>
                </a:solidFill>
                <a:latin typeface="Courier New"/>
                <a:ea typeface="Courier New"/>
                <a:cs typeface="Courier New"/>
                <a:sym typeface="Courier New"/>
              </a:rPr>
              <a:t>"description"</a:t>
            </a:r>
            <a:r>
              <a:rPr lang="en-GB" sz="825">
                <a:solidFill>
                  <a:schemeClr val="dk1"/>
                </a:solidFill>
                <a:latin typeface="Courier New"/>
                <a:ea typeface="Courier New"/>
                <a:cs typeface="Courier New"/>
                <a:sym typeface="Courier New"/>
              </a:rPr>
              <a:t>: [</a:t>
            </a:r>
            <a:endParaRPr sz="825">
              <a:solidFill>
                <a:schemeClr val="dk1"/>
              </a:solidFill>
              <a:latin typeface="Courier New"/>
              <a:ea typeface="Courier New"/>
              <a:cs typeface="Courier New"/>
              <a:sym typeface="Courier New"/>
            </a:endParaRPr>
          </a:p>
          <a:p>
            <a:pPr marL="0" lvl="0" indent="0" algn="l" rtl="0">
              <a:lnSpc>
                <a:spcPct val="130000"/>
              </a:lnSpc>
              <a:spcBef>
                <a:spcPts val="0"/>
              </a:spcBef>
              <a:spcAft>
                <a:spcPts val="0"/>
              </a:spcAft>
              <a:buNone/>
            </a:pPr>
            <a:r>
              <a:rPr lang="en-GB" sz="825">
                <a:solidFill>
                  <a:schemeClr val="dk1"/>
                </a:solidFill>
                <a:latin typeface="Courier New"/>
                <a:ea typeface="Courier New"/>
                <a:cs typeface="Courier New"/>
                <a:sym typeface="Courier New"/>
              </a:rPr>
              <a:t>                   </a:t>
            </a:r>
            <a:r>
              <a:rPr lang="en-GB" sz="825">
                <a:solidFill>
                  <a:srgbClr val="0451A5"/>
                </a:solidFill>
                <a:latin typeface="Courier New"/>
                <a:ea typeface="Courier New"/>
                <a:cs typeface="Courier New"/>
                <a:sym typeface="Courier New"/>
              </a:rPr>
              <a:t>"They think logically and value facts over feelings."</a:t>
            </a:r>
            <a:r>
              <a:rPr lang="en-GB" sz="825">
                <a:solidFill>
                  <a:schemeClr val="dk1"/>
                </a:solidFill>
                <a:latin typeface="Courier New"/>
                <a:ea typeface="Courier New"/>
                <a:cs typeface="Courier New"/>
                <a:sym typeface="Courier New"/>
              </a:rPr>
              <a:t>,</a:t>
            </a:r>
            <a:endParaRPr sz="825">
              <a:solidFill>
                <a:schemeClr val="dk1"/>
              </a:solidFill>
              <a:latin typeface="Courier New"/>
              <a:ea typeface="Courier New"/>
              <a:cs typeface="Courier New"/>
              <a:sym typeface="Courier New"/>
            </a:endParaRPr>
          </a:p>
          <a:p>
            <a:pPr marL="0" lvl="0" indent="0" algn="l" rtl="0">
              <a:lnSpc>
                <a:spcPct val="130000"/>
              </a:lnSpc>
              <a:spcBef>
                <a:spcPts val="0"/>
              </a:spcBef>
              <a:spcAft>
                <a:spcPts val="0"/>
              </a:spcAft>
              <a:buNone/>
            </a:pPr>
            <a:r>
              <a:rPr lang="en-GB" sz="825">
                <a:solidFill>
                  <a:schemeClr val="dk1"/>
                </a:solidFill>
                <a:latin typeface="Courier New"/>
                <a:ea typeface="Courier New"/>
                <a:cs typeface="Courier New"/>
                <a:sym typeface="Courier New"/>
              </a:rPr>
              <a:t>                   </a:t>
            </a:r>
            <a:r>
              <a:rPr lang="en-GB" sz="825">
                <a:solidFill>
                  <a:srgbClr val="0451A5"/>
                </a:solidFill>
                <a:latin typeface="Courier New"/>
                <a:ea typeface="Courier New"/>
                <a:cs typeface="Courier New"/>
                <a:sym typeface="Courier New"/>
              </a:rPr>
              <a:t>"They like to do things by themselves."</a:t>
            </a:r>
            <a:endParaRPr sz="825">
              <a:solidFill>
                <a:srgbClr val="0451A5"/>
              </a:solidFill>
              <a:latin typeface="Courier New"/>
              <a:ea typeface="Courier New"/>
              <a:cs typeface="Courier New"/>
              <a:sym typeface="Courier New"/>
            </a:endParaRPr>
          </a:p>
          <a:p>
            <a:pPr marL="0" lvl="0" indent="0" algn="l" rtl="0">
              <a:lnSpc>
                <a:spcPct val="130000"/>
              </a:lnSpc>
              <a:spcBef>
                <a:spcPts val="0"/>
              </a:spcBef>
              <a:spcAft>
                <a:spcPts val="0"/>
              </a:spcAft>
              <a:buNone/>
            </a:pPr>
            <a:r>
              <a:rPr lang="en-GB" sz="825">
                <a:solidFill>
                  <a:schemeClr val="dk1"/>
                </a:solidFill>
                <a:latin typeface="Courier New"/>
                <a:ea typeface="Courier New"/>
                <a:cs typeface="Courier New"/>
                <a:sym typeface="Courier New"/>
              </a:rPr>
              <a:t>                   ],</a:t>
            </a:r>
            <a:endParaRPr sz="825">
              <a:solidFill>
                <a:schemeClr val="dk1"/>
              </a:solidFill>
              <a:latin typeface="Courier New"/>
              <a:ea typeface="Courier New"/>
              <a:cs typeface="Courier New"/>
              <a:sym typeface="Courier New"/>
            </a:endParaRPr>
          </a:p>
          <a:p>
            <a:pPr marL="0" lvl="0" indent="0" algn="l" rtl="0">
              <a:lnSpc>
                <a:spcPct val="130000"/>
              </a:lnSpc>
              <a:spcBef>
                <a:spcPts val="0"/>
              </a:spcBef>
              <a:spcAft>
                <a:spcPts val="0"/>
              </a:spcAft>
              <a:buNone/>
            </a:pPr>
            <a:r>
              <a:rPr lang="en-GB" sz="825">
                <a:solidFill>
                  <a:schemeClr val="dk1"/>
                </a:solidFill>
                <a:latin typeface="Courier New"/>
                <a:ea typeface="Courier New"/>
                <a:cs typeface="Courier New"/>
                <a:sym typeface="Courier New"/>
              </a:rPr>
              <a:t>   </a:t>
            </a:r>
            <a:r>
              <a:rPr lang="en-GB" sz="825">
                <a:solidFill>
                  <a:srgbClr val="A31515"/>
                </a:solidFill>
                <a:latin typeface="Courier New"/>
                <a:ea typeface="Courier New"/>
                <a:cs typeface="Courier New"/>
                <a:sym typeface="Courier New"/>
              </a:rPr>
              <a:t>"personalized_email_subject"</a:t>
            </a:r>
            <a:r>
              <a:rPr lang="en-GB" sz="825">
                <a:solidFill>
                  <a:schemeClr val="dk1"/>
                </a:solidFill>
                <a:latin typeface="Courier New"/>
                <a:ea typeface="Courier New"/>
                <a:cs typeface="Courier New"/>
                <a:sym typeface="Courier New"/>
              </a:rPr>
              <a:t>: </a:t>
            </a:r>
            <a:r>
              <a:rPr lang="en-GB" sz="825">
                <a:solidFill>
                  <a:srgbClr val="0451A5"/>
                </a:solidFill>
                <a:latin typeface="Courier New"/>
                <a:ea typeface="Courier New"/>
                <a:cs typeface="Courier New"/>
                <a:sym typeface="Courier New"/>
              </a:rPr>
              <a:t>"&lt;role_name&gt; role that would move your career graph up"</a:t>
            </a:r>
            <a:r>
              <a:rPr lang="en-GB" sz="825">
                <a:solidFill>
                  <a:schemeClr val="dk1"/>
                </a:solidFill>
                <a:latin typeface="Courier New"/>
                <a:ea typeface="Courier New"/>
                <a:cs typeface="Courier New"/>
                <a:sym typeface="Courier New"/>
              </a:rPr>
              <a:t>,</a:t>
            </a:r>
            <a:endParaRPr sz="825">
              <a:solidFill>
                <a:schemeClr val="dk1"/>
              </a:solidFill>
              <a:latin typeface="Courier New"/>
              <a:ea typeface="Courier New"/>
              <a:cs typeface="Courier New"/>
              <a:sym typeface="Courier New"/>
            </a:endParaRPr>
          </a:p>
          <a:p>
            <a:pPr marL="0" lvl="0" indent="0" algn="l" rtl="0">
              <a:lnSpc>
                <a:spcPct val="130000"/>
              </a:lnSpc>
              <a:spcBef>
                <a:spcPts val="0"/>
              </a:spcBef>
              <a:spcAft>
                <a:spcPts val="0"/>
              </a:spcAft>
              <a:buNone/>
            </a:pPr>
            <a:r>
              <a:rPr lang="en-GB" sz="825">
                <a:solidFill>
                  <a:schemeClr val="dk1"/>
                </a:solidFill>
                <a:latin typeface="Courier New"/>
                <a:ea typeface="Courier New"/>
                <a:cs typeface="Courier New"/>
                <a:sym typeface="Courier New"/>
              </a:rPr>
              <a:t>   </a:t>
            </a:r>
            <a:r>
              <a:rPr lang="en-GB" sz="825">
                <a:solidFill>
                  <a:srgbClr val="A31515"/>
                </a:solidFill>
                <a:latin typeface="Courier New"/>
                <a:ea typeface="Courier New"/>
                <a:cs typeface="Courier New"/>
                <a:sym typeface="Courier New"/>
              </a:rPr>
              <a:t>"adjectives"</a:t>
            </a:r>
            <a:r>
              <a:rPr lang="en-GB" sz="825">
                <a:solidFill>
                  <a:schemeClr val="dk1"/>
                </a:solidFill>
                <a:latin typeface="Courier New"/>
                <a:ea typeface="Courier New"/>
                <a:cs typeface="Courier New"/>
                <a:sym typeface="Courier New"/>
              </a:rPr>
              <a:t>: [</a:t>
            </a:r>
            <a:endParaRPr sz="825">
              <a:solidFill>
                <a:schemeClr val="dk1"/>
              </a:solidFill>
              <a:latin typeface="Courier New"/>
              <a:ea typeface="Courier New"/>
              <a:cs typeface="Courier New"/>
              <a:sym typeface="Courier New"/>
            </a:endParaRPr>
          </a:p>
          <a:p>
            <a:pPr marL="0" lvl="0" indent="0" algn="l" rtl="0">
              <a:lnSpc>
                <a:spcPct val="130000"/>
              </a:lnSpc>
              <a:spcBef>
                <a:spcPts val="0"/>
              </a:spcBef>
              <a:spcAft>
                <a:spcPts val="0"/>
              </a:spcAft>
              <a:buNone/>
            </a:pPr>
            <a:r>
              <a:rPr lang="en-GB" sz="825">
                <a:solidFill>
                  <a:schemeClr val="dk1"/>
                </a:solidFill>
                <a:latin typeface="Courier New"/>
                <a:ea typeface="Courier New"/>
                <a:cs typeface="Courier New"/>
                <a:sym typeface="Courier New"/>
              </a:rPr>
              <a:t>                  </a:t>
            </a:r>
            <a:r>
              <a:rPr lang="en-GB" sz="825">
                <a:solidFill>
                  <a:srgbClr val="0451A5"/>
                </a:solidFill>
                <a:latin typeface="Courier New"/>
                <a:ea typeface="Courier New"/>
                <a:cs typeface="Courier New"/>
                <a:sym typeface="Courier New"/>
              </a:rPr>
              <a:t>"Analytical"</a:t>
            </a:r>
            <a:r>
              <a:rPr lang="en-GB" sz="825">
                <a:solidFill>
                  <a:schemeClr val="dk1"/>
                </a:solidFill>
                <a:latin typeface="Courier New"/>
                <a:ea typeface="Courier New"/>
                <a:cs typeface="Courier New"/>
                <a:sym typeface="Courier New"/>
              </a:rPr>
              <a:t>,</a:t>
            </a:r>
            <a:endParaRPr sz="825">
              <a:solidFill>
                <a:schemeClr val="dk1"/>
              </a:solidFill>
              <a:latin typeface="Courier New"/>
              <a:ea typeface="Courier New"/>
              <a:cs typeface="Courier New"/>
              <a:sym typeface="Courier New"/>
            </a:endParaRPr>
          </a:p>
          <a:p>
            <a:pPr marL="0" lvl="0" indent="0" algn="l" rtl="0">
              <a:lnSpc>
                <a:spcPct val="130000"/>
              </a:lnSpc>
              <a:spcBef>
                <a:spcPts val="0"/>
              </a:spcBef>
              <a:spcAft>
                <a:spcPts val="0"/>
              </a:spcAft>
              <a:buNone/>
            </a:pPr>
            <a:r>
              <a:rPr lang="en-GB" sz="825">
                <a:solidFill>
                  <a:schemeClr val="dk1"/>
                </a:solidFill>
                <a:latin typeface="Courier New"/>
                <a:ea typeface="Courier New"/>
                <a:cs typeface="Courier New"/>
                <a:sym typeface="Courier New"/>
              </a:rPr>
              <a:t>                  </a:t>
            </a:r>
            <a:r>
              <a:rPr lang="en-GB" sz="825">
                <a:solidFill>
                  <a:srgbClr val="0451A5"/>
                </a:solidFill>
                <a:latin typeface="Courier New"/>
                <a:ea typeface="Courier New"/>
                <a:cs typeface="Courier New"/>
                <a:sym typeface="Courier New"/>
              </a:rPr>
              <a:t>"Objective Thinker"</a:t>
            </a:r>
            <a:r>
              <a:rPr lang="en-GB" sz="825">
                <a:solidFill>
                  <a:schemeClr val="dk1"/>
                </a:solidFill>
                <a:latin typeface="Courier New"/>
                <a:ea typeface="Courier New"/>
                <a:cs typeface="Courier New"/>
                <a:sym typeface="Courier New"/>
              </a:rPr>
              <a:t>,</a:t>
            </a:r>
            <a:endParaRPr sz="825">
              <a:solidFill>
                <a:schemeClr val="dk1"/>
              </a:solidFill>
              <a:latin typeface="Courier New"/>
              <a:ea typeface="Courier New"/>
              <a:cs typeface="Courier New"/>
              <a:sym typeface="Courier New"/>
            </a:endParaRPr>
          </a:p>
          <a:p>
            <a:pPr marL="0" lvl="0" indent="0" algn="l" rtl="0">
              <a:lnSpc>
                <a:spcPct val="130000"/>
              </a:lnSpc>
              <a:spcBef>
                <a:spcPts val="0"/>
              </a:spcBef>
              <a:spcAft>
                <a:spcPts val="0"/>
              </a:spcAft>
              <a:buNone/>
            </a:pPr>
            <a:r>
              <a:rPr lang="en-GB" sz="825">
                <a:solidFill>
                  <a:schemeClr val="dk1"/>
                </a:solidFill>
                <a:latin typeface="Courier New"/>
                <a:ea typeface="Courier New"/>
                <a:cs typeface="Courier New"/>
                <a:sym typeface="Courier New"/>
              </a:rPr>
              <a:t>                  </a:t>
            </a:r>
            <a:r>
              <a:rPr lang="en-GB" sz="825">
                <a:solidFill>
                  <a:srgbClr val="0451A5"/>
                </a:solidFill>
                <a:latin typeface="Courier New"/>
                <a:ea typeface="Courier New"/>
                <a:cs typeface="Courier New"/>
                <a:sym typeface="Courier New"/>
              </a:rPr>
              <a:t>"Quality Focused"</a:t>
            </a:r>
            <a:endParaRPr sz="825">
              <a:solidFill>
                <a:srgbClr val="0451A5"/>
              </a:solidFill>
              <a:latin typeface="Courier New"/>
              <a:ea typeface="Courier New"/>
              <a:cs typeface="Courier New"/>
              <a:sym typeface="Courier New"/>
            </a:endParaRPr>
          </a:p>
          <a:p>
            <a:pPr marL="0" lvl="0" indent="0" algn="l" rtl="0">
              <a:lnSpc>
                <a:spcPct val="130000"/>
              </a:lnSpc>
              <a:spcBef>
                <a:spcPts val="0"/>
              </a:spcBef>
              <a:spcAft>
                <a:spcPts val="0"/>
              </a:spcAft>
              <a:buNone/>
            </a:pPr>
            <a:r>
              <a:rPr lang="en-GB" sz="825">
                <a:solidFill>
                  <a:schemeClr val="dk1"/>
                </a:solidFill>
                <a:latin typeface="Courier New"/>
                <a:ea typeface="Courier New"/>
                <a:cs typeface="Courier New"/>
                <a:sym typeface="Courier New"/>
              </a:rPr>
              <a:t>                  ]</a:t>
            </a:r>
            <a:endParaRPr sz="1300"/>
          </a:p>
        </p:txBody>
      </p:sp>
      <p:sp>
        <p:nvSpPr>
          <p:cNvPr id="354" name="Google Shape;354;p34"/>
          <p:cNvSpPr/>
          <p:nvPr/>
        </p:nvSpPr>
        <p:spPr>
          <a:xfrm>
            <a:off x="0" y="120875"/>
            <a:ext cx="5041200" cy="402600"/>
          </a:xfrm>
          <a:prstGeom prst="rect">
            <a:avLst/>
          </a:prstGeom>
          <a:gradFill>
            <a:gsLst>
              <a:gs pos="0">
                <a:srgbClr val="00C0F3"/>
              </a:gs>
              <a:gs pos="100000">
                <a:srgbClr val="008E4E"/>
              </a:gs>
            </a:gsLst>
            <a:lin ang="270000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Lucida Sans"/>
              <a:ea typeface="Lucida Sans"/>
              <a:cs typeface="Lucida Sans"/>
              <a:sym typeface="Lucida Sans"/>
            </a:endParaRPr>
          </a:p>
        </p:txBody>
      </p:sp>
      <p:sp>
        <p:nvSpPr>
          <p:cNvPr id="355" name="Google Shape;355;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18</a:t>
            </a:fld>
            <a:endParaRPr/>
          </a:p>
        </p:txBody>
      </p:sp>
      <p:sp>
        <p:nvSpPr>
          <p:cNvPr id="356" name="Google Shape;356;p34"/>
          <p:cNvSpPr txBox="1">
            <a:spLocks noGrp="1"/>
          </p:cNvSpPr>
          <p:nvPr>
            <p:ph type="title"/>
          </p:nvPr>
        </p:nvSpPr>
        <p:spPr>
          <a:xfrm>
            <a:off x="311700" y="73175"/>
            <a:ext cx="4944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sz="2222"/>
              <a:t>AIaaS for Human Resources Functions</a:t>
            </a:r>
            <a:endParaRPr sz="2222"/>
          </a:p>
        </p:txBody>
      </p:sp>
      <p:pic>
        <p:nvPicPr>
          <p:cNvPr id="357" name="Google Shape;357;p34"/>
          <p:cNvPicPr preferRelativeResize="0"/>
          <p:nvPr/>
        </p:nvPicPr>
        <p:blipFill rotWithShape="1">
          <a:blip r:embed="rId3">
            <a:alphaModFix/>
          </a:blip>
          <a:srcRect/>
          <a:stretch/>
        </p:blipFill>
        <p:spPr>
          <a:xfrm>
            <a:off x="3988050" y="760500"/>
            <a:ext cx="3562303" cy="498150"/>
          </a:xfrm>
          <a:prstGeom prst="rect">
            <a:avLst/>
          </a:prstGeom>
          <a:noFill/>
          <a:ln>
            <a:noFill/>
          </a:ln>
        </p:spPr>
      </p:pic>
      <p:pic>
        <p:nvPicPr>
          <p:cNvPr id="358" name="Google Shape;358;p34"/>
          <p:cNvPicPr preferRelativeResize="0"/>
          <p:nvPr/>
        </p:nvPicPr>
        <p:blipFill rotWithShape="1">
          <a:blip r:embed="rId4">
            <a:alphaModFix/>
          </a:blip>
          <a:srcRect/>
          <a:stretch/>
        </p:blipFill>
        <p:spPr>
          <a:xfrm>
            <a:off x="407300" y="1137275"/>
            <a:ext cx="944739" cy="498150"/>
          </a:xfrm>
          <a:prstGeom prst="rect">
            <a:avLst/>
          </a:prstGeom>
          <a:noFill/>
          <a:ln>
            <a:noFill/>
          </a:ln>
        </p:spPr>
      </p:pic>
      <p:pic>
        <p:nvPicPr>
          <p:cNvPr id="359" name="Google Shape;359;p34"/>
          <p:cNvPicPr preferRelativeResize="0"/>
          <p:nvPr/>
        </p:nvPicPr>
        <p:blipFill rotWithShape="1">
          <a:blip r:embed="rId5">
            <a:alphaModFix/>
          </a:blip>
          <a:srcRect/>
          <a:stretch/>
        </p:blipFill>
        <p:spPr>
          <a:xfrm>
            <a:off x="407300" y="2557825"/>
            <a:ext cx="2583552" cy="642100"/>
          </a:xfrm>
          <a:prstGeom prst="rect">
            <a:avLst/>
          </a:prstGeom>
          <a:noFill/>
          <a:ln>
            <a:noFill/>
          </a:ln>
        </p:spPr>
      </p:pic>
      <p:pic>
        <p:nvPicPr>
          <p:cNvPr id="360" name="Google Shape;360;p34"/>
          <p:cNvPicPr preferRelativeResize="0"/>
          <p:nvPr/>
        </p:nvPicPr>
        <p:blipFill rotWithShape="1">
          <a:blip r:embed="rId6">
            <a:alphaModFix/>
          </a:blip>
          <a:srcRect/>
          <a:stretch/>
        </p:blipFill>
        <p:spPr>
          <a:xfrm>
            <a:off x="1124070" y="3481800"/>
            <a:ext cx="2635704" cy="572701"/>
          </a:xfrm>
          <a:prstGeom prst="rect">
            <a:avLst/>
          </a:prstGeom>
          <a:noFill/>
          <a:ln>
            <a:noFill/>
          </a:ln>
        </p:spPr>
      </p:pic>
      <p:pic>
        <p:nvPicPr>
          <p:cNvPr id="361" name="Google Shape;361;p34"/>
          <p:cNvPicPr preferRelativeResize="0"/>
          <p:nvPr/>
        </p:nvPicPr>
        <p:blipFill rotWithShape="1">
          <a:blip r:embed="rId7">
            <a:alphaModFix/>
          </a:blip>
          <a:srcRect/>
          <a:stretch/>
        </p:blipFill>
        <p:spPr>
          <a:xfrm>
            <a:off x="1294700" y="1709975"/>
            <a:ext cx="2583552" cy="773296"/>
          </a:xfrm>
          <a:prstGeom prst="rect">
            <a:avLst/>
          </a:prstGeom>
          <a:noFill/>
          <a:ln>
            <a:noFill/>
          </a:ln>
        </p:spPr>
      </p:pic>
      <p:sp>
        <p:nvSpPr>
          <p:cNvPr id="362" name="Google Shape;362;p34"/>
          <p:cNvSpPr txBox="1"/>
          <p:nvPr/>
        </p:nvSpPr>
        <p:spPr>
          <a:xfrm>
            <a:off x="4070925" y="1441700"/>
            <a:ext cx="48168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200" b="1">
                <a:latin typeface="Roboto"/>
                <a:ea typeface="Roboto"/>
                <a:cs typeface="Roboto"/>
                <a:sym typeface="Roboto"/>
              </a:rPr>
              <a:t>Snipped Output from Humantic AI’s Predictive Personality Insights</a:t>
            </a:r>
            <a:endParaRPr sz="1200" b="1">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35"/>
          <p:cNvSpPr/>
          <p:nvPr/>
        </p:nvSpPr>
        <p:spPr>
          <a:xfrm>
            <a:off x="0" y="120875"/>
            <a:ext cx="4222200" cy="402600"/>
          </a:xfrm>
          <a:prstGeom prst="rect">
            <a:avLst/>
          </a:prstGeom>
          <a:gradFill>
            <a:gsLst>
              <a:gs pos="0">
                <a:srgbClr val="00C0F3"/>
              </a:gs>
              <a:gs pos="100000">
                <a:srgbClr val="008E4E"/>
              </a:gs>
            </a:gsLst>
            <a:lin ang="270000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Lucida Sans"/>
              <a:ea typeface="Lucida Sans"/>
              <a:cs typeface="Lucida Sans"/>
              <a:sym typeface="Lucida Sans"/>
            </a:endParaRPr>
          </a:p>
        </p:txBody>
      </p:sp>
      <p:sp>
        <p:nvSpPr>
          <p:cNvPr id="368" name="Google Shape;368;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19</a:t>
            </a:fld>
            <a:endParaRPr/>
          </a:p>
        </p:txBody>
      </p:sp>
      <p:sp>
        <p:nvSpPr>
          <p:cNvPr id="369" name="Google Shape;369;p35"/>
          <p:cNvSpPr txBox="1">
            <a:spLocks noGrp="1"/>
          </p:cNvSpPr>
          <p:nvPr>
            <p:ph type="title"/>
          </p:nvPr>
        </p:nvSpPr>
        <p:spPr>
          <a:xfrm>
            <a:off x="311700" y="73175"/>
            <a:ext cx="39105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Unleashing OpenAI’s GPT-3 API</a:t>
            </a:r>
            <a:endParaRPr/>
          </a:p>
        </p:txBody>
      </p:sp>
      <p:pic>
        <p:nvPicPr>
          <p:cNvPr id="370" name="Google Shape;370;p35"/>
          <p:cNvPicPr preferRelativeResize="0"/>
          <p:nvPr/>
        </p:nvPicPr>
        <p:blipFill rotWithShape="1">
          <a:blip r:embed="rId3">
            <a:alphaModFix/>
          </a:blip>
          <a:srcRect l="24368" t="14121" r="24831" b="6228"/>
          <a:stretch/>
        </p:blipFill>
        <p:spPr>
          <a:xfrm>
            <a:off x="521350" y="1003150"/>
            <a:ext cx="4027351" cy="3551651"/>
          </a:xfrm>
          <a:prstGeom prst="rect">
            <a:avLst/>
          </a:prstGeom>
          <a:noFill/>
          <a:ln>
            <a:noFill/>
          </a:ln>
        </p:spPr>
      </p:pic>
      <p:pic>
        <p:nvPicPr>
          <p:cNvPr id="371" name="Google Shape;371;p35"/>
          <p:cNvPicPr preferRelativeResize="0"/>
          <p:nvPr/>
        </p:nvPicPr>
        <p:blipFill rotWithShape="1">
          <a:blip r:embed="rId4">
            <a:alphaModFix/>
          </a:blip>
          <a:srcRect/>
          <a:stretch/>
        </p:blipFill>
        <p:spPr>
          <a:xfrm>
            <a:off x="4743875" y="921188"/>
            <a:ext cx="2976708" cy="2961144"/>
          </a:xfrm>
          <a:prstGeom prst="rect">
            <a:avLst/>
          </a:prstGeom>
          <a:noFill/>
          <a:ln>
            <a:noFill/>
          </a:ln>
        </p:spPr>
      </p:pic>
      <p:pic>
        <p:nvPicPr>
          <p:cNvPr id="372" name="Google Shape;372;p35"/>
          <p:cNvPicPr preferRelativeResize="0"/>
          <p:nvPr/>
        </p:nvPicPr>
        <p:blipFill rotWithShape="1">
          <a:blip r:embed="rId5">
            <a:alphaModFix/>
          </a:blip>
          <a:srcRect/>
          <a:stretch/>
        </p:blipFill>
        <p:spPr>
          <a:xfrm>
            <a:off x="6155518" y="1581372"/>
            <a:ext cx="2205732" cy="305539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36"/>
          <p:cNvSpPr/>
          <p:nvPr/>
        </p:nvSpPr>
        <p:spPr>
          <a:xfrm>
            <a:off x="0" y="120875"/>
            <a:ext cx="4724100" cy="402600"/>
          </a:xfrm>
          <a:prstGeom prst="rect">
            <a:avLst/>
          </a:prstGeom>
          <a:gradFill>
            <a:gsLst>
              <a:gs pos="0">
                <a:srgbClr val="00C0F3"/>
              </a:gs>
              <a:gs pos="100000">
                <a:srgbClr val="008E4E"/>
              </a:gs>
            </a:gsLst>
            <a:lin ang="270000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Lucida Sans"/>
              <a:ea typeface="Lucida Sans"/>
              <a:cs typeface="Lucida Sans"/>
              <a:sym typeface="Lucida Sans"/>
            </a:endParaRPr>
          </a:p>
        </p:txBody>
      </p:sp>
      <p:sp>
        <p:nvSpPr>
          <p:cNvPr id="378" name="Google Shape;378;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20</a:t>
            </a:fld>
            <a:endParaRPr/>
          </a:p>
        </p:txBody>
      </p:sp>
      <p:sp>
        <p:nvSpPr>
          <p:cNvPr id="379" name="Google Shape;379;p36"/>
          <p:cNvSpPr txBox="1">
            <a:spLocks noGrp="1"/>
          </p:cNvSpPr>
          <p:nvPr>
            <p:ph type="title"/>
          </p:nvPr>
        </p:nvSpPr>
        <p:spPr>
          <a:xfrm>
            <a:off x="311700" y="73175"/>
            <a:ext cx="48513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Accessibility of OpenAI’s GPT-3 API</a:t>
            </a:r>
            <a:endParaRPr/>
          </a:p>
        </p:txBody>
      </p:sp>
      <p:graphicFrame>
        <p:nvGraphicFramePr>
          <p:cNvPr id="380" name="Google Shape;380;p36"/>
          <p:cNvGraphicFramePr/>
          <p:nvPr/>
        </p:nvGraphicFramePr>
        <p:xfrm>
          <a:off x="996563" y="1153809"/>
          <a:ext cx="7621150" cy="2346990"/>
        </p:xfrm>
        <a:graphic>
          <a:graphicData uri="http://schemas.openxmlformats.org/drawingml/2006/table">
            <a:tbl>
              <a:tblPr firstRow="1" bandRow="1">
                <a:noFill/>
                <a:tableStyleId>{9D70376C-22F1-4591-8C6C-46443B58317D}</a:tableStyleId>
              </a:tblPr>
              <a:tblGrid>
                <a:gridCol w="1476525">
                  <a:extLst>
                    <a:ext uri="{9D8B030D-6E8A-4147-A177-3AD203B41FA5}">
                      <a16:colId xmlns:a16="http://schemas.microsoft.com/office/drawing/2014/main" val="20000"/>
                    </a:ext>
                  </a:extLst>
                </a:gridCol>
                <a:gridCol w="1644125">
                  <a:extLst>
                    <a:ext uri="{9D8B030D-6E8A-4147-A177-3AD203B41FA5}">
                      <a16:colId xmlns:a16="http://schemas.microsoft.com/office/drawing/2014/main" val="20001"/>
                    </a:ext>
                  </a:extLst>
                </a:gridCol>
                <a:gridCol w="2166150">
                  <a:extLst>
                    <a:ext uri="{9D8B030D-6E8A-4147-A177-3AD203B41FA5}">
                      <a16:colId xmlns:a16="http://schemas.microsoft.com/office/drawing/2014/main" val="20002"/>
                    </a:ext>
                  </a:extLst>
                </a:gridCol>
                <a:gridCol w="2334350">
                  <a:extLst>
                    <a:ext uri="{9D8B030D-6E8A-4147-A177-3AD203B41FA5}">
                      <a16:colId xmlns:a16="http://schemas.microsoft.com/office/drawing/2014/main" val="20003"/>
                    </a:ext>
                  </a:extLst>
                </a:gridCol>
              </a:tblGrid>
              <a:tr h="192950">
                <a:tc>
                  <a:txBody>
                    <a:bodyPr/>
                    <a:lstStyle/>
                    <a:p>
                      <a:pPr marL="0" marR="0" lvl="0" indent="0" algn="ctr" rtl="0">
                        <a:lnSpc>
                          <a:spcPct val="100000"/>
                        </a:lnSpc>
                        <a:spcBef>
                          <a:spcPts val="0"/>
                        </a:spcBef>
                        <a:spcAft>
                          <a:spcPts val="0"/>
                        </a:spcAft>
                        <a:buClr>
                          <a:srgbClr val="000000"/>
                        </a:buClr>
                        <a:buSzPts val="2000"/>
                        <a:buFont typeface="Arial"/>
                        <a:buNone/>
                      </a:pPr>
                      <a:r>
                        <a:rPr lang="en-GB" sz="1900" u="none" strike="noStrike" cap="none">
                          <a:latin typeface="Roboto"/>
                          <a:ea typeface="Roboto"/>
                          <a:cs typeface="Roboto"/>
                          <a:sym typeface="Roboto"/>
                        </a:rPr>
                        <a:t>Resource</a:t>
                      </a:r>
                      <a:endParaRPr sz="1300" u="none" strike="noStrike" cap="none">
                        <a:solidFill>
                          <a:srgbClr val="0095AF"/>
                        </a:solidFill>
                        <a:latin typeface="Roboto"/>
                        <a:ea typeface="Roboto"/>
                        <a:cs typeface="Roboto"/>
                        <a:sym typeface="Roboto"/>
                      </a:endParaRPr>
                    </a:p>
                  </a:txBody>
                  <a:tcPr marL="71875" marR="71875" marT="35925" marB="35925" anchor="ctr">
                    <a:solidFill>
                      <a:srgbClr val="11648E"/>
                    </a:solidFill>
                  </a:tcPr>
                </a:tc>
                <a:tc>
                  <a:txBody>
                    <a:bodyPr/>
                    <a:lstStyle/>
                    <a:p>
                      <a:pPr marL="0" marR="0" lvl="0" indent="0" algn="ctr" rtl="0">
                        <a:lnSpc>
                          <a:spcPct val="100000"/>
                        </a:lnSpc>
                        <a:spcBef>
                          <a:spcPts val="0"/>
                        </a:spcBef>
                        <a:spcAft>
                          <a:spcPts val="0"/>
                        </a:spcAft>
                        <a:buClr>
                          <a:srgbClr val="000000"/>
                        </a:buClr>
                        <a:buSzPts val="2000"/>
                        <a:buFont typeface="Arial"/>
                        <a:buNone/>
                      </a:pPr>
                      <a:r>
                        <a:rPr lang="en-GB" sz="1900" u="none" strike="noStrike" cap="none">
                          <a:latin typeface="Roboto"/>
                          <a:ea typeface="Roboto"/>
                          <a:cs typeface="Roboto"/>
                          <a:sym typeface="Roboto"/>
                        </a:rPr>
                        <a:t>GPT-2</a:t>
                      </a:r>
                      <a:endParaRPr sz="1300" u="none" strike="noStrike" cap="none">
                        <a:latin typeface="Roboto"/>
                        <a:ea typeface="Roboto"/>
                        <a:cs typeface="Roboto"/>
                        <a:sym typeface="Roboto"/>
                      </a:endParaRPr>
                    </a:p>
                  </a:txBody>
                  <a:tcPr marL="71875" marR="71875" marT="35925" marB="35925" anchor="ctr">
                    <a:solidFill>
                      <a:srgbClr val="11648E"/>
                    </a:solidFill>
                  </a:tcPr>
                </a:tc>
                <a:tc>
                  <a:txBody>
                    <a:bodyPr/>
                    <a:lstStyle/>
                    <a:p>
                      <a:pPr marL="0" marR="0" lvl="0" indent="0" algn="ctr" rtl="0">
                        <a:lnSpc>
                          <a:spcPct val="100000"/>
                        </a:lnSpc>
                        <a:spcBef>
                          <a:spcPts val="0"/>
                        </a:spcBef>
                        <a:spcAft>
                          <a:spcPts val="0"/>
                        </a:spcAft>
                        <a:buClr>
                          <a:srgbClr val="000000"/>
                        </a:buClr>
                        <a:buSzPts val="2000"/>
                        <a:buFont typeface="Arial"/>
                        <a:buNone/>
                      </a:pPr>
                      <a:r>
                        <a:rPr lang="en-GB" sz="1900" u="none" strike="noStrike" cap="none">
                          <a:latin typeface="Roboto"/>
                          <a:ea typeface="Roboto"/>
                          <a:cs typeface="Roboto"/>
                          <a:sym typeface="Roboto"/>
                        </a:rPr>
                        <a:t>GPT-3</a:t>
                      </a:r>
                      <a:endParaRPr sz="1900" u="none" strike="noStrike" cap="none">
                        <a:latin typeface="Roboto"/>
                        <a:ea typeface="Roboto"/>
                        <a:cs typeface="Roboto"/>
                        <a:sym typeface="Roboto"/>
                      </a:endParaRPr>
                    </a:p>
                  </a:txBody>
                  <a:tcPr marL="71875" marR="71875" marT="35925" marB="35925" anchor="ctr">
                    <a:solidFill>
                      <a:srgbClr val="11648E"/>
                    </a:solidFill>
                  </a:tcPr>
                </a:tc>
                <a:tc>
                  <a:txBody>
                    <a:bodyPr/>
                    <a:lstStyle/>
                    <a:p>
                      <a:pPr marL="0" marR="0" lvl="0" indent="0" algn="ctr" rtl="0">
                        <a:lnSpc>
                          <a:spcPct val="100000"/>
                        </a:lnSpc>
                        <a:spcBef>
                          <a:spcPts val="0"/>
                        </a:spcBef>
                        <a:spcAft>
                          <a:spcPts val="0"/>
                        </a:spcAft>
                        <a:buClr>
                          <a:srgbClr val="000000"/>
                        </a:buClr>
                        <a:buSzPts val="2000"/>
                        <a:buFont typeface="Arial"/>
                        <a:buNone/>
                      </a:pPr>
                      <a:r>
                        <a:rPr lang="en-GB" sz="1900">
                          <a:latin typeface="Roboto"/>
                          <a:ea typeface="Roboto"/>
                          <a:cs typeface="Roboto"/>
                          <a:sym typeface="Roboto"/>
                        </a:rPr>
                        <a:t>OpenAI’s </a:t>
                      </a:r>
                      <a:r>
                        <a:rPr lang="en-GB" sz="1900" u="none" strike="noStrike" cap="none">
                          <a:latin typeface="Roboto"/>
                          <a:ea typeface="Roboto"/>
                          <a:cs typeface="Roboto"/>
                          <a:sym typeface="Roboto"/>
                        </a:rPr>
                        <a:t>GPT-3 API</a:t>
                      </a:r>
                      <a:endParaRPr sz="1900" u="none" strike="noStrike" cap="none">
                        <a:latin typeface="Roboto"/>
                        <a:ea typeface="Roboto"/>
                        <a:cs typeface="Roboto"/>
                        <a:sym typeface="Roboto"/>
                      </a:endParaRPr>
                    </a:p>
                  </a:txBody>
                  <a:tcPr marL="71875" marR="71875" marT="35925" marB="35925" anchor="ctr">
                    <a:solidFill>
                      <a:srgbClr val="11648E"/>
                    </a:solidFill>
                  </a:tcPr>
                </a:tc>
                <a:extLst>
                  <a:ext uri="{0D108BD9-81ED-4DB2-BD59-A6C34878D82A}">
                    <a16:rowId xmlns:a16="http://schemas.microsoft.com/office/drawing/2014/main" val="10000"/>
                  </a:ext>
                </a:extLst>
              </a:tr>
              <a:tr h="98100">
                <a:tc>
                  <a:txBody>
                    <a:bodyPr/>
                    <a:lstStyle/>
                    <a:p>
                      <a:pPr marL="0" marR="0" lvl="0" indent="0" algn="ctr" rtl="0">
                        <a:lnSpc>
                          <a:spcPct val="100000"/>
                        </a:lnSpc>
                        <a:spcBef>
                          <a:spcPts val="0"/>
                        </a:spcBef>
                        <a:spcAft>
                          <a:spcPts val="0"/>
                        </a:spcAft>
                        <a:buClr>
                          <a:srgbClr val="000000"/>
                        </a:buClr>
                        <a:buSzPts val="1800"/>
                        <a:buFont typeface="Arial"/>
                        <a:buNone/>
                      </a:pPr>
                      <a:r>
                        <a:rPr lang="en-GB" sz="1700" u="none" strike="noStrike" cap="none">
                          <a:solidFill>
                            <a:srgbClr val="767677"/>
                          </a:solidFill>
                          <a:latin typeface="Roboto"/>
                          <a:ea typeface="Roboto"/>
                          <a:cs typeface="Roboto"/>
                          <a:sym typeface="Roboto"/>
                        </a:rPr>
                        <a:t>Time</a:t>
                      </a:r>
                      <a:endParaRPr sz="1300" u="none" strike="noStrike" cap="none">
                        <a:latin typeface="Roboto"/>
                        <a:ea typeface="Roboto"/>
                        <a:cs typeface="Roboto"/>
                        <a:sym typeface="Roboto"/>
                      </a:endParaRPr>
                    </a:p>
                  </a:txBody>
                  <a:tcPr marL="71875" marR="71875" marT="35925" marB="35925" anchor="ctr">
                    <a:solidFill>
                      <a:srgbClr val="F2F2F2"/>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GB" sz="1700" u="none" strike="noStrike" cap="none">
                          <a:solidFill>
                            <a:srgbClr val="767677"/>
                          </a:solidFill>
                          <a:latin typeface="Roboto"/>
                          <a:ea typeface="Roboto"/>
                          <a:cs typeface="Roboto"/>
                          <a:sym typeface="Roboto"/>
                        </a:rPr>
                        <a:t>1+ weeks</a:t>
                      </a:r>
                      <a:endParaRPr sz="1300" u="none" strike="noStrike" cap="none">
                        <a:latin typeface="Roboto"/>
                        <a:ea typeface="Roboto"/>
                        <a:cs typeface="Roboto"/>
                        <a:sym typeface="Roboto"/>
                      </a:endParaRPr>
                    </a:p>
                  </a:txBody>
                  <a:tcPr marL="71875" marR="71875" marT="35925" marB="35925" anchor="ctr">
                    <a:solidFill>
                      <a:srgbClr val="F2F2F2"/>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GB" sz="1700" u="none" strike="noStrike" cap="none">
                          <a:solidFill>
                            <a:srgbClr val="FFFFFF"/>
                          </a:solidFill>
                          <a:latin typeface="Roboto"/>
                          <a:ea typeface="Roboto"/>
                          <a:cs typeface="Roboto"/>
                          <a:sym typeface="Roboto"/>
                        </a:rPr>
                        <a:t>355 years</a:t>
                      </a:r>
                      <a:endParaRPr sz="1700" u="none" strike="noStrike" cap="none">
                        <a:solidFill>
                          <a:srgbClr val="FFFFFF"/>
                        </a:solidFill>
                        <a:latin typeface="Roboto"/>
                        <a:ea typeface="Roboto"/>
                        <a:cs typeface="Roboto"/>
                        <a:sym typeface="Roboto"/>
                      </a:endParaRPr>
                    </a:p>
                  </a:txBody>
                  <a:tcPr marL="71875" marR="71875" marT="35925" marB="35925" anchor="ctr">
                    <a:solidFill>
                      <a:srgbClr val="0095AF"/>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GB" sz="1700" u="none" strike="noStrike" cap="none">
                          <a:solidFill>
                            <a:srgbClr val="FFFFFF"/>
                          </a:solidFill>
                          <a:latin typeface="Roboto"/>
                          <a:ea typeface="Roboto"/>
                          <a:cs typeface="Roboto"/>
                          <a:sym typeface="Roboto"/>
                        </a:rPr>
                        <a:t>&lt;1 minute</a:t>
                      </a:r>
                      <a:endParaRPr sz="1700" u="none" strike="noStrike" cap="none">
                        <a:solidFill>
                          <a:srgbClr val="FFFFFF"/>
                        </a:solidFill>
                        <a:latin typeface="Roboto"/>
                        <a:ea typeface="Roboto"/>
                        <a:cs typeface="Roboto"/>
                        <a:sym typeface="Roboto"/>
                      </a:endParaRPr>
                    </a:p>
                  </a:txBody>
                  <a:tcPr marL="71875" marR="71875" marT="35925" marB="35925" anchor="ctr">
                    <a:solidFill>
                      <a:srgbClr val="0095AF"/>
                    </a:solidFill>
                  </a:tcPr>
                </a:tc>
                <a:extLst>
                  <a:ext uri="{0D108BD9-81ED-4DB2-BD59-A6C34878D82A}">
                    <a16:rowId xmlns:a16="http://schemas.microsoft.com/office/drawing/2014/main" val="10001"/>
                  </a:ext>
                </a:extLst>
              </a:tr>
              <a:tr h="98100">
                <a:tc>
                  <a:txBody>
                    <a:bodyPr/>
                    <a:lstStyle/>
                    <a:p>
                      <a:pPr marL="0" marR="0" lvl="0" indent="0" algn="ctr" rtl="0">
                        <a:lnSpc>
                          <a:spcPct val="100000"/>
                        </a:lnSpc>
                        <a:spcBef>
                          <a:spcPts val="0"/>
                        </a:spcBef>
                        <a:spcAft>
                          <a:spcPts val="0"/>
                        </a:spcAft>
                        <a:buClr>
                          <a:srgbClr val="000000"/>
                        </a:buClr>
                        <a:buSzPts val="1800"/>
                        <a:buFont typeface="Arial"/>
                        <a:buNone/>
                      </a:pPr>
                      <a:r>
                        <a:rPr lang="en-GB" sz="1700" u="none" strike="noStrike" cap="none">
                          <a:solidFill>
                            <a:srgbClr val="767677"/>
                          </a:solidFill>
                          <a:latin typeface="Roboto"/>
                          <a:ea typeface="Roboto"/>
                          <a:cs typeface="Roboto"/>
                          <a:sym typeface="Roboto"/>
                        </a:rPr>
                        <a:t>Cost</a:t>
                      </a:r>
                      <a:endParaRPr sz="1300" u="none" strike="noStrike" cap="none">
                        <a:latin typeface="Roboto"/>
                        <a:ea typeface="Roboto"/>
                        <a:cs typeface="Roboto"/>
                        <a:sym typeface="Roboto"/>
                      </a:endParaRPr>
                    </a:p>
                  </a:txBody>
                  <a:tcPr marL="71875" marR="71875" marT="35925" marB="35925" anchor="ctr">
                    <a:solidFill>
                      <a:srgbClr val="F2F2F2"/>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GB" sz="1700" u="none" strike="noStrike" cap="none">
                          <a:solidFill>
                            <a:srgbClr val="767677"/>
                          </a:solidFill>
                          <a:latin typeface="Roboto"/>
                          <a:ea typeface="Roboto"/>
                          <a:cs typeface="Roboto"/>
                          <a:sym typeface="Roboto"/>
                        </a:rPr>
                        <a:t>$43k</a:t>
                      </a:r>
                      <a:endParaRPr sz="1300" u="none" strike="noStrike" cap="none">
                        <a:latin typeface="Roboto"/>
                        <a:ea typeface="Roboto"/>
                        <a:cs typeface="Roboto"/>
                        <a:sym typeface="Roboto"/>
                      </a:endParaRPr>
                    </a:p>
                  </a:txBody>
                  <a:tcPr marL="71875" marR="71875" marT="35925" marB="35925" anchor="ctr">
                    <a:solidFill>
                      <a:srgbClr val="F2F2F2"/>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GB" sz="1700" u="none" strike="noStrike" cap="none">
                          <a:solidFill>
                            <a:srgbClr val="FFFFFF"/>
                          </a:solidFill>
                          <a:latin typeface="Roboto"/>
                          <a:ea typeface="Roboto"/>
                          <a:cs typeface="Roboto"/>
                          <a:sym typeface="Roboto"/>
                        </a:rPr>
                        <a:t>$4.6m</a:t>
                      </a:r>
                      <a:endParaRPr sz="1700" u="none" strike="noStrike" cap="none">
                        <a:solidFill>
                          <a:srgbClr val="FFFFFF"/>
                        </a:solidFill>
                        <a:latin typeface="Roboto"/>
                        <a:ea typeface="Roboto"/>
                        <a:cs typeface="Roboto"/>
                        <a:sym typeface="Roboto"/>
                      </a:endParaRPr>
                    </a:p>
                  </a:txBody>
                  <a:tcPr marL="71875" marR="71875" marT="35925" marB="35925" anchor="ctr">
                    <a:solidFill>
                      <a:srgbClr val="0095AF"/>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GB" sz="1700" u="none" strike="noStrike" cap="none">
                          <a:solidFill>
                            <a:srgbClr val="FFFFFF"/>
                          </a:solidFill>
                          <a:latin typeface="Roboto"/>
                          <a:ea typeface="Roboto"/>
                          <a:cs typeface="Roboto"/>
                          <a:sym typeface="Roboto"/>
                        </a:rPr>
                        <a:t>$0.06/1k tokens</a:t>
                      </a:r>
                      <a:endParaRPr sz="1700" u="none" strike="noStrike" cap="none">
                        <a:solidFill>
                          <a:srgbClr val="FFFFFF"/>
                        </a:solidFill>
                        <a:latin typeface="Roboto"/>
                        <a:ea typeface="Roboto"/>
                        <a:cs typeface="Roboto"/>
                        <a:sym typeface="Roboto"/>
                      </a:endParaRPr>
                    </a:p>
                  </a:txBody>
                  <a:tcPr marL="71875" marR="71875" marT="35925" marB="35925" anchor="ctr">
                    <a:solidFill>
                      <a:srgbClr val="0095AF"/>
                    </a:solidFill>
                  </a:tcPr>
                </a:tc>
                <a:extLst>
                  <a:ext uri="{0D108BD9-81ED-4DB2-BD59-A6C34878D82A}">
                    <a16:rowId xmlns:a16="http://schemas.microsoft.com/office/drawing/2014/main" val="10002"/>
                  </a:ext>
                </a:extLst>
              </a:tr>
              <a:tr h="98100">
                <a:tc>
                  <a:txBody>
                    <a:bodyPr/>
                    <a:lstStyle/>
                    <a:p>
                      <a:pPr marL="0" marR="0" lvl="0" indent="0" algn="ctr" rtl="0">
                        <a:lnSpc>
                          <a:spcPct val="100000"/>
                        </a:lnSpc>
                        <a:spcBef>
                          <a:spcPts val="0"/>
                        </a:spcBef>
                        <a:spcAft>
                          <a:spcPts val="0"/>
                        </a:spcAft>
                        <a:buClr>
                          <a:srgbClr val="000000"/>
                        </a:buClr>
                        <a:buSzPts val="1800"/>
                        <a:buFont typeface="Arial"/>
                        <a:buNone/>
                      </a:pPr>
                      <a:r>
                        <a:rPr lang="en-GB" sz="1700" u="none" strike="noStrike" cap="none">
                          <a:solidFill>
                            <a:srgbClr val="767677"/>
                          </a:solidFill>
                          <a:latin typeface="Roboto"/>
                          <a:ea typeface="Roboto"/>
                          <a:cs typeface="Roboto"/>
                          <a:sym typeface="Roboto"/>
                        </a:rPr>
                        <a:t>Data Size</a:t>
                      </a:r>
                      <a:endParaRPr sz="1300" u="none" strike="noStrike" cap="none">
                        <a:latin typeface="Roboto"/>
                        <a:ea typeface="Roboto"/>
                        <a:cs typeface="Roboto"/>
                        <a:sym typeface="Roboto"/>
                      </a:endParaRPr>
                    </a:p>
                  </a:txBody>
                  <a:tcPr marL="71875" marR="71875" marT="35925" marB="35925" anchor="ctr">
                    <a:solidFill>
                      <a:srgbClr val="F2F2F2"/>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GB" sz="1700" u="none" strike="noStrike" cap="none">
                          <a:solidFill>
                            <a:srgbClr val="767677"/>
                          </a:solidFill>
                          <a:latin typeface="Roboto"/>
                          <a:ea typeface="Roboto"/>
                          <a:cs typeface="Roboto"/>
                          <a:sym typeface="Roboto"/>
                        </a:rPr>
                        <a:t>40 GB</a:t>
                      </a:r>
                      <a:endParaRPr sz="1300" u="none" strike="noStrike" cap="none">
                        <a:latin typeface="Roboto"/>
                        <a:ea typeface="Roboto"/>
                        <a:cs typeface="Roboto"/>
                        <a:sym typeface="Roboto"/>
                      </a:endParaRPr>
                    </a:p>
                  </a:txBody>
                  <a:tcPr marL="71875" marR="71875" marT="35925" marB="35925" anchor="ctr">
                    <a:solidFill>
                      <a:srgbClr val="F2F2F2"/>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GB" sz="1700" u="none" strike="noStrike" cap="none">
                          <a:solidFill>
                            <a:srgbClr val="FFFFFF"/>
                          </a:solidFill>
                          <a:latin typeface="Roboto"/>
                          <a:ea typeface="Roboto"/>
                          <a:cs typeface="Roboto"/>
                          <a:sym typeface="Roboto"/>
                        </a:rPr>
                        <a:t>45 TB</a:t>
                      </a:r>
                      <a:endParaRPr sz="1700" u="none" strike="noStrike" cap="none">
                        <a:solidFill>
                          <a:srgbClr val="FFFFFF"/>
                        </a:solidFill>
                        <a:latin typeface="Roboto"/>
                        <a:ea typeface="Roboto"/>
                        <a:cs typeface="Roboto"/>
                        <a:sym typeface="Roboto"/>
                      </a:endParaRPr>
                    </a:p>
                  </a:txBody>
                  <a:tcPr marL="71875" marR="71875" marT="35925" marB="35925" anchor="ctr">
                    <a:solidFill>
                      <a:srgbClr val="0095AF"/>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GB" sz="1700" u="none" strike="noStrike" cap="none">
                          <a:solidFill>
                            <a:srgbClr val="FFFFFF"/>
                          </a:solidFill>
                          <a:latin typeface="Roboto"/>
                          <a:ea typeface="Roboto"/>
                          <a:cs typeface="Roboto"/>
                          <a:sym typeface="Roboto"/>
                        </a:rPr>
                        <a:t>Negligible</a:t>
                      </a:r>
                      <a:endParaRPr sz="1700" u="none" strike="noStrike" cap="none">
                        <a:solidFill>
                          <a:srgbClr val="FFFFFF"/>
                        </a:solidFill>
                        <a:latin typeface="Roboto"/>
                        <a:ea typeface="Roboto"/>
                        <a:cs typeface="Roboto"/>
                        <a:sym typeface="Roboto"/>
                      </a:endParaRPr>
                    </a:p>
                  </a:txBody>
                  <a:tcPr marL="71875" marR="71875" marT="35925" marB="35925" anchor="ctr">
                    <a:solidFill>
                      <a:srgbClr val="0095AF"/>
                    </a:solidFill>
                  </a:tcPr>
                </a:tc>
                <a:extLst>
                  <a:ext uri="{0D108BD9-81ED-4DB2-BD59-A6C34878D82A}">
                    <a16:rowId xmlns:a16="http://schemas.microsoft.com/office/drawing/2014/main" val="10003"/>
                  </a:ext>
                </a:extLst>
              </a:tr>
              <a:tr h="98100">
                <a:tc>
                  <a:txBody>
                    <a:bodyPr/>
                    <a:lstStyle/>
                    <a:p>
                      <a:pPr marL="0" marR="0" lvl="0" indent="0" algn="ctr" rtl="0">
                        <a:lnSpc>
                          <a:spcPct val="100000"/>
                        </a:lnSpc>
                        <a:spcBef>
                          <a:spcPts val="0"/>
                        </a:spcBef>
                        <a:spcAft>
                          <a:spcPts val="0"/>
                        </a:spcAft>
                        <a:buClr>
                          <a:srgbClr val="000000"/>
                        </a:buClr>
                        <a:buSzPts val="1800"/>
                        <a:buFont typeface="Arial"/>
                        <a:buNone/>
                      </a:pPr>
                      <a:r>
                        <a:rPr lang="en-GB" sz="1700" u="none" strike="noStrike" cap="none">
                          <a:solidFill>
                            <a:srgbClr val="767677"/>
                          </a:solidFill>
                          <a:latin typeface="Roboto"/>
                          <a:ea typeface="Roboto"/>
                          <a:cs typeface="Roboto"/>
                          <a:sym typeface="Roboto"/>
                        </a:rPr>
                        <a:t>Compute</a:t>
                      </a:r>
                      <a:endParaRPr sz="1700" u="none" strike="noStrike" cap="none">
                        <a:solidFill>
                          <a:srgbClr val="767677"/>
                        </a:solidFill>
                        <a:latin typeface="Roboto"/>
                        <a:ea typeface="Roboto"/>
                        <a:cs typeface="Roboto"/>
                        <a:sym typeface="Roboto"/>
                      </a:endParaRPr>
                    </a:p>
                  </a:txBody>
                  <a:tcPr marL="71875" marR="71875" marT="35925" marB="35925" anchor="ctr">
                    <a:solidFill>
                      <a:srgbClr val="F2F2F2"/>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GB" sz="1700" u="none" strike="noStrike" cap="none">
                          <a:solidFill>
                            <a:srgbClr val="767677"/>
                          </a:solidFill>
                          <a:latin typeface="Roboto"/>
                          <a:ea typeface="Roboto"/>
                          <a:cs typeface="Roboto"/>
                          <a:sym typeface="Roboto"/>
                        </a:rPr>
                        <a:t>32 TPUv3s</a:t>
                      </a:r>
                      <a:endParaRPr sz="1700" u="none" strike="noStrike" cap="none">
                        <a:solidFill>
                          <a:srgbClr val="767677"/>
                        </a:solidFill>
                        <a:latin typeface="Roboto"/>
                        <a:ea typeface="Roboto"/>
                        <a:cs typeface="Roboto"/>
                        <a:sym typeface="Roboto"/>
                      </a:endParaRPr>
                    </a:p>
                  </a:txBody>
                  <a:tcPr marL="71875" marR="71875" marT="35925" marB="35925" anchor="ctr">
                    <a:solidFill>
                      <a:srgbClr val="F2F2F2"/>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GB" sz="1700" u="none" strike="noStrike" cap="none">
                          <a:solidFill>
                            <a:srgbClr val="FFFFFF"/>
                          </a:solidFill>
                          <a:latin typeface="Roboto"/>
                          <a:ea typeface="Roboto"/>
                          <a:cs typeface="Roboto"/>
                          <a:sym typeface="Roboto"/>
                        </a:rPr>
                        <a:t>1 Tesla V100 GPU</a:t>
                      </a:r>
                      <a:endParaRPr sz="1700" u="none" strike="noStrike" cap="none">
                        <a:solidFill>
                          <a:srgbClr val="FFFFFF"/>
                        </a:solidFill>
                        <a:latin typeface="Roboto"/>
                        <a:ea typeface="Roboto"/>
                        <a:cs typeface="Roboto"/>
                        <a:sym typeface="Roboto"/>
                      </a:endParaRPr>
                    </a:p>
                  </a:txBody>
                  <a:tcPr marL="71875" marR="71875" marT="35925" marB="35925" anchor="ctr">
                    <a:solidFill>
                      <a:srgbClr val="0095AF"/>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GB" sz="1700" u="none" strike="noStrike" cap="none">
                          <a:solidFill>
                            <a:srgbClr val="FFFFFF"/>
                          </a:solidFill>
                          <a:latin typeface="Roboto"/>
                          <a:ea typeface="Roboto"/>
                          <a:cs typeface="Roboto"/>
                          <a:sym typeface="Roboto"/>
                        </a:rPr>
                        <a:t>Negligible</a:t>
                      </a:r>
                      <a:endParaRPr sz="1700" u="none" strike="noStrike" cap="none">
                        <a:solidFill>
                          <a:srgbClr val="FFFFFF"/>
                        </a:solidFill>
                        <a:latin typeface="Roboto"/>
                        <a:ea typeface="Roboto"/>
                        <a:cs typeface="Roboto"/>
                        <a:sym typeface="Roboto"/>
                      </a:endParaRPr>
                    </a:p>
                  </a:txBody>
                  <a:tcPr marL="71875" marR="71875" marT="35925" marB="35925" anchor="ctr">
                    <a:solidFill>
                      <a:srgbClr val="0095AF"/>
                    </a:solidFill>
                  </a:tcPr>
                </a:tc>
                <a:extLst>
                  <a:ext uri="{0D108BD9-81ED-4DB2-BD59-A6C34878D82A}">
                    <a16:rowId xmlns:a16="http://schemas.microsoft.com/office/drawing/2014/main" val="10004"/>
                  </a:ext>
                </a:extLst>
              </a:tr>
              <a:tr h="98100">
                <a:tc>
                  <a:txBody>
                    <a:bodyPr/>
                    <a:lstStyle/>
                    <a:p>
                      <a:pPr marL="0" marR="0" lvl="0" indent="0" algn="ctr" rtl="0">
                        <a:lnSpc>
                          <a:spcPct val="100000"/>
                        </a:lnSpc>
                        <a:spcBef>
                          <a:spcPts val="0"/>
                        </a:spcBef>
                        <a:spcAft>
                          <a:spcPts val="0"/>
                        </a:spcAft>
                        <a:buClr>
                          <a:srgbClr val="000000"/>
                        </a:buClr>
                        <a:buSzPts val="1800"/>
                        <a:buFont typeface="Arial"/>
                        <a:buNone/>
                      </a:pPr>
                      <a:r>
                        <a:rPr lang="en-GB" sz="1700" u="none" strike="noStrike" cap="none">
                          <a:solidFill>
                            <a:srgbClr val="767677"/>
                          </a:solidFill>
                          <a:latin typeface="Roboto"/>
                          <a:ea typeface="Roboto"/>
                          <a:cs typeface="Roboto"/>
                          <a:sym typeface="Roboto"/>
                        </a:rPr>
                        <a:t>Energy</a:t>
                      </a:r>
                      <a:endParaRPr sz="1700" u="none" strike="noStrike" cap="none">
                        <a:solidFill>
                          <a:srgbClr val="767677"/>
                        </a:solidFill>
                        <a:latin typeface="Roboto"/>
                        <a:ea typeface="Roboto"/>
                        <a:cs typeface="Roboto"/>
                        <a:sym typeface="Roboto"/>
                      </a:endParaRPr>
                    </a:p>
                  </a:txBody>
                  <a:tcPr marL="71875" marR="71875" marT="35925" marB="35925" anchor="ctr">
                    <a:solidFill>
                      <a:srgbClr val="F2F2F2"/>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GB" sz="1700" u="none" strike="noStrike" cap="none">
                          <a:solidFill>
                            <a:srgbClr val="767677"/>
                          </a:solidFill>
                          <a:latin typeface="Roboto"/>
                          <a:ea typeface="Roboto"/>
                          <a:cs typeface="Roboto"/>
                          <a:sym typeface="Roboto"/>
                        </a:rPr>
                        <a:t>?</a:t>
                      </a:r>
                      <a:endParaRPr sz="1700" u="none" strike="noStrike" cap="none">
                        <a:solidFill>
                          <a:srgbClr val="767677"/>
                        </a:solidFill>
                        <a:latin typeface="Roboto"/>
                        <a:ea typeface="Roboto"/>
                        <a:cs typeface="Roboto"/>
                        <a:sym typeface="Roboto"/>
                      </a:endParaRPr>
                    </a:p>
                  </a:txBody>
                  <a:tcPr marL="71875" marR="71875" marT="35925" marB="35925" anchor="ctr">
                    <a:solidFill>
                      <a:srgbClr val="F2F2F2"/>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GB" sz="1700" u="none" strike="noStrike" cap="none">
                          <a:solidFill>
                            <a:srgbClr val="FFFFFF"/>
                          </a:solidFill>
                          <a:latin typeface="Roboto"/>
                          <a:ea typeface="Roboto"/>
                          <a:cs typeface="Roboto"/>
                          <a:sym typeface="Roboto"/>
                        </a:rPr>
                        <a:t>?</a:t>
                      </a:r>
                      <a:endParaRPr sz="1700" u="none" strike="noStrike" cap="none">
                        <a:solidFill>
                          <a:srgbClr val="FFFFFF"/>
                        </a:solidFill>
                        <a:latin typeface="Roboto"/>
                        <a:ea typeface="Roboto"/>
                        <a:cs typeface="Roboto"/>
                        <a:sym typeface="Roboto"/>
                      </a:endParaRPr>
                    </a:p>
                  </a:txBody>
                  <a:tcPr marL="71875" marR="71875" marT="35925" marB="35925" anchor="ctr">
                    <a:solidFill>
                      <a:srgbClr val="0095AF"/>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GB" sz="1700" u="none" strike="noStrike" cap="none">
                          <a:solidFill>
                            <a:srgbClr val="FFFFFF"/>
                          </a:solidFill>
                          <a:latin typeface="Roboto"/>
                          <a:ea typeface="Roboto"/>
                          <a:cs typeface="Roboto"/>
                          <a:sym typeface="Roboto"/>
                        </a:rPr>
                        <a:t>Negligible</a:t>
                      </a:r>
                      <a:endParaRPr sz="1700" u="none" strike="noStrike" cap="none">
                        <a:solidFill>
                          <a:srgbClr val="FFFFFF"/>
                        </a:solidFill>
                        <a:latin typeface="Roboto"/>
                        <a:ea typeface="Roboto"/>
                        <a:cs typeface="Roboto"/>
                        <a:sym typeface="Roboto"/>
                      </a:endParaRPr>
                    </a:p>
                  </a:txBody>
                  <a:tcPr marL="71875" marR="71875" marT="35925" marB="35925" anchor="ctr">
                    <a:solidFill>
                      <a:srgbClr val="0095AF"/>
                    </a:solidFill>
                  </a:tcPr>
                </a:tc>
                <a:extLst>
                  <a:ext uri="{0D108BD9-81ED-4DB2-BD59-A6C34878D82A}">
                    <a16:rowId xmlns:a16="http://schemas.microsoft.com/office/drawing/2014/main" val="10005"/>
                  </a:ext>
                </a:extLst>
              </a:tr>
              <a:tr h="98100">
                <a:tc>
                  <a:txBody>
                    <a:bodyPr/>
                    <a:lstStyle/>
                    <a:p>
                      <a:pPr marL="0" marR="0" lvl="0" indent="0" algn="ctr" rtl="0">
                        <a:lnSpc>
                          <a:spcPct val="100000"/>
                        </a:lnSpc>
                        <a:spcBef>
                          <a:spcPts val="0"/>
                        </a:spcBef>
                        <a:spcAft>
                          <a:spcPts val="0"/>
                        </a:spcAft>
                        <a:buClr>
                          <a:srgbClr val="000000"/>
                        </a:buClr>
                        <a:buSzPts val="1800"/>
                        <a:buFont typeface="Arial"/>
                        <a:buNone/>
                      </a:pPr>
                      <a:r>
                        <a:rPr lang="en-GB" sz="1700" u="none" strike="noStrike" cap="none">
                          <a:solidFill>
                            <a:srgbClr val="767677"/>
                          </a:solidFill>
                          <a:latin typeface="Roboto"/>
                          <a:ea typeface="Roboto"/>
                          <a:cs typeface="Roboto"/>
                          <a:sym typeface="Roboto"/>
                        </a:rPr>
                        <a:t>Released</a:t>
                      </a:r>
                      <a:endParaRPr sz="1700" u="none" strike="noStrike" cap="none">
                        <a:solidFill>
                          <a:srgbClr val="767677"/>
                        </a:solidFill>
                        <a:latin typeface="Roboto"/>
                        <a:ea typeface="Roboto"/>
                        <a:cs typeface="Roboto"/>
                        <a:sym typeface="Roboto"/>
                      </a:endParaRPr>
                    </a:p>
                  </a:txBody>
                  <a:tcPr marL="71875" marR="71875" marT="35925" marB="35925" anchor="ctr">
                    <a:solidFill>
                      <a:srgbClr val="F2F2F2"/>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GB" sz="1700" u="none" strike="noStrike" cap="none">
                          <a:solidFill>
                            <a:srgbClr val="767677"/>
                          </a:solidFill>
                          <a:latin typeface="Roboto"/>
                          <a:ea typeface="Roboto"/>
                          <a:cs typeface="Roboto"/>
                          <a:sym typeface="Roboto"/>
                        </a:rPr>
                        <a:t>2019</a:t>
                      </a:r>
                      <a:endParaRPr sz="1700" u="none" strike="noStrike" cap="none">
                        <a:solidFill>
                          <a:srgbClr val="767677"/>
                        </a:solidFill>
                        <a:latin typeface="Roboto"/>
                        <a:ea typeface="Roboto"/>
                        <a:cs typeface="Roboto"/>
                        <a:sym typeface="Roboto"/>
                      </a:endParaRPr>
                    </a:p>
                  </a:txBody>
                  <a:tcPr marL="71875" marR="71875" marT="35925" marB="35925" anchor="ctr">
                    <a:solidFill>
                      <a:srgbClr val="F2F2F2"/>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GB" sz="1700" u="none" strike="noStrike" cap="none">
                          <a:solidFill>
                            <a:srgbClr val="FFFFFF"/>
                          </a:solidFill>
                          <a:latin typeface="Roboto"/>
                          <a:ea typeface="Roboto"/>
                          <a:cs typeface="Roboto"/>
                          <a:sym typeface="Roboto"/>
                        </a:rPr>
                        <a:t>2020</a:t>
                      </a:r>
                      <a:endParaRPr sz="1700" u="none" strike="noStrike" cap="none">
                        <a:solidFill>
                          <a:srgbClr val="FFFFFF"/>
                        </a:solidFill>
                        <a:latin typeface="Roboto"/>
                        <a:ea typeface="Roboto"/>
                        <a:cs typeface="Roboto"/>
                        <a:sym typeface="Roboto"/>
                      </a:endParaRPr>
                    </a:p>
                  </a:txBody>
                  <a:tcPr marL="71875" marR="71875" marT="35925" marB="35925" anchor="ctr">
                    <a:solidFill>
                      <a:srgbClr val="0095AF"/>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GB" sz="1700" u="none" strike="noStrike" cap="none">
                          <a:solidFill>
                            <a:srgbClr val="FFFFFF"/>
                          </a:solidFill>
                          <a:latin typeface="Roboto"/>
                          <a:ea typeface="Roboto"/>
                          <a:cs typeface="Roboto"/>
                          <a:sym typeface="Roboto"/>
                        </a:rPr>
                        <a:t>2020</a:t>
                      </a:r>
                      <a:endParaRPr sz="1700" u="none" strike="noStrike" cap="none">
                        <a:solidFill>
                          <a:srgbClr val="FFFFFF"/>
                        </a:solidFill>
                        <a:latin typeface="Roboto"/>
                        <a:ea typeface="Roboto"/>
                        <a:cs typeface="Roboto"/>
                        <a:sym typeface="Roboto"/>
                      </a:endParaRPr>
                    </a:p>
                  </a:txBody>
                  <a:tcPr marL="71875" marR="71875" marT="35925" marB="35925" anchor="ctr">
                    <a:solidFill>
                      <a:srgbClr val="0095AF"/>
                    </a:solidFill>
                  </a:tcPr>
                </a:tc>
                <a:extLst>
                  <a:ext uri="{0D108BD9-81ED-4DB2-BD59-A6C34878D82A}">
                    <a16:rowId xmlns:a16="http://schemas.microsoft.com/office/drawing/2014/main" val="10006"/>
                  </a:ext>
                </a:extLst>
              </a:tr>
            </a:tbl>
          </a:graphicData>
        </a:graphic>
      </p:graphicFrame>
      <p:sp>
        <p:nvSpPr>
          <p:cNvPr id="381" name="Google Shape;381;p36"/>
          <p:cNvSpPr txBox="1"/>
          <p:nvPr/>
        </p:nvSpPr>
        <p:spPr>
          <a:xfrm>
            <a:off x="996575" y="3567700"/>
            <a:ext cx="7150800" cy="449700"/>
          </a:xfrm>
          <a:prstGeom prst="rect">
            <a:avLst/>
          </a:prstGeom>
          <a:noFill/>
          <a:ln>
            <a:noFill/>
          </a:ln>
        </p:spPr>
        <p:txBody>
          <a:bodyPr spcFirstLastPara="1" wrap="square" lIns="91425" tIns="91425" rIns="91425" bIns="91425" anchor="ctr" anchorCtr="0">
            <a:noAutofit/>
          </a:bodyPr>
          <a:lstStyle/>
          <a:p>
            <a:pPr marL="0" lvl="0" indent="0" algn="l" rtl="0">
              <a:spcBef>
                <a:spcPts val="600"/>
              </a:spcBef>
              <a:spcAft>
                <a:spcPts val="0"/>
              </a:spcAft>
              <a:buNone/>
            </a:pPr>
            <a:r>
              <a:rPr lang="en-GB" sz="1100" i="1">
                <a:solidFill>
                  <a:srgbClr val="828282"/>
                </a:solidFill>
                <a:latin typeface="Roboto Light"/>
                <a:ea typeface="Roboto Light"/>
                <a:cs typeface="Roboto Light"/>
                <a:sym typeface="Roboto Light"/>
              </a:rPr>
              <a:t>GPT-2 stats: Phil Tully and Lee Foster, Black Hat USA 2020</a:t>
            </a:r>
            <a:endParaRPr sz="1100" i="1">
              <a:solidFill>
                <a:srgbClr val="828282"/>
              </a:solidFill>
              <a:latin typeface="Roboto Light"/>
              <a:ea typeface="Roboto Light"/>
              <a:cs typeface="Roboto Light"/>
              <a:sym typeface="Roboto Light"/>
            </a:endParaRPr>
          </a:p>
          <a:p>
            <a:pPr marL="0" lvl="0" indent="0" algn="l" rtl="0">
              <a:spcBef>
                <a:spcPts val="0"/>
              </a:spcBef>
              <a:spcAft>
                <a:spcPts val="0"/>
              </a:spcAft>
              <a:buNone/>
            </a:pPr>
            <a:r>
              <a:rPr lang="en-GB" sz="1100" i="1">
                <a:solidFill>
                  <a:srgbClr val="828282"/>
                </a:solidFill>
                <a:latin typeface="Roboto Light"/>
                <a:ea typeface="Roboto Light"/>
                <a:cs typeface="Roboto Light"/>
                <a:sym typeface="Roboto Light"/>
              </a:rPr>
              <a:t>GPT-3 estimates: Chuan Li, Lambda Labs</a:t>
            </a:r>
            <a:endParaRPr sz="1100" i="1">
              <a:solidFill>
                <a:srgbClr val="828282"/>
              </a:solidFill>
              <a:latin typeface="Roboto Light"/>
              <a:ea typeface="Roboto Light"/>
              <a:cs typeface="Roboto Light"/>
              <a:sym typeface="Roboto 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37"/>
          <p:cNvSpPr/>
          <p:nvPr/>
        </p:nvSpPr>
        <p:spPr>
          <a:xfrm>
            <a:off x="0" y="120875"/>
            <a:ext cx="3217800" cy="402600"/>
          </a:xfrm>
          <a:prstGeom prst="rect">
            <a:avLst/>
          </a:prstGeom>
          <a:gradFill>
            <a:gsLst>
              <a:gs pos="0">
                <a:srgbClr val="00C0F3"/>
              </a:gs>
              <a:gs pos="100000">
                <a:srgbClr val="008E4E"/>
              </a:gs>
            </a:gsLst>
            <a:lin ang="270000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Lucida Sans"/>
              <a:ea typeface="Lucida Sans"/>
              <a:cs typeface="Lucida Sans"/>
              <a:sym typeface="Lucida Sans"/>
            </a:endParaRPr>
          </a:p>
        </p:txBody>
      </p:sp>
      <p:sp>
        <p:nvSpPr>
          <p:cNvPr id="387" name="Google Shape;387;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21</a:t>
            </a:fld>
            <a:endParaRPr/>
          </a:p>
        </p:txBody>
      </p:sp>
      <p:sp>
        <p:nvSpPr>
          <p:cNvPr id="388" name="Google Shape;388;p37"/>
          <p:cNvSpPr txBox="1">
            <a:spLocks noGrp="1"/>
          </p:cNvSpPr>
          <p:nvPr>
            <p:ph type="title"/>
          </p:nvPr>
        </p:nvSpPr>
        <p:spPr>
          <a:xfrm>
            <a:off x="311700" y="73175"/>
            <a:ext cx="33789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OpenAI’s GPT3 Models</a:t>
            </a:r>
            <a:endParaRPr/>
          </a:p>
        </p:txBody>
      </p:sp>
      <p:grpSp>
        <p:nvGrpSpPr>
          <p:cNvPr id="389" name="Google Shape;389;p37"/>
          <p:cNvGrpSpPr/>
          <p:nvPr/>
        </p:nvGrpSpPr>
        <p:grpSpPr>
          <a:xfrm>
            <a:off x="109401" y="3161125"/>
            <a:ext cx="5091092" cy="977734"/>
            <a:chOff x="2283025" y="2322566"/>
            <a:chExt cx="4459220" cy="643500"/>
          </a:xfrm>
        </p:grpSpPr>
        <p:sp>
          <p:nvSpPr>
            <p:cNvPr id="390" name="Google Shape;390;p37"/>
            <p:cNvSpPr/>
            <p:nvPr/>
          </p:nvSpPr>
          <p:spPr>
            <a:xfrm>
              <a:off x="3728368" y="2322566"/>
              <a:ext cx="3013800" cy="643500"/>
            </a:xfrm>
            <a:prstGeom prst="rect">
              <a:avLst/>
            </a:prstGeom>
            <a:solidFill>
              <a:srgbClr val="EEEEE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Roboto"/>
                <a:ea typeface="Roboto"/>
                <a:cs typeface="Roboto"/>
                <a:sym typeface="Roboto"/>
              </a:endParaRPr>
            </a:p>
          </p:txBody>
        </p:sp>
        <p:sp>
          <p:nvSpPr>
            <p:cNvPr id="391" name="Google Shape;391;p37"/>
            <p:cNvSpPr/>
            <p:nvPr/>
          </p:nvSpPr>
          <p:spPr>
            <a:xfrm flipH="1">
              <a:off x="2283025" y="2322575"/>
              <a:ext cx="1844400" cy="642600"/>
            </a:xfrm>
            <a:prstGeom prst="rect">
              <a:avLst/>
            </a:prstGeom>
            <a:solidFill>
              <a:srgbClr val="0095AF"/>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Roboto"/>
                <a:ea typeface="Roboto"/>
                <a:cs typeface="Roboto"/>
                <a:sym typeface="Roboto"/>
              </a:endParaRPr>
            </a:p>
          </p:txBody>
        </p:sp>
        <p:sp>
          <p:nvSpPr>
            <p:cNvPr id="392" name="Google Shape;392;p37"/>
            <p:cNvSpPr/>
            <p:nvPr/>
          </p:nvSpPr>
          <p:spPr>
            <a:xfrm rot="-5400000">
              <a:off x="3501574" y="1934671"/>
              <a:ext cx="643356" cy="1419149"/>
            </a:xfrm>
            <a:prstGeom prst="flowChartOffpageConnector">
              <a:avLst/>
            </a:prstGeom>
            <a:solidFill>
              <a:srgbClr val="0095AF"/>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Roboto"/>
                <a:ea typeface="Roboto"/>
                <a:cs typeface="Roboto"/>
                <a:sym typeface="Roboto"/>
              </a:endParaRPr>
            </a:p>
          </p:txBody>
        </p:sp>
        <p:sp>
          <p:nvSpPr>
            <p:cNvPr id="393" name="Google Shape;393;p37"/>
            <p:cNvSpPr/>
            <p:nvPr/>
          </p:nvSpPr>
          <p:spPr>
            <a:xfrm>
              <a:off x="2342625" y="2399951"/>
              <a:ext cx="1940700" cy="495900"/>
            </a:xfrm>
            <a:prstGeom prst="rect">
              <a:avLst/>
            </a:prstGeom>
            <a:noFill/>
            <a:ln>
              <a:noFill/>
            </a:ln>
          </p:spPr>
          <p:txBody>
            <a:bodyPr spcFirstLastPara="1" wrap="square" lIns="121900" tIns="121900" rIns="121900" bIns="121900" anchor="ctr" anchorCtr="0">
              <a:noAutofit/>
            </a:bodyPr>
            <a:lstStyle/>
            <a:p>
              <a:pPr marL="0" marR="0" lvl="0" indent="0" algn="l" rtl="0">
                <a:lnSpc>
                  <a:spcPct val="115000"/>
                </a:lnSpc>
                <a:spcBef>
                  <a:spcPts val="0"/>
                </a:spcBef>
                <a:spcAft>
                  <a:spcPts val="0"/>
                </a:spcAft>
                <a:buClr>
                  <a:srgbClr val="000000"/>
                </a:buClr>
                <a:buSzPts val="2100"/>
                <a:buFont typeface="Arial"/>
                <a:buNone/>
              </a:pPr>
              <a:r>
                <a:rPr lang="en-GB" sz="1800" i="0" u="none" strike="noStrike" cap="none">
                  <a:solidFill>
                    <a:srgbClr val="FFFFFF"/>
                  </a:solidFill>
                  <a:latin typeface="Roboto"/>
                  <a:ea typeface="Roboto"/>
                  <a:cs typeface="Roboto"/>
                  <a:sym typeface="Roboto"/>
                </a:rPr>
                <a:t>Davinci Instruct</a:t>
              </a:r>
              <a:endParaRPr sz="1800" i="0" u="none" strike="noStrike" cap="none">
                <a:solidFill>
                  <a:srgbClr val="FFFFFF"/>
                </a:solidFill>
                <a:latin typeface="Roboto"/>
                <a:ea typeface="Roboto"/>
                <a:cs typeface="Roboto"/>
                <a:sym typeface="Roboto"/>
              </a:endParaRPr>
            </a:p>
          </p:txBody>
        </p:sp>
        <p:sp>
          <p:nvSpPr>
            <p:cNvPr id="394" name="Google Shape;394;p37"/>
            <p:cNvSpPr/>
            <p:nvPr/>
          </p:nvSpPr>
          <p:spPr>
            <a:xfrm>
              <a:off x="4387845" y="2323751"/>
              <a:ext cx="2354400" cy="642300"/>
            </a:xfrm>
            <a:prstGeom prst="rect">
              <a:avLst/>
            </a:prstGeom>
            <a:noFill/>
            <a:ln>
              <a:noFill/>
            </a:ln>
          </p:spPr>
          <p:txBody>
            <a:bodyPr spcFirstLastPara="1" wrap="square" lIns="121900" tIns="121900" rIns="121900" bIns="121900" anchor="ctr" anchorCtr="0">
              <a:noAutofit/>
            </a:bodyPr>
            <a:lstStyle/>
            <a:p>
              <a:pPr marL="609600" marR="0" lvl="0" indent="-393700" algn="l" rtl="0">
                <a:lnSpc>
                  <a:spcPct val="115000"/>
                </a:lnSpc>
                <a:spcBef>
                  <a:spcPts val="0"/>
                </a:spcBef>
                <a:spcAft>
                  <a:spcPts val="0"/>
                </a:spcAft>
                <a:buClr>
                  <a:srgbClr val="5E5E5E"/>
                </a:buClr>
                <a:buSzPts val="1400"/>
                <a:buFont typeface="Roboto"/>
                <a:buChar char="●"/>
              </a:pPr>
              <a:r>
                <a:rPr lang="en-GB" sz="1400" i="0" u="none" strike="noStrike" cap="none">
                  <a:solidFill>
                    <a:srgbClr val="5E5E5E"/>
                  </a:solidFill>
                  <a:latin typeface="Roboto"/>
                  <a:ea typeface="Roboto"/>
                  <a:cs typeface="Roboto"/>
                  <a:sym typeface="Roboto"/>
                </a:rPr>
                <a:t>Fine tuned to plaintext instructions</a:t>
              </a:r>
              <a:endParaRPr sz="1400" i="0" u="none" strike="noStrike" cap="none">
                <a:solidFill>
                  <a:srgbClr val="5E5E5E"/>
                </a:solidFill>
                <a:latin typeface="Roboto"/>
                <a:ea typeface="Roboto"/>
                <a:cs typeface="Roboto"/>
                <a:sym typeface="Roboto"/>
              </a:endParaRPr>
            </a:p>
            <a:p>
              <a:pPr marL="609600" marR="0" lvl="0" indent="-393700" algn="l" rtl="0">
                <a:lnSpc>
                  <a:spcPct val="115000"/>
                </a:lnSpc>
                <a:spcBef>
                  <a:spcPts val="0"/>
                </a:spcBef>
                <a:spcAft>
                  <a:spcPts val="0"/>
                </a:spcAft>
                <a:buClr>
                  <a:srgbClr val="5E5E5E"/>
                </a:buClr>
                <a:buSzPts val="1400"/>
                <a:buFont typeface="Roboto"/>
                <a:buChar char="●"/>
              </a:pPr>
              <a:r>
                <a:rPr lang="en-GB" sz="1400" i="0" u="none" strike="noStrike" cap="none">
                  <a:solidFill>
                    <a:srgbClr val="5E5E5E"/>
                  </a:solidFill>
                  <a:latin typeface="Roboto"/>
                  <a:ea typeface="Roboto"/>
                  <a:cs typeface="Roboto"/>
                  <a:sym typeface="Roboto"/>
                </a:rPr>
                <a:t>Built on Davinci model</a:t>
              </a:r>
              <a:endParaRPr sz="1400" i="0" u="none" strike="noStrike" cap="none">
                <a:solidFill>
                  <a:srgbClr val="5E5E5E"/>
                </a:solidFill>
                <a:latin typeface="Roboto"/>
                <a:ea typeface="Roboto"/>
                <a:cs typeface="Roboto"/>
                <a:sym typeface="Roboto"/>
              </a:endParaRPr>
            </a:p>
          </p:txBody>
        </p:sp>
      </p:grpSp>
      <p:grpSp>
        <p:nvGrpSpPr>
          <p:cNvPr id="395" name="Google Shape;395;p37"/>
          <p:cNvGrpSpPr/>
          <p:nvPr/>
        </p:nvGrpSpPr>
        <p:grpSpPr>
          <a:xfrm>
            <a:off x="109401" y="1170225"/>
            <a:ext cx="5091092" cy="977734"/>
            <a:chOff x="2283025" y="2322560"/>
            <a:chExt cx="4459220" cy="643500"/>
          </a:xfrm>
        </p:grpSpPr>
        <p:sp>
          <p:nvSpPr>
            <p:cNvPr id="396" name="Google Shape;396;p37"/>
            <p:cNvSpPr/>
            <p:nvPr/>
          </p:nvSpPr>
          <p:spPr>
            <a:xfrm>
              <a:off x="3728368" y="2322560"/>
              <a:ext cx="3013800" cy="643500"/>
            </a:xfrm>
            <a:prstGeom prst="rect">
              <a:avLst/>
            </a:prstGeom>
            <a:solidFill>
              <a:srgbClr val="EEEEE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Roboto"/>
                <a:ea typeface="Roboto"/>
                <a:cs typeface="Roboto"/>
                <a:sym typeface="Roboto"/>
              </a:endParaRPr>
            </a:p>
          </p:txBody>
        </p:sp>
        <p:sp>
          <p:nvSpPr>
            <p:cNvPr id="397" name="Google Shape;397;p37"/>
            <p:cNvSpPr/>
            <p:nvPr/>
          </p:nvSpPr>
          <p:spPr>
            <a:xfrm flipH="1">
              <a:off x="2283025" y="2322575"/>
              <a:ext cx="1844400" cy="642600"/>
            </a:xfrm>
            <a:prstGeom prst="rect">
              <a:avLst/>
            </a:prstGeom>
            <a:solidFill>
              <a:srgbClr val="11648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rgbClr val="000000"/>
                </a:solidFill>
                <a:highlight>
                  <a:srgbClr val="004A57"/>
                </a:highlight>
                <a:latin typeface="Roboto"/>
                <a:ea typeface="Roboto"/>
                <a:cs typeface="Roboto"/>
                <a:sym typeface="Roboto"/>
              </a:endParaRPr>
            </a:p>
          </p:txBody>
        </p:sp>
        <p:sp>
          <p:nvSpPr>
            <p:cNvPr id="398" name="Google Shape;398;p37"/>
            <p:cNvSpPr/>
            <p:nvPr/>
          </p:nvSpPr>
          <p:spPr>
            <a:xfrm rot="-5400000">
              <a:off x="3501574" y="1934671"/>
              <a:ext cx="643356" cy="1419149"/>
            </a:xfrm>
            <a:prstGeom prst="flowChartOffpageConnector">
              <a:avLst/>
            </a:prstGeom>
            <a:solidFill>
              <a:srgbClr val="11648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rgbClr val="000000"/>
                </a:solidFill>
                <a:highlight>
                  <a:srgbClr val="11648E"/>
                </a:highlight>
                <a:latin typeface="Roboto"/>
                <a:ea typeface="Roboto"/>
                <a:cs typeface="Roboto"/>
                <a:sym typeface="Roboto"/>
              </a:endParaRPr>
            </a:p>
          </p:txBody>
        </p:sp>
        <p:sp>
          <p:nvSpPr>
            <p:cNvPr id="399" name="Google Shape;399;p37"/>
            <p:cNvSpPr/>
            <p:nvPr/>
          </p:nvSpPr>
          <p:spPr>
            <a:xfrm>
              <a:off x="2342625" y="2399951"/>
              <a:ext cx="1940700" cy="495900"/>
            </a:xfrm>
            <a:prstGeom prst="rect">
              <a:avLst/>
            </a:prstGeom>
            <a:noFill/>
            <a:ln>
              <a:noFill/>
            </a:ln>
          </p:spPr>
          <p:txBody>
            <a:bodyPr spcFirstLastPara="1" wrap="square" lIns="121900" tIns="121900" rIns="121900" bIns="121900" anchor="ctr" anchorCtr="0">
              <a:noAutofit/>
            </a:bodyPr>
            <a:lstStyle/>
            <a:p>
              <a:pPr marL="0" marR="0" lvl="0" indent="0" algn="l" rtl="0">
                <a:lnSpc>
                  <a:spcPct val="115000"/>
                </a:lnSpc>
                <a:spcBef>
                  <a:spcPts val="0"/>
                </a:spcBef>
                <a:spcAft>
                  <a:spcPts val="0"/>
                </a:spcAft>
                <a:buClr>
                  <a:srgbClr val="000000"/>
                </a:buClr>
                <a:buSzPts val="2100"/>
                <a:buFont typeface="Arial"/>
                <a:buNone/>
              </a:pPr>
              <a:r>
                <a:rPr lang="en-GB" sz="1800" i="0" u="none" strike="noStrike" cap="none">
                  <a:solidFill>
                    <a:srgbClr val="FFFFFF"/>
                  </a:solidFill>
                  <a:latin typeface="Roboto"/>
                  <a:ea typeface="Roboto"/>
                  <a:cs typeface="Roboto"/>
                  <a:sym typeface="Roboto"/>
                </a:rPr>
                <a:t>Ada, Babbage, Curie</a:t>
              </a:r>
              <a:endParaRPr sz="1800" i="0" u="none" strike="noStrike" cap="none">
                <a:solidFill>
                  <a:srgbClr val="FFFFFF"/>
                </a:solidFill>
                <a:latin typeface="Roboto"/>
                <a:ea typeface="Roboto"/>
                <a:cs typeface="Roboto"/>
                <a:sym typeface="Roboto"/>
              </a:endParaRPr>
            </a:p>
          </p:txBody>
        </p:sp>
        <p:sp>
          <p:nvSpPr>
            <p:cNvPr id="400" name="Google Shape;400;p37"/>
            <p:cNvSpPr/>
            <p:nvPr/>
          </p:nvSpPr>
          <p:spPr>
            <a:xfrm>
              <a:off x="4387845" y="2323745"/>
              <a:ext cx="2354400" cy="642300"/>
            </a:xfrm>
            <a:prstGeom prst="rect">
              <a:avLst/>
            </a:prstGeom>
            <a:noFill/>
            <a:ln>
              <a:noFill/>
            </a:ln>
          </p:spPr>
          <p:txBody>
            <a:bodyPr spcFirstLastPara="1" wrap="square" lIns="121900" tIns="121900" rIns="121900" bIns="121900" anchor="ctr" anchorCtr="0">
              <a:noAutofit/>
            </a:bodyPr>
            <a:lstStyle/>
            <a:p>
              <a:pPr marL="609600" marR="0" lvl="0" indent="-393700" algn="l" rtl="0">
                <a:lnSpc>
                  <a:spcPct val="115000"/>
                </a:lnSpc>
                <a:spcBef>
                  <a:spcPts val="0"/>
                </a:spcBef>
                <a:spcAft>
                  <a:spcPts val="0"/>
                </a:spcAft>
                <a:buClr>
                  <a:srgbClr val="5E5E5E"/>
                </a:buClr>
                <a:buSzPts val="1400"/>
                <a:buFont typeface="Roboto"/>
                <a:buChar char="●"/>
              </a:pPr>
              <a:r>
                <a:rPr lang="en-GB" sz="1400" i="0" u="none" strike="noStrike" cap="none">
                  <a:solidFill>
                    <a:srgbClr val="5E5E5E"/>
                  </a:solidFill>
                  <a:latin typeface="Roboto"/>
                  <a:ea typeface="Roboto"/>
                  <a:cs typeface="Roboto"/>
                  <a:sym typeface="Roboto"/>
                </a:rPr>
                <a:t>Lower compute</a:t>
              </a:r>
              <a:endParaRPr sz="1400" i="0" u="none" strike="noStrike" cap="none">
                <a:solidFill>
                  <a:srgbClr val="5E5E5E"/>
                </a:solidFill>
                <a:latin typeface="Roboto"/>
                <a:ea typeface="Roboto"/>
                <a:cs typeface="Roboto"/>
                <a:sym typeface="Roboto"/>
              </a:endParaRPr>
            </a:p>
            <a:p>
              <a:pPr marL="609600" marR="0" lvl="0" indent="-393700" algn="l" rtl="0">
                <a:lnSpc>
                  <a:spcPct val="115000"/>
                </a:lnSpc>
                <a:spcBef>
                  <a:spcPts val="0"/>
                </a:spcBef>
                <a:spcAft>
                  <a:spcPts val="0"/>
                </a:spcAft>
                <a:buClr>
                  <a:srgbClr val="5E5E5E"/>
                </a:buClr>
                <a:buSzPts val="1400"/>
                <a:buFont typeface="Roboto"/>
                <a:buChar char="●"/>
              </a:pPr>
              <a:r>
                <a:rPr lang="en-GB" sz="1400" i="0" u="none" strike="noStrike" cap="none">
                  <a:solidFill>
                    <a:srgbClr val="5E5E5E"/>
                  </a:solidFill>
                  <a:latin typeface="Roboto"/>
                  <a:ea typeface="Roboto"/>
                  <a:cs typeface="Roboto"/>
                  <a:sym typeface="Roboto"/>
                </a:rPr>
                <a:t>Faster response</a:t>
              </a:r>
              <a:endParaRPr sz="1400" i="0" u="none" strike="noStrike" cap="none">
                <a:solidFill>
                  <a:srgbClr val="5E5E5E"/>
                </a:solidFill>
                <a:latin typeface="Roboto"/>
                <a:ea typeface="Roboto"/>
                <a:cs typeface="Roboto"/>
                <a:sym typeface="Roboto"/>
              </a:endParaRPr>
            </a:p>
            <a:p>
              <a:pPr marL="609600" marR="0" lvl="0" indent="-393700" algn="l" rtl="0">
                <a:lnSpc>
                  <a:spcPct val="115000"/>
                </a:lnSpc>
                <a:spcBef>
                  <a:spcPts val="0"/>
                </a:spcBef>
                <a:spcAft>
                  <a:spcPts val="0"/>
                </a:spcAft>
                <a:buClr>
                  <a:srgbClr val="5E5E5E"/>
                </a:buClr>
                <a:buSzPts val="1400"/>
                <a:buFont typeface="Roboto"/>
                <a:buChar char="●"/>
              </a:pPr>
              <a:r>
                <a:rPr lang="en-GB" sz="1400" i="0" u="none" strike="noStrike" cap="none">
                  <a:solidFill>
                    <a:srgbClr val="5E5E5E"/>
                  </a:solidFill>
                  <a:latin typeface="Roboto"/>
                  <a:ea typeface="Roboto"/>
                  <a:cs typeface="Roboto"/>
                  <a:sym typeface="Roboto"/>
                </a:rPr>
                <a:t>Less complexity</a:t>
              </a:r>
              <a:endParaRPr sz="1400" i="0" u="none" strike="noStrike" cap="none">
                <a:solidFill>
                  <a:srgbClr val="5E5E5E"/>
                </a:solidFill>
                <a:latin typeface="Roboto"/>
                <a:ea typeface="Roboto"/>
                <a:cs typeface="Roboto"/>
                <a:sym typeface="Roboto"/>
              </a:endParaRPr>
            </a:p>
          </p:txBody>
        </p:sp>
      </p:grpSp>
      <p:pic>
        <p:nvPicPr>
          <p:cNvPr id="401" name="Google Shape;401;p37"/>
          <p:cNvPicPr preferRelativeResize="0"/>
          <p:nvPr/>
        </p:nvPicPr>
        <p:blipFill rotWithShape="1">
          <a:blip r:embed="rId3">
            <a:alphaModFix/>
          </a:blip>
          <a:srcRect/>
          <a:stretch/>
        </p:blipFill>
        <p:spPr>
          <a:xfrm>
            <a:off x="5399300" y="902249"/>
            <a:ext cx="3496800" cy="3611575"/>
          </a:xfrm>
          <a:prstGeom prst="rect">
            <a:avLst/>
          </a:prstGeom>
          <a:noFill/>
          <a:ln w="9525" cap="flat" cmpd="sng">
            <a:solidFill>
              <a:schemeClr val="lt1"/>
            </a:solidFill>
            <a:prstDash val="solid"/>
            <a:round/>
            <a:headEnd type="none" w="sm" len="sm"/>
            <a:tailEnd type="none" w="sm" len="sm"/>
          </a:ln>
        </p:spPr>
      </p:pic>
      <p:grpSp>
        <p:nvGrpSpPr>
          <p:cNvPr id="402" name="Google Shape;402;p37"/>
          <p:cNvGrpSpPr/>
          <p:nvPr/>
        </p:nvGrpSpPr>
        <p:grpSpPr>
          <a:xfrm>
            <a:off x="109401" y="2165688"/>
            <a:ext cx="5091092" cy="977746"/>
            <a:chOff x="2283025" y="2322567"/>
            <a:chExt cx="4459220" cy="643508"/>
          </a:xfrm>
        </p:grpSpPr>
        <p:sp>
          <p:nvSpPr>
            <p:cNvPr id="403" name="Google Shape;403;p37"/>
            <p:cNvSpPr/>
            <p:nvPr/>
          </p:nvSpPr>
          <p:spPr>
            <a:xfrm>
              <a:off x="3728369" y="2322575"/>
              <a:ext cx="3013800" cy="643500"/>
            </a:xfrm>
            <a:prstGeom prst="rect">
              <a:avLst/>
            </a:prstGeom>
            <a:solidFill>
              <a:srgbClr val="EEEEE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Roboto"/>
                <a:ea typeface="Roboto"/>
                <a:cs typeface="Roboto"/>
                <a:sym typeface="Roboto"/>
              </a:endParaRPr>
            </a:p>
          </p:txBody>
        </p:sp>
        <p:sp>
          <p:nvSpPr>
            <p:cNvPr id="404" name="Google Shape;404;p37"/>
            <p:cNvSpPr/>
            <p:nvPr/>
          </p:nvSpPr>
          <p:spPr>
            <a:xfrm flipH="1">
              <a:off x="2283025" y="2322575"/>
              <a:ext cx="1844400" cy="642600"/>
            </a:xfrm>
            <a:prstGeom prst="rect">
              <a:avLst/>
            </a:prstGeom>
            <a:solidFill>
              <a:srgbClr val="11648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Roboto"/>
                <a:ea typeface="Roboto"/>
                <a:cs typeface="Roboto"/>
                <a:sym typeface="Roboto"/>
              </a:endParaRPr>
            </a:p>
          </p:txBody>
        </p:sp>
        <p:sp>
          <p:nvSpPr>
            <p:cNvPr id="405" name="Google Shape;405;p37"/>
            <p:cNvSpPr/>
            <p:nvPr/>
          </p:nvSpPr>
          <p:spPr>
            <a:xfrm>
              <a:off x="2342625" y="2399951"/>
              <a:ext cx="1940700" cy="495900"/>
            </a:xfrm>
            <a:prstGeom prst="rect">
              <a:avLst/>
            </a:prstGeom>
            <a:noFill/>
            <a:ln>
              <a:noFill/>
            </a:ln>
          </p:spPr>
          <p:txBody>
            <a:bodyPr spcFirstLastPara="1" wrap="square" lIns="121900" tIns="121900" rIns="121900" bIns="121900" anchor="ctr" anchorCtr="0">
              <a:noAutofit/>
            </a:bodyPr>
            <a:lstStyle/>
            <a:p>
              <a:pPr marL="0" marR="0" lvl="0" indent="0" algn="l" rtl="0">
                <a:lnSpc>
                  <a:spcPct val="115000"/>
                </a:lnSpc>
                <a:spcBef>
                  <a:spcPts val="0"/>
                </a:spcBef>
                <a:spcAft>
                  <a:spcPts val="0"/>
                </a:spcAft>
                <a:buClr>
                  <a:srgbClr val="000000"/>
                </a:buClr>
                <a:buSzPts val="2100"/>
                <a:buFont typeface="Arial"/>
                <a:buNone/>
              </a:pPr>
              <a:r>
                <a:rPr lang="en-GB" sz="1800" i="0" u="none" strike="noStrike" cap="none">
                  <a:solidFill>
                    <a:srgbClr val="FFFFFF"/>
                  </a:solidFill>
                  <a:latin typeface="Roboto"/>
                  <a:ea typeface="Roboto"/>
                  <a:cs typeface="Roboto"/>
                  <a:sym typeface="Roboto"/>
                </a:rPr>
                <a:t>Davinci</a:t>
              </a:r>
              <a:endParaRPr sz="1800" i="0" u="none" strike="noStrike" cap="none">
                <a:solidFill>
                  <a:srgbClr val="FFFFFF"/>
                </a:solidFill>
                <a:latin typeface="Roboto"/>
                <a:ea typeface="Roboto"/>
                <a:cs typeface="Roboto"/>
                <a:sym typeface="Roboto"/>
              </a:endParaRPr>
            </a:p>
          </p:txBody>
        </p:sp>
        <p:sp>
          <p:nvSpPr>
            <p:cNvPr id="406" name="Google Shape;406;p37"/>
            <p:cNvSpPr/>
            <p:nvPr/>
          </p:nvSpPr>
          <p:spPr>
            <a:xfrm>
              <a:off x="4387845" y="2323743"/>
              <a:ext cx="2354400" cy="642300"/>
            </a:xfrm>
            <a:prstGeom prst="rect">
              <a:avLst/>
            </a:prstGeom>
            <a:noFill/>
            <a:ln>
              <a:noFill/>
            </a:ln>
          </p:spPr>
          <p:txBody>
            <a:bodyPr spcFirstLastPara="1" wrap="square" lIns="121900" tIns="121900" rIns="121900" bIns="121900" anchor="ctr" anchorCtr="0">
              <a:noAutofit/>
            </a:bodyPr>
            <a:lstStyle/>
            <a:p>
              <a:pPr marL="609600" marR="0" lvl="0" indent="-393700" algn="l" rtl="0">
                <a:lnSpc>
                  <a:spcPct val="115000"/>
                </a:lnSpc>
                <a:spcBef>
                  <a:spcPts val="0"/>
                </a:spcBef>
                <a:spcAft>
                  <a:spcPts val="0"/>
                </a:spcAft>
                <a:buClr>
                  <a:srgbClr val="5E5E5E"/>
                </a:buClr>
                <a:buSzPts val="1400"/>
                <a:buFont typeface="Roboto"/>
                <a:buChar char="●"/>
              </a:pPr>
              <a:r>
                <a:rPr lang="en-GB" sz="1400" i="0" u="none" strike="noStrike" cap="none">
                  <a:solidFill>
                    <a:srgbClr val="5E5E5E"/>
                  </a:solidFill>
                  <a:latin typeface="Roboto"/>
                  <a:ea typeface="Roboto"/>
                  <a:cs typeface="Roboto"/>
                  <a:sym typeface="Roboto"/>
                </a:rPr>
                <a:t>Slower response</a:t>
              </a:r>
              <a:endParaRPr sz="1400" i="0" u="none" strike="noStrike" cap="none">
                <a:solidFill>
                  <a:srgbClr val="5E5E5E"/>
                </a:solidFill>
                <a:latin typeface="Roboto"/>
                <a:ea typeface="Roboto"/>
                <a:cs typeface="Roboto"/>
                <a:sym typeface="Roboto"/>
              </a:endParaRPr>
            </a:p>
            <a:p>
              <a:pPr marL="609600" marR="0" lvl="0" indent="-393700" algn="l" rtl="0">
                <a:lnSpc>
                  <a:spcPct val="115000"/>
                </a:lnSpc>
                <a:spcBef>
                  <a:spcPts val="0"/>
                </a:spcBef>
                <a:spcAft>
                  <a:spcPts val="0"/>
                </a:spcAft>
                <a:buClr>
                  <a:srgbClr val="5E5E5E"/>
                </a:buClr>
                <a:buSzPts val="1400"/>
                <a:buFont typeface="Roboto"/>
                <a:buChar char="●"/>
              </a:pPr>
              <a:r>
                <a:rPr lang="en-GB" sz="1400" i="0" u="none" strike="noStrike" cap="none">
                  <a:solidFill>
                    <a:srgbClr val="5E5E5E"/>
                  </a:solidFill>
                  <a:latin typeface="Roboto"/>
                  <a:ea typeface="Roboto"/>
                  <a:cs typeface="Roboto"/>
                  <a:sym typeface="Roboto"/>
                </a:rPr>
                <a:t>Higher cost</a:t>
              </a:r>
              <a:endParaRPr sz="1400" i="0" u="none" strike="noStrike" cap="none">
                <a:solidFill>
                  <a:srgbClr val="5E5E5E"/>
                </a:solidFill>
                <a:latin typeface="Roboto"/>
                <a:ea typeface="Roboto"/>
                <a:cs typeface="Roboto"/>
                <a:sym typeface="Roboto"/>
              </a:endParaRPr>
            </a:p>
            <a:p>
              <a:pPr marL="609600" marR="0" lvl="0" indent="-393700" algn="l" rtl="0">
                <a:lnSpc>
                  <a:spcPct val="115000"/>
                </a:lnSpc>
                <a:spcBef>
                  <a:spcPts val="0"/>
                </a:spcBef>
                <a:spcAft>
                  <a:spcPts val="0"/>
                </a:spcAft>
                <a:buClr>
                  <a:srgbClr val="5E5E5E"/>
                </a:buClr>
                <a:buSzPts val="1400"/>
                <a:buFont typeface="Roboto"/>
                <a:buChar char="●"/>
              </a:pPr>
              <a:r>
                <a:rPr lang="en-GB" sz="1400" i="0" u="none" strike="noStrike" cap="none">
                  <a:solidFill>
                    <a:srgbClr val="5E5E5E"/>
                  </a:solidFill>
                  <a:latin typeface="Roboto"/>
                  <a:ea typeface="Roboto"/>
                  <a:cs typeface="Roboto"/>
                  <a:sym typeface="Roboto"/>
                </a:rPr>
                <a:t>Most capable</a:t>
              </a:r>
              <a:endParaRPr sz="1400" i="0" u="none" strike="noStrike" cap="none">
                <a:solidFill>
                  <a:srgbClr val="5E5E5E"/>
                </a:solidFill>
                <a:latin typeface="Roboto"/>
                <a:ea typeface="Roboto"/>
                <a:cs typeface="Roboto"/>
                <a:sym typeface="Roboto"/>
              </a:endParaRPr>
            </a:p>
          </p:txBody>
        </p:sp>
        <p:sp>
          <p:nvSpPr>
            <p:cNvPr id="407" name="Google Shape;407;p37"/>
            <p:cNvSpPr/>
            <p:nvPr/>
          </p:nvSpPr>
          <p:spPr>
            <a:xfrm rot="-5400000">
              <a:off x="3501574" y="1934671"/>
              <a:ext cx="643356" cy="1419149"/>
            </a:xfrm>
            <a:prstGeom prst="flowChartOffpageConnector">
              <a:avLst/>
            </a:prstGeom>
            <a:solidFill>
              <a:srgbClr val="11648E"/>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Roboto"/>
                <a:ea typeface="Roboto"/>
                <a:cs typeface="Roboto"/>
                <a:sym typeface="Roboto"/>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38"/>
          <p:cNvSpPr/>
          <p:nvPr/>
        </p:nvSpPr>
        <p:spPr>
          <a:xfrm>
            <a:off x="0" y="120875"/>
            <a:ext cx="4909500" cy="402600"/>
          </a:xfrm>
          <a:prstGeom prst="rect">
            <a:avLst/>
          </a:prstGeom>
          <a:gradFill>
            <a:gsLst>
              <a:gs pos="0">
                <a:srgbClr val="00C0F3"/>
              </a:gs>
              <a:gs pos="100000">
                <a:srgbClr val="008E4E"/>
              </a:gs>
            </a:gsLst>
            <a:lin ang="270000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Lucida Sans"/>
              <a:ea typeface="Lucida Sans"/>
              <a:cs typeface="Lucida Sans"/>
              <a:sym typeface="Lucida Sans"/>
            </a:endParaRPr>
          </a:p>
        </p:txBody>
      </p:sp>
      <p:sp>
        <p:nvSpPr>
          <p:cNvPr id="413" name="Google Shape;413;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22</a:t>
            </a:fld>
            <a:endParaRPr/>
          </a:p>
        </p:txBody>
      </p:sp>
      <p:sp>
        <p:nvSpPr>
          <p:cNvPr id="414" name="Google Shape;414;p38"/>
          <p:cNvSpPr txBox="1">
            <a:spLocks noGrp="1"/>
          </p:cNvSpPr>
          <p:nvPr>
            <p:ph type="title"/>
          </p:nvPr>
        </p:nvSpPr>
        <p:spPr>
          <a:xfrm>
            <a:off x="311700" y="73175"/>
            <a:ext cx="55143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A Sneak Peak to OpenAI’s Playground</a:t>
            </a:r>
            <a:endParaRPr/>
          </a:p>
        </p:txBody>
      </p:sp>
      <p:pic>
        <p:nvPicPr>
          <p:cNvPr id="415" name="Google Shape;415;p38"/>
          <p:cNvPicPr preferRelativeResize="0"/>
          <p:nvPr/>
        </p:nvPicPr>
        <p:blipFill>
          <a:blip r:embed="rId3">
            <a:alphaModFix/>
          </a:blip>
          <a:stretch>
            <a:fillRect/>
          </a:stretch>
        </p:blipFill>
        <p:spPr>
          <a:xfrm>
            <a:off x="270000" y="684000"/>
            <a:ext cx="8167657" cy="4093260"/>
          </a:xfrm>
          <a:prstGeom prst="rect">
            <a:avLst/>
          </a:prstGeom>
          <a:noFill/>
          <a:ln>
            <a:noFill/>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p39"/>
          <p:cNvSpPr/>
          <p:nvPr/>
        </p:nvSpPr>
        <p:spPr>
          <a:xfrm>
            <a:off x="0" y="120875"/>
            <a:ext cx="4885200" cy="402600"/>
          </a:xfrm>
          <a:prstGeom prst="rect">
            <a:avLst/>
          </a:prstGeom>
          <a:gradFill>
            <a:gsLst>
              <a:gs pos="0">
                <a:srgbClr val="00C0F3"/>
              </a:gs>
              <a:gs pos="100000">
                <a:srgbClr val="008E4E"/>
              </a:gs>
            </a:gsLst>
            <a:lin ang="270000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Lucida Sans"/>
              <a:ea typeface="Lucida Sans"/>
              <a:cs typeface="Lucida Sans"/>
              <a:sym typeface="Lucida Sans"/>
            </a:endParaRPr>
          </a:p>
        </p:txBody>
      </p:sp>
      <p:sp>
        <p:nvSpPr>
          <p:cNvPr id="421" name="Google Shape;421;p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23</a:t>
            </a:fld>
            <a:endParaRPr/>
          </a:p>
        </p:txBody>
      </p:sp>
      <p:sp>
        <p:nvSpPr>
          <p:cNvPr id="422" name="Google Shape;422;p39"/>
          <p:cNvSpPr txBox="1">
            <a:spLocks noGrp="1"/>
          </p:cNvSpPr>
          <p:nvPr>
            <p:ph type="title"/>
          </p:nvPr>
        </p:nvSpPr>
        <p:spPr>
          <a:xfrm>
            <a:off x="311700" y="73175"/>
            <a:ext cx="45345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A Primer to OpenAI’s GPT3 Capability</a:t>
            </a:r>
            <a:endParaRPr/>
          </a:p>
        </p:txBody>
      </p:sp>
      <p:pic>
        <p:nvPicPr>
          <p:cNvPr id="423" name="Google Shape;423;p39"/>
          <p:cNvPicPr preferRelativeResize="0"/>
          <p:nvPr/>
        </p:nvPicPr>
        <p:blipFill>
          <a:blip r:embed="rId3">
            <a:alphaModFix/>
          </a:blip>
          <a:stretch>
            <a:fillRect/>
          </a:stretch>
        </p:blipFill>
        <p:spPr>
          <a:xfrm>
            <a:off x="270000" y="684000"/>
            <a:ext cx="8167657" cy="4093260"/>
          </a:xfrm>
          <a:prstGeom prst="rect">
            <a:avLst/>
          </a:prstGeom>
          <a:noFill/>
          <a:ln>
            <a:noFill/>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42"/>
          <p:cNvSpPr/>
          <p:nvPr/>
        </p:nvSpPr>
        <p:spPr>
          <a:xfrm>
            <a:off x="0" y="120875"/>
            <a:ext cx="4885200" cy="402600"/>
          </a:xfrm>
          <a:prstGeom prst="rect">
            <a:avLst/>
          </a:prstGeom>
          <a:gradFill>
            <a:gsLst>
              <a:gs pos="0">
                <a:srgbClr val="00C0F3"/>
              </a:gs>
              <a:gs pos="100000">
                <a:srgbClr val="008E4E"/>
              </a:gs>
            </a:gsLst>
            <a:lin ang="270000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Lucida Sans"/>
              <a:ea typeface="Lucida Sans"/>
              <a:cs typeface="Lucida Sans"/>
              <a:sym typeface="Lucida Sans"/>
            </a:endParaRPr>
          </a:p>
        </p:txBody>
      </p:sp>
      <p:sp>
        <p:nvSpPr>
          <p:cNvPr id="445" name="Google Shape;445;p4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24</a:t>
            </a:fld>
            <a:endParaRPr/>
          </a:p>
        </p:txBody>
      </p:sp>
      <p:sp>
        <p:nvSpPr>
          <p:cNvPr id="446" name="Google Shape;446;p42"/>
          <p:cNvSpPr txBox="1">
            <a:spLocks noGrp="1"/>
          </p:cNvSpPr>
          <p:nvPr>
            <p:ph type="title"/>
          </p:nvPr>
        </p:nvSpPr>
        <p:spPr>
          <a:xfrm>
            <a:off x="311700" y="73175"/>
            <a:ext cx="45345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A Primer to OpenAI’s GPT3 Capability</a:t>
            </a:r>
            <a:endParaRPr/>
          </a:p>
        </p:txBody>
      </p:sp>
      <p:sp>
        <p:nvSpPr>
          <p:cNvPr id="447" name="Google Shape;447;p42"/>
          <p:cNvSpPr txBox="1"/>
          <p:nvPr/>
        </p:nvSpPr>
        <p:spPr>
          <a:xfrm>
            <a:off x="448525" y="1318875"/>
            <a:ext cx="3685800" cy="3263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GB" sz="1000">
                <a:solidFill>
                  <a:srgbClr val="202123"/>
                </a:solidFill>
                <a:latin typeface="Roboto Light"/>
                <a:ea typeface="Roboto Light"/>
                <a:cs typeface="Roboto Light"/>
                <a:sym typeface="Roboto Light"/>
              </a:rPr>
              <a:t>Dear John Doe,</a:t>
            </a:r>
            <a:endParaRPr sz="1000">
              <a:solidFill>
                <a:srgbClr val="202123"/>
              </a:solidFill>
              <a:latin typeface="Roboto Light"/>
              <a:ea typeface="Roboto Light"/>
              <a:cs typeface="Roboto Light"/>
              <a:sym typeface="Roboto Light"/>
            </a:endParaRPr>
          </a:p>
          <a:p>
            <a:pPr marL="0" lvl="0" indent="0" algn="l" rtl="0">
              <a:spcBef>
                <a:spcPts val="0"/>
              </a:spcBef>
              <a:spcAft>
                <a:spcPts val="0"/>
              </a:spcAft>
              <a:buNone/>
            </a:pPr>
            <a:endParaRPr sz="1000">
              <a:solidFill>
                <a:srgbClr val="202123"/>
              </a:solidFill>
              <a:latin typeface="Roboto Light"/>
              <a:ea typeface="Roboto Light"/>
              <a:cs typeface="Roboto Light"/>
              <a:sym typeface="Roboto Light"/>
            </a:endParaRPr>
          </a:p>
          <a:p>
            <a:pPr marL="0" lvl="0" indent="0" algn="l" rtl="0">
              <a:spcBef>
                <a:spcPts val="0"/>
              </a:spcBef>
              <a:spcAft>
                <a:spcPts val="0"/>
              </a:spcAft>
              <a:buNone/>
            </a:pPr>
            <a:r>
              <a:rPr lang="en-GB" sz="1000">
                <a:solidFill>
                  <a:srgbClr val="202123"/>
                </a:solidFill>
                <a:latin typeface="Roboto Light"/>
                <a:ea typeface="Roboto Light"/>
                <a:cs typeface="Roboto Light"/>
                <a:sym typeface="Roboto Light"/>
              </a:rPr>
              <a:t>I hope you are doing well. I am writing to you to fill you in on some updates with regards to the company's policies.</a:t>
            </a:r>
            <a:endParaRPr sz="1000">
              <a:solidFill>
                <a:srgbClr val="202123"/>
              </a:solidFill>
              <a:latin typeface="Roboto Light"/>
              <a:ea typeface="Roboto Light"/>
              <a:cs typeface="Roboto Light"/>
              <a:sym typeface="Roboto Light"/>
            </a:endParaRPr>
          </a:p>
          <a:p>
            <a:pPr marL="0" lvl="0" indent="0" algn="l" rtl="0">
              <a:spcBef>
                <a:spcPts val="0"/>
              </a:spcBef>
              <a:spcAft>
                <a:spcPts val="0"/>
              </a:spcAft>
              <a:buNone/>
            </a:pPr>
            <a:endParaRPr sz="1000">
              <a:solidFill>
                <a:srgbClr val="202123"/>
              </a:solidFill>
              <a:latin typeface="Roboto Light"/>
              <a:ea typeface="Roboto Light"/>
              <a:cs typeface="Roboto Light"/>
              <a:sym typeface="Roboto Light"/>
            </a:endParaRPr>
          </a:p>
          <a:p>
            <a:pPr marL="0" lvl="0" indent="0" algn="l" rtl="0">
              <a:spcBef>
                <a:spcPts val="0"/>
              </a:spcBef>
              <a:spcAft>
                <a:spcPts val="0"/>
              </a:spcAft>
              <a:buNone/>
            </a:pPr>
            <a:r>
              <a:rPr lang="en-GB" sz="1000">
                <a:solidFill>
                  <a:srgbClr val="202123"/>
                </a:solidFill>
                <a:latin typeface="Roboto Light"/>
                <a:ea typeface="Roboto Light"/>
                <a:cs typeface="Roboto Light"/>
                <a:sym typeface="Roboto Light"/>
              </a:rPr>
              <a:t>We are always looking out for your best interests and to stay in line with our company's goals, we have updated our attendance policy to better suit your needs. To be able to work remotely, you will need to fill out an online form. This form is to ensure that you are not taking a full day off, and are still able to work.</a:t>
            </a:r>
            <a:endParaRPr sz="1000">
              <a:solidFill>
                <a:srgbClr val="202123"/>
              </a:solidFill>
              <a:latin typeface="Roboto Light"/>
              <a:ea typeface="Roboto Light"/>
              <a:cs typeface="Roboto Light"/>
              <a:sym typeface="Roboto Light"/>
            </a:endParaRPr>
          </a:p>
          <a:p>
            <a:pPr marL="0" lvl="0" indent="0" algn="l" rtl="0">
              <a:spcBef>
                <a:spcPts val="0"/>
              </a:spcBef>
              <a:spcAft>
                <a:spcPts val="0"/>
              </a:spcAft>
              <a:buNone/>
            </a:pPr>
            <a:endParaRPr sz="1000">
              <a:solidFill>
                <a:srgbClr val="202123"/>
              </a:solidFill>
              <a:latin typeface="Roboto Light"/>
              <a:ea typeface="Roboto Light"/>
              <a:cs typeface="Roboto Light"/>
              <a:sym typeface="Roboto Light"/>
            </a:endParaRPr>
          </a:p>
          <a:p>
            <a:pPr marL="0" lvl="0" indent="0" algn="l" rtl="0">
              <a:spcBef>
                <a:spcPts val="0"/>
              </a:spcBef>
              <a:spcAft>
                <a:spcPts val="0"/>
              </a:spcAft>
              <a:buNone/>
            </a:pPr>
            <a:r>
              <a:rPr lang="en-GB" sz="1000">
                <a:solidFill>
                  <a:srgbClr val="202123"/>
                </a:solidFill>
                <a:latin typeface="Roboto Light"/>
                <a:ea typeface="Roboto Light"/>
                <a:cs typeface="Roboto Light"/>
                <a:sym typeface="Roboto Light"/>
              </a:rPr>
              <a:t>If you are unable to access the form, please feel free to contact me and I will happily send it to you.</a:t>
            </a:r>
            <a:endParaRPr sz="1000">
              <a:solidFill>
                <a:srgbClr val="202123"/>
              </a:solidFill>
              <a:latin typeface="Roboto Light"/>
              <a:ea typeface="Roboto Light"/>
              <a:cs typeface="Roboto Light"/>
              <a:sym typeface="Roboto Light"/>
            </a:endParaRPr>
          </a:p>
          <a:p>
            <a:pPr marL="0" lvl="0" indent="0" algn="l" rtl="0">
              <a:spcBef>
                <a:spcPts val="0"/>
              </a:spcBef>
              <a:spcAft>
                <a:spcPts val="0"/>
              </a:spcAft>
              <a:buNone/>
            </a:pPr>
            <a:endParaRPr sz="1000">
              <a:solidFill>
                <a:srgbClr val="202123"/>
              </a:solidFill>
              <a:latin typeface="Roboto Light"/>
              <a:ea typeface="Roboto Light"/>
              <a:cs typeface="Roboto Light"/>
              <a:sym typeface="Roboto Light"/>
            </a:endParaRPr>
          </a:p>
          <a:p>
            <a:pPr marL="0" lvl="0" indent="0" algn="l" rtl="0">
              <a:spcBef>
                <a:spcPts val="0"/>
              </a:spcBef>
              <a:spcAft>
                <a:spcPts val="0"/>
              </a:spcAft>
              <a:buNone/>
            </a:pPr>
            <a:r>
              <a:rPr lang="en-GB" sz="1000">
                <a:solidFill>
                  <a:srgbClr val="202123"/>
                </a:solidFill>
                <a:latin typeface="Roboto Light"/>
                <a:ea typeface="Roboto Light"/>
                <a:cs typeface="Roboto Light"/>
                <a:sym typeface="Roboto Light"/>
              </a:rPr>
              <a:t>I hope you can fill out the form as soon as possible to avoid any problems in the future.</a:t>
            </a:r>
            <a:endParaRPr sz="1000">
              <a:solidFill>
                <a:srgbClr val="202123"/>
              </a:solidFill>
              <a:latin typeface="Roboto Light"/>
              <a:ea typeface="Roboto Light"/>
              <a:cs typeface="Roboto Light"/>
              <a:sym typeface="Roboto Light"/>
            </a:endParaRPr>
          </a:p>
          <a:p>
            <a:pPr marL="0" lvl="0" indent="0" algn="l" rtl="0">
              <a:spcBef>
                <a:spcPts val="0"/>
              </a:spcBef>
              <a:spcAft>
                <a:spcPts val="0"/>
              </a:spcAft>
              <a:buNone/>
            </a:pPr>
            <a:endParaRPr sz="1000">
              <a:solidFill>
                <a:srgbClr val="202123"/>
              </a:solidFill>
              <a:latin typeface="Roboto Light"/>
              <a:ea typeface="Roboto Light"/>
              <a:cs typeface="Roboto Light"/>
              <a:sym typeface="Roboto Light"/>
            </a:endParaRPr>
          </a:p>
          <a:p>
            <a:pPr marL="0" lvl="0" indent="0" algn="l" rtl="0">
              <a:spcBef>
                <a:spcPts val="0"/>
              </a:spcBef>
              <a:spcAft>
                <a:spcPts val="0"/>
              </a:spcAft>
              <a:buNone/>
            </a:pPr>
            <a:r>
              <a:rPr lang="en-GB" sz="1000">
                <a:solidFill>
                  <a:srgbClr val="202123"/>
                </a:solidFill>
                <a:latin typeface="Roboto Light"/>
                <a:ea typeface="Roboto Light"/>
                <a:cs typeface="Roboto Light"/>
                <a:sym typeface="Roboto Light"/>
              </a:rPr>
              <a:t>Regards,</a:t>
            </a:r>
            <a:endParaRPr sz="1000">
              <a:solidFill>
                <a:srgbClr val="202123"/>
              </a:solidFill>
              <a:latin typeface="Roboto Light"/>
              <a:ea typeface="Roboto Light"/>
              <a:cs typeface="Roboto Light"/>
              <a:sym typeface="Roboto Light"/>
            </a:endParaRPr>
          </a:p>
          <a:p>
            <a:pPr marL="0" lvl="0" indent="0" algn="l" rtl="0">
              <a:spcBef>
                <a:spcPts val="0"/>
              </a:spcBef>
              <a:spcAft>
                <a:spcPts val="0"/>
              </a:spcAft>
              <a:buNone/>
            </a:pPr>
            <a:endParaRPr sz="1000">
              <a:solidFill>
                <a:srgbClr val="202123"/>
              </a:solidFill>
              <a:latin typeface="Roboto Light"/>
              <a:ea typeface="Roboto Light"/>
              <a:cs typeface="Roboto Light"/>
              <a:sym typeface="Roboto Light"/>
            </a:endParaRPr>
          </a:p>
          <a:p>
            <a:pPr marL="0" lvl="0" indent="0" algn="l" rtl="0">
              <a:spcBef>
                <a:spcPts val="0"/>
              </a:spcBef>
              <a:spcAft>
                <a:spcPts val="0"/>
              </a:spcAft>
              <a:buNone/>
            </a:pPr>
            <a:r>
              <a:rPr lang="en-GB" sz="1000">
                <a:solidFill>
                  <a:srgbClr val="202123"/>
                </a:solidFill>
                <a:latin typeface="Roboto Light"/>
                <a:ea typeface="Roboto Light"/>
                <a:cs typeface="Roboto Light"/>
                <a:sym typeface="Roboto Light"/>
              </a:rPr>
              <a:t>Jane Doe</a:t>
            </a:r>
            <a:endParaRPr sz="1000">
              <a:solidFill>
                <a:srgbClr val="202123"/>
              </a:solidFill>
              <a:latin typeface="Roboto Light"/>
              <a:ea typeface="Roboto Light"/>
              <a:cs typeface="Roboto Light"/>
              <a:sym typeface="Roboto Light"/>
            </a:endParaRPr>
          </a:p>
        </p:txBody>
      </p:sp>
      <p:sp>
        <p:nvSpPr>
          <p:cNvPr id="448" name="Google Shape;448;p42"/>
          <p:cNvSpPr txBox="1"/>
          <p:nvPr/>
        </p:nvSpPr>
        <p:spPr>
          <a:xfrm>
            <a:off x="4237925" y="1318875"/>
            <a:ext cx="3685800" cy="3263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GB" sz="1000">
                <a:solidFill>
                  <a:srgbClr val="202123"/>
                </a:solidFill>
                <a:latin typeface="Roboto Light"/>
                <a:ea typeface="Roboto Light"/>
                <a:cs typeface="Roboto Light"/>
                <a:sym typeface="Roboto Light"/>
              </a:rPr>
              <a:t>Dear John Doe,</a:t>
            </a:r>
            <a:endParaRPr sz="1000">
              <a:solidFill>
                <a:srgbClr val="202123"/>
              </a:solidFill>
              <a:latin typeface="Roboto Light"/>
              <a:ea typeface="Roboto Light"/>
              <a:cs typeface="Roboto Light"/>
              <a:sym typeface="Roboto Light"/>
            </a:endParaRPr>
          </a:p>
          <a:p>
            <a:pPr marL="0" lvl="0" indent="0" algn="l" rtl="0">
              <a:spcBef>
                <a:spcPts val="0"/>
              </a:spcBef>
              <a:spcAft>
                <a:spcPts val="0"/>
              </a:spcAft>
              <a:buNone/>
            </a:pPr>
            <a:endParaRPr sz="1000">
              <a:solidFill>
                <a:srgbClr val="202123"/>
              </a:solidFill>
              <a:latin typeface="Roboto Light"/>
              <a:ea typeface="Roboto Light"/>
              <a:cs typeface="Roboto Light"/>
              <a:sym typeface="Roboto Light"/>
            </a:endParaRPr>
          </a:p>
          <a:p>
            <a:pPr marL="0" lvl="0" indent="0" algn="l" rtl="0">
              <a:spcBef>
                <a:spcPts val="0"/>
              </a:spcBef>
              <a:spcAft>
                <a:spcPts val="0"/>
              </a:spcAft>
              <a:buNone/>
            </a:pPr>
            <a:r>
              <a:rPr lang="en-GB" sz="1000">
                <a:solidFill>
                  <a:srgbClr val="202123"/>
                </a:solidFill>
                <a:latin typeface="Roboto Light"/>
                <a:ea typeface="Roboto Light"/>
                <a:cs typeface="Roboto Light"/>
                <a:sym typeface="Roboto Light"/>
              </a:rPr>
              <a:t>We would like to invite you to participate in our company's annual employee survey. The survey will help us to maintain a clear understanding of the company's strengths and weaknesses, and will help us to better serve our employees.</a:t>
            </a:r>
            <a:endParaRPr sz="1000">
              <a:solidFill>
                <a:srgbClr val="202123"/>
              </a:solidFill>
              <a:latin typeface="Roboto Light"/>
              <a:ea typeface="Roboto Light"/>
              <a:cs typeface="Roboto Light"/>
              <a:sym typeface="Roboto Light"/>
            </a:endParaRPr>
          </a:p>
          <a:p>
            <a:pPr marL="0" lvl="0" indent="0" algn="l" rtl="0">
              <a:spcBef>
                <a:spcPts val="0"/>
              </a:spcBef>
              <a:spcAft>
                <a:spcPts val="0"/>
              </a:spcAft>
              <a:buNone/>
            </a:pPr>
            <a:endParaRPr sz="1000">
              <a:solidFill>
                <a:srgbClr val="202123"/>
              </a:solidFill>
              <a:latin typeface="Roboto Light"/>
              <a:ea typeface="Roboto Light"/>
              <a:cs typeface="Roboto Light"/>
              <a:sym typeface="Roboto Light"/>
            </a:endParaRPr>
          </a:p>
          <a:p>
            <a:pPr marL="0" lvl="0" indent="0" algn="l" rtl="0">
              <a:spcBef>
                <a:spcPts val="0"/>
              </a:spcBef>
              <a:spcAft>
                <a:spcPts val="0"/>
              </a:spcAft>
              <a:buNone/>
            </a:pPr>
            <a:r>
              <a:rPr lang="en-GB" sz="1000">
                <a:solidFill>
                  <a:srgbClr val="202123"/>
                </a:solidFill>
                <a:latin typeface="Roboto Light"/>
                <a:ea typeface="Roboto Light"/>
                <a:cs typeface="Roboto Light"/>
                <a:sym typeface="Roboto Light"/>
              </a:rPr>
              <a:t>The survey is completely anonymous and will take about 10 minutes to complete.</a:t>
            </a:r>
            <a:endParaRPr sz="1000">
              <a:solidFill>
                <a:srgbClr val="202123"/>
              </a:solidFill>
              <a:latin typeface="Roboto Light"/>
              <a:ea typeface="Roboto Light"/>
              <a:cs typeface="Roboto Light"/>
              <a:sym typeface="Roboto Light"/>
            </a:endParaRPr>
          </a:p>
          <a:p>
            <a:pPr marL="0" lvl="0" indent="0" algn="l" rtl="0">
              <a:spcBef>
                <a:spcPts val="0"/>
              </a:spcBef>
              <a:spcAft>
                <a:spcPts val="0"/>
              </a:spcAft>
              <a:buNone/>
            </a:pPr>
            <a:endParaRPr sz="1000">
              <a:solidFill>
                <a:srgbClr val="202123"/>
              </a:solidFill>
              <a:latin typeface="Roboto Light"/>
              <a:ea typeface="Roboto Light"/>
              <a:cs typeface="Roboto Light"/>
              <a:sym typeface="Roboto Light"/>
            </a:endParaRPr>
          </a:p>
          <a:p>
            <a:pPr marL="0" lvl="0" indent="0" algn="l" rtl="0">
              <a:spcBef>
                <a:spcPts val="0"/>
              </a:spcBef>
              <a:spcAft>
                <a:spcPts val="0"/>
              </a:spcAft>
              <a:buNone/>
            </a:pPr>
            <a:r>
              <a:rPr lang="en-GB" sz="1000">
                <a:solidFill>
                  <a:srgbClr val="202123"/>
                </a:solidFill>
                <a:latin typeface="Roboto Light"/>
                <a:ea typeface="Roboto Light"/>
                <a:cs typeface="Roboto Light"/>
                <a:sym typeface="Roboto Light"/>
              </a:rPr>
              <a:t>The survey will help us to better serve our employees.</a:t>
            </a:r>
            <a:endParaRPr sz="1000">
              <a:solidFill>
                <a:srgbClr val="202123"/>
              </a:solidFill>
              <a:latin typeface="Roboto Light"/>
              <a:ea typeface="Roboto Light"/>
              <a:cs typeface="Roboto Light"/>
              <a:sym typeface="Roboto Light"/>
            </a:endParaRPr>
          </a:p>
          <a:p>
            <a:pPr marL="0" lvl="0" indent="0" algn="l" rtl="0">
              <a:spcBef>
                <a:spcPts val="0"/>
              </a:spcBef>
              <a:spcAft>
                <a:spcPts val="0"/>
              </a:spcAft>
              <a:buNone/>
            </a:pPr>
            <a:endParaRPr sz="1000">
              <a:solidFill>
                <a:srgbClr val="202123"/>
              </a:solidFill>
              <a:latin typeface="Roboto Light"/>
              <a:ea typeface="Roboto Light"/>
              <a:cs typeface="Roboto Light"/>
              <a:sym typeface="Roboto Light"/>
            </a:endParaRPr>
          </a:p>
          <a:p>
            <a:pPr marL="0" lvl="0" indent="0" algn="l" rtl="0">
              <a:spcBef>
                <a:spcPts val="0"/>
              </a:spcBef>
              <a:spcAft>
                <a:spcPts val="0"/>
              </a:spcAft>
              <a:buNone/>
            </a:pPr>
            <a:r>
              <a:rPr lang="en-GB" sz="1000">
                <a:solidFill>
                  <a:srgbClr val="202123"/>
                </a:solidFill>
                <a:latin typeface="Roboto Light"/>
                <a:ea typeface="Roboto Light"/>
                <a:cs typeface="Roboto Light"/>
                <a:sym typeface="Roboto Light"/>
              </a:rPr>
              <a:t>Sincerely,</a:t>
            </a:r>
            <a:endParaRPr sz="1000">
              <a:solidFill>
                <a:srgbClr val="202123"/>
              </a:solidFill>
              <a:latin typeface="Roboto Light"/>
              <a:ea typeface="Roboto Light"/>
              <a:cs typeface="Roboto Light"/>
              <a:sym typeface="Roboto Light"/>
            </a:endParaRPr>
          </a:p>
          <a:p>
            <a:pPr marL="0" lvl="0" indent="0" algn="l" rtl="0">
              <a:spcBef>
                <a:spcPts val="0"/>
              </a:spcBef>
              <a:spcAft>
                <a:spcPts val="0"/>
              </a:spcAft>
              <a:buNone/>
            </a:pPr>
            <a:endParaRPr sz="1000">
              <a:solidFill>
                <a:srgbClr val="202123"/>
              </a:solidFill>
              <a:latin typeface="Roboto Light"/>
              <a:ea typeface="Roboto Light"/>
              <a:cs typeface="Roboto Light"/>
              <a:sym typeface="Roboto Light"/>
            </a:endParaRPr>
          </a:p>
          <a:p>
            <a:pPr marL="0" lvl="0" indent="0" algn="l" rtl="0">
              <a:spcBef>
                <a:spcPts val="0"/>
              </a:spcBef>
              <a:spcAft>
                <a:spcPts val="0"/>
              </a:spcAft>
              <a:buNone/>
            </a:pPr>
            <a:r>
              <a:rPr lang="en-GB" sz="1000">
                <a:solidFill>
                  <a:srgbClr val="202123"/>
                </a:solidFill>
                <a:latin typeface="Roboto Light"/>
                <a:ea typeface="Roboto Light"/>
                <a:cs typeface="Roboto Light"/>
                <a:sym typeface="Roboto Light"/>
              </a:rPr>
              <a:t>Jane Doe</a:t>
            </a:r>
            <a:endParaRPr sz="1000">
              <a:solidFill>
                <a:srgbClr val="202123"/>
              </a:solidFill>
              <a:latin typeface="Roboto Light"/>
              <a:ea typeface="Roboto Light"/>
              <a:cs typeface="Roboto Light"/>
              <a:sym typeface="Roboto Light"/>
            </a:endParaRPr>
          </a:p>
          <a:p>
            <a:pPr marL="0" lvl="0" indent="0" algn="l" rtl="0">
              <a:spcBef>
                <a:spcPts val="0"/>
              </a:spcBef>
              <a:spcAft>
                <a:spcPts val="0"/>
              </a:spcAft>
              <a:buNone/>
            </a:pPr>
            <a:endParaRPr sz="1000">
              <a:solidFill>
                <a:srgbClr val="202123"/>
              </a:solidFill>
              <a:latin typeface="Roboto Light"/>
              <a:ea typeface="Roboto Light"/>
              <a:cs typeface="Roboto Light"/>
              <a:sym typeface="Roboto Light"/>
            </a:endParaRPr>
          </a:p>
          <a:p>
            <a:pPr marL="0" lvl="0" indent="0" algn="l" rtl="0">
              <a:spcBef>
                <a:spcPts val="0"/>
              </a:spcBef>
              <a:spcAft>
                <a:spcPts val="0"/>
              </a:spcAft>
              <a:buNone/>
            </a:pPr>
            <a:endParaRPr sz="1000">
              <a:solidFill>
                <a:srgbClr val="202123"/>
              </a:solidFill>
              <a:latin typeface="Roboto Light"/>
              <a:ea typeface="Roboto Light"/>
              <a:cs typeface="Roboto Light"/>
              <a:sym typeface="Roboto Light"/>
            </a:endParaRPr>
          </a:p>
          <a:p>
            <a:pPr marL="0" lvl="0" indent="0" algn="l" rtl="0">
              <a:spcBef>
                <a:spcPts val="0"/>
              </a:spcBef>
              <a:spcAft>
                <a:spcPts val="0"/>
              </a:spcAft>
              <a:buNone/>
            </a:pPr>
            <a:endParaRPr sz="1000">
              <a:solidFill>
                <a:srgbClr val="202123"/>
              </a:solidFill>
              <a:latin typeface="Roboto Light"/>
              <a:ea typeface="Roboto Light"/>
              <a:cs typeface="Roboto Light"/>
              <a:sym typeface="Roboto Light"/>
            </a:endParaRPr>
          </a:p>
          <a:p>
            <a:pPr marL="0" lvl="0" indent="0" algn="l" rtl="0">
              <a:spcBef>
                <a:spcPts val="0"/>
              </a:spcBef>
              <a:spcAft>
                <a:spcPts val="0"/>
              </a:spcAft>
              <a:buNone/>
            </a:pPr>
            <a:endParaRPr sz="1000">
              <a:solidFill>
                <a:srgbClr val="202123"/>
              </a:solidFill>
              <a:latin typeface="Roboto Light"/>
              <a:ea typeface="Roboto Light"/>
              <a:cs typeface="Roboto Light"/>
              <a:sym typeface="Roboto Light"/>
            </a:endParaRPr>
          </a:p>
          <a:p>
            <a:pPr marL="0" lvl="0" indent="0" algn="l" rtl="0">
              <a:spcBef>
                <a:spcPts val="0"/>
              </a:spcBef>
              <a:spcAft>
                <a:spcPts val="0"/>
              </a:spcAft>
              <a:buNone/>
            </a:pPr>
            <a:endParaRPr sz="1000">
              <a:solidFill>
                <a:srgbClr val="202123"/>
              </a:solidFill>
              <a:latin typeface="Roboto Light"/>
              <a:ea typeface="Roboto Light"/>
              <a:cs typeface="Roboto Light"/>
              <a:sym typeface="Roboto Light"/>
            </a:endParaRPr>
          </a:p>
        </p:txBody>
      </p:sp>
      <p:sp>
        <p:nvSpPr>
          <p:cNvPr id="449" name="Google Shape;449;p42"/>
          <p:cNvSpPr txBox="1"/>
          <p:nvPr/>
        </p:nvSpPr>
        <p:spPr>
          <a:xfrm>
            <a:off x="428475" y="598675"/>
            <a:ext cx="7614000" cy="692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100">
                <a:solidFill>
                  <a:srgbClr val="202123"/>
                </a:solidFill>
                <a:latin typeface="Roboto"/>
                <a:ea typeface="Roboto"/>
                <a:cs typeface="Roboto"/>
                <a:sym typeface="Roboto"/>
              </a:rPr>
              <a:t>OpenAI’s GPT3 has a temperature parameter (“Temperature”) which controls the randomness. Lowering the parameter will result the model becoming deterministic and repetitive. Thus, by repeatedly submitting the same set of inputs, a different set of output will be produced.</a:t>
            </a:r>
            <a:endParaRPr sz="1100">
              <a:latin typeface="Roboto"/>
              <a:ea typeface="Roboto"/>
              <a:cs typeface="Roboto"/>
              <a:sym typeface="Roboto"/>
            </a:endParaRPr>
          </a:p>
        </p:txBody>
      </p:sp>
      <p:sp>
        <p:nvSpPr>
          <p:cNvPr id="450" name="Google Shape;450;p42"/>
          <p:cNvSpPr txBox="1"/>
          <p:nvPr/>
        </p:nvSpPr>
        <p:spPr>
          <a:xfrm>
            <a:off x="457200" y="4572000"/>
            <a:ext cx="64413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100" i="1">
                <a:solidFill>
                  <a:srgbClr val="202123"/>
                </a:solidFill>
                <a:latin typeface="Roboto Light"/>
                <a:ea typeface="Roboto Light"/>
                <a:cs typeface="Roboto Light"/>
                <a:sym typeface="Roboto Light"/>
              </a:rPr>
              <a:t>The output above are produced from the same set of input instructions</a:t>
            </a:r>
            <a:endParaRPr i="1">
              <a:latin typeface="Roboto Light"/>
              <a:ea typeface="Roboto Light"/>
              <a:cs typeface="Roboto Light"/>
              <a:sym typeface="Roboto Light"/>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43"/>
          <p:cNvSpPr txBox="1">
            <a:spLocks noGrp="1"/>
          </p:cNvSpPr>
          <p:nvPr>
            <p:ph type="title"/>
          </p:nvPr>
        </p:nvSpPr>
        <p:spPr>
          <a:xfrm>
            <a:off x="490250" y="2805450"/>
            <a:ext cx="8477100" cy="10512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GB"/>
              <a:t>Hacking Humans - The AI Way</a:t>
            </a:r>
            <a:endParaRPr/>
          </a:p>
        </p:txBody>
      </p:sp>
      <p:sp>
        <p:nvSpPr>
          <p:cNvPr id="456" name="Google Shape;456;p4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25</a:t>
            </a:fld>
            <a:endParaRPr/>
          </a:p>
        </p:txBody>
      </p:sp>
      <p:sp>
        <p:nvSpPr>
          <p:cNvPr id="457" name="Google Shape;457;p43"/>
          <p:cNvSpPr txBox="1">
            <a:spLocks noGrp="1"/>
          </p:cNvSpPr>
          <p:nvPr>
            <p:ph type="subTitle" idx="1"/>
          </p:nvPr>
        </p:nvSpPr>
        <p:spPr>
          <a:xfrm>
            <a:off x="490250" y="3596125"/>
            <a:ext cx="6367800" cy="480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With a bit of the Dark Arts - Applying AI as a Service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44"/>
          <p:cNvSpPr/>
          <p:nvPr/>
        </p:nvSpPr>
        <p:spPr>
          <a:xfrm>
            <a:off x="0" y="120875"/>
            <a:ext cx="6333000" cy="402600"/>
          </a:xfrm>
          <a:prstGeom prst="rect">
            <a:avLst/>
          </a:prstGeom>
          <a:gradFill>
            <a:gsLst>
              <a:gs pos="0">
                <a:srgbClr val="00C0F3"/>
              </a:gs>
              <a:gs pos="100000">
                <a:srgbClr val="008E4E"/>
              </a:gs>
            </a:gsLst>
            <a:lin ang="270000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Lucida Sans"/>
              <a:ea typeface="Lucida Sans"/>
              <a:cs typeface="Lucida Sans"/>
              <a:sym typeface="Lucida Sans"/>
            </a:endParaRPr>
          </a:p>
        </p:txBody>
      </p:sp>
      <p:sp>
        <p:nvSpPr>
          <p:cNvPr id="463" name="Google Shape;463;p4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26</a:t>
            </a:fld>
            <a:endParaRPr/>
          </a:p>
        </p:txBody>
      </p:sp>
      <p:sp>
        <p:nvSpPr>
          <p:cNvPr id="464" name="Google Shape;464;p44"/>
          <p:cNvSpPr txBox="1">
            <a:spLocks noGrp="1"/>
          </p:cNvSpPr>
          <p:nvPr>
            <p:ph type="title"/>
          </p:nvPr>
        </p:nvSpPr>
        <p:spPr>
          <a:xfrm>
            <a:off x="311700" y="73175"/>
            <a:ext cx="61920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Piecing Everything Together For Phishing Delivery</a:t>
            </a:r>
            <a:endParaRPr/>
          </a:p>
        </p:txBody>
      </p:sp>
      <p:pic>
        <p:nvPicPr>
          <p:cNvPr id="465" name="Google Shape;465;p44"/>
          <p:cNvPicPr preferRelativeResize="0"/>
          <p:nvPr/>
        </p:nvPicPr>
        <p:blipFill rotWithShape="1">
          <a:blip r:embed="rId3">
            <a:alphaModFix/>
          </a:blip>
          <a:srcRect t="7757"/>
          <a:stretch/>
        </p:blipFill>
        <p:spPr>
          <a:xfrm>
            <a:off x="79575" y="523475"/>
            <a:ext cx="7877307" cy="431287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45"/>
          <p:cNvSpPr/>
          <p:nvPr/>
        </p:nvSpPr>
        <p:spPr>
          <a:xfrm>
            <a:off x="0" y="120875"/>
            <a:ext cx="6333000" cy="402600"/>
          </a:xfrm>
          <a:prstGeom prst="rect">
            <a:avLst/>
          </a:prstGeom>
          <a:gradFill>
            <a:gsLst>
              <a:gs pos="0">
                <a:srgbClr val="00C0F3"/>
              </a:gs>
              <a:gs pos="100000">
                <a:srgbClr val="008E4E"/>
              </a:gs>
            </a:gsLst>
            <a:lin ang="270000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Lucida Sans"/>
              <a:ea typeface="Lucida Sans"/>
              <a:cs typeface="Lucida Sans"/>
              <a:sym typeface="Lucida Sans"/>
            </a:endParaRPr>
          </a:p>
        </p:txBody>
      </p:sp>
      <p:sp>
        <p:nvSpPr>
          <p:cNvPr id="471" name="Google Shape;471;p4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27</a:t>
            </a:fld>
            <a:endParaRPr/>
          </a:p>
        </p:txBody>
      </p:sp>
      <p:sp>
        <p:nvSpPr>
          <p:cNvPr id="472" name="Google Shape;472;p45"/>
          <p:cNvSpPr txBox="1">
            <a:spLocks noGrp="1"/>
          </p:cNvSpPr>
          <p:nvPr>
            <p:ph type="title"/>
          </p:nvPr>
        </p:nvSpPr>
        <p:spPr>
          <a:xfrm>
            <a:off x="311700" y="73175"/>
            <a:ext cx="61920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Piecing Everything Together For Phishing Delivery</a:t>
            </a:r>
            <a:endParaRPr/>
          </a:p>
        </p:txBody>
      </p:sp>
      <p:pic>
        <p:nvPicPr>
          <p:cNvPr id="473" name="Google Shape;473;p45"/>
          <p:cNvPicPr preferRelativeResize="0"/>
          <p:nvPr/>
        </p:nvPicPr>
        <p:blipFill rotWithShape="1">
          <a:blip r:embed="rId3">
            <a:alphaModFix/>
          </a:blip>
          <a:srcRect t="7757"/>
          <a:stretch/>
        </p:blipFill>
        <p:spPr>
          <a:xfrm>
            <a:off x="79575" y="523475"/>
            <a:ext cx="7877307" cy="4312876"/>
          </a:xfrm>
          <a:prstGeom prst="rect">
            <a:avLst/>
          </a:prstGeom>
          <a:noFill/>
          <a:ln>
            <a:noFill/>
          </a:ln>
        </p:spPr>
      </p:pic>
      <p:grpSp>
        <p:nvGrpSpPr>
          <p:cNvPr id="474" name="Google Shape;474;p45"/>
          <p:cNvGrpSpPr/>
          <p:nvPr/>
        </p:nvGrpSpPr>
        <p:grpSpPr>
          <a:xfrm>
            <a:off x="4438572" y="645875"/>
            <a:ext cx="3124118" cy="400200"/>
            <a:chOff x="881075" y="1159625"/>
            <a:chExt cx="2776500" cy="400200"/>
          </a:xfrm>
        </p:grpSpPr>
        <p:sp>
          <p:nvSpPr>
            <p:cNvPr id="475" name="Google Shape;475;p45"/>
            <p:cNvSpPr/>
            <p:nvPr/>
          </p:nvSpPr>
          <p:spPr>
            <a:xfrm>
              <a:off x="881075" y="1204925"/>
              <a:ext cx="2776500" cy="309600"/>
            </a:xfrm>
            <a:prstGeom prst="rect">
              <a:avLst/>
            </a:prstGeom>
            <a:solidFill>
              <a:srgbClr val="11648E"/>
            </a:solidFill>
            <a:ln w="9525" cap="flat" cmpd="sng">
              <a:solidFill>
                <a:srgbClr val="11648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45"/>
            <p:cNvSpPr txBox="1"/>
            <p:nvPr/>
          </p:nvSpPr>
          <p:spPr>
            <a:xfrm>
              <a:off x="1064525" y="1159625"/>
              <a:ext cx="24096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a:solidFill>
                    <a:schemeClr val="lt1"/>
                  </a:solidFill>
                  <a:latin typeface="Roboto"/>
                  <a:ea typeface="Roboto"/>
                  <a:cs typeface="Roboto"/>
                  <a:sym typeface="Roboto"/>
                </a:rPr>
                <a:t>Raw OSINT Data Sources</a:t>
              </a:r>
              <a:endParaRPr>
                <a:solidFill>
                  <a:schemeClr val="lt1"/>
                </a:solidFill>
                <a:latin typeface="Roboto"/>
                <a:ea typeface="Roboto"/>
                <a:cs typeface="Roboto"/>
                <a:sym typeface="Roboto"/>
              </a:endParaRPr>
            </a:p>
          </p:txBody>
        </p:sp>
      </p:grpSp>
      <p:sp>
        <p:nvSpPr>
          <p:cNvPr id="477" name="Google Shape;477;p45"/>
          <p:cNvSpPr/>
          <p:nvPr/>
        </p:nvSpPr>
        <p:spPr>
          <a:xfrm>
            <a:off x="4443425" y="1048350"/>
            <a:ext cx="3124200" cy="305700"/>
          </a:xfrm>
          <a:prstGeom prst="rect">
            <a:avLst/>
          </a:prstGeom>
          <a:noFill/>
          <a:ln w="9525" cap="flat" cmpd="sng">
            <a:solidFill>
              <a:srgbClr val="11648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GB" sz="1000" i="1">
                <a:latin typeface="Roboto Light"/>
                <a:ea typeface="Roboto Light"/>
                <a:cs typeface="Roboto Light"/>
                <a:sym typeface="Roboto Light"/>
              </a:rPr>
              <a:t>LinkedIn Profile, Twitter Profile, Blog Posts</a:t>
            </a:r>
            <a:endParaRPr sz="1000" i="1">
              <a:latin typeface="Roboto Light"/>
              <a:ea typeface="Roboto Light"/>
              <a:cs typeface="Roboto Light"/>
              <a:sym typeface="Roboto Light"/>
            </a:endParaRPr>
          </a:p>
        </p:txBody>
      </p:sp>
      <p:sp>
        <p:nvSpPr>
          <p:cNvPr id="478" name="Google Shape;478;p45"/>
          <p:cNvSpPr/>
          <p:nvPr/>
        </p:nvSpPr>
        <p:spPr>
          <a:xfrm>
            <a:off x="1564475" y="728675"/>
            <a:ext cx="942900" cy="525000"/>
          </a:xfrm>
          <a:prstGeom prst="rect">
            <a:avLst/>
          </a:prstGeom>
          <a:noFill/>
          <a:ln w="9525" cap="flat" cmpd="sng">
            <a:solidFill>
              <a:srgbClr val="B02C2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46"/>
          <p:cNvSpPr/>
          <p:nvPr/>
        </p:nvSpPr>
        <p:spPr>
          <a:xfrm>
            <a:off x="0" y="120875"/>
            <a:ext cx="6333000" cy="402600"/>
          </a:xfrm>
          <a:prstGeom prst="rect">
            <a:avLst/>
          </a:prstGeom>
          <a:gradFill>
            <a:gsLst>
              <a:gs pos="0">
                <a:srgbClr val="00C0F3"/>
              </a:gs>
              <a:gs pos="100000">
                <a:srgbClr val="008E4E"/>
              </a:gs>
            </a:gsLst>
            <a:lin ang="270000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Lucida Sans"/>
              <a:ea typeface="Lucida Sans"/>
              <a:cs typeface="Lucida Sans"/>
              <a:sym typeface="Lucida Sans"/>
            </a:endParaRPr>
          </a:p>
        </p:txBody>
      </p:sp>
      <p:sp>
        <p:nvSpPr>
          <p:cNvPr id="484" name="Google Shape;484;p4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28</a:t>
            </a:fld>
            <a:endParaRPr/>
          </a:p>
        </p:txBody>
      </p:sp>
      <p:sp>
        <p:nvSpPr>
          <p:cNvPr id="485" name="Google Shape;485;p46"/>
          <p:cNvSpPr txBox="1">
            <a:spLocks noGrp="1"/>
          </p:cNvSpPr>
          <p:nvPr>
            <p:ph type="title"/>
          </p:nvPr>
        </p:nvSpPr>
        <p:spPr>
          <a:xfrm>
            <a:off x="311700" y="73175"/>
            <a:ext cx="61920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Piecing Everything Together For Phishing Delivery</a:t>
            </a:r>
            <a:endParaRPr/>
          </a:p>
        </p:txBody>
      </p:sp>
      <p:pic>
        <p:nvPicPr>
          <p:cNvPr id="486" name="Google Shape;486;p46"/>
          <p:cNvPicPr preferRelativeResize="0"/>
          <p:nvPr/>
        </p:nvPicPr>
        <p:blipFill rotWithShape="1">
          <a:blip r:embed="rId3">
            <a:alphaModFix/>
          </a:blip>
          <a:srcRect t="7757"/>
          <a:stretch/>
        </p:blipFill>
        <p:spPr>
          <a:xfrm>
            <a:off x="79575" y="523475"/>
            <a:ext cx="7877307" cy="4312876"/>
          </a:xfrm>
          <a:prstGeom prst="rect">
            <a:avLst/>
          </a:prstGeom>
          <a:noFill/>
          <a:ln>
            <a:noFill/>
          </a:ln>
        </p:spPr>
      </p:pic>
      <p:grpSp>
        <p:nvGrpSpPr>
          <p:cNvPr id="487" name="Google Shape;487;p46"/>
          <p:cNvGrpSpPr/>
          <p:nvPr/>
        </p:nvGrpSpPr>
        <p:grpSpPr>
          <a:xfrm>
            <a:off x="3976651" y="1067400"/>
            <a:ext cx="3124118" cy="400200"/>
            <a:chOff x="881075" y="1159625"/>
            <a:chExt cx="2776500" cy="400200"/>
          </a:xfrm>
        </p:grpSpPr>
        <p:sp>
          <p:nvSpPr>
            <p:cNvPr id="488" name="Google Shape;488;p46"/>
            <p:cNvSpPr/>
            <p:nvPr/>
          </p:nvSpPr>
          <p:spPr>
            <a:xfrm>
              <a:off x="881075" y="1204925"/>
              <a:ext cx="2776500" cy="309600"/>
            </a:xfrm>
            <a:prstGeom prst="rect">
              <a:avLst/>
            </a:prstGeom>
            <a:solidFill>
              <a:srgbClr val="11648E"/>
            </a:solidFill>
            <a:ln w="9525" cap="flat" cmpd="sng">
              <a:solidFill>
                <a:srgbClr val="11648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46"/>
            <p:cNvSpPr txBox="1"/>
            <p:nvPr/>
          </p:nvSpPr>
          <p:spPr>
            <a:xfrm>
              <a:off x="1064525" y="1159625"/>
              <a:ext cx="24096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a:solidFill>
                    <a:schemeClr val="lt1"/>
                  </a:solidFill>
                  <a:latin typeface="Roboto"/>
                  <a:ea typeface="Roboto"/>
                  <a:cs typeface="Roboto"/>
                  <a:sym typeface="Roboto"/>
                </a:rPr>
                <a:t>Applying Humantics AI</a:t>
              </a:r>
              <a:endParaRPr>
                <a:solidFill>
                  <a:schemeClr val="lt1"/>
                </a:solidFill>
                <a:latin typeface="Roboto"/>
                <a:ea typeface="Roboto"/>
                <a:cs typeface="Roboto"/>
                <a:sym typeface="Roboto"/>
              </a:endParaRPr>
            </a:p>
          </p:txBody>
        </p:sp>
      </p:grpSp>
      <p:sp>
        <p:nvSpPr>
          <p:cNvPr id="490" name="Google Shape;490;p46"/>
          <p:cNvSpPr/>
          <p:nvPr/>
        </p:nvSpPr>
        <p:spPr>
          <a:xfrm>
            <a:off x="3981475" y="1469875"/>
            <a:ext cx="3124200" cy="2922900"/>
          </a:xfrm>
          <a:prstGeom prst="rect">
            <a:avLst/>
          </a:prstGeom>
          <a:solidFill>
            <a:schemeClr val="lt1"/>
          </a:solidFill>
          <a:ln w="9525" cap="flat" cmpd="sng">
            <a:solidFill>
              <a:srgbClr val="11648E"/>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sz="1000">
                <a:solidFill>
                  <a:schemeClr val="dk1"/>
                </a:solidFill>
                <a:latin typeface="Roboto Light"/>
                <a:ea typeface="Roboto Light"/>
                <a:cs typeface="Roboto Light"/>
                <a:sym typeface="Roboto Light"/>
              </a:rPr>
              <a:t>"communication_advice": {</a:t>
            </a:r>
            <a:endParaRPr sz="1000">
              <a:solidFill>
                <a:schemeClr val="dk1"/>
              </a:solidFill>
              <a:latin typeface="Roboto Light"/>
              <a:ea typeface="Roboto Light"/>
              <a:cs typeface="Roboto Light"/>
              <a:sym typeface="Roboto Light"/>
            </a:endParaRPr>
          </a:p>
          <a:p>
            <a:pPr marL="0" lvl="0" indent="0" algn="l" rtl="0">
              <a:lnSpc>
                <a:spcPct val="115000"/>
              </a:lnSpc>
              <a:spcBef>
                <a:spcPts val="0"/>
              </a:spcBef>
              <a:spcAft>
                <a:spcPts val="0"/>
              </a:spcAft>
              <a:buNone/>
            </a:pPr>
            <a:r>
              <a:rPr lang="en-GB" sz="1000">
                <a:solidFill>
                  <a:schemeClr val="dk1"/>
                </a:solidFill>
                <a:latin typeface="Roboto Light"/>
                <a:ea typeface="Roboto Light"/>
                <a:cs typeface="Roboto Light"/>
                <a:sym typeface="Roboto Light"/>
              </a:rPr>
              <a:t>          "_type": [</a:t>
            </a:r>
            <a:endParaRPr sz="1000">
              <a:solidFill>
                <a:schemeClr val="dk1"/>
              </a:solidFill>
              <a:latin typeface="Roboto Light"/>
              <a:ea typeface="Roboto Light"/>
              <a:cs typeface="Roboto Light"/>
              <a:sym typeface="Roboto Light"/>
            </a:endParaRPr>
          </a:p>
          <a:p>
            <a:pPr marL="0" lvl="0" indent="0" algn="l" rtl="0">
              <a:lnSpc>
                <a:spcPct val="115000"/>
              </a:lnSpc>
              <a:spcBef>
                <a:spcPts val="0"/>
              </a:spcBef>
              <a:spcAft>
                <a:spcPts val="0"/>
              </a:spcAft>
              <a:buNone/>
            </a:pPr>
            <a:r>
              <a:rPr lang="en-GB" sz="1000">
                <a:solidFill>
                  <a:schemeClr val="dk1"/>
                </a:solidFill>
                <a:latin typeface="Roboto Light"/>
                <a:ea typeface="Roboto Light"/>
                <a:cs typeface="Roboto Light"/>
                <a:sym typeface="Roboto Light"/>
              </a:rPr>
              <a:t>            "high calculativeness",</a:t>
            </a:r>
            <a:endParaRPr sz="1000">
              <a:solidFill>
                <a:schemeClr val="dk1"/>
              </a:solidFill>
              <a:latin typeface="Roboto Light"/>
              <a:ea typeface="Roboto Light"/>
              <a:cs typeface="Roboto Light"/>
              <a:sym typeface="Roboto Light"/>
            </a:endParaRPr>
          </a:p>
          <a:p>
            <a:pPr marL="0" lvl="0" indent="0" algn="l" rtl="0">
              <a:lnSpc>
                <a:spcPct val="115000"/>
              </a:lnSpc>
              <a:spcBef>
                <a:spcPts val="0"/>
              </a:spcBef>
              <a:spcAft>
                <a:spcPts val="0"/>
              </a:spcAft>
              <a:buNone/>
            </a:pPr>
            <a:r>
              <a:rPr lang="en-GB" sz="1000">
                <a:solidFill>
                  <a:schemeClr val="dk1"/>
                </a:solidFill>
                <a:latin typeface="Roboto Light"/>
                <a:ea typeface="Roboto Light"/>
                <a:cs typeface="Roboto Light"/>
                <a:sym typeface="Roboto Light"/>
              </a:rPr>
              <a:t>            "high steadiness"</a:t>
            </a:r>
            <a:endParaRPr sz="1000">
              <a:solidFill>
                <a:schemeClr val="dk1"/>
              </a:solidFill>
              <a:latin typeface="Roboto Light"/>
              <a:ea typeface="Roboto Light"/>
              <a:cs typeface="Roboto Light"/>
              <a:sym typeface="Roboto Light"/>
            </a:endParaRPr>
          </a:p>
          <a:p>
            <a:pPr marL="0" lvl="0" indent="0" algn="l" rtl="0">
              <a:lnSpc>
                <a:spcPct val="115000"/>
              </a:lnSpc>
              <a:spcBef>
                <a:spcPts val="0"/>
              </a:spcBef>
              <a:spcAft>
                <a:spcPts val="0"/>
              </a:spcAft>
              <a:buNone/>
            </a:pPr>
            <a:r>
              <a:rPr lang="en-GB" sz="1000">
                <a:solidFill>
                  <a:schemeClr val="dk1"/>
                </a:solidFill>
                <a:latin typeface="Roboto Light"/>
                <a:ea typeface="Roboto Light"/>
                <a:cs typeface="Roboto Light"/>
                <a:sym typeface="Roboto Light"/>
              </a:rPr>
              <a:t>          ],</a:t>
            </a:r>
            <a:endParaRPr sz="1000">
              <a:solidFill>
                <a:schemeClr val="dk1"/>
              </a:solidFill>
              <a:latin typeface="Roboto Light"/>
              <a:ea typeface="Roboto Light"/>
              <a:cs typeface="Roboto Light"/>
              <a:sym typeface="Roboto Light"/>
            </a:endParaRPr>
          </a:p>
          <a:p>
            <a:pPr marL="0" lvl="0" indent="0" algn="l" rtl="0">
              <a:lnSpc>
                <a:spcPct val="115000"/>
              </a:lnSpc>
              <a:spcBef>
                <a:spcPts val="0"/>
              </a:spcBef>
              <a:spcAft>
                <a:spcPts val="0"/>
              </a:spcAft>
              <a:buNone/>
            </a:pPr>
            <a:r>
              <a:rPr lang="en-GB" sz="1000">
                <a:solidFill>
                  <a:schemeClr val="dk1"/>
                </a:solidFill>
                <a:latin typeface="Roboto Light"/>
                <a:ea typeface="Roboto Light"/>
                <a:cs typeface="Roboto Light"/>
                <a:sym typeface="Roboto Light"/>
              </a:rPr>
              <a:t>          "description": [</a:t>
            </a:r>
            <a:endParaRPr sz="1000">
              <a:solidFill>
                <a:schemeClr val="dk1"/>
              </a:solidFill>
              <a:latin typeface="Roboto Light"/>
              <a:ea typeface="Roboto Light"/>
              <a:cs typeface="Roboto Light"/>
              <a:sym typeface="Roboto Light"/>
            </a:endParaRPr>
          </a:p>
          <a:p>
            <a:pPr marL="0" lvl="0" indent="0" algn="l" rtl="0">
              <a:lnSpc>
                <a:spcPct val="115000"/>
              </a:lnSpc>
              <a:spcBef>
                <a:spcPts val="0"/>
              </a:spcBef>
              <a:spcAft>
                <a:spcPts val="0"/>
              </a:spcAft>
              <a:buNone/>
            </a:pPr>
            <a:r>
              <a:rPr lang="en-GB" sz="1000">
                <a:solidFill>
                  <a:schemeClr val="dk1"/>
                </a:solidFill>
                <a:latin typeface="Roboto Light"/>
                <a:ea typeface="Roboto Light"/>
                <a:cs typeface="Roboto Light"/>
                <a:sym typeface="Roboto Light"/>
              </a:rPr>
              <a:t>            "They have very high attention to detail and aim to find a perfect solution.",</a:t>
            </a:r>
            <a:endParaRPr sz="1000">
              <a:solidFill>
                <a:schemeClr val="dk1"/>
              </a:solidFill>
              <a:latin typeface="Roboto Light"/>
              <a:ea typeface="Roboto Light"/>
              <a:cs typeface="Roboto Light"/>
              <a:sym typeface="Roboto Light"/>
            </a:endParaRPr>
          </a:p>
          <a:p>
            <a:pPr marL="0" lvl="0" indent="0" algn="l" rtl="0">
              <a:lnSpc>
                <a:spcPct val="115000"/>
              </a:lnSpc>
              <a:spcBef>
                <a:spcPts val="0"/>
              </a:spcBef>
              <a:spcAft>
                <a:spcPts val="0"/>
              </a:spcAft>
              <a:buNone/>
            </a:pPr>
            <a:r>
              <a:rPr lang="en-GB" sz="1000">
                <a:solidFill>
                  <a:schemeClr val="dk1"/>
                </a:solidFill>
                <a:latin typeface="Roboto Light"/>
                <a:ea typeface="Roboto Light"/>
                <a:cs typeface="Roboto Light"/>
                <a:sym typeface="Roboto Light"/>
              </a:rPr>
              <a:t>            "They always plan things ahead and expect the same from others."</a:t>
            </a:r>
            <a:endParaRPr sz="1000">
              <a:solidFill>
                <a:schemeClr val="dk1"/>
              </a:solidFill>
              <a:latin typeface="Roboto Light"/>
              <a:ea typeface="Roboto Light"/>
              <a:cs typeface="Roboto Light"/>
              <a:sym typeface="Roboto Light"/>
            </a:endParaRPr>
          </a:p>
          <a:p>
            <a:pPr marL="0" lvl="0" indent="0" algn="l" rtl="0">
              <a:lnSpc>
                <a:spcPct val="115000"/>
              </a:lnSpc>
              <a:spcBef>
                <a:spcPts val="0"/>
              </a:spcBef>
              <a:spcAft>
                <a:spcPts val="0"/>
              </a:spcAft>
              <a:buNone/>
            </a:pPr>
            <a:r>
              <a:rPr lang="en-GB" sz="1000">
                <a:solidFill>
                  <a:schemeClr val="dk1"/>
                </a:solidFill>
                <a:latin typeface="Roboto Light"/>
                <a:ea typeface="Roboto Light"/>
                <a:cs typeface="Roboto Light"/>
                <a:sym typeface="Roboto Light"/>
              </a:rPr>
              <a:t>          ],</a:t>
            </a:r>
            <a:endParaRPr sz="1000">
              <a:solidFill>
                <a:schemeClr val="dk1"/>
              </a:solidFill>
              <a:latin typeface="Roboto Light"/>
              <a:ea typeface="Roboto Light"/>
              <a:cs typeface="Roboto Light"/>
              <a:sym typeface="Roboto Light"/>
            </a:endParaRPr>
          </a:p>
          <a:p>
            <a:pPr marL="0" lvl="0" indent="0" algn="l" rtl="0">
              <a:lnSpc>
                <a:spcPct val="115000"/>
              </a:lnSpc>
              <a:spcBef>
                <a:spcPts val="0"/>
              </a:spcBef>
              <a:spcAft>
                <a:spcPts val="0"/>
              </a:spcAft>
              <a:buNone/>
            </a:pPr>
            <a:r>
              <a:rPr lang="en-GB" sz="1000">
                <a:solidFill>
                  <a:schemeClr val="dk1"/>
                </a:solidFill>
                <a:latin typeface="Roboto Light"/>
                <a:ea typeface="Roboto Light"/>
                <a:cs typeface="Roboto Light"/>
                <a:sym typeface="Roboto Light"/>
              </a:rPr>
              <a:t>          ...</a:t>
            </a:r>
            <a:endParaRPr sz="1000">
              <a:solidFill>
                <a:schemeClr val="dk1"/>
              </a:solidFill>
              <a:latin typeface="Roboto Light"/>
              <a:ea typeface="Roboto Light"/>
              <a:cs typeface="Roboto Light"/>
              <a:sym typeface="Roboto Light"/>
            </a:endParaRPr>
          </a:p>
          <a:p>
            <a:pPr marL="0" lvl="0" indent="0" algn="l" rtl="0">
              <a:lnSpc>
                <a:spcPct val="115000"/>
              </a:lnSpc>
              <a:spcBef>
                <a:spcPts val="0"/>
              </a:spcBef>
              <a:spcAft>
                <a:spcPts val="0"/>
              </a:spcAft>
              <a:buNone/>
            </a:pPr>
            <a:r>
              <a:rPr lang="en-GB" sz="1000">
                <a:solidFill>
                  <a:schemeClr val="dk1"/>
                </a:solidFill>
                <a:latin typeface="Roboto Light"/>
                <a:ea typeface="Roboto Light"/>
                <a:cs typeface="Roboto Light"/>
                <a:sym typeface="Roboto Light"/>
              </a:rPr>
              <a:t>          "what_to_say": [</a:t>
            </a:r>
            <a:endParaRPr sz="1000">
              <a:solidFill>
                <a:schemeClr val="dk1"/>
              </a:solidFill>
              <a:latin typeface="Roboto Light"/>
              <a:ea typeface="Roboto Light"/>
              <a:cs typeface="Roboto Light"/>
              <a:sym typeface="Roboto Light"/>
            </a:endParaRPr>
          </a:p>
          <a:p>
            <a:pPr marL="0" lvl="0" indent="0" algn="l" rtl="0">
              <a:lnSpc>
                <a:spcPct val="115000"/>
              </a:lnSpc>
              <a:spcBef>
                <a:spcPts val="0"/>
              </a:spcBef>
              <a:spcAft>
                <a:spcPts val="0"/>
              </a:spcAft>
              <a:buNone/>
            </a:pPr>
            <a:r>
              <a:rPr lang="en-GB" sz="1000">
                <a:solidFill>
                  <a:schemeClr val="dk1"/>
                </a:solidFill>
                <a:latin typeface="Roboto Light"/>
                <a:ea typeface="Roboto Light"/>
                <a:cs typeface="Roboto Light"/>
                <a:sym typeface="Roboto Light"/>
              </a:rPr>
              <a:t>            "Don’t forget to mention how you compare to competition on both features and pricing.",</a:t>
            </a:r>
            <a:endParaRPr sz="1000">
              <a:solidFill>
                <a:schemeClr val="dk1"/>
              </a:solidFill>
              <a:latin typeface="Roboto Light"/>
              <a:ea typeface="Roboto Light"/>
              <a:cs typeface="Roboto Light"/>
              <a:sym typeface="Roboto Light"/>
            </a:endParaRPr>
          </a:p>
          <a:p>
            <a:pPr marL="0" lvl="0" indent="0" algn="l" rtl="0">
              <a:lnSpc>
                <a:spcPct val="115000"/>
              </a:lnSpc>
              <a:spcBef>
                <a:spcPts val="0"/>
              </a:spcBef>
              <a:spcAft>
                <a:spcPts val="0"/>
              </a:spcAft>
              <a:buNone/>
            </a:pPr>
            <a:r>
              <a:rPr lang="en-GB" sz="1000">
                <a:solidFill>
                  <a:schemeClr val="dk1"/>
                </a:solidFill>
                <a:latin typeface="Roboto Light"/>
                <a:ea typeface="Roboto Light"/>
                <a:cs typeface="Roboto Light"/>
                <a:sym typeface="Roboto Light"/>
              </a:rPr>
              <a:t>            "Be formal and objective, they will appreciate it more.",</a:t>
            </a:r>
            <a:endParaRPr i="1">
              <a:latin typeface="Roboto Light"/>
              <a:ea typeface="Roboto Light"/>
              <a:cs typeface="Roboto Light"/>
              <a:sym typeface="Roboto Light"/>
            </a:endParaRPr>
          </a:p>
        </p:txBody>
      </p:sp>
      <p:sp>
        <p:nvSpPr>
          <p:cNvPr id="491" name="Google Shape;491;p46"/>
          <p:cNvSpPr/>
          <p:nvPr/>
        </p:nvSpPr>
        <p:spPr>
          <a:xfrm>
            <a:off x="1564475" y="1566875"/>
            <a:ext cx="942900" cy="525000"/>
          </a:xfrm>
          <a:prstGeom prst="rect">
            <a:avLst/>
          </a:prstGeom>
          <a:noFill/>
          <a:ln w="9525" cap="flat" cmpd="sng">
            <a:solidFill>
              <a:srgbClr val="B02C2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47"/>
          <p:cNvSpPr/>
          <p:nvPr/>
        </p:nvSpPr>
        <p:spPr>
          <a:xfrm>
            <a:off x="0" y="120875"/>
            <a:ext cx="6333000" cy="402600"/>
          </a:xfrm>
          <a:prstGeom prst="rect">
            <a:avLst/>
          </a:prstGeom>
          <a:gradFill>
            <a:gsLst>
              <a:gs pos="0">
                <a:srgbClr val="00C0F3"/>
              </a:gs>
              <a:gs pos="100000">
                <a:srgbClr val="008E4E"/>
              </a:gs>
            </a:gsLst>
            <a:lin ang="270000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Lucida Sans"/>
              <a:ea typeface="Lucida Sans"/>
              <a:cs typeface="Lucida Sans"/>
              <a:sym typeface="Lucida Sans"/>
            </a:endParaRPr>
          </a:p>
        </p:txBody>
      </p:sp>
      <p:sp>
        <p:nvSpPr>
          <p:cNvPr id="497" name="Google Shape;497;p4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29</a:t>
            </a:fld>
            <a:endParaRPr/>
          </a:p>
        </p:txBody>
      </p:sp>
      <p:sp>
        <p:nvSpPr>
          <p:cNvPr id="498" name="Google Shape;498;p47"/>
          <p:cNvSpPr txBox="1">
            <a:spLocks noGrp="1"/>
          </p:cNvSpPr>
          <p:nvPr>
            <p:ph type="title"/>
          </p:nvPr>
        </p:nvSpPr>
        <p:spPr>
          <a:xfrm>
            <a:off x="311700" y="73175"/>
            <a:ext cx="61920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Piecing Everything Together For Phishing Delivery</a:t>
            </a:r>
            <a:endParaRPr/>
          </a:p>
        </p:txBody>
      </p:sp>
      <p:pic>
        <p:nvPicPr>
          <p:cNvPr id="499" name="Google Shape;499;p47"/>
          <p:cNvPicPr preferRelativeResize="0"/>
          <p:nvPr/>
        </p:nvPicPr>
        <p:blipFill rotWithShape="1">
          <a:blip r:embed="rId3">
            <a:alphaModFix/>
          </a:blip>
          <a:srcRect t="7757"/>
          <a:stretch/>
        </p:blipFill>
        <p:spPr>
          <a:xfrm>
            <a:off x="79575" y="523475"/>
            <a:ext cx="7877307" cy="4312876"/>
          </a:xfrm>
          <a:prstGeom prst="rect">
            <a:avLst/>
          </a:prstGeom>
          <a:noFill/>
          <a:ln>
            <a:noFill/>
          </a:ln>
        </p:spPr>
      </p:pic>
      <p:sp>
        <p:nvSpPr>
          <p:cNvPr id="500" name="Google Shape;500;p47"/>
          <p:cNvSpPr/>
          <p:nvPr/>
        </p:nvSpPr>
        <p:spPr>
          <a:xfrm>
            <a:off x="2595200" y="1566875"/>
            <a:ext cx="942900" cy="525000"/>
          </a:xfrm>
          <a:prstGeom prst="rect">
            <a:avLst/>
          </a:prstGeom>
          <a:noFill/>
          <a:ln w="9525" cap="flat" cmpd="sng">
            <a:solidFill>
              <a:srgbClr val="B02C2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1" name="Google Shape;501;p47"/>
          <p:cNvGrpSpPr/>
          <p:nvPr/>
        </p:nvGrpSpPr>
        <p:grpSpPr>
          <a:xfrm>
            <a:off x="3802833" y="1041175"/>
            <a:ext cx="3857947" cy="400200"/>
            <a:chOff x="881075" y="1159625"/>
            <a:chExt cx="2776500" cy="400200"/>
          </a:xfrm>
        </p:grpSpPr>
        <p:sp>
          <p:nvSpPr>
            <p:cNvPr id="502" name="Google Shape;502;p47"/>
            <p:cNvSpPr/>
            <p:nvPr/>
          </p:nvSpPr>
          <p:spPr>
            <a:xfrm>
              <a:off x="881075" y="1204925"/>
              <a:ext cx="2776500" cy="309600"/>
            </a:xfrm>
            <a:prstGeom prst="rect">
              <a:avLst/>
            </a:prstGeom>
            <a:solidFill>
              <a:srgbClr val="11648E"/>
            </a:solidFill>
            <a:ln w="9525" cap="flat" cmpd="sng">
              <a:solidFill>
                <a:srgbClr val="11648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47"/>
            <p:cNvSpPr txBox="1"/>
            <p:nvPr/>
          </p:nvSpPr>
          <p:spPr>
            <a:xfrm>
              <a:off x="1064525" y="1159625"/>
              <a:ext cx="24096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a:solidFill>
                    <a:schemeClr val="lt1"/>
                  </a:solidFill>
                  <a:latin typeface="Roboto"/>
                  <a:ea typeface="Roboto"/>
                  <a:cs typeface="Roboto"/>
                  <a:sym typeface="Roboto"/>
                </a:rPr>
                <a:t>Parse To Plaintext</a:t>
              </a:r>
              <a:endParaRPr>
                <a:solidFill>
                  <a:schemeClr val="lt1"/>
                </a:solidFill>
                <a:latin typeface="Roboto"/>
                <a:ea typeface="Roboto"/>
                <a:cs typeface="Roboto"/>
                <a:sym typeface="Roboto"/>
              </a:endParaRPr>
            </a:p>
          </p:txBody>
        </p:sp>
      </p:grpSp>
      <p:sp>
        <p:nvSpPr>
          <p:cNvPr id="504" name="Google Shape;504;p47"/>
          <p:cNvSpPr/>
          <p:nvPr/>
        </p:nvSpPr>
        <p:spPr>
          <a:xfrm>
            <a:off x="3807675" y="1443650"/>
            <a:ext cx="3858000" cy="1446300"/>
          </a:xfrm>
          <a:prstGeom prst="rect">
            <a:avLst/>
          </a:prstGeom>
          <a:solidFill>
            <a:schemeClr val="lt1"/>
          </a:solidFill>
          <a:ln w="9525" cap="flat" cmpd="sng">
            <a:solidFill>
              <a:srgbClr val="11648E"/>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sz="1000">
                <a:solidFill>
                  <a:srgbClr val="FF0000"/>
                </a:solidFill>
                <a:highlight>
                  <a:srgbClr val="FFFFFF"/>
                </a:highlight>
                <a:latin typeface="Roboto Light"/>
                <a:ea typeface="Roboto Light"/>
                <a:cs typeface="Roboto Light"/>
                <a:sym typeface="Roboto Light"/>
              </a:rPr>
              <a:t>John Doe</a:t>
            </a:r>
            <a:r>
              <a:rPr lang="en-GB" sz="1000">
                <a:solidFill>
                  <a:srgbClr val="202123"/>
                </a:solidFill>
                <a:highlight>
                  <a:srgbClr val="FFFFFF"/>
                </a:highlight>
                <a:latin typeface="Roboto Light"/>
                <a:ea typeface="Roboto Light"/>
                <a:cs typeface="Roboto Light"/>
                <a:sym typeface="Roboto Light"/>
              </a:rPr>
              <a:t> is located in Singapore. </a:t>
            </a:r>
            <a:r>
              <a:rPr lang="en-GB" sz="1000">
                <a:solidFill>
                  <a:srgbClr val="FF0000"/>
                </a:solidFill>
                <a:highlight>
                  <a:srgbClr val="FFFFFF"/>
                </a:highlight>
                <a:latin typeface="Roboto Light"/>
                <a:ea typeface="Roboto Light"/>
                <a:cs typeface="Roboto Light"/>
                <a:sym typeface="Roboto Light"/>
              </a:rPr>
              <a:t>John Doe</a:t>
            </a:r>
            <a:r>
              <a:rPr lang="en-GB" sz="1000">
                <a:solidFill>
                  <a:srgbClr val="202123"/>
                </a:solidFill>
                <a:highlight>
                  <a:srgbClr val="FFFFFF"/>
                </a:highlight>
                <a:latin typeface="Roboto Light"/>
                <a:ea typeface="Roboto Light"/>
                <a:cs typeface="Roboto Light"/>
                <a:sym typeface="Roboto Light"/>
              </a:rPr>
              <a:t> is working at </a:t>
            </a:r>
            <a:r>
              <a:rPr lang="en-GB" sz="1000">
                <a:solidFill>
                  <a:srgbClr val="FF0000"/>
                </a:solidFill>
                <a:highlight>
                  <a:srgbClr val="FFFFFF"/>
                </a:highlight>
                <a:latin typeface="Roboto Light"/>
                <a:ea typeface="Roboto Light"/>
                <a:cs typeface="Roboto Light"/>
                <a:sym typeface="Roboto Light"/>
              </a:rPr>
              <a:t>Company A</a:t>
            </a:r>
            <a:r>
              <a:rPr lang="en-GB" sz="1000">
                <a:solidFill>
                  <a:srgbClr val="202123"/>
                </a:solidFill>
                <a:highlight>
                  <a:srgbClr val="FFFFFF"/>
                </a:highlight>
                <a:latin typeface="Roboto Light"/>
                <a:ea typeface="Roboto Light"/>
                <a:cs typeface="Roboto Light"/>
                <a:sym typeface="Roboto Light"/>
              </a:rPr>
              <a:t> as </a:t>
            </a:r>
            <a:r>
              <a:rPr lang="en-GB" sz="1000">
                <a:solidFill>
                  <a:srgbClr val="FF0000"/>
                </a:solidFill>
                <a:highlight>
                  <a:srgbClr val="FFFFFF"/>
                </a:highlight>
                <a:latin typeface="Roboto Light"/>
                <a:ea typeface="Roboto Light"/>
                <a:cs typeface="Roboto Light"/>
                <a:sym typeface="Roboto Light"/>
              </a:rPr>
              <a:t>Security Researcher</a:t>
            </a:r>
            <a:r>
              <a:rPr lang="en-GB" sz="1000">
                <a:solidFill>
                  <a:srgbClr val="202123"/>
                </a:solidFill>
                <a:highlight>
                  <a:srgbClr val="FFFFFF"/>
                </a:highlight>
                <a:latin typeface="Roboto Light"/>
                <a:ea typeface="Roboto Light"/>
                <a:cs typeface="Roboto Light"/>
                <a:sym typeface="Roboto Light"/>
              </a:rPr>
              <a:t>, </a:t>
            </a:r>
            <a:r>
              <a:rPr lang="en-GB" sz="1000">
                <a:solidFill>
                  <a:srgbClr val="FF0000"/>
                </a:solidFill>
                <a:highlight>
                  <a:srgbClr val="FFFFFF"/>
                </a:highlight>
                <a:latin typeface="Roboto Light"/>
                <a:ea typeface="Roboto Light"/>
                <a:cs typeface="Roboto Light"/>
                <a:sym typeface="Roboto Light"/>
              </a:rPr>
              <a:t>Department X</a:t>
            </a:r>
            <a:r>
              <a:rPr lang="en-GB" sz="1000">
                <a:solidFill>
                  <a:srgbClr val="202123"/>
                </a:solidFill>
                <a:highlight>
                  <a:srgbClr val="FFFFFF"/>
                </a:highlight>
                <a:latin typeface="Roboto Light"/>
                <a:ea typeface="Roboto Light"/>
                <a:cs typeface="Roboto Light"/>
                <a:sym typeface="Roboto Light"/>
              </a:rPr>
              <a:t>. Expect clarity-seeking questions. </a:t>
            </a:r>
            <a:r>
              <a:rPr lang="en-GB" sz="1000" b="1">
                <a:solidFill>
                  <a:srgbClr val="202123"/>
                </a:solidFill>
                <a:highlight>
                  <a:srgbClr val="FFFFFF"/>
                </a:highlight>
                <a:latin typeface="Roboto"/>
                <a:ea typeface="Roboto"/>
                <a:cs typeface="Roboto"/>
                <a:sym typeface="Roboto"/>
              </a:rPr>
              <a:t>Write an email to </a:t>
            </a:r>
            <a:r>
              <a:rPr lang="en-GB" sz="1000" b="1">
                <a:solidFill>
                  <a:srgbClr val="FF0000"/>
                </a:solidFill>
                <a:highlight>
                  <a:srgbClr val="FFFFFF"/>
                </a:highlight>
                <a:latin typeface="Roboto"/>
                <a:ea typeface="Roboto"/>
                <a:cs typeface="Roboto"/>
                <a:sym typeface="Roboto"/>
              </a:rPr>
              <a:t>John</a:t>
            </a:r>
            <a:r>
              <a:rPr lang="en-GB" sz="1000" b="1">
                <a:solidFill>
                  <a:srgbClr val="202123"/>
                </a:solidFill>
                <a:highlight>
                  <a:srgbClr val="FFFFFF"/>
                </a:highlight>
                <a:latin typeface="Roboto"/>
                <a:ea typeface="Roboto"/>
                <a:cs typeface="Roboto"/>
                <a:sym typeface="Roboto"/>
              </a:rPr>
              <a:t> to convince him to join our company</a:t>
            </a:r>
            <a:r>
              <a:rPr lang="en-GB" sz="1000">
                <a:solidFill>
                  <a:srgbClr val="202123"/>
                </a:solidFill>
                <a:highlight>
                  <a:srgbClr val="FFFFFF"/>
                </a:highlight>
                <a:latin typeface="Roboto Light"/>
                <a:ea typeface="Roboto Light"/>
                <a:cs typeface="Roboto Light"/>
                <a:sym typeface="Roboto Light"/>
              </a:rPr>
              <a:t>. Be personal and polite, what would be expected of them. Be formal and objective, they will appreciate it more. </a:t>
            </a:r>
            <a:endParaRPr sz="1000">
              <a:solidFill>
                <a:schemeClr val="dk1"/>
              </a:solidFill>
              <a:latin typeface="Roboto Light"/>
              <a:ea typeface="Roboto Light"/>
              <a:cs typeface="Roboto Light"/>
              <a:sym typeface="Roboto Light"/>
            </a:endParaRPr>
          </a:p>
        </p:txBody>
      </p:sp>
      <p:sp>
        <p:nvSpPr>
          <p:cNvPr id="505" name="Google Shape;505;p47"/>
          <p:cNvSpPr txBox="1"/>
          <p:nvPr/>
        </p:nvSpPr>
        <p:spPr>
          <a:xfrm>
            <a:off x="7781475" y="2091875"/>
            <a:ext cx="1266900" cy="27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GB" sz="900">
                <a:solidFill>
                  <a:srgbClr val="FF0000"/>
                </a:solidFill>
                <a:latin typeface="Roboto"/>
                <a:ea typeface="Roboto"/>
                <a:cs typeface="Roboto"/>
                <a:sym typeface="Roboto"/>
              </a:rPr>
              <a:t>Text - </a:t>
            </a:r>
            <a:r>
              <a:rPr lang="en-GB" sz="900">
                <a:solidFill>
                  <a:schemeClr val="dk1"/>
                </a:solidFill>
                <a:latin typeface="Roboto"/>
                <a:ea typeface="Roboto"/>
                <a:cs typeface="Roboto"/>
                <a:sym typeface="Roboto"/>
              </a:rPr>
              <a:t>Redacted Text</a:t>
            </a:r>
            <a:endParaRPr sz="900">
              <a:solidFill>
                <a:schemeClr val="dk1"/>
              </a:solidFill>
              <a:latin typeface="Roboto"/>
              <a:ea typeface="Roboto"/>
              <a:cs typeface="Roboto"/>
              <a:sym typeface="Roboto"/>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48"/>
          <p:cNvSpPr/>
          <p:nvPr/>
        </p:nvSpPr>
        <p:spPr>
          <a:xfrm>
            <a:off x="0" y="120875"/>
            <a:ext cx="6333000" cy="402600"/>
          </a:xfrm>
          <a:prstGeom prst="rect">
            <a:avLst/>
          </a:prstGeom>
          <a:gradFill>
            <a:gsLst>
              <a:gs pos="0">
                <a:srgbClr val="00C0F3"/>
              </a:gs>
              <a:gs pos="100000">
                <a:srgbClr val="008E4E"/>
              </a:gs>
            </a:gsLst>
            <a:lin ang="270000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Lucida Sans"/>
              <a:ea typeface="Lucida Sans"/>
              <a:cs typeface="Lucida Sans"/>
              <a:sym typeface="Lucida Sans"/>
            </a:endParaRPr>
          </a:p>
        </p:txBody>
      </p:sp>
      <p:sp>
        <p:nvSpPr>
          <p:cNvPr id="511" name="Google Shape;511;p4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30</a:t>
            </a:fld>
            <a:endParaRPr/>
          </a:p>
        </p:txBody>
      </p:sp>
      <p:sp>
        <p:nvSpPr>
          <p:cNvPr id="512" name="Google Shape;512;p48"/>
          <p:cNvSpPr txBox="1">
            <a:spLocks noGrp="1"/>
          </p:cNvSpPr>
          <p:nvPr>
            <p:ph type="title"/>
          </p:nvPr>
        </p:nvSpPr>
        <p:spPr>
          <a:xfrm>
            <a:off x="311700" y="73175"/>
            <a:ext cx="61920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Piecing Everything Together For Phishing Delivery</a:t>
            </a:r>
            <a:endParaRPr/>
          </a:p>
        </p:txBody>
      </p:sp>
      <p:pic>
        <p:nvPicPr>
          <p:cNvPr id="513" name="Google Shape;513;p48"/>
          <p:cNvPicPr preferRelativeResize="0"/>
          <p:nvPr/>
        </p:nvPicPr>
        <p:blipFill rotWithShape="1">
          <a:blip r:embed="rId3">
            <a:alphaModFix/>
          </a:blip>
          <a:srcRect t="7757"/>
          <a:stretch/>
        </p:blipFill>
        <p:spPr>
          <a:xfrm>
            <a:off x="79575" y="523475"/>
            <a:ext cx="7877307" cy="4312876"/>
          </a:xfrm>
          <a:prstGeom prst="rect">
            <a:avLst/>
          </a:prstGeom>
          <a:noFill/>
          <a:ln>
            <a:noFill/>
          </a:ln>
        </p:spPr>
      </p:pic>
      <p:sp>
        <p:nvSpPr>
          <p:cNvPr id="514" name="Google Shape;514;p48"/>
          <p:cNvSpPr/>
          <p:nvPr/>
        </p:nvSpPr>
        <p:spPr>
          <a:xfrm>
            <a:off x="3088475" y="728675"/>
            <a:ext cx="942900" cy="525000"/>
          </a:xfrm>
          <a:prstGeom prst="rect">
            <a:avLst/>
          </a:prstGeom>
          <a:noFill/>
          <a:ln w="9525" cap="flat" cmpd="sng">
            <a:solidFill>
              <a:srgbClr val="B02C2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5" name="Google Shape;515;p48"/>
          <p:cNvGrpSpPr/>
          <p:nvPr/>
        </p:nvGrpSpPr>
        <p:grpSpPr>
          <a:xfrm>
            <a:off x="4115363" y="791175"/>
            <a:ext cx="4905798" cy="400200"/>
            <a:chOff x="881075" y="1159625"/>
            <a:chExt cx="2776500" cy="400200"/>
          </a:xfrm>
        </p:grpSpPr>
        <p:sp>
          <p:nvSpPr>
            <p:cNvPr id="516" name="Google Shape;516;p48"/>
            <p:cNvSpPr/>
            <p:nvPr/>
          </p:nvSpPr>
          <p:spPr>
            <a:xfrm>
              <a:off x="881075" y="1204925"/>
              <a:ext cx="2776500" cy="309600"/>
            </a:xfrm>
            <a:prstGeom prst="rect">
              <a:avLst/>
            </a:prstGeom>
            <a:solidFill>
              <a:srgbClr val="11648E"/>
            </a:solidFill>
            <a:ln w="9525" cap="flat" cmpd="sng">
              <a:solidFill>
                <a:srgbClr val="11648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48"/>
            <p:cNvSpPr txBox="1"/>
            <p:nvPr/>
          </p:nvSpPr>
          <p:spPr>
            <a:xfrm>
              <a:off x="1064525" y="1159625"/>
              <a:ext cx="24096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a:solidFill>
                    <a:schemeClr val="lt1"/>
                  </a:solidFill>
                  <a:latin typeface="Roboto"/>
                  <a:ea typeface="Roboto"/>
                  <a:cs typeface="Roboto"/>
                  <a:sym typeface="Roboto"/>
                </a:rPr>
                <a:t>Review Output From OpenAI’s GPT3</a:t>
              </a:r>
              <a:endParaRPr>
                <a:solidFill>
                  <a:schemeClr val="lt1"/>
                </a:solidFill>
                <a:latin typeface="Roboto"/>
                <a:ea typeface="Roboto"/>
                <a:cs typeface="Roboto"/>
                <a:sym typeface="Roboto"/>
              </a:endParaRPr>
            </a:p>
          </p:txBody>
        </p:sp>
      </p:grpSp>
      <p:sp>
        <p:nvSpPr>
          <p:cNvPr id="518" name="Google Shape;518;p48"/>
          <p:cNvSpPr/>
          <p:nvPr/>
        </p:nvSpPr>
        <p:spPr>
          <a:xfrm>
            <a:off x="4115375" y="1176950"/>
            <a:ext cx="4905900" cy="2739000"/>
          </a:xfrm>
          <a:prstGeom prst="rect">
            <a:avLst/>
          </a:prstGeom>
          <a:solidFill>
            <a:schemeClr val="lt1"/>
          </a:solidFill>
          <a:ln w="9525" cap="flat" cmpd="sng">
            <a:solidFill>
              <a:srgbClr val="11648E"/>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sz="1000">
                <a:solidFill>
                  <a:srgbClr val="202123"/>
                </a:solidFill>
                <a:latin typeface="Roboto Light"/>
                <a:ea typeface="Roboto Light"/>
                <a:cs typeface="Roboto Light"/>
                <a:sym typeface="Roboto Light"/>
              </a:rPr>
              <a:t>Dear </a:t>
            </a:r>
            <a:r>
              <a:rPr lang="en-GB" sz="1000">
                <a:solidFill>
                  <a:srgbClr val="FF0000"/>
                </a:solidFill>
                <a:latin typeface="Roboto Light"/>
                <a:ea typeface="Roboto Light"/>
                <a:cs typeface="Roboto Light"/>
                <a:sym typeface="Roboto Light"/>
              </a:rPr>
              <a:t>John</a:t>
            </a:r>
            <a:r>
              <a:rPr lang="en-GB" sz="1000">
                <a:solidFill>
                  <a:srgbClr val="202123"/>
                </a:solidFill>
                <a:latin typeface="Roboto Light"/>
                <a:ea typeface="Roboto Light"/>
                <a:cs typeface="Roboto Light"/>
                <a:sym typeface="Roboto Light"/>
              </a:rPr>
              <a:t>,</a:t>
            </a:r>
            <a:endParaRPr sz="1000">
              <a:solidFill>
                <a:srgbClr val="202123"/>
              </a:solidFill>
              <a:latin typeface="Roboto Light"/>
              <a:ea typeface="Roboto Light"/>
              <a:cs typeface="Roboto Light"/>
              <a:sym typeface="Roboto Light"/>
            </a:endParaRPr>
          </a:p>
          <a:p>
            <a:pPr marL="0" lvl="0" indent="0" algn="l" rtl="0">
              <a:lnSpc>
                <a:spcPct val="115000"/>
              </a:lnSpc>
              <a:spcBef>
                <a:spcPts val="0"/>
              </a:spcBef>
              <a:spcAft>
                <a:spcPts val="0"/>
              </a:spcAft>
              <a:buNone/>
            </a:pPr>
            <a:endParaRPr sz="1000">
              <a:solidFill>
                <a:srgbClr val="202123"/>
              </a:solidFill>
              <a:latin typeface="Roboto Light"/>
              <a:ea typeface="Roboto Light"/>
              <a:cs typeface="Roboto Light"/>
              <a:sym typeface="Roboto Light"/>
            </a:endParaRPr>
          </a:p>
          <a:p>
            <a:pPr marL="0" lvl="0" indent="0" algn="l" rtl="0">
              <a:lnSpc>
                <a:spcPct val="115000"/>
              </a:lnSpc>
              <a:spcBef>
                <a:spcPts val="0"/>
              </a:spcBef>
              <a:spcAft>
                <a:spcPts val="0"/>
              </a:spcAft>
              <a:buNone/>
            </a:pPr>
            <a:r>
              <a:rPr lang="en-GB" sz="1000">
                <a:solidFill>
                  <a:srgbClr val="202123"/>
                </a:solidFill>
                <a:latin typeface="Roboto Light"/>
                <a:ea typeface="Roboto Light"/>
                <a:cs typeface="Roboto Light"/>
                <a:sym typeface="Roboto Light"/>
              </a:rPr>
              <a:t>I hope this email finds you well. I am writing to you on behalf of our company, </a:t>
            </a:r>
            <a:r>
              <a:rPr lang="en-GB" sz="1000">
                <a:solidFill>
                  <a:srgbClr val="FF0000"/>
                </a:solidFill>
                <a:latin typeface="Roboto Light"/>
                <a:ea typeface="Roboto Light"/>
                <a:cs typeface="Roboto Light"/>
                <a:sym typeface="Roboto Light"/>
              </a:rPr>
              <a:t>Company B</a:t>
            </a:r>
            <a:r>
              <a:rPr lang="en-GB" sz="1000">
                <a:solidFill>
                  <a:srgbClr val="202123"/>
                </a:solidFill>
                <a:latin typeface="Roboto Light"/>
                <a:ea typeface="Roboto Light"/>
                <a:cs typeface="Roboto Light"/>
                <a:sym typeface="Roboto Light"/>
              </a:rPr>
              <a:t>, to inquire if you are interested in exploring a career opportunity with us.</a:t>
            </a:r>
            <a:endParaRPr sz="1000">
              <a:solidFill>
                <a:srgbClr val="202123"/>
              </a:solidFill>
              <a:latin typeface="Roboto Light"/>
              <a:ea typeface="Roboto Light"/>
              <a:cs typeface="Roboto Light"/>
              <a:sym typeface="Roboto Light"/>
            </a:endParaRPr>
          </a:p>
          <a:p>
            <a:pPr marL="0" lvl="0" indent="0" algn="l" rtl="0">
              <a:lnSpc>
                <a:spcPct val="115000"/>
              </a:lnSpc>
              <a:spcBef>
                <a:spcPts val="0"/>
              </a:spcBef>
              <a:spcAft>
                <a:spcPts val="0"/>
              </a:spcAft>
              <a:buNone/>
            </a:pPr>
            <a:endParaRPr sz="1000">
              <a:solidFill>
                <a:srgbClr val="202123"/>
              </a:solidFill>
              <a:latin typeface="Roboto Light"/>
              <a:ea typeface="Roboto Light"/>
              <a:cs typeface="Roboto Light"/>
              <a:sym typeface="Roboto Light"/>
            </a:endParaRPr>
          </a:p>
          <a:p>
            <a:pPr marL="0" lvl="0" indent="0" algn="l" rtl="0">
              <a:lnSpc>
                <a:spcPct val="115000"/>
              </a:lnSpc>
              <a:spcBef>
                <a:spcPts val="0"/>
              </a:spcBef>
              <a:spcAft>
                <a:spcPts val="0"/>
              </a:spcAft>
              <a:buNone/>
            </a:pPr>
            <a:r>
              <a:rPr lang="en-GB" sz="1000">
                <a:solidFill>
                  <a:srgbClr val="FF0000"/>
                </a:solidFill>
                <a:latin typeface="Roboto Light"/>
                <a:ea typeface="Roboto Light"/>
                <a:cs typeface="Roboto Light"/>
                <a:sym typeface="Roboto Light"/>
              </a:rPr>
              <a:t>Company B</a:t>
            </a:r>
            <a:r>
              <a:rPr lang="en-GB" sz="1000">
                <a:solidFill>
                  <a:srgbClr val="202123"/>
                </a:solidFill>
                <a:latin typeface="Roboto Light"/>
                <a:ea typeface="Roboto Light"/>
                <a:cs typeface="Roboto Light"/>
                <a:sym typeface="Roboto Light"/>
              </a:rPr>
              <a:t> is the leading company that develops and markets software, services, and devices. We are known for our innovations in computer software, hardware, and for providing cloud-based services that empower every person and every organization on the planet to achieve more.</a:t>
            </a:r>
            <a:endParaRPr sz="1000">
              <a:solidFill>
                <a:srgbClr val="202123"/>
              </a:solidFill>
              <a:latin typeface="Roboto Light"/>
              <a:ea typeface="Roboto Light"/>
              <a:cs typeface="Roboto Light"/>
              <a:sym typeface="Roboto Light"/>
            </a:endParaRPr>
          </a:p>
          <a:p>
            <a:pPr marL="0" lvl="0" indent="0" algn="l" rtl="0">
              <a:lnSpc>
                <a:spcPct val="115000"/>
              </a:lnSpc>
              <a:spcBef>
                <a:spcPts val="0"/>
              </a:spcBef>
              <a:spcAft>
                <a:spcPts val="0"/>
              </a:spcAft>
              <a:buNone/>
            </a:pPr>
            <a:endParaRPr sz="1000">
              <a:solidFill>
                <a:srgbClr val="202123"/>
              </a:solidFill>
              <a:latin typeface="Roboto Light"/>
              <a:ea typeface="Roboto Light"/>
              <a:cs typeface="Roboto Light"/>
              <a:sym typeface="Roboto Light"/>
            </a:endParaRPr>
          </a:p>
          <a:p>
            <a:pPr marL="0" lvl="0" indent="0" algn="l" rtl="0">
              <a:lnSpc>
                <a:spcPct val="115000"/>
              </a:lnSpc>
              <a:spcBef>
                <a:spcPts val="0"/>
              </a:spcBef>
              <a:spcAft>
                <a:spcPts val="0"/>
              </a:spcAft>
              <a:buNone/>
            </a:pPr>
            <a:r>
              <a:rPr lang="en-GB" sz="1000">
                <a:solidFill>
                  <a:srgbClr val="202123"/>
                </a:solidFill>
                <a:latin typeface="Roboto Light"/>
                <a:ea typeface="Roboto Light"/>
                <a:cs typeface="Roboto Light"/>
                <a:sym typeface="Roboto Light"/>
              </a:rPr>
              <a:t>Our commitment is to help every person and every organization on the planet to achieve more. We do this by creating the best devices and services that enable people and businesses to do and achieve more.</a:t>
            </a:r>
            <a:endParaRPr sz="1000">
              <a:solidFill>
                <a:srgbClr val="202123"/>
              </a:solidFill>
              <a:latin typeface="Roboto Light"/>
              <a:ea typeface="Roboto Light"/>
              <a:cs typeface="Roboto Light"/>
              <a:sym typeface="Roboto Light"/>
            </a:endParaRPr>
          </a:p>
          <a:p>
            <a:pPr marL="0" lvl="0" indent="0" algn="l" rtl="0">
              <a:lnSpc>
                <a:spcPct val="115000"/>
              </a:lnSpc>
              <a:spcBef>
                <a:spcPts val="0"/>
              </a:spcBef>
              <a:spcAft>
                <a:spcPts val="0"/>
              </a:spcAft>
              <a:buNone/>
            </a:pPr>
            <a:endParaRPr sz="1000">
              <a:solidFill>
                <a:srgbClr val="202123"/>
              </a:solidFill>
              <a:latin typeface="Roboto Light"/>
              <a:ea typeface="Roboto Light"/>
              <a:cs typeface="Roboto Light"/>
              <a:sym typeface="Roboto Light"/>
            </a:endParaRPr>
          </a:p>
          <a:p>
            <a:pPr marL="0" lvl="0" indent="0" algn="l" rtl="0">
              <a:lnSpc>
                <a:spcPct val="115000"/>
              </a:lnSpc>
              <a:spcBef>
                <a:spcPts val="0"/>
              </a:spcBef>
              <a:spcAft>
                <a:spcPts val="0"/>
              </a:spcAft>
              <a:buNone/>
            </a:pPr>
            <a:r>
              <a:rPr lang="en-GB" sz="1000">
                <a:solidFill>
                  <a:srgbClr val="202123"/>
                </a:solidFill>
                <a:latin typeface="Roboto Light"/>
                <a:ea typeface="Roboto Light"/>
                <a:cs typeface="Roboto Light"/>
                <a:sym typeface="Roboto Light"/>
              </a:rPr>
              <a:t>...</a:t>
            </a:r>
            <a:endParaRPr sz="1000">
              <a:solidFill>
                <a:srgbClr val="202123"/>
              </a:solidFill>
              <a:latin typeface="Roboto Light"/>
              <a:ea typeface="Roboto Light"/>
              <a:cs typeface="Roboto Light"/>
              <a:sym typeface="Roboto Light"/>
            </a:endParaRPr>
          </a:p>
        </p:txBody>
      </p:sp>
      <p:sp>
        <p:nvSpPr>
          <p:cNvPr id="519" name="Google Shape;519;p48"/>
          <p:cNvSpPr txBox="1"/>
          <p:nvPr/>
        </p:nvSpPr>
        <p:spPr>
          <a:xfrm>
            <a:off x="7772400" y="4114800"/>
            <a:ext cx="12489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900">
                <a:solidFill>
                  <a:srgbClr val="FF0000"/>
                </a:solidFill>
                <a:latin typeface="Roboto"/>
                <a:ea typeface="Roboto"/>
                <a:cs typeface="Roboto"/>
                <a:sym typeface="Roboto"/>
              </a:rPr>
              <a:t>Text - </a:t>
            </a:r>
            <a:r>
              <a:rPr lang="en-GB" sz="900">
                <a:solidFill>
                  <a:schemeClr val="dk1"/>
                </a:solidFill>
                <a:latin typeface="Roboto"/>
                <a:ea typeface="Roboto"/>
                <a:cs typeface="Roboto"/>
                <a:sym typeface="Roboto"/>
              </a:rPr>
              <a:t>Redacted Text</a:t>
            </a:r>
            <a:endParaRPr sz="900">
              <a:solidFill>
                <a:schemeClr val="dk1"/>
              </a:solidFill>
              <a:latin typeface="Roboto"/>
              <a:ea typeface="Roboto"/>
              <a:cs typeface="Roboto"/>
              <a:sym typeface="Roboto"/>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49"/>
          <p:cNvSpPr txBox="1">
            <a:spLocks noGrp="1"/>
          </p:cNvSpPr>
          <p:nvPr>
            <p:ph type="body" idx="1"/>
          </p:nvPr>
        </p:nvSpPr>
        <p:spPr>
          <a:xfrm>
            <a:off x="311700" y="908675"/>
            <a:ext cx="8520600" cy="3660300"/>
          </a:xfrm>
          <a:prstGeom prst="rect">
            <a:avLst/>
          </a:prstGeom>
        </p:spPr>
        <p:txBody>
          <a:bodyPr spcFirstLastPara="1" wrap="square" lIns="91425" tIns="91425" rIns="91425" bIns="91425" anchor="t" anchorCtr="0">
            <a:normAutofit fontScale="92500"/>
          </a:bodyPr>
          <a:lstStyle/>
          <a:p>
            <a:pPr marL="0" lvl="0" indent="0" algn="l" rtl="0">
              <a:spcBef>
                <a:spcPts val="0"/>
              </a:spcBef>
              <a:spcAft>
                <a:spcPts val="0"/>
              </a:spcAft>
              <a:buNone/>
            </a:pPr>
            <a:r>
              <a:rPr lang="en-GB"/>
              <a:t>2 different types of experiments over a period of 3 months, with over 200 targets across multiple authorised phishing exercises:</a:t>
            </a:r>
            <a:endParaRPr/>
          </a:p>
          <a:p>
            <a:pPr marL="457200" lvl="0" indent="-342900" algn="l" rtl="0">
              <a:spcBef>
                <a:spcPts val="1200"/>
              </a:spcBef>
              <a:spcAft>
                <a:spcPts val="0"/>
              </a:spcAft>
              <a:buSzPts val="1800"/>
              <a:buChar char="●"/>
            </a:pPr>
            <a:r>
              <a:rPr lang="en-GB"/>
              <a:t>Type 1: To investigate the effectiveness of convincing targets to </a:t>
            </a:r>
            <a:r>
              <a:rPr lang="en-GB" b="1"/>
              <a:t>click on phishing links</a:t>
            </a:r>
            <a:r>
              <a:rPr lang="en-GB"/>
              <a:t> in phishing emails</a:t>
            </a:r>
            <a:endParaRPr/>
          </a:p>
          <a:p>
            <a:pPr marL="457200" lvl="0" indent="0" algn="l" rtl="0">
              <a:spcBef>
                <a:spcPts val="1200"/>
              </a:spcBef>
              <a:spcAft>
                <a:spcPts val="0"/>
              </a:spcAft>
              <a:buNone/>
            </a:pPr>
            <a:r>
              <a:rPr lang="en-GB" sz="1400" i="1">
                <a:solidFill>
                  <a:srgbClr val="999999"/>
                </a:solidFill>
              </a:rPr>
              <a:t>For Type 1 experiments, each target receives 2 emails (one will be generated by AI, while the other generated manually by a red team operator).</a:t>
            </a:r>
            <a:endParaRPr/>
          </a:p>
          <a:p>
            <a:pPr marL="457200" lvl="0" indent="-342900" algn="l" rtl="0">
              <a:spcBef>
                <a:spcPts val="1200"/>
              </a:spcBef>
              <a:spcAft>
                <a:spcPts val="0"/>
              </a:spcAft>
              <a:buSzPts val="1800"/>
              <a:buChar char="●"/>
            </a:pPr>
            <a:r>
              <a:rPr lang="en-GB"/>
              <a:t>Type 2: To investigate the effectiveness of convincing targets to </a:t>
            </a:r>
            <a:r>
              <a:rPr lang="en-GB" b="1"/>
              <a:t>open “malicious” documents</a:t>
            </a:r>
            <a:r>
              <a:rPr lang="en-GB"/>
              <a:t> in phishing emails</a:t>
            </a:r>
            <a:endParaRPr/>
          </a:p>
          <a:p>
            <a:pPr marL="457200" lvl="0" indent="0" algn="l" rtl="0">
              <a:spcBef>
                <a:spcPts val="1200"/>
              </a:spcBef>
              <a:spcAft>
                <a:spcPts val="1200"/>
              </a:spcAft>
              <a:buNone/>
            </a:pPr>
            <a:r>
              <a:rPr lang="en-GB" sz="1400" i="1">
                <a:solidFill>
                  <a:srgbClr val="999999"/>
                </a:solidFill>
              </a:rPr>
              <a:t>For Type 2 experiments, the target group is divided into 2 groups. One group will receive AI generated phishing content, while the other will receive phishing content generated manually by a red team operator.</a:t>
            </a:r>
            <a:endParaRPr sz="1400" i="1">
              <a:solidFill>
                <a:srgbClr val="999999"/>
              </a:solidFill>
            </a:endParaRPr>
          </a:p>
        </p:txBody>
      </p:sp>
      <p:sp>
        <p:nvSpPr>
          <p:cNvPr id="525" name="Google Shape;525;p49"/>
          <p:cNvSpPr/>
          <p:nvPr/>
        </p:nvSpPr>
        <p:spPr>
          <a:xfrm>
            <a:off x="0" y="120875"/>
            <a:ext cx="2481600" cy="402600"/>
          </a:xfrm>
          <a:prstGeom prst="rect">
            <a:avLst/>
          </a:prstGeom>
          <a:gradFill>
            <a:gsLst>
              <a:gs pos="0">
                <a:srgbClr val="00C0F3"/>
              </a:gs>
              <a:gs pos="100000">
                <a:srgbClr val="008E4E"/>
              </a:gs>
            </a:gsLst>
            <a:lin ang="270000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Lucida Sans"/>
              <a:ea typeface="Lucida Sans"/>
              <a:cs typeface="Lucida Sans"/>
              <a:sym typeface="Lucida Sans"/>
            </a:endParaRPr>
          </a:p>
        </p:txBody>
      </p:sp>
      <p:sp>
        <p:nvSpPr>
          <p:cNvPr id="526" name="Google Shape;526;p4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31</a:t>
            </a:fld>
            <a:endParaRPr/>
          </a:p>
        </p:txBody>
      </p:sp>
      <p:sp>
        <p:nvSpPr>
          <p:cNvPr id="527" name="Google Shape;527;p49"/>
          <p:cNvSpPr txBox="1">
            <a:spLocks noGrp="1"/>
          </p:cNvSpPr>
          <p:nvPr>
            <p:ph type="title"/>
          </p:nvPr>
        </p:nvSpPr>
        <p:spPr>
          <a:xfrm>
            <a:off x="311700" y="73175"/>
            <a:ext cx="39348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Our Experiments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31"/>
        <p:cNvGrpSpPr/>
        <p:nvPr/>
      </p:nvGrpSpPr>
      <p:grpSpPr>
        <a:xfrm>
          <a:off x="0" y="0"/>
          <a:ext cx="0" cy="0"/>
          <a:chOff x="0" y="0"/>
          <a:chExt cx="0" cy="0"/>
        </a:xfrm>
      </p:grpSpPr>
      <p:sp>
        <p:nvSpPr>
          <p:cNvPr id="532" name="Google Shape;532;p50"/>
          <p:cNvSpPr/>
          <p:nvPr/>
        </p:nvSpPr>
        <p:spPr>
          <a:xfrm>
            <a:off x="0" y="120875"/>
            <a:ext cx="3495600" cy="402600"/>
          </a:xfrm>
          <a:prstGeom prst="rect">
            <a:avLst/>
          </a:prstGeom>
          <a:gradFill>
            <a:gsLst>
              <a:gs pos="0">
                <a:srgbClr val="00C0F3"/>
              </a:gs>
              <a:gs pos="100000">
                <a:srgbClr val="008E4E"/>
              </a:gs>
            </a:gsLst>
            <a:lin ang="269863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Lucida Sans"/>
              <a:ea typeface="Lucida Sans"/>
              <a:cs typeface="Lucida Sans"/>
              <a:sym typeface="Lucida Sans"/>
            </a:endParaRPr>
          </a:p>
        </p:txBody>
      </p:sp>
      <p:sp>
        <p:nvSpPr>
          <p:cNvPr id="533" name="Google Shape;533;p5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32</a:t>
            </a:fld>
            <a:endParaRPr/>
          </a:p>
        </p:txBody>
      </p:sp>
      <p:sp>
        <p:nvSpPr>
          <p:cNvPr id="534" name="Google Shape;534;p50"/>
          <p:cNvSpPr txBox="1">
            <a:spLocks noGrp="1"/>
          </p:cNvSpPr>
          <p:nvPr>
            <p:ph type="title"/>
          </p:nvPr>
        </p:nvSpPr>
        <p:spPr>
          <a:xfrm>
            <a:off x="311700" y="73175"/>
            <a:ext cx="39348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Type 1 Experiment Setup</a:t>
            </a:r>
            <a:endParaRPr/>
          </a:p>
        </p:txBody>
      </p:sp>
      <p:graphicFrame>
        <p:nvGraphicFramePr>
          <p:cNvPr id="535" name="Google Shape;535;p50"/>
          <p:cNvGraphicFramePr/>
          <p:nvPr/>
        </p:nvGraphicFramePr>
        <p:xfrm>
          <a:off x="5584550" y="803658"/>
          <a:ext cx="3436600" cy="3158800"/>
        </p:xfrm>
        <a:graphic>
          <a:graphicData uri="http://schemas.openxmlformats.org/drawingml/2006/table">
            <a:tbl>
              <a:tblPr>
                <a:noFill/>
                <a:tableStyleId>{CBFC39C5-30E6-4EE9-86C5-71465503F7AC}</a:tableStyleId>
              </a:tblPr>
              <a:tblGrid>
                <a:gridCol w="1055875">
                  <a:extLst>
                    <a:ext uri="{9D8B030D-6E8A-4147-A177-3AD203B41FA5}">
                      <a16:colId xmlns:a16="http://schemas.microsoft.com/office/drawing/2014/main" val="20000"/>
                    </a:ext>
                  </a:extLst>
                </a:gridCol>
                <a:gridCol w="743650">
                  <a:extLst>
                    <a:ext uri="{9D8B030D-6E8A-4147-A177-3AD203B41FA5}">
                      <a16:colId xmlns:a16="http://schemas.microsoft.com/office/drawing/2014/main" val="20001"/>
                    </a:ext>
                  </a:extLst>
                </a:gridCol>
                <a:gridCol w="899775">
                  <a:extLst>
                    <a:ext uri="{9D8B030D-6E8A-4147-A177-3AD203B41FA5}">
                      <a16:colId xmlns:a16="http://schemas.microsoft.com/office/drawing/2014/main" val="20002"/>
                    </a:ext>
                  </a:extLst>
                </a:gridCol>
                <a:gridCol w="737300">
                  <a:extLst>
                    <a:ext uri="{9D8B030D-6E8A-4147-A177-3AD203B41FA5}">
                      <a16:colId xmlns:a16="http://schemas.microsoft.com/office/drawing/2014/main" val="20003"/>
                    </a:ext>
                  </a:extLst>
                </a:gridCol>
              </a:tblGrid>
              <a:tr h="380975">
                <a:tc gridSpan="4">
                  <a:txBody>
                    <a:bodyPr/>
                    <a:lstStyle/>
                    <a:p>
                      <a:pPr marL="0" lvl="0" indent="0" algn="ctr" rtl="0">
                        <a:spcBef>
                          <a:spcPts val="0"/>
                        </a:spcBef>
                        <a:spcAft>
                          <a:spcPts val="0"/>
                        </a:spcAft>
                        <a:buNone/>
                      </a:pPr>
                      <a:r>
                        <a:rPr lang="en-GB" sz="1300" b="1">
                          <a:solidFill>
                            <a:srgbClr val="FFFFFF"/>
                          </a:solidFill>
                          <a:latin typeface="Roboto"/>
                          <a:ea typeface="Roboto"/>
                          <a:cs typeface="Roboto"/>
                          <a:sym typeface="Roboto"/>
                        </a:rPr>
                        <a:t>Sample Size</a:t>
                      </a:r>
                      <a:endParaRPr sz="1300" b="1">
                        <a:solidFill>
                          <a:srgbClr val="FFFFFF"/>
                        </a:solidFill>
                        <a:latin typeface="Roboto"/>
                        <a:ea typeface="Roboto"/>
                        <a:cs typeface="Roboto"/>
                        <a:sym typeface="Roboto"/>
                      </a:endParaRPr>
                    </a:p>
                  </a:txBody>
                  <a:tcPr marL="91425" marR="91425" marT="91425" marB="91425">
                    <a:solidFill>
                      <a:srgbClr val="11648E"/>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80975">
                <a:tc>
                  <a:txBody>
                    <a:bodyPr/>
                    <a:lstStyle/>
                    <a:p>
                      <a:pPr marL="0" lvl="0" indent="0" algn="ctr" rtl="0">
                        <a:spcBef>
                          <a:spcPts val="0"/>
                        </a:spcBef>
                        <a:spcAft>
                          <a:spcPts val="0"/>
                        </a:spcAft>
                        <a:buNone/>
                      </a:pPr>
                      <a:r>
                        <a:rPr lang="en-GB" sz="1300">
                          <a:solidFill>
                            <a:srgbClr val="FFFFFF"/>
                          </a:solidFill>
                          <a:latin typeface="Roboto"/>
                          <a:ea typeface="Roboto"/>
                          <a:cs typeface="Roboto"/>
                          <a:sym typeface="Roboto"/>
                        </a:rPr>
                        <a:t>Exercise</a:t>
                      </a:r>
                      <a:endParaRPr sz="1300">
                        <a:solidFill>
                          <a:srgbClr val="FFFFFF"/>
                        </a:solidFill>
                        <a:latin typeface="Roboto"/>
                        <a:ea typeface="Roboto"/>
                        <a:cs typeface="Roboto"/>
                        <a:sym typeface="Roboto"/>
                      </a:endParaRPr>
                    </a:p>
                  </a:txBody>
                  <a:tcPr marL="91425" marR="91425" marT="91425" marB="91425">
                    <a:solidFill>
                      <a:srgbClr val="11648E"/>
                    </a:solidFill>
                  </a:tcPr>
                </a:tc>
                <a:tc>
                  <a:txBody>
                    <a:bodyPr/>
                    <a:lstStyle/>
                    <a:p>
                      <a:pPr marL="0" lvl="0" indent="0" algn="ctr" rtl="0">
                        <a:spcBef>
                          <a:spcPts val="0"/>
                        </a:spcBef>
                        <a:spcAft>
                          <a:spcPts val="0"/>
                        </a:spcAft>
                        <a:buNone/>
                      </a:pPr>
                      <a:r>
                        <a:rPr lang="en-GB" sz="1300">
                          <a:solidFill>
                            <a:srgbClr val="FFFFFF"/>
                          </a:solidFill>
                          <a:latin typeface="Roboto"/>
                          <a:ea typeface="Roboto"/>
                          <a:cs typeface="Roboto"/>
                          <a:sym typeface="Roboto"/>
                        </a:rPr>
                        <a:t>Stage</a:t>
                      </a:r>
                      <a:endParaRPr sz="1300">
                        <a:solidFill>
                          <a:srgbClr val="FFFFFF"/>
                        </a:solidFill>
                        <a:latin typeface="Roboto"/>
                        <a:ea typeface="Roboto"/>
                        <a:cs typeface="Roboto"/>
                        <a:sym typeface="Roboto"/>
                      </a:endParaRPr>
                    </a:p>
                  </a:txBody>
                  <a:tcPr marL="91425" marR="91425" marT="91425" marB="91425">
                    <a:solidFill>
                      <a:srgbClr val="11648E"/>
                    </a:solidFill>
                  </a:tcPr>
                </a:tc>
                <a:tc>
                  <a:txBody>
                    <a:bodyPr/>
                    <a:lstStyle/>
                    <a:p>
                      <a:pPr marL="0" lvl="0" indent="0" algn="ctr" rtl="0">
                        <a:spcBef>
                          <a:spcPts val="0"/>
                        </a:spcBef>
                        <a:spcAft>
                          <a:spcPts val="0"/>
                        </a:spcAft>
                        <a:buNone/>
                      </a:pPr>
                      <a:r>
                        <a:rPr lang="en-GB" sz="1300">
                          <a:solidFill>
                            <a:srgbClr val="FFFFFF"/>
                          </a:solidFill>
                          <a:latin typeface="Roboto"/>
                          <a:ea typeface="Roboto"/>
                          <a:cs typeface="Roboto"/>
                          <a:sym typeface="Roboto"/>
                        </a:rPr>
                        <a:t>AI</a:t>
                      </a:r>
                      <a:endParaRPr sz="1300">
                        <a:solidFill>
                          <a:srgbClr val="FFFFFF"/>
                        </a:solidFill>
                        <a:latin typeface="Roboto"/>
                        <a:ea typeface="Roboto"/>
                        <a:cs typeface="Roboto"/>
                        <a:sym typeface="Roboto"/>
                      </a:endParaRPr>
                    </a:p>
                  </a:txBody>
                  <a:tcPr marL="91425" marR="91425" marT="91425" marB="91425">
                    <a:solidFill>
                      <a:srgbClr val="11648E"/>
                    </a:solidFill>
                  </a:tcPr>
                </a:tc>
                <a:tc>
                  <a:txBody>
                    <a:bodyPr/>
                    <a:lstStyle/>
                    <a:p>
                      <a:pPr marL="0" lvl="0" indent="0" algn="ctr" rtl="0">
                        <a:spcBef>
                          <a:spcPts val="0"/>
                        </a:spcBef>
                        <a:spcAft>
                          <a:spcPts val="0"/>
                        </a:spcAft>
                        <a:buNone/>
                      </a:pPr>
                      <a:r>
                        <a:rPr lang="en-GB" sz="1300">
                          <a:solidFill>
                            <a:srgbClr val="FFFFFF"/>
                          </a:solidFill>
                          <a:latin typeface="Roboto"/>
                          <a:ea typeface="Roboto"/>
                          <a:cs typeface="Roboto"/>
                          <a:sym typeface="Roboto"/>
                        </a:rPr>
                        <a:t>Human</a:t>
                      </a:r>
                      <a:endParaRPr sz="1300">
                        <a:solidFill>
                          <a:srgbClr val="FFFFFF"/>
                        </a:solidFill>
                        <a:latin typeface="Roboto"/>
                        <a:ea typeface="Roboto"/>
                        <a:cs typeface="Roboto"/>
                        <a:sym typeface="Roboto"/>
                      </a:endParaRPr>
                    </a:p>
                  </a:txBody>
                  <a:tcPr marL="91425" marR="91425" marT="91425" marB="91425">
                    <a:solidFill>
                      <a:srgbClr val="11648E"/>
                    </a:solidFill>
                  </a:tcPr>
                </a:tc>
                <a:extLst>
                  <a:ext uri="{0D108BD9-81ED-4DB2-BD59-A6C34878D82A}">
                    <a16:rowId xmlns:a16="http://schemas.microsoft.com/office/drawing/2014/main" val="10001"/>
                  </a:ext>
                </a:extLst>
              </a:tr>
              <a:tr h="380975">
                <a:tc>
                  <a:txBody>
                    <a:bodyPr/>
                    <a:lstStyle/>
                    <a:p>
                      <a:pPr marL="0" lvl="0" indent="0" algn="ctr" rtl="0">
                        <a:spcBef>
                          <a:spcPts val="0"/>
                        </a:spcBef>
                        <a:spcAft>
                          <a:spcPts val="0"/>
                        </a:spcAft>
                        <a:buNone/>
                      </a:pPr>
                      <a:r>
                        <a:rPr lang="en-GB" sz="1300">
                          <a:latin typeface="Roboto"/>
                          <a:ea typeface="Roboto"/>
                          <a:cs typeface="Roboto"/>
                          <a:sym typeface="Roboto"/>
                        </a:rPr>
                        <a:t>A</a:t>
                      </a:r>
                      <a:endParaRPr sz="1300">
                        <a:latin typeface="Roboto"/>
                        <a:ea typeface="Roboto"/>
                        <a:cs typeface="Roboto"/>
                        <a:sym typeface="Roboto"/>
                      </a:endParaRPr>
                    </a:p>
                  </a:txBody>
                  <a:tcPr marL="91425" marR="91425" marT="91425" marB="91425"/>
                </a:tc>
                <a:tc>
                  <a:txBody>
                    <a:bodyPr/>
                    <a:lstStyle/>
                    <a:p>
                      <a:pPr marL="0" lvl="0" indent="0" algn="ctr" rtl="0">
                        <a:spcBef>
                          <a:spcPts val="0"/>
                        </a:spcBef>
                        <a:spcAft>
                          <a:spcPts val="0"/>
                        </a:spcAft>
                        <a:buNone/>
                      </a:pPr>
                      <a:r>
                        <a:rPr lang="en-GB" sz="1300">
                          <a:latin typeface="Roboto"/>
                          <a:ea typeface="Roboto"/>
                          <a:cs typeface="Roboto"/>
                          <a:sym typeface="Roboto"/>
                        </a:rPr>
                        <a:t>1</a:t>
                      </a:r>
                      <a:endParaRPr sz="1300">
                        <a:latin typeface="Roboto"/>
                        <a:ea typeface="Roboto"/>
                        <a:cs typeface="Roboto"/>
                        <a:sym typeface="Roboto"/>
                      </a:endParaRPr>
                    </a:p>
                  </a:txBody>
                  <a:tcPr marL="91425" marR="91425" marT="91425" marB="91425"/>
                </a:tc>
                <a:tc>
                  <a:txBody>
                    <a:bodyPr/>
                    <a:lstStyle/>
                    <a:p>
                      <a:pPr marL="0" lvl="0" indent="0" algn="ctr" rtl="0">
                        <a:spcBef>
                          <a:spcPts val="0"/>
                        </a:spcBef>
                        <a:spcAft>
                          <a:spcPts val="0"/>
                        </a:spcAft>
                        <a:buNone/>
                      </a:pPr>
                      <a:r>
                        <a:rPr lang="en-GB" sz="1300">
                          <a:latin typeface="Roboto"/>
                          <a:ea typeface="Roboto"/>
                          <a:cs typeface="Roboto"/>
                          <a:sym typeface="Roboto"/>
                        </a:rPr>
                        <a:t>25</a:t>
                      </a:r>
                      <a:endParaRPr sz="1300">
                        <a:latin typeface="Roboto"/>
                        <a:ea typeface="Roboto"/>
                        <a:cs typeface="Roboto"/>
                        <a:sym typeface="Roboto"/>
                      </a:endParaRPr>
                    </a:p>
                  </a:txBody>
                  <a:tcPr marL="91425" marR="91425" marT="91425" marB="91425"/>
                </a:tc>
                <a:tc>
                  <a:txBody>
                    <a:bodyPr/>
                    <a:lstStyle/>
                    <a:p>
                      <a:pPr marL="0" lvl="0" indent="0" algn="ctr" rtl="0">
                        <a:spcBef>
                          <a:spcPts val="0"/>
                        </a:spcBef>
                        <a:spcAft>
                          <a:spcPts val="0"/>
                        </a:spcAft>
                        <a:buNone/>
                      </a:pPr>
                      <a:r>
                        <a:rPr lang="en-GB" sz="1300">
                          <a:latin typeface="Roboto"/>
                          <a:ea typeface="Roboto"/>
                          <a:cs typeface="Roboto"/>
                          <a:sym typeface="Roboto"/>
                        </a:rPr>
                        <a:t>25</a:t>
                      </a:r>
                      <a:endParaRPr sz="1300">
                        <a:latin typeface="Roboto"/>
                        <a:ea typeface="Roboto"/>
                        <a:cs typeface="Roboto"/>
                        <a:sym typeface="Roboto"/>
                      </a:endParaRPr>
                    </a:p>
                  </a:txBody>
                  <a:tcPr marL="91425" marR="91425" marT="91425" marB="91425"/>
                </a:tc>
                <a:extLst>
                  <a:ext uri="{0D108BD9-81ED-4DB2-BD59-A6C34878D82A}">
                    <a16:rowId xmlns:a16="http://schemas.microsoft.com/office/drawing/2014/main" val="10002"/>
                  </a:ext>
                </a:extLst>
              </a:tr>
              <a:tr h="380975">
                <a:tc>
                  <a:txBody>
                    <a:bodyPr/>
                    <a:lstStyle/>
                    <a:p>
                      <a:pPr marL="0" lvl="0" indent="0" algn="ctr" rtl="0">
                        <a:spcBef>
                          <a:spcPts val="0"/>
                        </a:spcBef>
                        <a:spcAft>
                          <a:spcPts val="0"/>
                        </a:spcAft>
                        <a:buNone/>
                      </a:pPr>
                      <a:r>
                        <a:rPr lang="en-GB" sz="1300">
                          <a:latin typeface="Roboto"/>
                          <a:ea typeface="Roboto"/>
                          <a:cs typeface="Roboto"/>
                          <a:sym typeface="Roboto"/>
                        </a:rPr>
                        <a:t>A</a:t>
                      </a:r>
                      <a:endParaRPr sz="1300">
                        <a:latin typeface="Roboto"/>
                        <a:ea typeface="Roboto"/>
                        <a:cs typeface="Roboto"/>
                        <a:sym typeface="Roboto"/>
                      </a:endParaRPr>
                    </a:p>
                  </a:txBody>
                  <a:tcPr marL="91425" marR="91425" marT="91425" marB="91425"/>
                </a:tc>
                <a:tc>
                  <a:txBody>
                    <a:bodyPr/>
                    <a:lstStyle/>
                    <a:p>
                      <a:pPr marL="0" lvl="0" indent="0" algn="ctr" rtl="0">
                        <a:spcBef>
                          <a:spcPts val="0"/>
                        </a:spcBef>
                        <a:spcAft>
                          <a:spcPts val="0"/>
                        </a:spcAft>
                        <a:buNone/>
                      </a:pPr>
                      <a:r>
                        <a:rPr lang="en-GB" sz="1300">
                          <a:latin typeface="Roboto"/>
                          <a:ea typeface="Roboto"/>
                          <a:cs typeface="Roboto"/>
                          <a:sym typeface="Roboto"/>
                        </a:rPr>
                        <a:t>2</a:t>
                      </a:r>
                      <a:endParaRPr sz="1300">
                        <a:latin typeface="Roboto"/>
                        <a:ea typeface="Roboto"/>
                        <a:cs typeface="Roboto"/>
                        <a:sym typeface="Roboto"/>
                      </a:endParaRPr>
                    </a:p>
                  </a:txBody>
                  <a:tcPr marL="91425" marR="91425" marT="91425" marB="91425"/>
                </a:tc>
                <a:tc>
                  <a:txBody>
                    <a:bodyPr/>
                    <a:lstStyle/>
                    <a:p>
                      <a:pPr marL="0" lvl="0" indent="0" algn="ctr" rtl="0">
                        <a:spcBef>
                          <a:spcPts val="0"/>
                        </a:spcBef>
                        <a:spcAft>
                          <a:spcPts val="0"/>
                        </a:spcAft>
                        <a:buNone/>
                      </a:pPr>
                      <a:r>
                        <a:rPr lang="en-GB" sz="1300">
                          <a:latin typeface="Roboto"/>
                          <a:ea typeface="Roboto"/>
                          <a:cs typeface="Roboto"/>
                          <a:sym typeface="Roboto"/>
                        </a:rPr>
                        <a:t>5</a:t>
                      </a:r>
                      <a:endParaRPr sz="1300">
                        <a:latin typeface="Roboto"/>
                        <a:ea typeface="Roboto"/>
                        <a:cs typeface="Roboto"/>
                        <a:sym typeface="Roboto"/>
                      </a:endParaRPr>
                    </a:p>
                  </a:txBody>
                  <a:tcPr marL="91425" marR="91425" marT="91425" marB="91425"/>
                </a:tc>
                <a:tc>
                  <a:txBody>
                    <a:bodyPr/>
                    <a:lstStyle/>
                    <a:p>
                      <a:pPr marL="0" lvl="0" indent="0" algn="ctr" rtl="0">
                        <a:spcBef>
                          <a:spcPts val="0"/>
                        </a:spcBef>
                        <a:spcAft>
                          <a:spcPts val="0"/>
                        </a:spcAft>
                        <a:buNone/>
                      </a:pPr>
                      <a:r>
                        <a:rPr lang="en-GB" sz="1300">
                          <a:latin typeface="Roboto"/>
                          <a:ea typeface="Roboto"/>
                          <a:cs typeface="Roboto"/>
                          <a:sym typeface="Roboto"/>
                        </a:rPr>
                        <a:t>-</a:t>
                      </a:r>
                      <a:endParaRPr sz="1300">
                        <a:latin typeface="Roboto"/>
                        <a:ea typeface="Roboto"/>
                        <a:cs typeface="Roboto"/>
                        <a:sym typeface="Roboto"/>
                      </a:endParaRPr>
                    </a:p>
                  </a:txBody>
                  <a:tcPr marL="91425" marR="91425" marT="91425" marB="91425"/>
                </a:tc>
                <a:extLst>
                  <a:ext uri="{0D108BD9-81ED-4DB2-BD59-A6C34878D82A}">
                    <a16:rowId xmlns:a16="http://schemas.microsoft.com/office/drawing/2014/main" val="10003"/>
                  </a:ext>
                </a:extLst>
              </a:tr>
              <a:tr h="380975">
                <a:tc>
                  <a:txBody>
                    <a:bodyPr/>
                    <a:lstStyle/>
                    <a:p>
                      <a:pPr marL="0" lvl="0" indent="0" algn="ctr" rtl="0">
                        <a:spcBef>
                          <a:spcPts val="0"/>
                        </a:spcBef>
                        <a:spcAft>
                          <a:spcPts val="0"/>
                        </a:spcAft>
                        <a:buNone/>
                      </a:pPr>
                      <a:r>
                        <a:rPr lang="en-GB" sz="1300">
                          <a:latin typeface="Roboto"/>
                          <a:ea typeface="Roboto"/>
                          <a:cs typeface="Roboto"/>
                          <a:sym typeface="Roboto"/>
                        </a:rPr>
                        <a:t>B</a:t>
                      </a:r>
                      <a:endParaRPr sz="1300">
                        <a:latin typeface="Roboto"/>
                        <a:ea typeface="Roboto"/>
                        <a:cs typeface="Roboto"/>
                        <a:sym typeface="Roboto"/>
                      </a:endParaRPr>
                    </a:p>
                  </a:txBody>
                  <a:tcPr marL="91425" marR="91425" marT="91425" marB="91425"/>
                </a:tc>
                <a:tc>
                  <a:txBody>
                    <a:bodyPr/>
                    <a:lstStyle/>
                    <a:p>
                      <a:pPr marL="0" lvl="0" indent="0" algn="ctr" rtl="0">
                        <a:spcBef>
                          <a:spcPts val="0"/>
                        </a:spcBef>
                        <a:spcAft>
                          <a:spcPts val="0"/>
                        </a:spcAft>
                        <a:buNone/>
                      </a:pPr>
                      <a:r>
                        <a:rPr lang="en-GB" sz="1300">
                          <a:latin typeface="Roboto"/>
                          <a:ea typeface="Roboto"/>
                          <a:cs typeface="Roboto"/>
                          <a:sym typeface="Roboto"/>
                        </a:rPr>
                        <a:t>1</a:t>
                      </a:r>
                      <a:endParaRPr sz="1300">
                        <a:latin typeface="Roboto"/>
                        <a:ea typeface="Roboto"/>
                        <a:cs typeface="Roboto"/>
                        <a:sym typeface="Roboto"/>
                      </a:endParaRPr>
                    </a:p>
                  </a:txBody>
                  <a:tcPr marL="91425" marR="91425" marT="91425" marB="91425"/>
                </a:tc>
                <a:tc>
                  <a:txBody>
                    <a:bodyPr/>
                    <a:lstStyle/>
                    <a:p>
                      <a:pPr marL="0" lvl="0" indent="0" algn="ctr" rtl="0">
                        <a:spcBef>
                          <a:spcPts val="0"/>
                        </a:spcBef>
                        <a:spcAft>
                          <a:spcPts val="0"/>
                        </a:spcAft>
                        <a:buNone/>
                      </a:pPr>
                      <a:r>
                        <a:rPr lang="en-GB" sz="1300">
                          <a:latin typeface="Roboto"/>
                          <a:ea typeface="Roboto"/>
                          <a:cs typeface="Roboto"/>
                          <a:sym typeface="Roboto"/>
                        </a:rPr>
                        <a:t>117</a:t>
                      </a:r>
                      <a:endParaRPr sz="1300">
                        <a:latin typeface="Roboto"/>
                        <a:ea typeface="Roboto"/>
                        <a:cs typeface="Roboto"/>
                        <a:sym typeface="Roboto"/>
                      </a:endParaRPr>
                    </a:p>
                  </a:txBody>
                  <a:tcPr marL="91425" marR="91425" marT="91425" marB="91425"/>
                </a:tc>
                <a:tc>
                  <a:txBody>
                    <a:bodyPr/>
                    <a:lstStyle/>
                    <a:p>
                      <a:pPr marL="0" lvl="0" indent="0" algn="ctr" rtl="0">
                        <a:spcBef>
                          <a:spcPts val="0"/>
                        </a:spcBef>
                        <a:spcAft>
                          <a:spcPts val="0"/>
                        </a:spcAft>
                        <a:buNone/>
                      </a:pPr>
                      <a:r>
                        <a:rPr lang="en-GB" sz="1300">
                          <a:latin typeface="Roboto"/>
                          <a:ea typeface="Roboto"/>
                          <a:cs typeface="Roboto"/>
                          <a:sym typeface="Roboto"/>
                        </a:rPr>
                        <a:t>117</a:t>
                      </a:r>
                      <a:endParaRPr sz="1300">
                        <a:latin typeface="Roboto"/>
                        <a:ea typeface="Roboto"/>
                        <a:cs typeface="Roboto"/>
                        <a:sym typeface="Roboto"/>
                      </a:endParaRPr>
                    </a:p>
                  </a:txBody>
                  <a:tcPr marL="91425" marR="91425" marT="91425" marB="91425"/>
                </a:tc>
                <a:extLst>
                  <a:ext uri="{0D108BD9-81ED-4DB2-BD59-A6C34878D82A}">
                    <a16:rowId xmlns:a16="http://schemas.microsoft.com/office/drawing/2014/main" val="10004"/>
                  </a:ext>
                </a:extLst>
              </a:tr>
              <a:tr h="436475">
                <a:tc>
                  <a:txBody>
                    <a:bodyPr/>
                    <a:lstStyle/>
                    <a:p>
                      <a:pPr marL="0" lvl="0" indent="0" algn="ctr" rtl="0">
                        <a:spcBef>
                          <a:spcPts val="0"/>
                        </a:spcBef>
                        <a:spcAft>
                          <a:spcPts val="0"/>
                        </a:spcAft>
                        <a:buNone/>
                      </a:pPr>
                      <a:r>
                        <a:rPr lang="en-GB" sz="1300">
                          <a:latin typeface="Roboto"/>
                          <a:ea typeface="Roboto"/>
                          <a:cs typeface="Roboto"/>
                          <a:sym typeface="Roboto"/>
                        </a:rPr>
                        <a:t>B</a:t>
                      </a:r>
                      <a:endParaRPr sz="1300">
                        <a:latin typeface="Roboto"/>
                        <a:ea typeface="Roboto"/>
                        <a:cs typeface="Roboto"/>
                        <a:sym typeface="Roboto"/>
                      </a:endParaRPr>
                    </a:p>
                  </a:txBody>
                  <a:tcPr marL="91425" marR="91425" marT="91425" marB="91425"/>
                </a:tc>
                <a:tc>
                  <a:txBody>
                    <a:bodyPr/>
                    <a:lstStyle/>
                    <a:p>
                      <a:pPr marL="0" lvl="0" indent="0" algn="ctr" rtl="0">
                        <a:spcBef>
                          <a:spcPts val="0"/>
                        </a:spcBef>
                        <a:spcAft>
                          <a:spcPts val="0"/>
                        </a:spcAft>
                        <a:buNone/>
                      </a:pPr>
                      <a:r>
                        <a:rPr lang="en-GB" sz="1300">
                          <a:latin typeface="Roboto"/>
                          <a:ea typeface="Roboto"/>
                          <a:cs typeface="Roboto"/>
                          <a:sym typeface="Roboto"/>
                        </a:rPr>
                        <a:t>2</a:t>
                      </a:r>
                      <a:endParaRPr sz="1300">
                        <a:latin typeface="Roboto"/>
                        <a:ea typeface="Roboto"/>
                        <a:cs typeface="Roboto"/>
                        <a:sym typeface="Roboto"/>
                      </a:endParaRPr>
                    </a:p>
                  </a:txBody>
                  <a:tcPr marL="91425" marR="91425" marT="91425" marB="91425"/>
                </a:tc>
                <a:tc>
                  <a:txBody>
                    <a:bodyPr/>
                    <a:lstStyle/>
                    <a:p>
                      <a:pPr marL="0" lvl="0" indent="0" algn="ctr" rtl="0">
                        <a:spcBef>
                          <a:spcPts val="0"/>
                        </a:spcBef>
                        <a:spcAft>
                          <a:spcPts val="0"/>
                        </a:spcAft>
                        <a:buNone/>
                      </a:pPr>
                      <a:r>
                        <a:rPr lang="en-GB" sz="1300">
                          <a:latin typeface="Roboto"/>
                          <a:ea typeface="Roboto"/>
                          <a:cs typeface="Roboto"/>
                          <a:sym typeface="Roboto"/>
                        </a:rPr>
                        <a:t>10</a:t>
                      </a:r>
                      <a:endParaRPr sz="1300">
                        <a:latin typeface="Roboto"/>
                        <a:ea typeface="Roboto"/>
                        <a:cs typeface="Roboto"/>
                        <a:sym typeface="Roboto"/>
                      </a:endParaRPr>
                    </a:p>
                  </a:txBody>
                  <a:tcPr marL="91425" marR="91425" marT="91425" marB="91425"/>
                </a:tc>
                <a:tc>
                  <a:txBody>
                    <a:bodyPr/>
                    <a:lstStyle/>
                    <a:p>
                      <a:pPr marL="0" lvl="0" indent="0" algn="ctr" rtl="0">
                        <a:spcBef>
                          <a:spcPts val="0"/>
                        </a:spcBef>
                        <a:spcAft>
                          <a:spcPts val="0"/>
                        </a:spcAft>
                        <a:buNone/>
                      </a:pPr>
                      <a:r>
                        <a:rPr lang="en-GB" sz="1300">
                          <a:latin typeface="Roboto"/>
                          <a:ea typeface="Roboto"/>
                          <a:cs typeface="Roboto"/>
                          <a:sym typeface="Roboto"/>
                        </a:rPr>
                        <a:t>-</a:t>
                      </a:r>
                      <a:endParaRPr sz="1300">
                        <a:latin typeface="Roboto"/>
                        <a:ea typeface="Roboto"/>
                        <a:cs typeface="Roboto"/>
                        <a:sym typeface="Roboto"/>
                      </a:endParaRPr>
                    </a:p>
                  </a:txBody>
                  <a:tcPr marL="91425" marR="91425" marT="91425" marB="91425"/>
                </a:tc>
                <a:extLst>
                  <a:ext uri="{0D108BD9-81ED-4DB2-BD59-A6C34878D82A}">
                    <a16:rowId xmlns:a16="http://schemas.microsoft.com/office/drawing/2014/main" val="10005"/>
                  </a:ext>
                </a:extLst>
              </a:tr>
              <a:tr h="380975">
                <a:tc>
                  <a:txBody>
                    <a:bodyPr/>
                    <a:lstStyle/>
                    <a:p>
                      <a:pPr marL="0" lvl="0" indent="0" algn="ctr" rtl="0">
                        <a:spcBef>
                          <a:spcPts val="0"/>
                        </a:spcBef>
                        <a:spcAft>
                          <a:spcPts val="0"/>
                        </a:spcAft>
                        <a:buNone/>
                      </a:pPr>
                      <a:r>
                        <a:rPr lang="en-GB" sz="1300">
                          <a:latin typeface="Roboto"/>
                          <a:ea typeface="Roboto"/>
                          <a:cs typeface="Roboto"/>
                          <a:sym typeface="Roboto"/>
                        </a:rPr>
                        <a:t>C</a:t>
                      </a:r>
                      <a:endParaRPr sz="1300">
                        <a:latin typeface="Roboto"/>
                        <a:ea typeface="Roboto"/>
                        <a:cs typeface="Roboto"/>
                        <a:sym typeface="Roboto"/>
                      </a:endParaRPr>
                    </a:p>
                  </a:txBody>
                  <a:tcPr marL="91425" marR="91425" marT="91425" marB="91425"/>
                </a:tc>
                <a:tc>
                  <a:txBody>
                    <a:bodyPr/>
                    <a:lstStyle/>
                    <a:p>
                      <a:pPr marL="0" lvl="0" indent="0" algn="ctr" rtl="0">
                        <a:spcBef>
                          <a:spcPts val="0"/>
                        </a:spcBef>
                        <a:spcAft>
                          <a:spcPts val="0"/>
                        </a:spcAft>
                        <a:buNone/>
                      </a:pPr>
                      <a:r>
                        <a:rPr lang="en-GB" sz="1300">
                          <a:latin typeface="Roboto"/>
                          <a:ea typeface="Roboto"/>
                          <a:cs typeface="Roboto"/>
                          <a:sym typeface="Roboto"/>
                        </a:rPr>
                        <a:t>1</a:t>
                      </a:r>
                      <a:endParaRPr sz="1300">
                        <a:latin typeface="Roboto"/>
                        <a:ea typeface="Roboto"/>
                        <a:cs typeface="Roboto"/>
                        <a:sym typeface="Roboto"/>
                      </a:endParaRPr>
                    </a:p>
                  </a:txBody>
                  <a:tcPr marL="91425" marR="91425" marT="91425" marB="91425"/>
                </a:tc>
                <a:tc>
                  <a:txBody>
                    <a:bodyPr/>
                    <a:lstStyle/>
                    <a:p>
                      <a:pPr marL="0" lvl="0" indent="0" algn="ctr" rtl="0">
                        <a:spcBef>
                          <a:spcPts val="0"/>
                        </a:spcBef>
                        <a:spcAft>
                          <a:spcPts val="0"/>
                        </a:spcAft>
                        <a:buNone/>
                      </a:pPr>
                      <a:r>
                        <a:rPr lang="en-GB" sz="1300">
                          <a:latin typeface="Roboto"/>
                          <a:ea typeface="Roboto"/>
                          <a:cs typeface="Roboto"/>
                          <a:sym typeface="Roboto"/>
                        </a:rPr>
                        <a:t>10</a:t>
                      </a:r>
                      <a:endParaRPr sz="1300">
                        <a:latin typeface="Roboto"/>
                        <a:ea typeface="Roboto"/>
                        <a:cs typeface="Roboto"/>
                        <a:sym typeface="Roboto"/>
                      </a:endParaRPr>
                    </a:p>
                  </a:txBody>
                  <a:tcPr marL="91425" marR="91425" marT="91425" marB="91425"/>
                </a:tc>
                <a:tc>
                  <a:txBody>
                    <a:bodyPr/>
                    <a:lstStyle/>
                    <a:p>
                      <a:pPr marL="0" lvl="0" indent="0" algn="ctr" rtl="0">
                        <a:spcBef>
                          <a:spcPts val="0"/>
                        </a:spcBef>
                        <a:spcAft>
                          <a:spcPts val="0"/>
                        </a:spcAft>
                        <a:buNone/>
                      </a:pPr>
                      <a:r>
                        <a:rPr lang="en-GB" sz="1300">
                          <a:latin typeface="Roboto"/>
                          <a:ea typeface="Roboto"/>
                          <a:cs typeface="Roboto"/>
                          <a:sym typeface="Roboto"/>
                        </a:rPr>
                        <a:t>10</a:t>
                      </a:r>
                      <a:endParaRPr sz="1300">
                        <a:latin typeface="Roboto"/>
                        <a:ea typeface="Roboto"/>
                        <a:cs typeface="Roboto"/>
                        <a:sym typeface="Roboto"/>
                      </a:endParaRPr>
                    </a:p>
                  </a:txBody>
                  <a:tcPr marL="91425" marR="91425" marT="91425" marB="91425"/>
                </a:tc>
                <a:extLst>
                  <a:ext uri="{0D108BD9-81ED-4DB2-BD59-A6C34878D82A}">
                    <a16:rowId xmlns:a16="http://schemas.microsoft.com/office/drawing/2014/main" val="10006"/>
                  </a:ext>
                </a:extLst>
              </a:tr>
              <a:tr h="436475">
                <a:tc>
                  <a:txBody>
                    <a:bodyPr/>
                    <a:lstStyle/>
                    <a:p>
                      <a:pPr marL="0" lvl="0" indent="0" algn="ctr" rtl="0">
                        <a:spcBef>
                          <a:spcPts val="0"/>
                        </a:spcBef>
                        <a:spcAft>
                          <a:spcPts val="0"/>
                        </a:spcAft>
                        <a:buNone/>
                      </a:pPr>
                      <a:r>
                        <a:rPr lang="en-GB" sz="1300">
                          <a:latin typeface="Roboto"/>
                          <a:ea typeface="Roboto"/>
                          <a:cs typeface="Roboto"/>
                          <a:sym typeface="Roboto"/>
                        </a:rPr>
                        <a:t>C</a:t>
                      </a:r>
                      <a:endParaRPr sz="1300">
                        <a:latin typeface="Roboto"/>
                        <a:ea typeface="Roboto"/>
                        <a:cs typeface="Roboto"/>
                        <a:sym typeface="Roboto"/>
                      </a:endParaRPr>
                    </a:p>
                  </a:txBody>
                  <a:tcPr marL="91425" marR="91425" marT="91425" marB="91425"/>
                </a:tc>
                <a:tc>
                  <a:txBody>
                    <a:bodyPr/>
                    <a:lstStyle/>
                    <a:p>
                      <a:pPr marL="0" lvl="0" indent="0" algn="ctr" rtl="0">
                        <a:spcBef>
                          <a:spcPts val="0"/>
                        </a:spcBef>
                        <a:spcAft>
                          <a:spcPts val="0"/>
                        </a:spcAft>
                        <a:buNone/>
                      </a:pPr>
                      <a:r>
                        <a:rPr lang="en-GB" sz="1300">
                          <a:latin typeface="Roboto"/>
                          <a:ea typeface="Roboto"/>
                          <a:cs typeface="Roboto"/>
                          <a:sym typeface="Roboto"/>
                        </a:rPr>
                        <a:t>2</a:t>
                      </a:r>
                      <a:endParaRPr sz="1300">
                        <a:latin typeface="Roboto"/>
                        <a:ea typeface="Roboto"/>
                        <a:cs typeface="Roboto"/>
                        <a:sym typeface="Roboto"/>
                      </a:endParaRPr>
                    </a:p>
                  </a:txBody>
                  <a:tcPr marL="91425" marR="91425" marT="91425" marB="91425"/>
                </a:tc>
                <a:tc>
                  <a:txBody>
                    <a:bodyPr/>
                    <a:lstStyle/>
                    <a:p>
                      <a:pPr marL="0" lvl="0" indent="0" algn="ctr" rtl="0">
                        <a:spcBef>
                          <a:spcPts val="0"/>
                        </a:spcBef>
                        <a:spcAft>
                          <a:spcPts val="0"/>
                        </a:spcAft>
                        <a:buNone/>
                      </a:pPr>
                      <a:r>
                        <a:rPr lang="en-GB" sz="1300">
                          <a:latin typeface="Roboto"/>
                          <a:ea typeface="Roboto"/>
                          <a:cs typeface="Roboto"/>
                          <a:sym typeface="Roboto"/>
                        </a:rPr>
                        <a:t>2</a:t>
                      </a:r>
                      <a:endParaRPr sz="1300">
                        <a:latin typeface="Roboto"/>
                        <a:ea typeface="Roboto"/>
                        <a:cs typeface="Roboto"/>
                        <a:sym typeface="Roboto"/>
                      </a:endParaRPr>
                    </a:p>
                  </a:txBody>
                  <a:tcPr marL="91425" marR="91425" marT="91425" marB="91425"/>
                </a:tc>
                <a:tc>
                  <a:txBody>
                    <a:bodyPr/>
                    <a:lstStyle/>
                    <a:p>
                      <a:pPr marL="0" lvl="0" indent="0" algn="ctr" rtl="0">
                        <a:spcBef>
                          <a:spcPts val="0"/>
                        </a:spcBef>
                        <a:spcAft>
                          <a:spcPts val="0"/>
                        </a:spcAft>
                        <a:buNone/>
                      </a:pPr>
                      <a:r>
                        <a:rPr lang="en-GB" sz="1300">
                          <a:latin typeface="Roboto"/>
                          <a:ea typeface="Roboto"/>
                          <a:cs typeface="Roboto"/>
                          <a:sym typeface="Roboto"/>
                        </a:rPr>
                        <a:t>-</a:t>
                      </a:r>
                      <a:endParaRPr sz="1300">
                        <a:latin typeface="Roboto"/>
                        <a:ea typeface="Roboto"/>
                        <a:cs typeface="Roboto"/>
                        <a:sym typeface="Roboto"/>
                      </a:endParaRPr>
                    </a:p>
                  </a:txBody>
                  <a:tcPr marL="91425" marR="91425" marT="91425" marB="91425"/>
                </a:tc>
                <a:extLst>
                  <a:ext uri="{0D108BD9-81ED-4DB2-BD59-A6C34878D82A}">
                    <a16:rowId xmlns:a16="http://schemas.microsoft.com/office/drawing/2014/main" val="10007"/>
                  </a:ext>
                </a:extLst>
              </a:tr>
            </a:tbl>
          </a:graphicData>
        </a:graphic>
      </p:graphicFrame>
      <p:sp>
        <p:nvSpPr>
          <p:cNvPr id="536" name="Google Shape;536;p50"/>
          <p:cNvSpPr/>
          <p:nvPr/>
        </p:nvSpPr>
        <p:spPr>
          <a:xfrm>
            <a:off x="152285" y="990524"/>
            <a:ext cx="2023200" cy="266400"/>
          </a:xfrm>
          <a:prstGeom prst="rect">
            <a:avLst/>
          </a:prstGeom>
          <a:solidFill>
            <a:srgbClr val="11648E"/>
          </a:solidFill>
          <a:ln w="9525" cap="flat" cmpd="sng">
            <a:solidFill>
              <a:srgbClr val="11648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300">
                <a:solidFill>
                  <a:srgbClr val="FFFFFF"/>
                </a:solidFill>
                <a:latin typeface="Roboto"/>
                <a:ea typeface="Roboto"/>
                <a:cs typeface="Roboto"/>
                <a:sym typeface="Roboto"/>
              </a:rPr>
              <a:t>Stage 1: Mass Phishing</a:t>
            </a:r>
            <a:endParaRPr sz="1300">
              <a:solidFill>
                <a:srgbClr val="FFFFFF"/>
              </a:solidFill>
              <a:latin typeface="Roboto"/>
              <a:ea typeface="Roboto"/>
              <a:cs typeface="Roboto"/>
              <a:sym typeface="Roboto"/>
            </a:endParaRPr>
          </a:p>
        </p:txBody>
      </p:sp>
      <p:sp>
        <p:nvSpPr>
          <p:cNvPr id="537" name="Google Shape;537;p50"/>
          <p:cNvSpPr/>
          <p:nvPr/>
        </p:nvSpPr>
        <p:spPr>
          <a:xfrm>
            <a:off x="152285" y="1300800"/>
            <a:ext cx="2023200" cy="831300"/>
          </a:xfrm>
          <a:prstGeom prst="rect">
            <a:avLst/>
          </a:prstGeom>
          <a:solidFill>
            <a:srgbClr val="FFFFFF"/>
          </a:solidFill>
          <a:ln w="9525" cap="flat" cmpd="sng">
            <a:solidFill>
              <a:srgbClr val="11648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GB" sz="1300">
                <a:latin typeface="Roboto"/>
                <a:ea typeface="Roboto"/>
                <a:cs typeface="Roboto"/>
                <a:sym typeface="Roboto"/>
              </a:rPr>
              <a:t>Identify targets who are  susceptible victims to phishing</a:t>
            </a:r>
            <a:endParaRPr sz="1300">
              <a:solidFill>
                <a:srgbClr val="FFFFFF"/>
              </a:solidFill>
              <a:latin typeface="Roboto"/>
              <a:ea typeface="Roboto"/>
              <a:cs typeface="Roboto"/>
              <a:sym typeface="Roboto"/>
            </a:endParaRPr>
          </a:p>
        </p:txBody>
      </p:sp>
      <p:sp>
        <p:nvSpPr>
          <p:cNvPr id="538" name="Google Shape;538;p50"/>
          <p:cNvSpPr/>
          <p:nvPr/>
        </p:nvSpPr>
        <p:spPr>
          <a:xfrm>
            <a:off x="152285" y="2758151"/>
            <a:ext cx="2023200" cy="266400"/>
          </a:xfrm>
          <a:prstGeom prst="rect">
            <a:avLst/>
          </a:prstGeom>
          <a:solidFill>
            <a:srgbClr val="11648E"/>
          </a:solidFill>
          <a:ln w="9525" cap="flat" cmpd="sng">
            <a:solidFill>
              <a:srgbClr val="11648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300">
                <a:solidFill>
                  <a:srgbClr val="FFFFFF"/>
                </a:solidFill>
                <a:latin typeface="Roboto"/>
                <a:ea typeface="Roboto"/>
                <a:cs typeface="Roboto"/>
                <a:sym typeface="Roboto"/>
              </a:rPr>
              <a:t>Stage 2: Spear Phishing</a:t>
            </a:r>
            <a:endParaRPr sz="1300">
              <a:solidFill>
                <a:srgbClr val="FFFFFF"/>
              </a:solidFill>
              <a:latin typeface="Roboto"/>
              <a:ea typeface="Roboto"/>
              <a:cs typeface="Roboto"/>
              <a:sym typeface="Roboto"/>
            </a:endParaRPr>
          </a:p>
        </p:txBody>
      </p:sp>
      <p:sp>
        <p:nvSpPr>
          <p:cNvPr id="539" name="Google Shape;539;p50"/>
          <p:cNvSpPr/>
          <p:nvPr/>
        </p:nvSpPr>
        <p:spPr>
          <a:xfrm>
            <a:off x="152285" y="3068427"/>
            <a:ext cx="2023200" cy="831300"/>
          </a:xfrm>
          <a:prstGeom prst="rect">
            <a:avLst/>
          </a:prstGeom>
          <a:solidFill>
            <a:srgbClr val="FFFFFF"/>
          </a:solidFill>
          <a:ln w="9525" cap="flat" cmpd="sng">
            <a:solidFill>
              <a:srgbClr val="11648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GB" sz="1300">
                <a:latin typeface="Roboto"/>
                <a:ea typeface="Roboto"/>
                <a:cs typeface="Roboto"/>
                <a:sym typeface="Roboto"/>
              </a:rPr>
              <a:t>Attempt to harvest credentials from the susceptible victims</a:t>
            </a:r>
            <a:endParaRPr sz="1300">
              <a:latin typeface="Roboto"/>
              <a:ea typeface="Roboto"/>
              <a:cs typeface="Roboto"/>
              <a:sym typeface="Roboto"/>
            </a:endParaRPr>
          </a:p>
        </p:txBody>
      </p:sp>
      <p:sp>
        <p:nvSpPr>
          <p:cNvPr id="540" name="Google Shape;540;p50"/>
          <p:cNvSpPr/>
          <p:nvPr/>
        </p:nvSpPr>
        <p:spPr>
          <a:xfrm>
            <a:off x="1022571" y="2228076"/>
            <a:ext cx="282600" cy="434100"/>
          </a:xfrm>
          <a:prstGeom prst="downArrow">
            <a:avLst>
              <a:gd name="adj1" fmla="val 50000"/>
              <a:gd name="adj2" fmla="val 50000"/>
            </a:avLst>
          </a:prstGeom>
          <a:solidFill>
            <a:srgbClr val="11648E"/>
          </a:solidFill>
          <a:ln w="9525" cap="flat" cmpd="sng">
            <a:solidFill>
              <a:srgbClr val="11648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50"/>
          <p:cNvSpPr/>
          <p:nvPr/>
        </p:nvSpPr>
        <p:spPr>
          <a:xfrm>
            <a:off x="2467907" y="1061949"/>
            <a:ext cx="2906400" cy="764400"/>
          </a:xfrm>
          <a:prstGeom prst="rect">
            <a:avLst/>
          </a:prstGeom>
          <a:solidFill>
            <a:srgbClr val="FFFFFF"/>
          </a:solidFill>
          <a:ln w="9525" cap="flat" cmpd="sng">
            <a:solidFill>
              <a:srgbClr val="11648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GB" sz="1300">
                <a:latin typeface="Roboto"/>
                <a:ea typeface="Roboto"/>
                <a:cs typeface="Roboto"/>
                <a:sym typeface="Roboto"/>
              </a:rPr>
              <a:t>Number of targets (susceptible victim) who </a:t>
            </a:r>
            <a:r>
              <a:rPr lang="en-GB" sz="1300" b="1">
                <a:latin typeface="Roboto"/>
                <a:ea typeface="Roboto"/>
                <a:cs typeface="Roboto"/>
                <a:sym typeface="Roboto"/>
              </a:rPr>
              <a:t>clicked on the phishing link</a:t>
            </a:r>
            <a:r>
              <a:rPr lang="en-GB" sz="1300">
                <a:latin typeface="Roboto"/>
                <a:ea typeface="Roboto"/>
                <a:cs typeface="Roboto"/>
                <a:sym typeface="Roboto"/>
              </a:rPr>
              <a:t> (%)</a:t>
            </a:r>
            <a:endParaRPr sz="1300">
              <a:latin typeface="Roboto"/>
              <a:ea typeface="Roboto"/>
              <a:cs typeface="Roboto"/>
              <a:sym typeface="Roboto"/>
            </a:endParaRPr>
          </a:p>
        </p:txBody>
      </p:sp>
      <p:sp>
        <p:nvSpPr>
          <p:cNvPr id="542" name="Google Shape;542;p50"/>
          <p:cNvSpPr/>
          <p:nvPr/>
        </p:nvSpPr>
        <p:spPr>
          <a:xfrm>
            <a:off x="2467907" y="2278207"/>
            <a:ext cx="2906400" cy="764400"/>
          </a:xfrm>
          <a:prstGeom prst="rect">
            <a:avLst/>
          </a:prstGeom>
          <a:solidFill>
            <a:srgbClr val="FFFFFF"/>
          </a:solidFill>
          <a:ln w="9525" cap="flat" cmpd="sng">
            <a:solidFill>
              <a:srgbClr val="11648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GB" sz="1300">
                <a:latin typeface="Roboto"/>
                <a:ea typeface="Roboto"/>
                <a:cs typeface="Roboto"/>
                <a:sym typeface="Roboto"/>
              </a:rPr>
              <a:t>Number of susceptible victims who visited the phishing site only (%)</a:t>
            </a:r>
            <a:endParaRPr sz="1300">
              <a:latin typeface="Roboto"/>
              <a:ea typeface="Roboto"/>
              <a:cs typeface="Roboto"/>
              <a:sym typeface="Roboto"/>
            </a:endParaRPr>
          </a:p>
        </p:txBody>
      </p:sp>
      <p:sp>
        <p:nvSpPr>
          <p:cNvPr id="543" name="Google Shape;543;p50"/>
          <p:cNvSpPr/>
          <p:nvPr/>
        </p:nvSpPr>
        <p:spPr>
          <a:xfrm>
            <a:off x="2467907" y="3135326"/>
            <a:ext cx="2906400" cy="764400"/>
          </a:xfrm>
          <a:prstGeom prst="rect">
            <a:avLst/>
          </a:prstGeom>
          <a:solidFill>
            <a:srgbClr val="FFFFFF"/>
          </a:solidFill>
          <a:ln w="9525" cap="flat" cmpd="sng">
            <a:solidFill>
              <a:srgbClr val="11648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GB" sz="1300">
                <a:latin typeface="Roboto"/>
                <a:ea typeface="Roboto"/>
                <a:cs typeface="Roboto"/>
                <a:sym typeface="Roboto"/>
              </a:rPr>
              <a:t>Number of susceptible victims who visited the phishing site and submitted data (%)</a:t>
            </a:r>
            <a:endParaRPr sz="1300">
              <a:latin typeface="Roboto"/>
              <a:ea typeface="Roboto"/>
              <a:cs typeface="Roboto"/>
              <a:sym typeface="Roboto"/>
            </a:endParaRPr>
          </a:p>
        </p:txBody>
      </p:sp>
      <p:sp>
        <p:nvSpPr>
          <p:cNvPr id="544" name="Google Shape;544;p50"/>
          <p:cNvSpPr/>
          <p:nvPr/>
        </p:nvSpPr>
        <p:spPr>
          <a:xfrm>
            <a:off x="2467907" y="1919075"/>
            <a:ext cx="2906400" cy="266400"/>
          </a:xfrm>
          <a:prstGeom prst="rect">
            <a:avLst/>
          </a:prstGeom>
          <a:solidFill>
            <a:srgbClr val="0095AF"/>
          </a:solidFill>
          <a:ln w="9525" cap="flat" cmpd="sng">
            <a:solidFill>
              <a:srgbClr val="0095A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300">
                <a:solidFill>
                  <a:srgbClr val="FFFFFF"/>
                </a:solidFill>
                <a:latin typeface="Roboto"/>
                <a:ea typeface="Roboto"/>
                <a:cs typeface="Roboto"/>
                <a:sym typeface="Roboto"/>
              </a:rPr>
              <a:t>Further broken down into</a:t>
            </a:r>
            <a:endParaRPr sz="1300">
              <a:solidFill>
                <a:srgbClr val="FFFFFF"/>
              </a:solidFill>
              <a:latin typeface="Roboto"/>
              <a:ea typeface="Roboto"/>
              <a:cs typeface="Roboto"/>
              <a:sym typeface="Roboto"/>
            </a:endParaRPr>
          </a:p>
        </p:txBody>
      </p:sp>
      <p:cxnSp>
        <p:nvCxnSpPr>
          <p:cNvPr id="545" name="Google Shape;545;p50"/>
          <p:cNvCxnSpPr/>
          <p:nvPr/>
        </p:nvCxnSpPr>
        <p:spPr>
          <a:xfrm flipH="1">
            <a:off x="2285020" y="885949"/>
            <a:ext cx="9000" cy="3266100"/>
          </a:xfrm>
          <a:prstGeom prst="straightConnector1">
            <a:avLst/>
          </a:prstGeom>
          <a:noFill/>
          <a:ln w="9525" cap="flat" cmpd="sng">
            <a:solidFill>
              <a:srgbClr val="4D4D4F"/>
            </a:solidFill>
            <a:prstDash val="solid"/>
            <a:round/>
            <a:headEnd type="none" w="med" len="med"/>
            <a:tailEnd type="none" w="med" len="med"/>
          </a:ln>
        </p:spPr>
      </p:cxnSp>
      <p:sp>
        <p:nvSpPr>
          <p:cNvPr id="546" name="Google Shape;546;p50"/>
          <p:cNvSpPr txBox="1"/>
          <p:nvPr/>
        </p:nvSpPr>
        <p:spPr>
          <a:xfrm>
            <a:off x="676650" y="4229763"/>
            <a:ext cx="7790700" cy="3540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GB" sz="1100" i="1">
                <a:solidFill>
                  <a:schemeClr val="dk2"/>
                </a:solidFill>
                <a:latin typeface="Roboto Light"/>
                <a:ea typeface="Roboto Light"/>
                <a:cs typeface="Roboto Light"/>
                <a:sym typeface="Roboto Light"/>
              </a:rPr>
              <a:t>Type 1: To investigate the effectiveness of convincing targets to click on phishing links in phishing emails </a:t>
            </a:r>
            <a:endParaRPr sz="1100" i="1">
              <a:latin typeface="Roboto Light"/>
              <a:ea typeface="Roboto Light"/>
              <a:cs typeface="Roboto Light"/>
              <a:sym typeface="Roboto Ligh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50"/>
        <p:cNvGrpSpPr/>
        <p:nvPr/>
      </p:nvGrpSpPr>
      <p:grpSpPr>
        <a:xfrm>
          <a:off x="0" y="0"/>
          <a:ext cx="0" cy="0"/>
          <a:chOff x="0" y="0"/>
          <a:chExt cx="0" cy="0"/>
        </a:xfrm>
      </p:grpSpPr>
      <p:sp>
        <p:nvSpPr>
          <p:cNvPr id="551" name="Google Shape;551;p51"/>
          <p:cNvSpPr/>
          <p:nvPr/>
        </p:nvSpPr>
        <p:spPr>
          <a:xfrm>
            <a:off x="0" y="120875"/>
            <a:ext cx="4719300" cy="402600"/>
          </a:xfrm>
          <a:prstGeom prst="rect">
            <a:avLst/>
          </a:prstGeom>
          <a:gradFill>
            <a:gsLst>
              <a:gs pos="0">
                <a:srgbClr val="00C0F3"/>
              </a:gs>
              <a:gs pos="100000">
                <a:srgbClr val="008E4E"/>
              </a:gs>
            </a:gsLst>
            <a:lin ang="269863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Lucida Sans"/>
              <a:ea typeface="Lucida Sans"/>
              <a:cs typeface="Lucida Sans"/>
              <a:sym typeface="Lucida Sans"/>
            </a:endParaRPr>
          </a:p>
        </p:txBody>
      </p:sp>
      <p:sp>
        <p:nvSpPr>
          <p:cNvPr id="552" name="Google Shape;552;p5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33</a:t>
            </a:fld>
            <a:endParaRPr/>
          </a:p>
        </p:txBody>
      </p:sp>
      <p:sp>
        <p:nvSpPr>
          <p:cNvPr id="553" name="Google Shape;553;p51"/>
          <p:cNvSpPr txBox="1">
            <a:spLocks noGrp="1"/>
          </p:cNvSpPr>
          <p:nvPr>
            <p:ph type="title"/>
          </p:nvPr>
        </p:nvSpPr>
        <p:spPr>
          <a:xfrm>
            <a:off x="311700" y="73175"/>
            <a:ext cx="50757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Type 1 Experiment (Stage 1) Results</a:t>
            </a:r>
            <a:endParaRPr/>
          </a:p>
        </p:txBody>
      </p:sp>
      <p:pic>
        <p:nvPicPr>
          <p:cNvPr id="554" name="Google Shape;554;p51"/>
          <p:cNvPicPr preferRelativeResize="0"/>
          <p:nvPr/>
        </p:nvPicPr>
        <p:blipFill>
          <a:blip r:embed="rId3">
            <a:alphaModFix/>
          </a:blip>
          <a:stretch>
            <a:fillRect/>
          </a:stretch>
        </p:blipFill>
        <p:spPr>
          <a:xfrm>
            <a:off x="1563475" y="598375"/>
            <a:ext cx="6017052" cy="41928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52"/>
          <p:cNvSpPr/>
          <p:nvPr/>
        </p:nvSpPr>
        <p:spPr>
          <a:xfrm>
            <a:off x="0" y="120875"/>
            <a:ext cx="4719300" cy="402600"/>
          </a:xfrm>
          <a:prstGeom prst="rect">
            <a:avLst/>
          </a:prstGeom>
          <a:gradFill>
            <a:gsLst>
              <a:gs pos="0">
                <a:srgbClr val="00C0F3"/>
              </a:gs>
              <a:gs pos="100000">
                <a:srgbClr val="008E4E"/>
              </a:gs>
            </a:gsLst>
            <a:lin ang="269863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Lucida Sans"/>
              <a:ea typeface="Lucida Sans"/>
              <a:cs typeface="Lucida Sans"/>
              <a:sym typeface="Lucida Sans"/>
            </a:endParaRPr>
          </a:p>
        </p:txBody>
      </p:sp>
      <p:sp>
        <p:nvSpPr>
          <p:cNvPr id="560" name="Google Shape;560;p5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34</a:t>
            </a:fld>
            <a:endParaRPr/>
          </a:p>
        </p:txBody>
      </p:sp>
      <p:sp>
        <p:nvSpPr>
          <p:cNvPr id="561" name="Google Shape;561;p52"/>
          <p:cNvSpPr txBox="1">
            <a:spLocks noGrp="1"/>
          </p:cNvSpPr>
          <p:nvPr>
            <p:ph type="title"/>
          </p:nvPr>
        </p:nvSpPr>
        <p:spPr>
          <a:xfrm>
            <a:off x="311700" y="73175"/>
            <a:ext cx="50757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Type 1 Experiment (Stage 2) Results</a:t>
            </a:r>
            <a:endParaRPr/>
          </a:p>
        </p:txBody>
      </p:sp>
      <p:pic>
        <p:nvPicPr>
          <p:cNvPr id="562" name="Google Shape;562;p52"/>
          <p:cNvPicPr preferRelativeResize="0"/>
          <p:nvPr/>
        </p:nvPicPr>
        <p:blipFill>
          <a:blip r:embed="rId3">
            <a:alphaModFix/>
          </a:blip>
          <a:stretch>
            <a:fillRect/>
          </a:stretch>
        </p:blipFill>
        <p:spPr>
          <a:xfrm>
            <a:off x="1549470" y="645875"/>
            <a:ext cx="6045055" cy="4094100"/>
          </a:xfrm>
          <a:prstGeom prst="rect">
            <a:avLst/>
          </a:prstGeom>
          <a:noFill/>
          <a:ln>
            <a:noFill/>
          </a:ln>
        </p:spPr>
      </p:pic>
      <p:sp>
        <p:nvSpPr>
          <p:cNvPr id="563" name="Google Shape;563;p52"/>
          <p:cNvSpPr/>
          <p:nvPr/>
        </p:nvSpPr>
        <p:spPr>
          <a:xfrm>
            <a:off x="6035675" y="1672225"/>
            <a:ext cx="819000" cy="355800"/>
          </a:xfrm>
          <a:prstGeom prst="wedgeRectCallout">
            <a:avLst>
              <a:gd name="adj1" fmla="val -28990"/>
              <a:gd name="adj2" fmla="val 95250"/>
            </a:avLst>
          </a:prstGeom>
          <a:solidFill>
            <a:schemeClr val="lt1"/>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GB" sz="700">
                <a:latin typeface="Roboto"/>
                <a:ea typeface="Roboto"/>
                <a:cs typeface="Roboto"/>
                <a:sym typeface="Roboto"/>
              </a:rPr>
              <a:t>Phishing site was flagged by major browsers</a:t>
            </a:r>
            <a:endParaRPr sz="700">
              <a:latin typeface="Roboto"/>
              <a:ea typeface="Roboto"/>
              <a:cs typeface="Roboto"/>
              <a:sym typeface="Roboto"/>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53"/>
          <p:cNvSpPr/>
          <p:nvPr/>
        </p:nvSpPr>
        <p:spPr>
          <a:xfrm>
            <a:off x="0" y="120875"/>
            <a:ext cx="4836300" cy="402600"/>
          </a:xfrm>
          <a:prstGeom prst="rect">
            <a:avLst/>
          </a:prstGeom>
          <a:gradFill>
            <a:gsLst>
              <a:gs pos="0">
                <a:srgbClr val="00C0F3"/>
              </a:gs>
              <a:gs pos="100000">
                <a:srgbClr val="008E4E"/>
              </a:gs>
            </a:gsLst>
            <a:lin ang="269863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Lucida Sans"/>
              <a:ea typeface="Lucida Sans"/>
              <a:cs typeface="Lucida Sans"/>
              <a:sym typeface="Lucida Sans"/>
            </a:endParaRPr>
          </a:p>
        </p:txBody>
      </p:sp>
      <p:sp>
        <p:nvSpPr>
          <p:cNvPr id="569" name="Google Shape;569;p5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35</a:t>
            </a:fld>
            <a:endParaRPr/>
          </a:p>
        </p:txBody>
      </p:sp>
      <p:sp>
        <p:nvSpPr>
          <p:cNvPr id="570" name="Google Shape;570;p53"/>
          <p:cNvSpPr txBox="1">
            <a:spLocks noGrp="1"/>
          </p:cNvSpPr>
          <p:nvPr>
            <p:ph type="title"/>
          </p:nvPr>
        </p:nvSpPr>
        <p:spPr>
          <a:xfrm>
            <a:off x="311700" y="73175"/>
            <a:ext cx="52803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Type 2 Experiment Setup and Results</a:t>
            </a:r>
            <a:endParaRPr/>
          </a:p>
        </p:txBody>
      </p:sp>
      <p:graphicFrame>
        <p:nvGraphicFramePr>
          <p:cNvPr id="571" name="Google Shape;571;p53"/>
          <p:cNvGraphicFramePr/>
          <p:nvPr/>
        </p:nvGraphicFramePr>
        <p:xfrm>
          <a:off x="204100" y="1403341"/>
          <a:ext cx="4181550" cy="1142910"/>
        </p:xfrm>
        <a:graphic>
          <a:graphicData uri="http://schemas.openxmlformats.org/drawingml/2006/table">
            <a:tbl>
              <a:tblPr>
                <a:noFill/>
                <a:tableStyleId>{CBFC39C5-30E6-4EE9-86C5-71465503F7AC}</a:tableStyleId>
              </a:tblPr>
              <a:tblGrid>
                <a:gridCol w="1284750">
                  <a:extLst>
                    <a:ext uri="{9D8B030D-6E8A-4147-A177-3AD203B41FA5}">
                      <a16:colId xmlns:a16="http://schemas.microsoft.com/office/drawing/2014/main" val="20000"/>
                    </a:ext>
                  </a:extLst>
                </a:gridCol>
                <a:gridCol w="904850">
                  <a:extLst>
                    <a:ext uri="{9D8B030D-6E8A-4147-A177-3AD203B41FA5}">
                      <a16:colId xmlns:a16="http://schemas.microsoft.com/office/drawing/2014/main" val="20001"/>
                    </a:ext>
                  </a:extLst>
                </a:gridCol>
                <a:gridCol w="1094825">
                  <a:extLst>
                    <a:ext uri="{9D8B030D-6E8A-4147-A177-3AD203B41FA5}">
                      <a16:colId xmlns:a16="http://schemas.microsoft.com/office/drawing/2014/main" val="20002"/>
                    </a:ext>
                  </a:extLst>
                </a:gridCol>
                <a:gridCol w="897125">
                  <a:extLst>
                    <a:ext uri="{9D8B030D-6E8A-4147-A177-3AD203B41FA5}">
                      <a16:colId xmlns:a16="http://schemas.microsoft.com/office/drawing/2014/main" val="20003"/>
                    </a:ext>
                  </a:extLst>
                </a:gridCol>
              </a:tblGrid>
              <a:tr h="0">
                <a:tc gridSpan="4">
                  <a:txBody>
                    <a:bodyPr/>
                    <a:lstStyle/>
                    <a:p>
                      <a:pPr marL="0" lvl="0" indent="0" algn="ctr" rtl="0">
                        <a:spcBef>
                          <a:spcPts val="0"/>
                        </a:spcBef>
                        <a:spcAft>
                          <a:spcPts val="0"/>
                        </a:spcAft>
                        <a:buNone/>
                      </a:pPr>
                      <a:r>
                        <a:rPr lang="en-GB" sz="1300" b="1">
                          <a:solidFill>
                            <a:srgbClr val="FFFFFF"/>
                          </a:solidFill>
                          <a:latin typeface="Roboto"/>
                          <a:ea typeface="Roboto"/>
                          <a:cs typeface="Roboto"/>
                          <a:sym typeface="Roboto"/>
                        </a:rPr>
                        <a:t>Sample Size</a:t>
                      </a:r>
                      <a:endParaRPr sz="1300" b="1">
                        <a:solidFill>
                          <a:srgbClr val="FFFFFF"/>
                        </a:solidFill>
                        <a:latin typeface="Roboto"/>
                        <a:ea typeface="Roboto"/>
                        <a:cs typeface="Roboto"/>
                        <a:sym typeface="Roboto"/>
                      </a:endParaRPr>
                    </a:p>
                  </a:txBody>
                  <a:tcPr marL="91425" marR="91425" marT="91425" marB="91425">
                    <a:solidFill>
                      <a:srgbClr val="11648E"/>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0">
                <a:tc>
                  <a:txBody>
                    <a:bodyPr/>
                    <a:lstStyle/>
                    <a:p>
                      <a:pPr marL="0" lvl="0" indent="0" algn="ctr" rtl="0">
                        <a:spcBef>
                          <a:spcPts val="0"/>
                        </a:spcBef>
                        <a:spcAft>
                          <a:spcPts val="0"/>
                        </a:spcAft>
                        <a:buNone/>
                      </a:pPr>
                      <a:r>
                        <a:rPr lang="en-GB" sz="1300">
                          <a:solidFill>
                            <a:srgbClr val="FFFFFF"/>
                          </a:solidFill>
                          <a:latin typeface="Roboto"/>
                          <a:ea typeface="Roboto"/>
                          <a:cs typeface="Roboto"/>
                          <a:sym typeface="Roboto"/>
                        </a:rPr>
                        <a:t>Exercise</a:t>
                      </a:r>
                      <a:endParaRPr sz="1300">
                        <a:solidFill>
                          <a:srgbClr val="FFFFFF"/>
                        </a:solidFill>
                        <a:latin typeface="Roboto"/>
                        <a:ea typeface="Roboto"/>
                        <a:cs typeface="Roboto"/>
                        <a:sym typeface="Roboto"/>
                      </a:endParaRPr>
                    </a:p>
                  </a:txBody>
                  <a:tcPr marL="91425" marR="91425" marT="91425" marB="91425">
                    <a:solidFill>
                      <a:srgbClr val="11648E"/>
                    </a:solidFill>
                  </a:tcPr>
                </a:tc>
                <a:tc>
                  <a:txBody>
                    <a:bodyPr/>
                    <a:lstStyle/>
                    <a:p>
                      <a:pPr marL="0" lvl="0" indent="0" algn="ctr" rtl="0">
                        <a:spcBef>
                          <a:spcPts val="0"/>
                        </a:spcBef>
                        <a:spcAft>
                          <a:spcPts val="0"/>
                        </a:spcAft>
                        <a:buNone/>
                      </a:pPr>
                      <a:r>
                        <a:rPr lang="en-GB" sz="1300">
                          <a:solidFill>
                            <a:srgbClr val="FFFFFF"/>
                          </a:solidFill>
                          <a:latin typeface="Roboto"/>
                          <a:ea typeface="Roboto"/>
                          <a:cs typeface="Roboto"/>
                          <a:sym typeface="Roboto"/>
                        </a:rPr>
                        <a:t>Stage</a:t>
                      </a:r>
                      <a:endParaRPr sz="1300">
                        <a:solidFill>
                          <a:srgbClr val="FFFFFF"/>
                        </a:solidFill>
                        <a:latin typeface="Roboto"/>
                        <a:ea typeface="Roboto"/>
                        <a:cs typeface="Roboto"/>
                        <a:sym typeface="Roboto"/>
                      </a:endParaRPr>
                    </a:p>
                  </a:txBody>
                  <a:tcPr marL="91425" marR="91425" marT="91425" marB="91425">
                    <a:solidFill>
                      <a:srgbClr val="11648E"/>
                    </a:solidFill>
                  </a:tcPr>
                </a:tc>
                <a:tc>
                  <a:txBody>
                    <a:bodyPr/>
                    <a:lstStyle/>
                    <a:p>
                      <a:pPr marL="0" lvl="0" indent="0" algn="ctr" rtl="0">
                        <a:spcBef>
                          <a:spcPts val="0"/>
                        </a:spcBef>
                        <a:spcAft>
                          <a:spcPts val="0"/>
                        </a:spcAft>
                        <a:buNone/>
                      </a:pPr>
                      <a:r>
                        <a:rPr lang="en-GB" sz="1300">
                          <a:solidFill>
                            <a:srgbClr val="FFFFFF"/>
                          </a:solidFill>
                          <a:latin typeface="Roboto"/>
                          <a:ea typeface="Roboto"/>
                          <a:cs typeface="Roboto"/>
                          <a:sym typeface="Roboto"/>
                        </a:rPr>
                        <a:t>AI</a:t>
                      </a:r>
                      <a:endParaRPr sz="1300">
                        <a:solidFill>
                          <a:srgbClr val="FFFFFF"/>
                        </a:solidFill>
                        <a:latin typeface="Roboto"/>
                        <a:ea typeface="Roboto"/>
                        <a:cs typeface="Roboto"/>
                        <a:sym typeface="Roboto"/>
                      </a:endParaRPr>
                    </a:p>
                  </a:txBody>
                  <a:tcPr marL="91425" marR="91425" marT="91425" marB="91425">
                    <a:solidFill>
                      <a:srgbClr val="11648E"/>
                    </a:solidFill>
                  </a:tcPr>
                </a:tc>
                <a:tc>
                  <a:txBody>
                    <a:bodyPr/>
                    <a:lstStyle/>
                    <a:p>
                      <a:pPr marL="0" lvl="0" indent="0" algn="ctr" rtl="0">
                        <a:spcBef>
                          <a:spcPts val="0"/>
                        </a:spcBef>
                        <a:spcAft>
                          <a:spcPts val="0"/>
                        </a:spcAft>
                        <a:buNone/>
                      </a:pPr>
                      <a:r>
                        <a:rPr lang="en-GB" sz="1300">
                          <a:solidFill>
                            <a:srgbClr val="FFFFFF"/>
                          </a:solidFill>
                          <a:latin typeface="Roboto"/>
                          <a:ea typeface="Roboto"/>
                          <a:cs typeface="Roboto"/>
                          <a:sym typeface="Roboto"/>
                        </a:rPr>
                        <a:t>Human</a:t>
                      </a:r>
                      <a:endParaRPr sz="1300">
                        <a:solidFill>
                          <a:srgbClr val="FFFFFF"/>
                        </a:solidFill>
                        <a:latin typeface="Roboto"/>
                        <a:ea typeface="Roboto"/>
                        <a:cs typeface="Roboto"/>
                        <a:sym typeface="Roboto"/>
                      </a:endParaRPr>
                    </a:p>
                  </a:txBody>
                  <a:tcPr marL="91425" marR="91425" marT="91425" marB="91425">
                    <a:solidFill>
                      <a:srgbClr val="11648E"/>
                    </a:solidFill>
                  </a:tcPr>
                </a:tc>
                <a:extLst>
                  <a:ext uri="{0D108BD9-81ED-4DB2-BD59-A6C34878D82A}">
                    <a16:rowId xmlns:a16="http://schemas.microsoft.com/office/drawing/2014/main" val="10001"/>
                  </a:ext>
                </a:extLst>
              </a:tr>
              <a:tr h="0">
                <a:tc>
                  <a:txBody>
                    <a:bodyPr/>
                    <a:lstStyle/>
                    <a:p>
                      <a:pPr marL="0" lvl="0" indent="0" algn="ctr" rtl="0">
                        <a:spcBef>
                          <a:spcPts val="0"/>
                        </a:spcBef>
                        <a:spcAft>
                          <a:spcPts val="0"/>
                        </a:spcAft>
                        <a:buNone/>
                      </a:pPr>
                      <a:r>
                        <a:rPr lang="en-GB" sz="1300">
                          <a:latin typeface="Roboto"/>
                          <a:ea typeface="Roboto"/>
                          <a:cs typeface="Roboto"/>
                          <a:sym typeface="Roboto"/>
                        </a:rPr>
                        <a:t>D</a:t>
                      </a:r>
                      <a:endParaRPr sz="1300">
                        <a:latin typeface="Roboto"/>
                        <a:ea typeface="Roboto"/>
                        <a:cs typeface="Roboto"/>
                        <a:sym typeface="Roboto"/>
                      </a:endParaRPr>
                    </a:p>
                  </a:txBody>
                  <a:tcPr marL="91425" marR="91425" marT="91425" marB="91425"/>
                </a:tc>
                <a:tc>
                  <a:txBody>
                    <a:bodyPr/>
                    <a:lstStyle/>
                    <a:p>
                      <a:pPr marL="0" lvl="0" indent="0" algn="ctr" rtl="0">
                        <a:spcBef>
                          <a:spcPts val="0"/>
                        </a:spcBef>
                        <a:spcAft>
                          <a:spcPts val="0"/>
                        </a:spcAft>
                        <a:buNone/>
                      </a:pPr>
                      <a:r>
                        <a:rPr lang="en-GB" sz="1300">
                          <a:latin typeface="Roboto"/>
                          <a:ea typeface="Roboto"/>
                          <a:cs typeface="Roboto"/>
                          <a:sym typeface="Roboto"/>
                        </a:rPr>
                        <a:t>1</a:t>
                      </a:r>
                      <a:endParaRPr sz="1300">
                        <a:latin typeface="Roboto"/>
                        <a:ea typeface="Roboto"/>
                        <a:cs typeface="Roboto"/>
                        <a:sym typeface="Roboto"/>
                      </a:endParaRPr>
                    </a:p>
                  </a:txBody>
                  <a:tcPr marL="91425" marR="91425" marT="91425" marB="91425"/>
                </a:tc>
                <a:tc>
                  <a:txBody>
                    <a:bodyPr/>
                    <a:lstStyle/>
                    <a:p>
                      <a:pPr marL="0" lvl="0" indent="0" algn="ctr" rtl="0">
                        <a:spcBef>
                          <a:spcPts val="0"/>
                        </a:spcBef>
                        <a:spcAft>
                          <a:spcPts val="0"/>
                        </a:spcAft>
                        <a:buNone/>
                      </a:pPr>
                      <a:r>
                        <a:rPr lang="en-GB" sz="1300">
                          <a:latin typeface="Roboto"/>
                          <a:ea typeface="Roboto"/>
                          <a:cs typeface="Roboto"/>
                          <a:sym typeface="Roboto"/>
                        </a:rPr>
                        <a:t>99</a:t>
                      </a:r>
                      <a:endParaRPr sz="1300">
                        <a:latin typeface="Roboto"/>
                        <a:ea typeface="Roboto"/>
                        <a:cs typeface="Roboto"/>
                        <a:sym typeface="Roboto"/>
                      </a:endParaRPr>
                    </a:p>
                  </a:txBody>
                  <a:tcPr marL="91425" marR="91425" marT="91425" marB="91425"/>
                </a:tc>
                <a:tc>
                  <a:txBody>
                    <a:bodyPr/>
                    <a:lstStyle/>
                    <a:p>
                      <a:pPr marL="0" lvl="0" indent="0" algn="ctr" rtl="0">
                        <a:spcBef>
                          <a:spcPts val="0"/>
                        </a:spcBef>
                        <a:spcAft>
                          <a:spcPts val="0"/>
                        </a:spcAft>
                        <a:buNone/>
                      </a:pPr>
                      <a:r>
                        <a:rPr lang="en-GB" sz="1300">
                          <a:latin typeface="Roboto"/>
                          <a:ea typeface="Roboto"/>
                          <a:cs typeface="Roboto"/>
                          <a:sym typeface="Roboto"/>
                        </a:rPr>
                        <a:t>99</a:t>
                      </a:r>
                      <a:endParaRPr sz="1300">
                        <a:latin typeface="Roboto"/>
                        <a:ea typeface="Roboto"/>
                        <a:cs typeface="Roboto"/>
                        <a:sym typeface="Roboto"/>
                      </a:endParaRPr>
                    </a:p>
                  </a:txBody>
                  <a:tcPr marL="91425" marR="91425" marT="91425" marB="91425"/>
                </a:tc>
                <a:extLst>
                  <a:ext uri="{0D108BD9-81ED-4DB2-BD59-A6C34878D82A}">
                    <a16:rowId xmlns:a16="http://schemas.microsoft.com/office/drawing/2014/main" val="10002"/>
                  </a:ext>
                </a:extLst>
              </a:tr>
            </a:tbl>
          </a:graphicData>
        </a:graphic>
      </p:graphicFrame>
      <p:grpSp>
        <p:nvGrpSpPr>
          <p:cNvPr id="572" name="Google Shape;572;p53"/>
          <p:cNvGrpSpPr/>
          <p:nvPr/>
        </p:nvGrpSpPr>
        <p:grpSpPr>
          <a:xfrm>
            <a:off x="204108" y="2802091"/>
            <a:ext cx="2023200" cy="1141575"/>
            <a:chOff x="204108" y="1904924"/>
            <a:chExt cx="2023200" cy="1141575"/>
          </a:xfrm>
        </p:grpSpPr>
        <p:sp>
          <p:nvSpPr>
            <p:cNvPr id="573" name="Google Shape;573;p53"/>
            <p:cNvSpPr/>
            <p:nvPr/>
          </p:nvSpPr>
          <p:spPr>
            <a:xfrm>
              <a:off x="204108" y="1904924"/>
              <a:ext cx="2023200" cy="266400"/>
            </a:xfrm>
            <a:prstGeom prst="rect">
              <a:avLst/>
            </a:prstGeom>
            <a:solidFill>
              <a:srgbClr val="11648E"/>
            </a:solidFill>
            <a:ln w="9525" cap="flat" cmpd="sng">
              <a:solidFill>
                <a:srgbClr val="11648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1300">
                  <a:solidFill>
                    <a:srgbClr val="FFFFFF"/>
                  </a:solidFill>
                  <a:latin typeface="Roboto"/>
                  <a:ea typeface="Roboto"/>
                  <a:cs typeface="Roboto"/>
                  <a:sym typeface="Roboto"/>
                </a:rPr>
                <a:t>Stage 1: Mass Phishing</a:t>
              </a:r>
              <a:endParaRPr sz="1300">
                <a:solidFill>
                  <a:srgbClr val="FFFFFF"/>
                </a:solidFill>
                <a:latin typeface="Roboto"/>
                <a:ea typeface="Roboto"/>
                <a:cs typeface="Roboto"/>
                <a:sym typeface="Roboto"/>
              </a:endParaRPr>
            </a:p>
          </p:txBody>
        </p:sp>
        <p:sp>
          <p:nvSpPr>
            <p:cNvPr id="574" name="Google Shape;574;p53"/>
            <p:cNvSpPr/>
            <p:nvPr/>
          </p:nvSpPr>
          <p:spPr>
            <a:xfrm>
              <a:off x="204108" y="2215200"/>
              <a:ext cx="2023200" cy="831300"/>
            </a:xfrm>
            <a:prstGeom prst="rect">
              <a:avLst/>
            </a:prstGeom>
            <a:solidFill>
              <a:srgbClr val="FFFFFF"/>
            </a:solidFill>
            <a:ln w="9525" cap="flat" cmpd="sng">
              <a:solidFill>
                <a:srgbClr val="11648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GB" sz="1300">
                  <a:latin typeface="Roboto"/>
                  <a:ea typeface="Roboto"/>
                  <a:cs typeface="Roboto"/>
                  <a:sym typeface="Roboto"/>
                </a:rPr>
                <a:t>Identify targets who are  susceptible victims to phishing</a:t>
              </a:r>
              <a:endParaRPr sz="1300">
                <a:solidFill>
                  <a:srgbClr val="FFFFFF"/>
                </a:solidFill>
                <a:latin typeface="Roboto"/>
                <a:ea typeface="Roboto"/>
                <a:cs typeface="Roboto"/>
                <a:sym typeface="Roboto"/>
              </a:endParaRPr>
            </a:p>
          </p:txBody>
        </p:sp>
      </p:grpSp>
      <p:sp>
        <p:nvSpPr>
          <p:cNvPr id="575" name="Google Shape;575;p53"/>
          <p:cNvSpPr/>
          <p:nvPr/>
        </p:nvSpPr>
        <p:spPr>
          <a:xfrm>
            <a:off x="2362450" y="2802100"/>
            <a:ext cx="2023200" cy="1143000"/>
          </a:xfrm>
          <a:prstGeom prst="rect">
            <a:avLst/>
          </a:prstGeom>
          <a:solidFill>
            <a:srgbClr val="FFFFFF"/>
          </a:solidFill>
          <a:ln w="9525" cap="flat" cmpd="sng">
            <a:solidFill>
              <a:srgbClr val="11648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GB" sz="1300">
                <a:latin typeface="Roboto"/>
                <a:ea typeface="Roboto"/>
                <a:cs typeface="Roboto"/>
                <a:sym typeface="Roboto"/>
              </a:rPr>
              <a:t>Number of targets (susceptible victim) who </a:t>
            </a:r>
            <a:r>
              <a:rPr lang="en-GB" sz="1300" b="1">
                <a:latin typeface="Roboto"/>
                <a:ea typeface="Roboto"/>
                <a:cs typeface="Roboto"/>
                <a:sym typeface="Roboto"/>
              </a:rPr>
              <a:t>open the malicious attachment</a:t>
            </a:r>
            <a:r>
              <a:rPr lang="en-GB" sz="1300">
                <a:latin typeface="Roboto"/>
                <a:ea typeface="Roboto"/>
                <a:cs typeface="Roboto"/>
                <a:sym typeface="Roboto"/>
              </a:rPr>
              <a:t> (%)</a:t>
            </a:r>
            <a:endParaRPr sz="1300">
              <a:latin typeface="Roboto"/>
              <a:ea typeface="Roboto"/>
              <a:cs typeface="Roboto"/>
              <a:sym typeface="Roboto"/>
            </a:endParaRPr>
          </a:p>
        </p:txBody>
      </p:sp>
      <p:cxnSp>
        <p:nvCxnSpPr>
          <p:cNvPr id="576" name="Google Shape;576;p53"/>
          <p:cNvCxnSpPr/>
          <p:nvPr/>
        </p:nvCxnSpPr>
        <p:spPr>
          <a:xfrm rot="10800000" flipH="1">
            <a:off x="4641449" y="970675"/>
            <a:ext cx="3600" cy="2988000"/>
          </a:xfrm>
          <a:prstGeom prst="straightConnector1">
            <a:avLst/>
          </a:prstGeom>
          <a:noFill/>
          <a:ln w="9525" cap="flat" cmpd="sng">
            <a:solidFill>
              <a:srgbClr val="4D4D4F"/>
            </a:solidFill>
            <a:prstDash val="solid"/>
            <a:round/>
            <a:headEnd type="none" w="med" len="med"/>
            <a:tailEnd type="none" w="med" len="med"/>
          </a:ln>
        </p:spPr>
      </p:cxnSp>
      <p:sp>
        <p:nvSpPr>
          <p:cNvPr id="577" name="Google Shape;577;p53"/>
          <p:cNvSpPr txBox="1"/>
          <p:nvPr/>
        </p:nvSpPr>
        <p:spPr>
          <a:xfrm>
            <a:off x="676650" y="4153563"/>
            <a:ext cx="7790700" cy="3540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GB" sz="1100" i="1">
                <a:solidFill>
                  <a:schemeClr val="dk2"/>
                </a:solidFill>
                <a:latin typeface="Roboto Light"/>
                <a:ea typeface="Roboto Light"/>
                <a:cs typeface="Roboto Light"/>
                <a:sym typeface="Roboto Light"/>
              </a:rPr>
              <a:t>Type 2: To investigate the effectiveness of convincing targets to open “malicious” documents in phishing emails </a:t>
            </a:r>
            <a:endParaRPr sz="1100" i="1">
              <a:latin typeface="Roboto Light"/>
              <a:ea typeface="Roboto Light"/>
              <a:cs typeface="Roboto Light"/>
              <a:sym typeface="Roboto Light"/>
            </a:endParaRPr>
          </a:p>
        </p:txBody>
      </p:sp>
      <p:sp>
        <p:nvSpPr>
          <p:cNvPr id="578" name="Google Shape;578;p53"/>
          <p:cNvSpPr txBox="1"/>
          <p:nvPr/>
        </p:nvSpPr>
        <p:spPr>
          <a:xfrm>
            <a:off x="180625" y="861675"/>
            <a:ext cx="2539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GB" sz="1800" b="1">
                <a:solidFill>
                  <a:schemeClr val="dk2"/>
                </a:solidFill>
                <a:latin typeface="Roboto"/>
                <a:ea typeface="Roboto"/>
                <a:cs typeface="Roboto"/>
                <a:sym typeface="Roboto"/>
              </a:rPr>
              <a:t>Experiment Setup</a:t>
            </a:r>
            <a:endParaRPr sz="1800">
              <a:solidFill>
                <a:schemeClr val="dk2"/>
              </a:solidFill>
              <a:latin typeface="Roboto Light"/>
              <a:ea typeface="Roboto Light"/>
              <a:cs typeface="Roboto Light"/>
              <a:sym typeface="Roboto Light"/>
            </a:endParaRPr>
          </a:p>
        </p:txBody>
      </p:sp>
      <p:sp>
        <p:nvSpPr>
          <p:cNvPr id="579" name="Google Shape;579;p53"/>
          <p:cNvSpPr txBox="1"/>
          <p:nvPr/>
        </p:nvSpPr>
        <p:spPr>
          <a:xfrm>
            <a:off x="4830071" y="860586"/>
            <a:ext cx="2539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800" b="1">
                <a:solidFill>
                  <a:schemeClr val="dk2"/>
                </a:solidFill>
                <a:latin typeface="Roboto"/>
                <a:ea typeface="Roboto"/>
                <a:cs typeface="Roboto"/>
                <a:sym typeface="Roboto"/>
              </a:rPr>
              <a:t>Experiment Results</a:t>
            </a:r>
            <a:endParaRPr sz="1800">
              <a:solidFill>
                <a:schemeClr val="dk2"/>
              </a:solidFill>
              <a:latin typeface="Roboto Light"/>
              <a:ea typeface="Roboto Light"/>
              <a:cs typeface="Roboto Light"/>
              <a:sym typeface="Roboto Light"/>
            </a:endParaRPr>
          </a:p>
        </p:txBody>
      </p:sp>
      <p:pic>
        <p:nvPicPr>
          <p:cNvPr id="580" name="Google Shape;580;p53"/>
          <p:cNvPicPr preferRelativeResize="0"/>
          <p:nvPr/>
        </p:nvPicPr>
        <p:blipFill>
          <a:blip r:embed="rId3">
            <a:alphaModFix/>
          </a:blip>
          <a:stretch>
            <a:fillRect/>
          </a:stretch>
        </p:blipFill>
        <p:spPr>
          <a:xfrm>
            <a:off x="4900849" y="1403361"/>
            <a:ext cx="2632695" cy="2526477"/>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sp>
        <p:nvSpPr>
          <p:cNvPr id="585" name="Google Shape;585;p54"/>
          <p:cNvSpPr txBox="1">
            <a:spLocks noGrp="1"/>
          </p:cNvSpPr>
          <p:nvPr>
            <p:ph type="body" idx="1"/>
          </p:nvPr>
        </p:nvSpPr>
        <p:spPr>
          <a:xfrm>
            <a:off x="311700" y="908675"/>
            <a:ext cx="8520600" cy="3177000"/>
          </a:xfrm>
          <a:prstGeom prst="rect">
            <a:avLst/>
          </a:prstGeom>
        </p:spPr>
        <p:txBody>
          <a:bodyPr spcFirstLastPara="1" wrap="square" lIns="91425" tIns="91425" rIns="91425" bIns="91425" anchor="t" anchorCtr="0">
            <a:noAutofit/>
          </a:bodyPr>
          <a:lstStyle/>
          <a:p>
            <a:pPr marL="457200" lvl="0" indent="-342900" algn="l" rtl="0">
              <a:lnSpc>
                <a:spcPct val="80000"/>
              </a:lnSpc>
              <a:spcBef>
                <a:spcPts val="1000"/>
              </a:spcBef>
              <a:spcAft>
                <a:spcPts val="0"/>
              </a:spcAft>
              <a:buSzPts val="1800"/>
              <a:buAutoNum type="arabicPeriod"/>
            </a:pPr>
            <a:r>
              <a:rPr lang="en-GB"/>
              <a:t>AIaaS based pipeline reduced time required for phishing content curation and context analysis.</a:t>
            </a:r>
            <a:endParaRPr/>
          </a:p>
          <a:p>
            <a:pPr marL="457200" lvl="0" indent="0" algn="l" rtl="0">
              <a:lnSpc>
                <a:spcPct val="80000"/>
              </a:lnSpc>
              <a:spcBef>
                <a:spcPts val="0"/>
              </a:spcBef>
              <a:spcAft>
                <a:spcPts val="0"/>
              </a:spcAft>
              <a:buNone/>
            </a:pPr>
            <a:r>
              <a:rPr lang="en-GB" sz="1500" i="1">
                <a:solidFill>
                  <a:srgbClr val="A5A5A5"/>
                </a:solidFill>
              </a:rPr>
              <a:t>For optimisation purposes, a trained operator is still required to ensure AI generated content remains relevant.</a:t>
            </a:r>
            <a:endParaRPr sz="1500" i="1">
              <a:solidFill>
                <a:srgbClr val="A5A5A5"/>
              </a:solidFill>
            </a:endParaRPr>
          </a:p>
          <a:p>
            <a:pPr marL="457200" lvl="0" indent="-342900" algn="l" rtl="0">
              <a:lnSpc>
                <a:spcPct val="95000"/>
              </a:lnSpc>
              <a:spcBef>
                <a:spcPts val="1200"/>
              </a:spcBef>
              <a:spcAft>
                <a:spcPts val="0"/>
              </a:spcAft>
              <a:buSzPts val="1800"/>
              <a:buAutoNum type="arabicPeriod"/>
            </a:pPr>
            <a:r>
              <a:rPr lang="en-GB"/>
              <a:t>AI generated phishing content is observed to be more convincing during our experiment runs as compared to the human generated phishing content.</a:t>
            </a:r>
            <a:endParaRPr/>
          </a:p>
          <a:p>
            <a:pPr marL="457200" lvl="0" indent="0" algn="l" rtl="0">
              <a:lnSpc>
                <a:spcPct val="95000"/>
              </a:lnSpc>
              <a:spcBef>
                <a:spcPts val="0"/>
              </a:spcBef>
              <a:spcAft>
                <a:spcPts val="0"/>
              </a:spcAft>
              <a:buNone/>
            </a:pPr>
            <a:r>
              <a:rPr lang="en-GB" sz="1500" i="1">
                <a:solidFill>
                  <a:srgbClr val="A5A5A5"/>
                </a:solidFill>
              </a:rPr>
              <a:t>However, we cannot conclude if AI is indeed better as there are many other variables at work.</a:t>
            </a:r>
            <a:endParaRPr sz="1500" i="1">
              <a:solidFill>
                <a:srgbClr val="A5A5A5"/>
              </a:solidFill>
            </a:endParaRPr>
          </a:p>
          <a:p>
            <a:pPr marL="457200" lvl="0" indent="-349250" algn="l" rtl="0">
              <a:lnSpc>
                <a:spcPct val="95000"/>
              </a:lnSpc>
              <a:spcBef>
                <a:spcPts val="1200"/>
              </a:spcBef>
              <a:spcAft>
                <a:spcPts val="0"/>
              </a:spcAft>
              <a:buSzPts val="1900"/>
              <a:buAutoNum type="arabicPeriod"/>
            </a:pPr>
            <a:r>
              <a:rPr lang="en-GB"/>
              <a:t>There is a varying degree of governance regarding the access to AIaaS.</a:t>
            </a:r>
            <a:endParaRPr/>
          </a:p>
          <a:p>
            <a:pPr marL="457200" lvl="0" indent="0" algn="l" rtl="0">
              <a:lnSpc>
                <a:spcPct val="95000"/>
              </a:lnSpc>
              <a:spcBef>
                <a:spcPts val="0"/>
              </a:spcBef>
              <a:spcAft>
                <a:spcPts val="1200"/>
              </a:spcAft>
              <a:buNone/>
            </a:pPr>
            <a:r>
              <a:rPr lang="en-GB" sz="1500" i="1">
                <a:solidFill>
                  <a:srgbClr val="A5A5A5"/>
                </a:solidFill>
              </a:rPr>
              <a:t>OpenAI was strict over the sign up, while other services simply need an email.</a:t>
            </a:r>
            <a:endParaRPr sz="1500" i="1">
              <a:solidFill>
                <a:srgbClr val="A5A5A5"/>
              </a:solidFill>
            </a:endParaRPr>
          </a:p>
        </p:txBody>
      </p:sp>
      <p:sp>
        <p:nvSpPr>
          <p:cNvPr id="586" name="Google Shape;586;p54"/>
          <p:cNvSpPr/>
          <p:nvPr/>
        </p:nvSpPr>
        <p:spPr>
          <a:xfrm>
            <a:off x="0" y="120875"/>
            <a:ext cx="5348400" cy="402600"/>
          </a:xfrm>
          <a:prstGeom prst="rect">
            <a:avLst/>
          </a:prstGeom>
          <a:gradFill>
            <a:gsLst>
              <a:gs pos="0">
                <a:srgbClr val="00C0F3"/>
              </a:gs>
              <a:gs pos="100000">
                <a:srgbClr val="008E4E"/>
              </a:gs>
            </a:gsLst>
            <a:lin ang="270000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Lucida Sans"/>
              <a:ea typeface="Lucida Sans"/>
              <a:cs typeface="Lucida Sans"/>
              <a:sym typeface="Lucida Sans"/>
            </a:endParaRPr>
          </a:p>
        </p:txBody>
      </p:sp>
      <p:sp>
        <p:nvSpPr>
          <p:cNvPr id="587" name="Google Shape;587;p5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36</a:t>
            </a:fld>
            <a:endParaRPr/>
          </a:p>
        </p:txBody>
      </p:sp>
      <p:sp>
        <p:nvSpPr>
          <p:cNvPr id="588" name="Google Shape;588;p54"/>
          <p:cNvSpPr txBox="1">
            <a:spLocks noGrp="1"/>
          </p:cNvSpPr>
          <p:nvPr>
            <p:ph type="title"/>
          </p:nvPr>
        </p:nvSpPr>
        <p:spPr>
          <a:xfrm>
            <a:off x="311700" y="73175"/>
            <a:ext cx="54021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Key Observations From The Experiments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92"/>
        <p:cNvGrpSpPr/>
        <p:nvPr/>
      </p:nvGrpSpPr>
      <p:grpSpPr>
        <a:xfrm>
          <a:off x="0" y="0"/>
          <a:ext cx="0" cy="0"/>
          <a:chOff x="0" y="0"/>
          <a:chExt cx="0" cy="0"/>
        </a:xfrm>
      </p:grpSpPr>
      <p:sp>
        <p:nvSpPr>
          <p:cNvPr id="593" name="Google Shape;593;p55"/>
          <p:cNvSpPr txBox="1">
            <a:spLocks noGrp="1"/>
          </p:cNvSpPr>
          <p:nvPr>
            <p:ph type="title"/>
          </p:nvPr>
        </p:nvSpPr>
        <p:spPr>
          <a:xfrm>
            <a:off x="490250" y="2805450"/>
            <a:ext cx="8477100" cy="10512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GB"/>
              <a:t>Protecting the Hoomans</a:t>
            </a:r>
            <a:endParaRPr/>
          </a:p>
        </p:txBody>
      </p:sp>
      <p:sp>
        <p:nvSpPr>
          <p:cNvPr id="594" name="Google Shape;594;p5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37</a:t>
            </a:fld>
            <a:endParaRPr/>
          </a:p>
        </p:txBody>
      </p:sp>
      <p:sp>
        <p:nvSpPr>
          <p:cNvPr id="595" name="Google Shape;595;p55"/>
          <p:cNvSpPr txBox="1">
            <a:spLocks noGrp="1"/>
          </p:cNvSpPr>
          <p:nvPr>
            <p:ph type="subTitle" idx="1"/>
          </p:nvPr>
        </p:nvSpPr>
        <p:spPr>
          <a:xfrm>
            <a:off x="490250" y="3596125"/>
            <a:ext cx="6367800" cy="480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Defenses against the Dark Arts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p56"/>
          <p:cNvSpPr/>
          <p:nvPr/>
        </p:nvSpPr>
        <p:spPr>
          <a:xfrm>
            <a:off x="0" y="120875"/>
            <a:ext cx="3525600" cy="402600"/>
          </a:xfrm>
          <a:prstGeom prst="rect">
            <a:avLst/>
          </a:prstGeom>
          <a:gradFill>
            <a:gsLst>
              <a:gs pos="0">
                <a:srgbClr val="00C0F3"/>
              </a:gs>
              <a:gs pos="100000">
                <a:srgbClr val="008E4E"/>
              </a:gs>
            </a:gsLst>
            <a:lin ang="270000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Lucida Sans"/>
              <a:ea typeface="Lucida Sans"/>
              <a:cs typeface="Lucida Sans"/>
              <a:sym typeface="Lucida Sans"/>
            </a:endParaRPr>
          </a:p>
        </p:txBody>
      </p:sp>
      <p:sp>
        <p:nvSpPr>
          <p:cNvPr id="601" name="Google Shape;601;p5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38</a:t>
            </a:fld>
            <a:endParaRPr/>
          </a:p>
        </p:txBody>
      </p:sp>
      <p:sp>
        <p:nvSpPr>
          <p:cNvPr id="602" name="Google Shape;602;p56"/>
          <p:cNvSpPr txBox="1">
            <a:spLocks noGrp="1"/>
          </p:cNvSpPr>
          <p:nvPr>
            <p:ph type="title"/>
          </p:nvPr>
        </p:nvSpPr>
        <p:spPr>
          <a:xfrm>
            <a:off x="311700" y="73175"/>
            <a:ext cx="32793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Detecting Synthetic Text</a:t>
            </a:r>
            <a:endParaRPr/>
          </a:p>
        </p:txBody>
      </p:sp>
      <p:sp>
        <p:nvSpPr>
          <p:cNvPr id="603" name="Google Shape;603;p56"/>
          <p:cNvSpPr/>
          <p:nvPr/>
        </p:nvSpPr>
        <p:spPr>
          <a:xfrm>
            <a:off x="5533307" y="1124100"/>
            <a:ext cx="1599900" cy="575700"/>
          </a:xfrm>
          <a:prstGeom prst="roundRect">
            <a:avLst>
              <a:gd name="adj" fmla="val 50000"/>
            </a:avLst>
          </a:prstGeom>
          <a:solidFill>
            <a:srgbClr val="11648E"/>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FFFFFF"/>
                </a:solidFill>
                <a:latin typeface="Roboto"/>
                <a:ea typeface="Roboto"/>
                <a:cs typeface="Roboto"/>
                <a:sym typeface="Roboto"/>
              </a:rPr>
              <a:t>Synthetic text detection</a:t>
            </a:r>
            <a:endParaRPr sz="1900" b="0" i="0" u="none" strike="noStrike" cap="none">
              <a:solidFill>
                <a:srgbClr val="FFFFFF"/>
              </a:solidFill>
              <a:latin typeface="Arial"/>
              <a:ea typeface="Arial"/>
              <a:cs typeface="Arial"/>
              <a:sym typeface="Arial"/>
            </a:endParaRPr>
          </a:p>
        </p:txBody>
      </p:sp>
      <p:sp>
        <p:nvSpPr>
          <p:cNvPr id="604" name="Google Shape;604;p56"/>
          <p:cNvSpPr/>
          <p:nvPr/>
        </p:nvSpPr>
        <p:spPr>
          <a:xfrm>
            <a:off x="7315369" y="2294709"/>
            <a:ext cx="1599900" cy="575700"/>
          </a:xfrm>
          <a:prstGeom prst="roundRect">
            <a:avLst>
              <a:gd name="adj" fmla="val 50000"/>
            </a:avLst>
          </a:prstGeom>
          <a:solidFill>
            <a:srgbClr val="0095AF"/>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FFFFFF"/>
                </a:solidFill>
                <a:latin typeface="Roboto"/>
                <a:ea typeface="Roboto"/>
                <a:cs typeface="Roboto"/>
                <a:sym typeface="Roboto"/>
              </a:rPr>
              <a:t>Fine-tuning based detection</a:t>
            </a:r>
            <a:endParaRPr sz="1900" b="0" i="0" u="none" strike="noStrike" cap="none">
              <a:solidFill>
                <a:srgbClr val="FFFFFF"/>
              </a:solidFill>
              <a:latin typeface="Arial"/>
              <a:ea typeface="Arial"/>
              <a:cs typeface="Arial"/>
              <a:sym typeface="Arial"/>
            </a:endParaRPr>
          </a:p>
        </p:txBody>
      </p:sp>
      <p:sp>
        <p:nvSpPr>
          <p:cNvPr id="605" name="Google Shape;605;p56"/>
          <p:cNvSpPr/>
          <p:nvPr/>
        </p:nvSpPr>
        <p:spPr>
          <a:xfrm>
            <a:off x="5534716" y="2294709"/>
            <a:ext cx="1599900" cy="575700"/>
          </a:xfrm>
          <a:prstGeom prst="roundRect">
            <a:avLst>
              <a:gd name="adj" fmla="val 50000"/>
            </a:avLst>
          </a:prstGeom>
          <a:solidFill>
            <a:srgbClr val="0095AF"/>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FFFFFF"/>
                </a:solidFill>
                <a:latin typeface="Roboto"/>
                <a:ea typeface="Roboto"/>
                <a:cs typeface="Roboto"/>
                <a:sym typeface="Roboto"/>
              </a:rPr>
              <a:t>Zero-shot detection</a:t>
            </a:r>
            <a:endParaRPr sz="1900" b="0" i="0" u="none" strike="noStrike" cap="none">
              <a:solidFill>
                <a:srgbClr val="FFFFFF"/>
              </a:solidFill>
              <a:latin typeface="Arial"/>
              <a:ea typeface="Arial"/>
              <a:cs typeface="Arial"/>
              <a:sym typeface="Arial"/>
            </a:endParaRPr>
          </a:p>
        </p:txBody>
      </p:sp>
      <p:sp>
        <p:nvSpPr>
          <p:cNvPr id="606" name="Google Shape;606;p56"/>
          <p:cNvSpPr/>
          <p:nvPr/>
        </p:nvSpPr>
        <p:spPr>
          <a:xfrm>
            <a:off x="4655467" y="3465319"/>
            <a:ext cx="1599900" cy="575700"/>
          </a:xfrm>
          <a:prstGeom prst="roundRect">
            <a:avLst>
              <a:gd name="adj" fmla="val 50000"/>
            </a:avLst>
          </a:prstGeom>
          <a:solidFill>
            <a:srgbClr val="42B0E8"/>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FFFFFF"/>
                </a:solidFill>
                <a:latin typeface="Roboto"/>
                <a:ea typeface="Roboto"/>
                <a:cs typeface="Roboto"/>
                <a:sym typeface="Roboto"/>
              </a:rPr>
              <a:t>GLTR</a:t>
            </a:r>
            <a:endParaRPr sz="1900" b="0" i="0" u="none" strike="noStrike" cap="none">
              <a:solidFill>
                <a:srgbClr val="FFFFFF"/>
              </a:solidFill>
              <a:latin typeface="Arial"/>
              <a:ea typeface="Arial"/>
              <a:cs typeface="Arial"/>
              <a:sym typeface="Arial"/>
            </a:endParaRPr>
          </a:p>
        </p:txBody>
      </p:sp>
      <p:sp>
        <p:nvSpPr>
          <p:cNvPr id="607" name="Google Shape;607;p56"/>
          <p:cNvSpPr/>
          <p:nvPr/>
        </p:nvSpPr>
        <p:spPr>
          <a:xfrm>
            <a:off x="6413963" y="3465319"/>
            <a:ext cx="1599900" cy="575700"/>
          </a:xfrm>
          <a:prstGeom prst="roundRect">
            <a:avLst>
              <a:gd name="adj" fmla="val 50000"/>
            </a:avLst>
          </a:prstGeom>
          <a:solidFill>
            <a:srgbClr val="42B0E8"/>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FFFFFF"/>
                </a:solidFill>
                <a:latin typeface="Roboto"/>
                <a:ea typeface="Roboto"/>
                <a:cs typeface="Roboto"/>
                <a:sym typeface="Roboto"/>
              </a:rPr>
              <a:t>GROVER</a:t>
            </a:r>
            <a:endParaRPr sz="1900" b="0" i="0" u="none" strike="noStrike" cap="none">
              <a:solidFill>
                <a:srgbClr val="FFFFFF"/>
              </a:solidFill>
              <a:latin typeface="Arial"/>
              <a:ea typeface="Arial"/>
              <a:cs typeface="Arial"/>
              <a:sym typeface="Arial"/>
            </a:endParaRPr>
          </a:p>
        </p:txBody>
      </p:sp>
      <p:cxnSp>
        <p:nvCxnSpPr>
          <p:cNvPr id="608" name="Google Shape;608;p56"/>
          <p:cNvCxnSpPr>
            <a:stCxn id="603" idx="2"/>
            <a:endCxn id="604" idx="0"/>
          </p:cNvCxnSpPr>
          <p:nvPr/>
        </p:nvCxnSpPr>
        <p:spPr>
          <a:xfrm rot="-5400000" flipH="1">
            <a:off x="6926807" y="1106250"/>
            <a:ext cx="594900" cy="1782000"/>
          </a:xfrm>
          <a:prstGeom prst="bentConnector3">
            <a:avLst>
              <a:gd name="adj1" fmla="val 49992"/>
            </a:avLst>
          </a:prstGeom>
          <a:noFill/>
          <a:ln w="9525" cap="flat" cmpd="sng">
            <a:solidFill>
              <a:srgbClr val="C2C2C2"/>
            </a:solidFill>
            <a:prstDash val="solid"/>
            <a:round/>
            <a:headEnd type="none" w="sm" len="sm"/>
            <a:tailEnd type="none" w="sm" len="sm"/>
          </a:ln>
        </p:spPr>
      </p:cxnSp>
      <p:cxnSp>
        <p:nvCxnSpPr>
          <p:cNvPr id="609" name="Google Shape;609;p56"/>
          <p:cNvCxnSpPr>
            <a:stCxn id="605" idx="0"/>
            <a:endCxn id="603" idx="2"/>
          </p:cNvCxnSpPr>
          <p:nvPr/>
        </p:nvCxnSpPr>
        <p:spPr>
          <a:xfrm rot="5400000" flipH="1">
            <a:off x="6036466" y="1996509"/>
            <a:ext cx="594900" cy="1500"/>
          </a:xfrm>
          <a:prstGeom prst="bentConnector3">
            <a:avLst>
              <a:gd name="adj1" fmla="val 49992"/>
            </a:avLst>
          </a:prstGeom>
          <a:noFill/>
          <a:ln w="9525" cap="flat" cmpd="sng">
            <a:solidFill>
              <a:srgbClr val="C2C2C2"/>
            </a:solidFill>
            <a:prstDash val="solid"/>
            <a:round/>
            <a:headEnd type="none" w="sm" len="sm"/>
            <a:tailEnd type="none" w="sm" len="sm"/>
          </a:ln>
        </p:spPr>
      </p:cxnSp>
      <p:cxnSp>
        <p:nvCxnSpPr>
          <p:cNvPr id="610" name="Google Shape;610;p56"/>
          <p:cNvCxnSpPr>
            <a:stCxn id="605" idx="2"/>
            <a:endCxn id="607" idx="0"/>
          </p:cNvCxnSpPr>
          <p:nvPr/>
        </p:nvCxnSpPr>
        <p:spPr>
          <a:xfrm rot="-5400000" flipH="1">
            <a:off x="6476866" y="2728209"/>
            <a:ext cx="594900" cy="879300"/>
          </a:xfrm>
          <a:prstGeom prst="bentConnector3">
            <a:avLst>
              <a:gd name="adj1" fmla="val 49992"/>
            </a:avLst>
          </a:prstGeom>
          <a:noFill/>
          <a:ln w="9525" cap="flat" cmpd="sng">
            <a:solidFill>
              <a:srgbClr val="C2C2C2"/>
            </a:solidFill>
            <a:prstDash val="solid"/>
            <a:round/>
            <a:headEnd type="none" w="sm" len="sm"/>
            <a:tailEnd type="none" w="sm" len="sm"/>
          </a:ln>
        </p:spPr>
      </p:cxnSp>
      <p:cxnSp>
        <p:nvCxnSpPr>
          <p:cNvPr id="611" name="Google Shape;611;p56"/>
          <p:cNvCxnSpPr>
            <a:stCxn id="606" idx="0"/>
            <a:endCxn id="605" idx="2"/>
          </p:cNvCxnSpPr>
          <p:nvPr/>
        </p:nvCxnSpPr>
        <p:spPr>
          <a:xfrm rot="-5400000">
            <a:off x="5597617" y="2728219"/>
            <a:ext cx="594900" cy="879300"/>
          </a:xfrm>
          <a:prstGeom prst="bentConnector3">
            <a:avLst>
              <a:gd name="adj1" fmla="val 49992"/>
            </a:avLst>
          </a:prstGeom>
          <a:noFill/>
          <a:ln w="9525" cap="flat" cmpd="sng">
            <a:solidFill>
              <a:srgbClr val="C2C2C2"/>
            </a:solidFill>
            <a:prstDash val="solid"/>
            <a:round/>
            <a:headEnd type="none" w="sm" len="sm"/>
            <a:tailEnd type="none" w="sm" len="sm"/>
          </a:ln>
        </p:spPr>
      </p:cxnSp>
      <p:sp>
        <p:nvSpPr>
          <p:cNvPr id="612" name="Google Shape;612;p56"/>
          <p:cNvSpPr/>
          <p:nvPr/>
        </p:nvSpPr>
        <p:spPr>
          <a:xfrm>
            <a:off x="3754075" y="2294709"/>
            <a:ext cx="1599900" cy="575700"/>
          </a:xfrm>
          <a:prstGeom prst="roundRect">
            <a:avLst>
              <a:gd name="adj" fmla="val 50000"/>
            </a:avLst>
          </a:prstGeom>
          <a:solidFill>
            <a:srgbClr val="0095AF"/>
          </a:solidFill>
          <a:ln>
            <a:noFill/>
          </a:ln>
        </p:spPr>
        <p:txBody>
          <a:bodyPr spcFirstLastPara="1" wrap="square" lIns="121900" tIns="121900" rIns="121900" bIns="121900"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GB" sz="1300" b="0" i="0" u="none" strike="noStrike" cap="none">
                <a:solidFill>
                  <a:srgbClr val="FFFFFF"/>
                </a:solidFill>
                <a:latin typeface="Roboto"/>
                <a:ea typeface="Roboto"/>
                <a:cs typeface="Roboto"/>
                <a:sym typeface="Roboto"/>
              </a:rPr>
              <a:t>Simple classifiers</a:t>
            </a:r>
            <a:endParaRPr sz="1900" b="0" i="0" u="none" strike="noStrike" cap="none">
              <a:solidFill>
                <a:srgbClr val="FFFFFF"/>
              </a:solidFill>
              <a:latin typeface="Arial"/>
              <a:ea typeface="Arial"/>
              <a:cs typeface="Arial"/>
              <a:sym typeface="Arial"/>
            </a:endParaRPr>
          </a:p>
        </p:txBody>
      </p:sp>
      <p:cxnSp>
        <p:nvCxnSpPr>
          <p:cNvPr id="613" name="Google Shape;613;p56"/>
          <p:cNvCxnSpPr>
            <a:stCxn id="612" idx="0"/>
            <a:endCxn id="603" idx="2"/>
          </p:cNvCxnSpPr>
          <p:nvPr/>
        </p:nvCxnSpPr>
        <p:spPr>
          <a:xfrm rot="-5400000">
            <a:off x="5146225" y="1107609"/>
            <a:ext cx="594900" cy="1779300"/>
          </a:xfrm>
          <a:prstGeom prst="bentConnector3">
            <a:avLst>
              <a:gd name="adj1" fmla="val 49992"/>
            </a:avLst>
          </a:prstGeom>
          <a:noFill/>
          <a:ln w="9525" cap="flat" cmpd="sng">
            <a:solidFill>
              <a:srgbClr val="C2C2C2"/>
            </a:solidFill>
            <a:prstDash val="solid"/>
            <a:round/>
            <a:headEnd type="none" w="sm" len="sm"/>
            <a:tailEnd type="none" w="sm" len="sm"/>
          </a:ln>
        </p:spPr>
      </p:cxnSp>
      <p:sp>
        <p:nvSpPr>
          <p:cNvPr id="614" name="Google Shape;614;p56"/>
          <p:cNvSpPr txBox="1"/>
          <p:nvPr/>
        </p:nvSpPr>
        <p:spPr>
          <a:xfrm>
            <a:off x="173175" y="1316400"/>
            <a:ext cx="3525600" cy="2460300"/>
          </a:xfrm>
          <a:prstGeom prst="rect">
            <a:avLst/>
          </a:prstGeom>
          <a:no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1600"/>
              <a:buFont typeface="Arial"/>
              <a:buNone/>
            </a:pPr>
            <a:r>
              <a:rPr lang="en-GB" sz="1600" i="0" u="none" strike="noStrike" cap="none">
                <a:solidFill>
                  <a:schemeClr val="dk2"/>
                </a:solidFill>
                <a:latin typeface="Roboto"/>
                <a:ea typeface="Roboto"/>
                <a:cs typeface="Roboto"/>
                <a:sym typeface="Roboto"/>
              </a:rPr>
              <a:t>“We expect that content-based detection of synthetic text is a long-term challenge… this is not high enough accuracy for standalone detection and needs to be paired with metadata-based approaches, human judgment, and public education to be more effective.” </a:t>
            </a:r>
            <a:endParaRPr sz="1600" i="0" u="none" strike="noStrike" cap="none">
              <a:solidFill>
                <a:schemeClr val="dk2"/>
              </a:solidFill>
              <a:latin typeface="Roboto"/>
              <a:ea typeface="Roboto"/>
              <a:cs typeface="Roboto"/>
              <a:sym typeface="Roboto"/>
            </a:endParaRPr>
          </a:p>
        </p:txBody>
      </p:sp>
      <p:sp>
        <p:nvSpPr>
          <p:cNvPr id="615" name="Google Shape;615;p56"/>
          <p:cNvSpPr txBox="1"/>
          <p:nvPr/>
        </p:nvSpPr>
        <p:spPr>
          <a:xfrm>
            <a:off x="173175" y="3525900"/>
            <a:ext cx="3433800" cy="548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GB" sz="1100" i="1">
                <a:solidFill>
                  <a:srgbClr val="818181"/>
                </a:solidFill>
                <a:latin typeface="Roboto Light"/>
                <a:ea typeface="Roboto Light"/>
                <a:cs typeface="Roboto Light"/>
                <a:sym typeface="Roboto Light"/>
              </a:rPr>
              <a:t>Irene Solaiman, Jack Clark and Miles Brundage, “GPT-2: 1.5B Release,” 2019</a:t>
            </a:r>
            <a:endParaRPr sz="1100" i="1">
              <a:latin typeface="Roboto Light"/>
              <a:ea typeface="Roboto Light"/>
              <a:cs typeface="Roboto Light"/>
              <a:sym typeface="Roboto Light"/>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19"/>
        <p:cNvGrpSpPr/>
        <p:nvPr/>
      </p:nvGrpSpPr>
      <p:grpSpPr>
        <a:xfrm>
          <a:off x="0" y="0"/>
          <a:ext cx="0" cy="0"/>
          <a:chOff x="0" y="0"/>
          <a:chExt cx="0" cy="0"/>
        </a:xfrm>
      </p:grpSpPr>
      <p:sp>
        <p:nvSpPr>
          <p:cNvPr id="620" name="Google Shape;620;p57"/>
          <p:cNvSpPr/>
          <p:nvPr/>
        </p:nvSpPr>
        <p:spPr>
          <a:xfrm>
            <a:off x="0" y="120875"/>
            <a:ext cx="4324200" cy="402600"/>
          </a:xfrm>
          <a:prstGeom prst="rect">
            <a:avLst/>
          </a:prstGeom>
          <a:gradFill>
            <a:gsLst>
              <a:gs pos="0">
                <a:srgbClr val="00C0F3"/>
              </a:gs>
              <a:gs pos="100000">
                <a:srgbClr val="008E4E"/>
              </a:gs>
            </a:gsLst>
            <a:lin ang="270000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Lucida Sans"/>
              <a:ea typeface="Lucida Sans"/>
              <a:cs typeface="Lucida Sans"/>
              <a:sym typeface="Lucida Sans"/>
            </a:endParaRPr>
          </a:p>
        </p:txBody>
      </p:sp>
      <p:sp>
        <p:nvSpPr>
          <p:cNvPr id="621" name="Google Shape;621;p57"/>
          <p:cNvSpPr txBox="1">
            <a:spLocks noGrp="1"/>
          </p:cNvSpPr>
          <p:nvPr>
            <p:ph type="body" idx="1"/>
          </p:nvPr>
        </p:nvSpPr>
        <p:spPr>
          <a:xfrm>
            <a:off x="311700" y="908675"/>
            <a:ext cx="3269700" cy="36603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0"/>
              </a:spcAft>
              <a:buNone/>
            </a:pPr>
            <a:r>
              <a:rPr lang="en-GB"/>
              <a:t>AI-assisted human detection using three tests:</a:t>
            </a:r>
            <a:endParaRPr/>
          </a:p>
          <a:p>
            <a:pPr marL="457200" lvl="0" indent="-342900" algn="l" rtl="0">
              <a:spcBef>
                <a:spcPts val="1200"/>
              </a:spcBef>
              <a:spcAft>
                <a:spcPts val="0"/>
              </a:spcAft>
              <a:buSzPts val="1800"/>
              <a:buChar char="●"/>
            </a:pPr>
            <a:r>
              <a:rPr lang="en-GB"/>
              <a:t>The probability of the word given the previous words in the sequence.</a:t>
            </a:r>
            <a:endParaRPr/>
          </a:p>
          <a:p>
            <a:pPr marL="457200" lvl="0" indent="-342900" algn="l" rtl="0">
              <a:spcBef>
                <a:spcPts val="0"/>
              </a:spcBef>
              <a:spcAft>
                <a:spcPts val="0"/>
              </a:spcAft>
              <a:buSzPts val="1800"/>
              <a:buChar char="●"/>
            </a:pPr>
            <a:r>
              <a:rPr lang="en-GB"/>
              <a:t>The absolute rank of a word.</a:t>
            </a:r>
            <a:endParaRPr/>
          </a:p>
          <a:p>
            <a:pPr marL="457200" lvl="0" indent="-342900" algn="l" rtl="0">
              <a:spcBef>
                <a:spcPts val="0"/>
              </a:spcBef>
              <a:spcAft>
                <a:spcPts val="0"/>
              </a:spcAft>
              <a:buSzPts val="1800"/>
              <a:buChar char="●"/>
            </a:pPr>
            <a:r>
              <a:rPr lang="en-GB"/>
              <a:t>The entropy of the predicted distribution.</a:t>
            </a:r>
            <a:endParaRPr/>
          </a:p>
          <a:p>
            <a:pPr marL="0" lvl="0" indent="0" algn="l" rtl="0">
              <a:spcBef>
                <a:spcPts val="1200"/>
              </a:spcBef>
              <a:spcAft>
                <a:spcPts val="1200"/>
              </a:spcAft>
              <a:buNone/>
            </a:pPr>
            <a:r>
              <a:rPr lang="en-GB" sz="1148" i="1">
                <a:latin typeface="Roboto Light"/>
                <a:ea typeface="Roboto Light"/>
                <a:cs typeface="Roboto Light"/>
                <a:sym typeface="Roboto Light"/>
              </a:rPr>
              <a:t>Sebastian Gehrmann, Hendrik Strobelt, and Alexander M. Rush, “GLTR: Statistical Detection and Visualization of Generated Text,” 2019</a:t>
            </a:r>
            <a:endParaRPr sz="1148" i="1">
              <a:latin typeface="Roboto Light"/>
              <a:ea typeface="Roboto Light"/>
              <a:cs typeface="Roboto Light"/>
              <a:sym typeface="Roboto Light"/>
            </a:endParaRPr>
          </a:p>
        </p:txBody>
      </p:sp>
      <p:sp>
        <p:nvSpPr>
          <p:cNvPr id="622" name="Google Shape;622;p5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39</a:t>
            </a:fld>
            <a:endParaRPr/>
          </a:p>
        </p:txBody>
      </p:sp>
      <p:sp>
        <p:nvSpPr>
          <p:cNvPr id="623" name="Google Shape;623;p57"/>
          <p:cNvSpPr txBox="1">
            <a:spLocks noGrp="1"/>
          </p:cNvSpPr>
          <p:nvPr>
            <p:ph type="title"/>
          </p:nvPr>
        </p:nvSpPr>
        <p:spPr>
          <a:xfrm>
            <a:off x="311700" y="73176"/>
            <a:ext cx="49377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Using GLTR Approach To Detect</a:t>
            </a:r>
            <a:endParaRPr/>
          </a:p>
        </p:txBody>
      </p:sp>
      <p:pic>
        <p:nvPicPr>
          <p:cNvPr id="624" name="Google Shape;624;p57"/>
          <p:cNvPicPr preferRelativeResize="0"/>
          <p:nvPr/>
        </p:nvPicPr>
        <p:blipFill rotWithShape="1">
          <a:blip r:embed="rId3">
            <a:alphaModFix/>
          </a:blip>
          <a:srcRect/>
          <a:stretch/>
        </p:blipFill>
        <p:spPr>
          <a:xfrm>
            <a:off x="3695174" y="855325"/>
            <a:ext cx="5240251" cy="3766976"/>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sp>
        <p:nvSpPr>
          <p:cNvPr id="629" name="Google Shape;629;p58"/>
          <p:cNvSpPr/>
          <p:nvPr/>
        </p:nvSpPr>
        <p:spPr>
          <a:xfrm>
            <a:off x="0" y="120875"/>
            <a:ext cx="5705400" cy="402600"/>
          </a:xfrm>
          <a:prstGeom prst="rect">
            <a:avLst/>
          </a:prstGeom>
          <a:gradFill>
            <a:gsLst>
              <a:gs pos="0">
                <a:srgbClr val="00C0F3"/>
              </a:gs>
              <a:gs pos="100000">
                <a:srgbClr val="008E4E"/>
              </a:gs>
            </a:gsLst>
            <a:lin ang="270000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Lucida Sans"/>
              <a:ea typeface="Lucida Sans"/>
              <a:cs typeface="Lucida Sans"/>
              <a:sym typeface="Lucida Sans"/>
            </a:endParaRPr>
          </a:p>
        </p:txBody>
      </p:sp>
      <p:sp>
        <p:nvSpPr>
          <p:cNvPr id="630" name="Google Shape;630;p5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40</a:t>
            </a:fld>
            <a:endParaRPr/>
          </a:p>
        </p:txBody>
      </p:sp>
      <p:sp>
        <p:nvSpPr>
          <p:cNvPr id="631" name="Google Shape;631;p58"/>
          <p:cNvSpPr txBox="1">
            <a:spLocks noGrp="1"/>
          </p:cNvSpPr>
          <p:nvPr>
            <p:ph type="title"/>
          </p:nvPr>
        </p:nvSpPr>
        <p:spPr>
          <a:xfrm>
            <a:off x="311700" y="73175"/>
            <a:ext cx="576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Building A Zero-Shot Detector That Extends GLTR</a:t>
            </a:r>
            <a:endParaRPr/>
          </a:p>
        </p:txBody>
      </p:sp>
      <p:pic>
        <p:nvPicPr>
          <p:cNvPr id="632" name="Google Shape;632;p58"/>
          <p:cNvPicPr preferRelativeResize="0"/>
          <p:nvPr/>
        </p:nvPicPr>
        <p:blipFill rotWithShape="1">
          <a:blip r:embed="rId3">
            <a:alphaModFix/>
          </a:blip>
          <a:srcRect b="13502"/>
          <a:stretch/>
        </p:blipFill>
        <p:spPr>
          <a:xfrm>
            <a:off x="4944400" y="917026"/>
            <a:ext cx="3827025" cy="3352650"/>
          </a:xfrm>
          <a:prstGeom prst="rect">
            <a:avLst/>
          </a:prstGeom>
          <a:noFill/>
          <a:ln>
            <a:noFill/>
          </a:ln>
        </p:spPr>
      </p:pic>
      <p:sp>
        <p:nvSpPr>
          <p:cNvPr id="633" name="Google Shape;633;p58"/>
          <p:cNvSpPr txBox="1"/>
          <p:nvPr/>
        </p:nvSpPr>
        <p:spPr>
          <a:xfrm>
            <a:off x="4944400" y="4269675"/>
            <a:ext cx="3827100" cy="3540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GB" sz="1100" i="1">
                <a:solidFill>
                  <a:schemeClr val="dk1"/>
                </a:solidFill>
                <a:latin typeface="Roboto Light"/>
                <a:ea typeface="Roboto Light"/>
                <a:cs typeface="Roboto Light"/>
                <a:sym typeface="Roboto Light"/>
              </a:rPr>
              <a:t>https://github.com/spaceraccoon/detecting-fake-text</a:t>
            </a:r>
            <a:endParaRPr sz="1100" i="1">
              <a:solidFill>
                <a:schemeClr val="dk1"/>
              </a:solidFill>
              <a:latin typeface="Roboto Light"/>
              <a:ea typeface="Roboto Light"/>
              <a:cs typeface="Roboto Light"/>
              <a:sym typeface="Roboto Light"/>
            </a:endParaRPr>
          </a:p>
        </p:txBody>
      </p:sp>
      <p:grpSp>
        <p:nvGrpSpPr>
          <p:cNvPr id="634" name="Google Shape;634;p58"/>
          <p:cNvGrpSpPr/>
          <p:nvPr/>
        </p:nvGrpSpPr>
        <p:grpSpPr>
          <a:xfrm>
            <a:off x="700075" y="2820713"/>
            <a:ext cx="3291000" cy="845100"/>
            <a:chOff x="561975" y="2555250"/>
            <a:chExt cx="3291000" cy="845100"/>
          </a:xfrm>
        </p:grpSpPr>
        <p:sp>
          <p:nvSpPr>
            <p:cNvPr id="635" name="Google Shape;635;p58"/>
            <p:cNvSpPr/>
            <p:nvPr/>
          </p:nvSpPr>
          <p:spPr>
            <a:xfrm>
              <a:off x="561975" y="2555250"/>
              <a:ext cx="3291000" cy="845100"/>
            </a:xfrm>
            <a:prstGeom prst="rect">
              <a:avLst/>
            </a:prstGeom>
            <a:solidFill>
              <a:srgbClr val="11648E"/>
            </a:solidFill>
            <a:ln w="9525" cap="flat" cmpd="sng">
              <a:solidFill>
                <a:srgbClr val="11648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58"/>
            <p:cNvSpPr txBox="1"/>
            <p:nvPr/>
          </p:nvSpPr>
          <p:spPr>
            <a:xfrm>
              <a:off x="561975" y="2582250"/>
              <a:ext cx="3291000" cy="784200"/>
            </a:xfrm>
            <a:prstGeom prst="rect">
              <a:avLst/>
            </a:prstGeom>
            <a:noFill/>
            <a:ln>
              <a:noFill/>
            </a:ln>
          </p:spPr>
          <p:txBody>
            <a:bodyPr spcFirstLastPara="1" wrap="square" lIns="121900" tIns="121900" rIns="121900" bIns="121900" anchor="ctr" anchorCtr="0">
              <a:noAutofit/>
            </a:bodyPr>
            <a:lstStyle/>
            <a:p>
              <a:pPr marL="457200" marR="0" lvl="0" indent="-311150" algn="l" rtl="0">
                <a:lnSpc>
                  <a:spcPct val="115000"/>
                </a:lnSpc>
                <a:spcBef>
                  <a:spcPts val="0"/>
                </a:spcBef>
                <a:spcAft>
                  <a:spcPts val="0"/>
                </a:spcAft>
                <a:buClr>
                  <a:srgbClr val="FFFFFF"/>
                </a:buClr>
                <a:buSzPts val="1300"/>
                <a:buFont typeface="Roboto"/>
                <a:buChar char="●"/>
              </a:pPr>
              <a:r>
                <a:rPr lang="en-GB" sz="1300" i="0" u="none" strike="noStrike" cap="none">
                  <a:solidFill>
                    <a:srgbClr val="FFFFFF"/>
                  </a:solidFill>
                  <a:latin typeface="Roboto"/>
                  <a:ea typeface="Roboto"/>
                  <a:cs typeface="Roboto"/>
                  <a:sym typeface="Roboto"/>
                </a:rPr>
                <a:t>Cannot control top K</a:t>
              </a:r>
              <a:endParaRPr sz="1300" i="0" u="none" strike="noStrike" cap="none">
                <a:solidFill>
                  <a:srgbClr val="FFFFFF"/>
                </a:solidFill>
                <a:latin typeface="Roboto"/>
                <a:ea typeface="Roboto"/>
                <a:cs typeface="Roboto"/>
                <a:sym typeface="Roboto"/>
              </a:endParaRPr>
            </a:p>
            <a:p>
              <a:pPr marL="457200" marR="0" lvl="0" indent="-311150" algn="l" rtl="0">
                <a:lnSpc>
                  <a:spcPct val="115000"/>
                </a:lnSpc>
                <a:spcBef>
                  <a:spcPts val="0"/>
                </a:spcBef>
                <a:spcAft>
                  <a:spcPts val="0"/>
                </a:spcAft>
                <a:buClr>
                  <a:srgbClr val="FFFFFF"/>
                </a:buClr>
                <a:buSzPts val="1300"/>
                <a:buFont typeface="Roboto"/>
                <a:buChar char="●"/>
              </a:pPr>
              <a:r>
                <a:rPr lang="en-GB" sz="1300" i="0" u="none" strike="noStrike" cap="none">
                  <a:solidFill>
                    <a:srgbClr val="FFFFFF"/>
                  </a:solidFill>
                  <a:latin typeface="Roboto"/>
                  <a:ea typeface="Roboto"/>
                  <a:cs typeface="Roboto"/>
                  <a:sym typeface="Roboto"/>
                </a:rPr>
                <a:t>No direct model access</a:t>
              </a:r>
              <a:endParaRPr sz="1300" i="0" u="none" strike="noStrike" cap="none">
                <a:solidFill>
                  <a:srgbClr val="FFFFFF"/>
                </a:solidFill>
                <a:latin typeface="Roboto"/>
                <a:ea typeface="Roboto"/>
                <a:cs typeface="Roboto"/>
                <a:sym typeface="Roboto"/>
              </a:endParaRPr>
            </a:p>
            <a:p>
              <a:pPr marL="457200" marR="0" lvl="0" indent="-311150" algn="l" rtl="0">
                <a:lnSpc>
                  <a:spcPct val="115000"/>
                </a:lnSpc>
                <a:spcBef>
                  <a:spcPts val="0"/>
                </a:spcBef>
                <a:spcAft>
                  <a:spcPts val="0"/>
                </a:spcAft>
                <a:buClr>
                  <a:srgbClr val="FFFFFF"/>
                </a:buClr>
                <a:buSzPts val="1300"/>
                <a:buFont typeface="Roboto"/>
                <a:buChar char="●"/>
              </a:pPr>
              <a:r>
                <a:rPr lang="en-GB" sz="1300" i="0" u="none" strike="noStrike" cap="none">
                  <a:solidFill>
                    <a:srgbClr val="FFFFFF"/>
                  </a:solidFill>
                  <a:latin typeface="Roboto"/>
                  <a:ea typeface="Roboto"/>
                  <a:cs typeface="Roboto"/>
                  <a:sym typeface="Roboto"/>
                </a:rPr>
                <a:t>Limited number of logprobs (100)</a:t>
              </a:r>
              <a:endParaRPr sz="1500" i="0" u="none" strike="noStrike" cap="none">
                <a:solidFill>
                  <a:srgbClr val="FFFFFF"/>
                </a:solidFill>
                <a:latin typeface="Roboto"/>
                <a:ea typeface="Roboto"/>
                <a:cs typeface="Roboto"/>
                <a:sym typeface="Roboto"/>
              </a:endParaRPr>
            </a:p>
          </p:txBody>
        </p:sp>
      </p:grpSp>
      <p:grpSp>
        <p:nvGrpSpPr>
          <p:cNvPr id="637" name="Google Shape;637;p58"/>
          <p:cNvGrpSpPr/>
          <p:nvPr/>
        </p:nvGrpSpPr>
        <p:grpSpPr>
          <a:xfrm>
            <a:off x="700075" y="2473069"/>
            <a:ext cx="3291000" cy="322490"/>
            <a:chOff x="561975" y="2555250"/>
            <a:chExt cx="3291000" cy="845100"/>
          </a:xfrm>
        </p:grpSpPr>
        <p:sp>
          <p:nvSpPr>
            <p:cNvPr id="638" name="Google Shape;638;p58"/>
            <p:cNvSpPr/>
            <p:nvPr/>
          </p:nvSpPr>
          <p:spPr>
            <a:xfrm>
              <a:off x="561975" y="2555250"/>
              <a:ext cx="3291000" cy="845100"/>
            </a:xfrm>
            <a:prstGeom prst="rect">
              <a:avLst/>
            </a:prstGeom>
            <a:solidFill>
              <a:srgbClr val="11648E"/>
            </a:solidFill>
            <a:ln w="9525" cap="flat" cmpd="sng">
              <a:solidFill>
                <a:srgbClr val="11648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58"/>
            <p:cNvSpPr txBox="1"/>
            <p:nvPr/>
          </p:nvSpPr>
          <p:spPr>
            <a:xfrm>
              <a:off x="561975" y="2582250"/>
              <a:ext cx="3291000" cy="784200"/>
            </a:xfrm>
            <a:prstGeom prst="rect">
              <a:avLst/>
            </a:prstGeom>
            <a:noFill/>
            <a:ln>
              <a:noFill/>
            </a:ln>
          </p:spPr>
          <p:txBody>
            <a:bodyPr spcFirstLastPara="1" wrap="square" lIns="121900" tIns="121900" rIns="121900" bIns="121900" anchor="ctr" anchorCtr="0">
              <a:noAutofit/>
            </a:bodyPr>
            <a:lstStyle/>
            <a:p>
              <a:pPr marL="0" marR="0" lvl="0" indent="0" algn="l" rtl="0">
                <a:lnSpc>
                  <a:spcPct val="115000"/>
                </a:lnSpc>
                <a:spcBef>
                  <a:spcPts val="0"/>
                </a:spcBef>
                <a:spcAft>
                  <a:spcPts val="0"/>
                </a:spcAft>
                <a:buNone/>
              </a:pPr>
              <a:r>
                <a:rPr lang="en-GB" sz="1300" b="1">
                  <a:solidFill>
                    <a:srgbClr val="FFFFFF"/>
                  </a:solidFill>
                  <a:latin typeface="Roboto"/>
                  <a:ea typeface="Roboto"/>
                  <a:cs typeface="Roboto"/>
                  <a:sym typeface="Roboto"/>
                </a:rPr>
                <a:t>Challenges</a:t>
              </a:r>
              <a:endParaRPr sz="1500" b="1" i="0" u="none" strike="noStrike" cap="none">
                <a:solidFill>
                  <a:srgbClr val="FFFFFF"/>
                </a:solidFill>
                <a:latin typeface="Roboto"/>
                <a:ea typeface="Roboto"/>
                <a:cs typeface="Roboto"/>
                <a:sym typeface="Roboto"/>
              </a:endParaRPr>
            </a:p>
          </p:txBody>
        </p:sp>
      </p:grpSp>
      <p:grpSp>
        <p:nvGrpSpPr>
          <p:cNvPr id="640" name="Google Shape;640;p58"/>
          <p:cNvGrpSpPr/>
          <p:nvPr/>
        </p:nvGrpSpPr>
        <p:grpSpPr>
          <a:xfrm>
            <a:off x="700075" y="1520538"/>
            <a:ext cx="3291000" cy="845100"/>
            <a:chOff x="561975" y="2555250"/>
            <a:chExt cx="3291000" cy="845100"/>
          </a:xfrm>
        </p:grpSpPr>
        <p:sp>
          <p:nvSpPr>
            <p:cNvPr id="641" name="Google Shape;641;p58"/>
            <p:cNvSpPr/>
            <p:nvPr/>
          </p:nvSpPr>
          <p:spPr>
            <a:xfrm>
              <a:off x="561975" y="2555250"/>
              <a:ext cx="3291000" cy="845100"/>
            </a:xfrm>
            <a:prstGeom prst="rect">
              <a:avLst/>
            </a:prstGeom>
            <a:solidFill>
              <a:srgbClr val="0095AF"/>
            </a:solidFill>
            <a:ln w="9525" cap="flat" cmpd="sng">
              <a:solidFill>
                <a:srgbClr val="0095A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58"/>
            <p:cNvSpPr txBox="1"/>
            <p:nvPr/>
          </p:nvSpPr>
          <p:spPr>
            <a:xfrm>
              <a:off x="561975" y="2582250"/>
              <a:ext cx="3291000" cy="784200"/>
            </a:xfrm>
            <a:prstGeom prst="rect">
              <a:avLst/>
            </a:prstGeom>
            <a:solidFill>
              <a:srgbClr val="0095AF"/>
            </a:solidFill>
            <a:ln w="9525" cap="flat" cmpd="sng">
              <a:solidFill>
                <a:srgbClr val="0095AF"/>
              </a:solidFill>
              <a:prstDash val="solid"/>
              <a:round/>
              <a:headEnd type="none" w="sm" len="sm"/>
              <a:tailEnd type="none" w="sm" len="sm"/>
            </a:ln>
          </p:spPr>
          <p:txBody>
            <a:bodyPr spcFirstLastPara="1" wrap="square" lIns="121900" tIns="121900" rIns="121900" bIns="121900" anchor="ctr" anchorCtr="0">
              <a:noAutofit/>
            </a:bodyPr>
            <a:lstStyle/>
            <a:p>
              <a:pPr marL="457200" lvl="0" indent="-311150" algn="l" rtl="0">
                <a:lnSpc>
                  <a:spcPct val="115000"/>
                </a:lnSpc>
                <a:spcBef>
                  <a:spcPts val="0"/>
                </a:spcBef>
                <a:spcAft>
                  <a:spcPts val="0"/>
                </a:spcAft>
                <a:buClr>
                  <a:schemeClr val="lt1"/>
                </a:buClr>
                <a:buSzPts val="1300"/>
                <a:buFont typeface="Roboto"/>
                <a:buChar char="●"/>
              </a:pPr>
              <a:r>
                <a:rPr lang="en-GB" sz="1300">
                  <a:solidFill>
                    <a:schemeClr val="lt1"/>
                  </a:solidFill>
                  <a:latin typeface="Roboto"/>
                  <a:ea typeface="Roboto"/>
                  <a:cs typeface="Roboto"/>
                  <a:sym typeface="Roboto"/>
                </a:rPr>
                <a:t>Easily extensible</a:t>
              </a:r>
              <a:endParaRPr sz="1300">
                <a:solidFill>
                  <a:schemeClr val="lt1"/>
                </a:solidFill>
                <a:latin typeface="Roboto"/>
                <a:ea typeface="Roboto"/>
                <a:cs typeface="Roboto"/>
                <a:sym typeface="Roboto"/>
              </a:endParaRPr>
            </a:p>
            <a:p>
              <a:pPr marL="457200" lvl="0" indent="-311150" algn="l" rtl="0">
                <a:lnSpc>
                  <a:spcPct val="115000"/>
                </a:lnSpc>
                <a:spcBef>
                  <a:spcPts val="0"/>
                </a:spcBef>
                <a:spcAft>
                  <a:spcPts val="0"/>
                </a:spcAft>
                <a:buClr>
                  <a:schemeClr val="lt1"/>
                </a:buClr>
                <a:buSzPts val="1300"/>
                <a:buFont typeface="Roboto"/>
                <a:buChar char="●"/>
              </a:pPr>
              <a:r>
                <a:rPr lang="en-GB" sz="1300">
                  <a:solidFill>
                    <a:schemeClr val="lt1"/>
                  </a:solidFill>
                  <a:latin typeface="Roboto"/>
                  <a:ea typeface="Roboto"/>
                  <a:cs typeface="Roboto"/>
                  <a:sym typeface="Roboto"/>
                </a:rPr>
                <a:t>Transferrable patterns from GPT-2</a:t>
              </a:r>
              <a:endParaRPr sz="1300">
                <a:solidFill>
                  <a:schemeClr val="lt1"/>
                </a:solidFill>
                <a:latin typeface="Roboto"/>
                <a:ea typeface="Roboto"/>
                <a:cs typeface="Roboto"/>
                <a:sym typeface="Roboto"/>
              </a:endParaRPr>
            </a:p>
            <a:p>
              <a:pPr marL="457200" lvl="0" indent="-311150" algn="l" rtl="0">
                <a:lnSpc>
                  <a:spcPct val="115000"/>
                </a:lnSpc>
                <a:spcBef>
                  <a:spcPts val="0"/>
                </a:spcBef>
                <a:spcAft>
                  <a:spcPts val="0"/>
                </a:spcAft>
                <a:buClr>
                  <a:schemeClr val="lt1"/>
                </a:buClr>
                <a:buSzPts val="1300"/>
                <a:buFont typeface="Roboto"/>
                <a:buChar char="●"/>
              </a:pPr>
              <a:r>
                <a:rPr lang="en-GB" sz="1300">
                  <a:solidFill>
                    <a:schemeClr val="lt1"/>
                  </a:solidFill>
                  <a:latin typeface="Roboto"/>
                  <a:ea typeface="Roboto"/>
                  <a:cs typeface="Roboto"/>
                  <a:sym typeface="Roboto"/>
                </a:rPr>
                <a:t>Access to logprobs</a:t>
              </a:r>
              <a:endParaRPr sz="1300">
                <a:solidFill>
                  <a:srgbClr val="FFFFFF"/>
                </a:solidFill>
                <a:latin typeface="Roboto"/>
                <a:ea typeface="Roboto"/>
                <a:cs typeface="Roboto"/>
                <a:sym typeface="Roboto"/>
              </a:endParaRPr>
            </a:p>
          </p:txBody>
        </p:sp>
      </p:grpSp>
      <p:grpSp>
        <p:nvGrpSpPr>
          <p:cNvPr id="643" name="Google Shape;643;p58"/>
          <p:cNvGrpSpPr/>
          <p:nvPr/>
        </p:nvGrpSpPr>
        <p:grpSpPr>
          <a:xfrm>
            <a:off x="700075" y="1172894"/>
            <a:ext cx="3291000" cy="322490"/>
            <a:chOff x="561975" y="2555250"/>
            <a:chExt cx="3291000" cy="845100"/>
          </a:xfrm>
        </p:grpSpPr>
        <p:sp>
          <p:nvSpPr>
            <p:cNvPr id="644" name="Google Shape;644;p58"/>
            <p:cNvSpPr/>
            <p:nvPr/>
          </p:nvSpPr>
          <p:spPr>
            <a:xfrm>
              <a:off x="561975" y="2555250"/>
              <a:ext cx="3291000" cy="845100"/>
            </a:xfrm>
            <a:prstGeom prst="rect">
              <a:avLst/>
            </a:prstGeom>
            <a:solidFill>
              <a:srgbClr val="0095AF"/>
            </a:solidFill>
            <a:ln w="9525" cap="flat" cmpd="sng">
              <a:solidFill>
                <a:srgbClr val="0095A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58"/>
            <p:cNvSpPr txBox="1"/>
            <p:nvPr/>
          </p:nvSpPr>
          <p:spPr>
            <a:xfrm>
              <a:off x="561975" y="2582250"/>
              <a:ext cx="3291000" cy="784200"/>
            </a:xfrm>
            <a:prstGeom prst="rect">
              <a:avLst/>
            </a:prstGeom>
            <a:solidFill>
              <a:srgbClr val="0095AF"/>
            </a:solidFill>
            <a:ln w="9525" cap="flat" cmpd="sng">
              <a:solidFill>
                <a:srgbClr val="0095AF"/>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15000"/>
                </a:lnSpc>
                <a:spcBef>
                  <a:spcPts val="0"/>
                </a:spcBef>
                <a:spcAft>
                  <a:spcPts val="0"/>
                </a:spcAft>
                <a:buNone/>
              </a:pPr>
              <a:r>
                <a:rPr lang="en-GB" sz="1300" b="1">
                  <a:solidFill>
                    <a:srgbClr val="FFFFFF"/>
                  </a:solidFill>
                  <a:latin typeface="Roboto"/>
                  <a:ea typeface="Roboto"/>
                  <a:cs typeface="Roboto"/>
                  <a:sym typeface="Roboto"/>
                </a:rPr>
                <a:t>Benefits</a:t>
              </a:r>
              <a:endParaRPr sz="1500" b="1" i="0" u="none" strike="noStrike" cap="none">
                <a:solidFill>
                  <a:srgbClr val="FFFFFF"/>
                </a:solidFill>
                <a:latin typeface="Roboto"/>
                <a:ea typeface="Roboto"/>
                <a:cs typeface="Roboto"/>
                <a:sym typeface="Roboto"/>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49"/>
        <p:cNvGrpSpPr/>
        <p:nvPr/>
      </p:nvGrpSpPr>
      <p:grpSpPr>
        <a:xfrm>
          <a:off x="0" y="0"/>
          <a:ext cx="0" cy="0"/>
          <a:chOff x="0" y="0"/>
          <a:chExt cx="0" cy="0"/>
        </a:xfrm>
      </p:grpSpPr>
      <p:sp>
        <p:nvSpPr>
          <p:cNvPr id="650" name="Google Shape;650;p59"/>
          <p:cNvSpPr/>
          <p:nvPr/>
        </p:nvSpPr>
        <p:spPr>
          <a:xfrm>
            <a:off x="0" y="120875"/>
            <a:ext cx="6262800" cy="402600"/>
          </a:xfrm>
          <a:prstGeom prst="rect">
            <a:avLst/>
          </a:prstGeom>
          <a:gradFill>
            <a:gsLst>
              <a:gs pos="0">
                <a:srgbClr val="00C0F3"/>
              </a:gs>
              <a:gs pos="100000">
                <a:srgbClr val="008E4E"/>
              </a:gs>
            </a:gsLst>
            <a:lin ang="270000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Lucida Sans"/>
              <a:ea typeface="Lucida Sans"/>
              <a:cs typeface="Lucida Sans"/>
              <a:sym typeface="Lucida Sans"/>
            </a:endParaRPr>
          </a:p>
        </p:txBody>
      </p:sp>
      <p:sp>
        <p:nvSpPr>
          <p:cNvPr id="651" name="Google Shape;651;p5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41</a:t>
            </a:fld>
            <a:endParaRPr/>
          </a:p>
        </p:txBody>
      </p:sp>
      <p:sp>
        <p:nvSpPr>
          <p:cNvPr id="652" name="Google Shape;652;p59"/>
          <p:cNvSpPr txBox="1">
            <a:spLocks noGrp="1"/>
          </p:cNvSpPr>
          <p:nvPr>
            <p:ph type="title"/>
          </p:nvPr>
        </p:nvSpPr>
        <p:spPr>
          <a:xfrm>
            <a:off x="311700" y="73175"/>
            <a:ext cx="59130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Using GLTR Metrics To Distinguish Synthetic Text</a:t>
            </a:r>
            <a:endParaRPr/>
          </a:p>
        </p:txBody>
      </p:sp>
      <p:pic>
        <p:nvPicPr>
          <p:cNvPr id="653" name="Google Shape;653;p59"/>
          <p:cNvPicPr preferRelativeResize="0"/>
          <p:nvPr/>
        </p:nvPicPr>
        <p:blipFill rotWithShape="1">
          <a:blip r:embed="rId3">
            <a:alphaModFix/>
          </a:blip>
          <a:srcRect/>
          <a:stretch/>
        </p:blipFill>
        <p:spPr>
          <a:xfrm>
            <a:off x="311700" y="706075"/>
            <a:ext cx="7856000" cy="4104475"/>
          </a:xfrm>
          <a:prstGeom prst="rect">
            <a:avLst/>
          </a:prstGeom>
          <a:noFill/>
          <a:ln>
            <a:noFill/>
          </a:ln>
        </p:spPr>
      </p:pic>
      <p:sp>
        <p:nvSpPr>
          <p:cNvPr id="654" name="Google Shape;654;p59"/>
          <p:cNvSpPr/>
          <p:nvPr/>
        </p:nvSpPr>
        <p:spPr>
          <a:xfrm>
            <a:off x="4154475" y="1589375"/>
            <a:ext cx="4289400" cy="1258500"/>
          </a:xfrm>
          <a:prstGeom prst="wedgeRectCallout">
            <a:avLst>
              <a:gd name="adj1" fmla="val -56476"/>
              <a:gd name="adj2" fmla="val -38921"/>
            </a:avLst>
          </a:prstGeom>
          <a:solidFill>
            <a:schemeClr val="lt1"/>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GB" sz="1100">
                <a:latin typeface="Roboto"/>
                <a:ea typeface="Roboto"/>
                <a:cs typeface="Roboto"/>
                <a:sym typeface="Roboto"/>
              </a:rPr>
              <a:t>Human-generated samples used words outside of the top 100 predictions:</a:t>
            </a:r>
            <a:endParaRPr sz="1100">
              <a:latin typeface="Roboto"/>
              <a:ea typeface="Roboto"/>
              <a:cs typeface="Roboto"/>
              <a:sym typeface="Roboto"/>
            </a:endParaRPr>
          </a:p>
          <a:p>
            <a:pPr marL="457200" lvl="0" indent="-298450" algn="l" rtl="0">
              <a:spcBef>
                <a:spcPts val="0"/>
              </a:spcBef>
              <a:spcAft>
                <a:spcPts val="0"/>
              </a:spcAft>
              <a:buSzPts val="1100"/>
              <a:buFont typeface="Roboto"/>
              <a:buChar char="●"/>
            </a:pPr>
            <a:r>
              <a:rPr lang="en-GB" sz="1100">
                <a:latin typeface="Roboto"/>
                <a:ea typeface="Roboto"/>
                <a:cs typeface="Roboto"/>
                <a:sym typeface="Roboto"/>
              </a:rPr>
              <a:t>7.23 times as frequently as the GPT-3 API generated samples</a:t>
            </a:r>
            <a:endParaRPr sz="1100">
              <a:latin typeface="Roboto"/>
              <a:ea typeface="Roboto"/>
              <a:cs typeface="Roboto"/>
              <a:sym typeface="Roboto"/>
            </a:endParaRPr>
          </a:p>
          <a:p>
            <a:pPr marL="457200" lvl="0" indent="-298450" algn="l" rtl="0">
              <a:spcBef>
                <a:spcPts val="0"/>
              </a:spcBef>
              <a:spcAft>
                <a:spcPts val="0"/>
              </a:spcAft>
              <a:buSzPts val="1100"/>
              <a:buFont typeface="Roboto"/>
              <a:buChar char="●"/>
            </a:pPr>
            <a:r>
              <a:rPr lang="en-GB" sz="1100">
                <a:latin typeface="Roboto"/>
                <a:ea typeface="Roboto"/>
                <a:cs typeface="Roboto"/>
                <a:sym typeface="Roboto"/>
              </a:rPr>
              <a:t>4.57 times as frequently as the GPT-2 generated samples</a:t>
            </a:r>
            <a:endParaRPr sz="1100">
              <a:latin typeface="Roboto"/>
              <a:ea typeface="Roboto"/>
              <a:cs typeface="Roboto"/>
              <a:sym typeface="Roboto"/>
            </a:endParaRPr>
          </a:p>
          <a:p>
            <a:pPr marL="457200" lvl="0" indent="-298450" algn="l" rtl="0">
              <a:spcBef>
                <a:spcPts val="0"/>
              </a:spcBef>
              <a:spcAft>
                <a:spcPts val="0"/>
              </a:spcAft>
              <a:buSzPts val="1100"/>
              <a:buFont typeface="Roboto"/>
              <a:buChar char="●"/>
            </a:pPr>
            <a:r>
              <a:rPr lang="en-GB" sz="1100">
                <a:latin typeface="Roboto"/>
                <a:ea typeface="Roboto"/>
                <a:cs typeface="Roboto"/>
                <a:sym typeface="Roboto"/>
              </a:rPr>
              <a:t>2.88 times as frequently as the fine-tuned GPT-2 generated samples</a:t>
            </a:r>
            <a:endParaRPr sz="1100">
              <a:latin typeface="Roboto"/>
              <a:ea typeface="Roboto"/>
              <a:cs typeface="Roboto"/>
              <a:sym typeface="Roboto"/>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sp>
        <p:nvSpPr>
          <p:cNvPr id="659" name="Google Shape;659;p60"/>
          <p:cNvSpPr/>
          <p:nvPr/>
        </p:nvSpPr>
        <p:spPr>
          <a:xfrm>
            <a:off x="0" y="120875"/>
            <a:ext cx="6262800" cy="402600"/>
          </a:xfrm>
          <a:prstGeom prst="rect">
            <a:avLst/>
          </a:prstGeom>
          <a:gradFill>
            <a:gsLst>
              <a:gs pos="0">
                <a:srgbClr val="00C0F3"/>
              </a:gs>
              <a:gs pos="100000">
                <a:srgbClr val="008E4E"/>
              </a:gs>
            </a:gsLst>
            <a:lin ang="270000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Lucida Sans"/>
              <a:ea typeface="Lucida Sans"/>
              <a:cs typeface="Lucida Sans"/>
              <a:sym typeface="Lucida Sans"/>
            </a:endParaRPr>
          </a:p>
        </p:txBody>
      </p:sp>
      <p:sp>
        <p:nvSpPr>
          <p:cNvPr id="660" name="Google Shape;660;p6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42</a:t>
            </a:fld>
            <a:endParaRPr/>
          </a:p>
        </p:txBody>
      </p:sp>
      <p:sp>
        <p:nvSpPr>
          <p:cNvPr id="661" name="Google Shape;661;p60"/>
          <p:cNvSpPr txBox="1">
            <a:spLocks noGrp="1"/>
          </p:cNvSpPr>
          <p:nvPr>
            <p:ph type="title"/>
          </p:nvPr>
        </p:nvSpPr>
        <p:spPr>
          <a:xfrm>
            <a:off x="311700" y="73175"/>
            <a:ext cx="59130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Using GLTR Metrics To Distinguish Synthetic Text</a:t>
            </a:r>
            <a:endParaRPr/>
          </a:p>
        </p:txBody>
      </p:sp>
      <p:pic>
        <p:nvPicPr>
          <p:cNvPr id="662" name="Google Shape;662;p60"/>
          <p:cNvPicPr preferRelativeResize="0"/>
          <p:nvPr/>
        </p:nvPicPr>
        <p:blipFill>
          <a:blip r:embed="rId3">
            <a:alphaModFix/>
          </a:blip>
          <a:stretch>
            <a:fillRect/>
          </a:stretch>
        </p:blipFill>
        <p:spPr>
          <a:xfrm>
            <a:off x="194775" y="1072500"/>
            <a:ext cx="4367699" cy="2432700"/>
          </a:xfrm>
          <a:prstGeom prst="rect">
            <a:avLst/>
          </a:prstGeom>
          <a:noFill/>
          <a:ln>
            <a:noFill/>
          </a:ln>
        </p:spPr>
      </p:pic>
      <p:sp>
        <p:nvSpPr>
          <p:cNvPr id="663" name="Google Shape;663;p60"/>
          <p:cNvSpPr/>
          <p:nvPr/>
        </p:nvSpPr>
        <p:spPr>
          <a:xfrm>
            <a:off x="1319100" y="2526200"/>
            <a:ext cx="2010300" cy="402600"/>
          </a:xfrm>
          <a:prstGeom prst="wedgeRectCallout">
            <a:avLst>
              <a:gd name="adj1" fmla="val -45256"/>
              <a:gd name="adj2" fmla="val 83933"/>
            </a:avLst>
          </a:prstGeom>
          <a:solidFill>
            <a:schemeClr val="lt1"/>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GB" sz="1100">
                <a:latin typeface="Roboto"/>
                <a:ea typeface="Roboto"/>
                <a:cs typeface="Roboto"/>
                <a:sym typeface="Roboto"/>
              </a:rPr>
              <a:t>AI: Greater density at low rank/low probability</a:t>
            </a:r>
            <a:endParaRPr sz="1100">
              <a:latin typeface="Roboto"/>
              <a:ea typeface="Roboto"/>
              <a:cs typeface="Roboto"/>
              <a:sym typeface="Roboto"/>
            </a:endParaRPr>
          </a:p>
        </p:txBody>
      </p:sp>
      <p:pic>
        <p:nvPicPr>
          <p:cNvPr id="664" name="Google Shape;664;p60"/>
          <p:cNvPicPr preferRelativeResize="0"/>
          <p:nvPr/>
        </p:nvPicPr>
        <p:blipFill>
          <a:blip r:embed="rId4">
            <a:alphaModFix/>
          </a:blip>
          <a:stretch>
            <a:fillRect/>
          </a:stretch>
        </p:blipFill>
        <p:spPr>
          <a:xfrm>
            <a:off x="4580325" y="1133075"/>
            <a:ext cx="4401750" cy="2372124"/>
          </a:xfrm>
          <a:prstGeom prst="rect">
            <a:avLst/>
          </a:prstGeom>
          <a:noFill/>
          <a:ln>
            <a:noFill/>
          </a:ln>
        </p:spPr>
      </p:pic>
      <p:sp>
        <p:nvSpPr>
          <p:cNvPr id="665" name="Google Shape;665;p60"/>
          <p:cNvSpPr/>
          <p:nvPr/>
        </p:nvSpPr>
        <p:spPr>
          <a:xfrm>
            <a:off x="5490550" y="1289325"/>
            <a:ext cx="2115300" cy="444300"/>
          </a:xfrm>
          <a:prstGeom prst="wedgeRectCallout">
            <a:avLst>
              <a:gd name="adj1" fmla="val -57611"/>
              <a:gd name="adj2" fmla="val -23976"/>
            </a:avLst>
          </a:prstGeom>
          <a:solidFill>
            <a:schemeClr val="lt1"/>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GB" sz="1100">
                <a:latin typeface="Roboto"/>
                <a:ea typeface="Roboto"/>
                <a:cs typeface="Roboto"/>
                <a:sym typeface="Roboto"/>
              </a:rPr>
              <a:t>Human: Greater density at high rank/low probability</a:t>
            </a:r>
            <a:endParaRPr sz="1100">
              <a:latin typeface="Roboto"/>
              <a:ea typeface="Roboto"/>
              <a:cs typeface="Roboto"/>
              <a:sym typeface="Roboto"/>
            </a:endParaRPr>
          </a:p>
        </p:txBody>
      </p:sp>
      <p:grpSp>
        <p:nvGrpSpPr>
          <p:cNvPr id="666" name="Google Shape;666;p60"/>
          <p:cNvGrpSpPr/>
          <p:nvPr/>
        </p:nvGrpSpPr>
        <p:grpSpPr>
          <a:xfrm>
            <a:off x="517425" y="3679950"/>
            <a:ext cx="7936500" cy="719100"/>
            <a:chOff x="365025" y="4289550"/>
            <a:chExt cx="7936500" cy="719100"/>
          </a:xfrm>
        </p:grpSpPr>
        <p:sp>
          <p:nvSpPr>
            <p:cNvPr id="667" name="Google Shape;667;p60"/>
            <p:cNvSpPr/>
            <p:nvPr/>
          </p:nvSpPr>
          <p:spPr>
            <a:xfrm>
              <a:off x="365025" y="4294350"/>
              <a:ext cx="7936500" cy="714300"/>
            </a:xfrm>
            <a:prstGeom prst="rect">
              <a:avLst/>
            </a:prstGeom>
            <a:solidFill>
              <a:srgbClr val="0095AF"/>
            </a:solidFill>
            <a:ln w="9525" cap="flat" cmpd="sng">
              <a:solidFill>
                <a:srgbClr val="0095AF"/>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1200"/>
                </a:spcAft>
                <a:buNone/>
              </a:pPr>
              <a:endParaRPr sz="1800">
                <a:latin typeface="Roboto"/>
                <a:ea typeface="Roboto"/>
                <a:cs typeface="Roboto"/>
                <a:sym typeface="Roboto"/>
              </a:endParaRPr>
            </a:p>
          </p:txBody>
        </p:sp>
        <p:sp>
          <p:nvSpPr>
            <p:cNvPr id="668" name="Google Shape;668;p60"/>
            <p:cNvSpPr txBox="1"/>
            <p:nvPr/>
          </p:nvSpPr>
          <p:spPr>
            <a:xfrm>
              <a:off x="408978" y="4289550"/>
              <a:ext cx="7848600" cy="714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r>
                <a:rPr lang="en-GB" sz="1600">
                  <a:solidFill>
                    <a:schemeClr val="lt1"/>
                  </a:solidFill>
                  <a:latin typeface="Roboto"/>
                  <a:ea typeface="Roboto"/>
                  <a:cs typeface="Roboto"/>
                  <a:sym typeface="Roboto"/>
                </a:rPr>
                <a:t>Our research suggests that evaluating the probability for a sequence of text is a good indicator of whether the text is synthetic or written by human.</a:t>
              </a:r>
              <a:endParaRPr sz="1600">
                <a:solidFill>
                  <a:schemeClr val="lt1"/>
                </a:solidFill>
                <a:latin typeface="Roboto"/>
                <a:ea typeface="Roboto"/>
                <a:cs typeface="Roboto"/>
                <a:sym typeface="Roboto"/>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sp>
        <p:nvSpPr>
          <p:cNvPr id="673" name="Google Shape;673;p61"/>
          <p:cNvSpPr/>
          <p:nvPr/>
        </p:nvSpPr>
        <p:spPr>
          <a:xfrm>
            <a:off x="0" y="120875"/>
            <a:ext cx="5819700" cy="402600"/>
          </a:xfrm>
          <a:prstGeom prst="rect">
            <a:avLst/>
          </a:prstGeom>
          <a:gradFill>
            <a:gsLst>
              <a:gs pos="0">
                <a:srgbClr val="00C0F3"/>
              </a:gs>
              <a:gs pos="100000">
                <a:srgbClr val="008E4E"/>
              </a:gs>
            </a:gsLst>
            <a:lin ang="270000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Lucida Sans"/>
              <a:ea typeface="Lucida Sans"/>
              <a:cs typeface="Lucida Sans"/>
              <a:sym typeface="Lucida Sans"/>
            </a:endParaRPr>
          </a:p>
        </p:txBody>
      </p:sp>
      <p:sp>
        <p:nvSpPr>
          <p:cNvPr id="674" name="Google Shape;674;p6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43</a:t>
            </a:fld>
            <a:endParaRPr/>
          </a:p>
        </p:txBody>
      </p:sp>
      <p:sp>
        <p:nvSpPr>
          <p:cNvPr id="675" name="Google Shape;675;p61"/>
          <p:cNvSpPr txBox="1">
            <a:spLocks noGrp="1"/>
          </p:cNvSpPr>
          <p:nvPr>
            <p:ph type="title"/>
          </p:nvPr>
        </p:nvSpPr>
        <p:spPr>
          <a:xfrm>
            <a:off x="311700" y="73175"/>
            <a:ext cx="5508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Using OpenAI’s GPT3 To Detect Synthetic Text</a:t>
            </a:r>
            <a:endParaRPr/>
          </a:p>
        </p:txBody>
      </p:sp>
      <p:sp>
        <p:nvSpPr>
          <p:cNvPr id="676" name="Google Shape;676;p61"/>
          <p:cNvSpPr txBox="1"/>
          <p:nvPr/>
        </p:nvSpPr>
        <p:spPr>
          <a:xfrm>
            <a:off x="143725" y="785475"/>
            <a:ext cx="2828100" cy="30939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GB" sz="900">
                <a:solidFill>
                  <a:srgbClr val="202123"/>
                </a:solidFill>
                <a:latin typeface="Roboto Light"/>
                <a:ea typeface="Roboto Light"/>
                <a:cs typeface="Roboto Light"/>
                <a:sym typeface="Roboto Light"/>
              </a:rPr>
              <a:t>Dear John Doe, </a:t>
            </a:r>
            <a:endParaRPr sz="900">
              <a:solidFill>
                <a:srgbClr val="202123"/>
              </a:solidFill>
              <a:latin typeface="Roboto Light"/>
              <a:ea typeface="Roboto Light"/>
              <a:cs typeface="Roboto Light"/>
              <a:sym typeface="Roboto Light"/>
            </a:endParaRPr>
          </a:p>
          <a:p>
            <a:pPr marL="0" lvl="0" indent="0" algn="l" rtl="0">
              <a:spcBef>
                <a:spcPts val="0"/>
              </a:spcBef>
              <a:spcAft>
                <a:spcPts val="0"/>
              </a:spcAft>
              <a:buNone/>
            </a:pPr>
            <a:endParaRPr sz="900">
              <a:solidFill>
                <a:srgbClr val="202123"/>
              </a:solidFill>
              <a:latin typeface="Roboto Light"/>
              <a:ea typeface="Roboto Light"/>
              <a:cs typeface="Roboto Light"/>
              <a:sym typeface="Roboto Light"/>
            </a:endParaRPr>
          </a:p>
          <a:p>
            <a:pPr marL="0" lvl="0" indent="0" algn="l" rtl="0">
              <a:spcBef>
                <a:spcPts val="0"/>
              </a:spcBef>
              <a:spcAft>
                <a:spcPts val="0"/>
              </a:spcAft>
              <a:buNone/>
            </a:pPr>
            <a:r>
              <a:rPr lang="en-GB" sz="900">
                <a:solidFill>
                  <a:srgbClr val="202123"/>
                </a:solidFill>
                <a:latin typeface="Roboto Light"/>
                <a:ea typeface="Roboto Light"/>
                <a:cs typeface="Roboto Light"/>
                <a:sym typeface="Roboto Light"/>
              </a:rPr>
              <a:t>We hope that you are well. </a:t>
            </a:r>
            <a:endParaRPr sz="900">
              <a:solidFill>
                <a:srgbClr val="202123"/>
              </a:solidFill>
              <a:latin typeface="Roboto Light"/>
              <a:ea typeface="Roboto Light"/>
              <a:cs typeface="Roboto Light"/>
              <a:sym typeface="Roboto Light"/>
            </a:endParaRPr>
          </a:p>
          <a:p>
            <a:pPr marL="0" lvl="0" indent="0" algn="l" rtl="0">
              <a:spcBef>
                <a:spcPts val="0"/>
              </a:spcBef>
              <a:spcAft>
                <a:spcPts val="0"/>
              </a:spcAft>
              <a:buNone/>
            </a:pPr>
            <a:endParaRPr sz="900">
              <a:solidFill>
                <a:srgbClr val="202123"/>
              </a:solidFill>
              <a:latin typeface="Roboto Light"/>
              <a:ea typeface="Roboto Light"/>
              <a:cs typeface="Roboto Light"/>
              <a:sym typeface="Roboto Light"/>
            </a:endParaRPr>
          </a:p>
          <a:p>
            <a:pPr marL="0" lvl="0" indent="0" algn="l" rtl="0">
              <a:spcBef>
                <a:spcPts val="0"/>
              </a:spcBef>
              <a:spcAft>
                <a:spcPts val="0"/>
              </a:spcAft>
              <a:buNone/>
            </a:pPr>
            <a:r>
              <a:rPr lang="en-GB" sz="900">
                <a:solidFill>
                  <a:srgbClr val="202123"/>
                </a:solidFill>
                <a:latin typeface="Roboto Light"/>
                <a:ea typeface="Roboto Light"/>
                <a:cs typeface="Roboto Light"/>
                <a:sym typeface="Roboto Light"/>
              </a:rPr>
              <a:t>We have a form for you to complete in order to be a part of </a:t>
            </a:r>
            <a:r>
              <a:rPr lang="en-GB" sz="900">
                <a:solidFill>
                  <a:srgbClr val="FF0000"/>
                </a:solidFill>
                <a:latin typeface="Roboto Light"/>
                <a:ea typeface="Roboto Light"/>
                <a:cs typeface="Roboto Light"/>
                <a:sym typeface="Roboto Light"/>
              </a:rPr>
              <a:t>Company Y</a:t>
            </a:r>
            <a:r>
              <a:rPr lang="en-GB" sz="900">
                <a:solidFill>
                  <a:srgbClr val="202123"/>
                </a:solidFill>
                <a:latin typeface="Roboto Light"/>
                <a:ea typeface="Roboto Light"/>
                <a:cs typeface="Roboto Light"/>
                <a:sym typeface="Roboto Light"/>
              </a:rPr>
              <a:t>. Please take a look at the attached form. This form is done to review your personal information and background. It is important for us to know you better in order for us to confidently assist us in recruiting you. </a:t>
            </a:r>
            <a:endParaRPr sz="900">
              <a:solidFill>
                <a:srgbClr val="202123"/>
              </a:solidFill>
              <a:latin typeface="Roboto Light"/>
              <a:ea typeface="Roboto Light"/>
              <a:cs typeface="Roboto Light"/>
              <a:sym typeface="Roboto Light"/>
            </a:endParaRPr>
          </a:p>
          <a:p>
            <a:pPr marL="0" lvl="0" indent="0" algn="l" rtl="0">
              <a:spcBef>
                <a:spcPts val="0"/>
              </a:spcBef>
              <a:spcAft>
                <a:spcPts val="0"/>
              </a:spcAft>
              <a:buNone/>
            </a:pPr>
            <a:endParaRPr sz="900">
              <a:solidFill>
                <a:srgbClr val="202123"/>
              </a:solidFill>
              <a:latin typeface="Roboto Light"/>
              <a:ea typeface="Roboto Light"/>
              <a:cs typeface="Roboto Light"/>
              <a:sym typeface="Roboto Light"/>
            </a:endParaRPr>
          </a:p>
          <a:p>
            <a:pPr marL="0" lvl="0" indent="0" algn="l" rtl="0">
              <a:spcBef>
                <a:spcPts val="0"/>
              </a:spcBef>
              <a:spcAft>
                <a:spcPts val="0"/>
              </a:spcAft>
              <a:buNone/>
            </a:pPr>
            <a:r>
              <a:rPr lang="en-GB" sz="900">
                <a:solidFill>
                  <a:srgbClr val="202123"/>
                </a:solidFill>
                <a:latin typeface="Roboto Light"/>
                <a:ea typeface="Roboto Light"/>
                <a:cs typeface="Roboto Light"/>
                <a:sym typeface="Roboto Light"/>
              </a:rPr>
              <a:t>We would like you to review the attached form and fill it up based on the information you have. We hope that you will be able to fulfil this form and provide us with the required information. </a:t>
            </a:r>
            <a:endParaRPr sz="900">
              <a:solidFill>
                <a:srgbClr val="202123"/>
              </a:solidFill>
              <a:latin typeface="Roboto Light"/>
              <a:ea typeface="Roboto Light"/>
              <a:cs typeface="Roboto Light"/>
              <a:sym typeface="Roboto Light"/>
            </a:endParaRPr>
          </a:p>
          <a:p>
            <a:pPr marL="0" lvl="0" indent="0" algn="l" rtl="0">
              <a:spcBef>
                <a:spcPts val="0"/>
              </a:spcBef>
              <a:spcAft>
                <a:spcPts val="0"/>
              </a:spcAft>
              <a:buNone/>
            </a:pPr>
            <a:endParaRPr sz="900">
              <a:solidFill>
                <a:srgbClr val="202123"/>
              </a:solidFill>
              <a:latin typeface="Roboto Light"/>
              <a:ea typeface="Roboto Light"/>
              <a:cs typeface="Roboto Light"/>
              <a:sym typeface="Roboto Light"/>
            </a:endParaRPr>
          </a:p>
          <a:p>
            <a:pPr marL="0" lvl="0" indent="0" algn="l" rtl="0">
              <a:spcBef>
                <a:spcPts val="0"/>
              </a:spcBef>
              <a:spcAft>
                <a:spcPts val="0"/>
              </a:spcAft>
              <a:buNone/>
            </a:pPr>
            <a:r>
              <a:rPr lang="en-GB" sz="900">
                <a:solidFill>
                  <a:srgbClr val="202123"/>
                </a:solidFill>
                <a:latin typeface="Roboto Light"/>
                <a:ea typeface="Roboto Light"/>
                <a:cs typeface="Roboto Light"/>
                <a:sym typeface="Roboto Light"/>
              </a:rPr>
              <a:t>We look forward to hearing from you soon. </a:t>
            </a:r>
            <a:endParaRPr sz="900">
              <a:solidFill>
                <a:srgbClr val="202123"/>
              </a:solidFill>
              <a:latin typeface="Roboto Light"/>
              <a:ea typeface="Roboto Light"/>
              <a:cs typeface="Roboto Light"/>
              <a:sym typeface="Roboto Light"/>
            </a:endParaRPr>
          </a:p>
          <a:p>
            <a:pPr marL="0" lvl="0" indent="0" algn="l" rtl="0">
              <a:spcBef>
                <a:spcPts val="0"/>
              </a:spcBef>
              <a:spcAft>
                <a:spcPts val="0"/>
              </a:spcAft>
              <a:buNone/>
            </a:pPr>
            <a:endParaRPr sz="900">
              <a:solidFill>
                <a:srgbClr val="202123"/>
              </a:solidFill>
              <a:latin typeface="Roboto Light"/>
              <a:ea typeface="Roboto Light"/>
              <a:cs typeface="Roboto Light"/>
              <a:sym typeface="Roboto Light"/>
            </a:endParaRPr>
          </a:p>
          <a:p>
            <a:pPr marL="0" lvl="0" indent="0" algn="l" rtl="0">
              <a:spcBef>
                <a:spcPts val="0"/>
              </a:spcBef>
              <a:spcAft>
                <a:spcPts val="0"/>
              </a:spcAft>
              <a:buNone/>
            </a:pPr>
            <a:r>
              <a:rPr lang="en-GB" sz="900">
                <a:solidFill>
                  <a:srgbClr val="202123"/>
                </a:solidFill>
                <a:latin typeface="Roboto Light"/>
                <a:ea typeface="Roboto Light"/>
                <a:cs typeface="Roboto Light"/>
                <a:sym typeface="Roboto Light"/>
              </a:rPr>
              <a:t>Best Regards, </a:t>
            </a:r>
            <a:endParaRPr sz="900">
              <a:solidFill>
                <a:srgbClr val="202123"/>
              </a:solidFill>
              <a:latin typeface="Roboto Light"/>
              <a:ea typeface="Roboto Light"/>
              <a:cs typeface="Roboto Light"/>
              <a:sym typeface="Roboto Light"/>
            </a:endParaRPr>
          </a:p>
          <a:p>
            <a:pPr marL="0" lvl="0" indent="0" algn="l" rtl="0">
              <a:spcBef>
                <a:spcPts val="0"/>
              </a:spcBef>
              <a:spcAft>
                <a:spcPts val="0"/>
              </a:spcAft>
              <a:buNone/>
            </a:pPr>
            <a:endParaRPr sz="900">
              <a:solidFill>
                <a:srgbClr val="202123"/>
              </a:solidFill>
              <a:latin typeface="Roboto Light"/>
              <a:ea typeface="Roboto Light"/>
              <a:cs typeface="Roboto Light"/>
              <a:sym typeface="Roboto Light"/>
            </a:endParaRPr>
          </a:p>
          <a:p>
            <a:pPr marL="0" lvl="0" indent="0" algn="l" rtl="0">
              <a:spcBef>
                <a:spcPts val="0"/>
              </a:spcBef>
              <a:spcAft>
                <a:spcPts val="0"/>
              </a:spcAft>
              <a:buNone/>
            </a:pPr>
            <a:r>
              <a:rPr lang="en-GB" sz="900">
                <a:solidFill>
                  <a:srgbClr val="202123"/>
                </a:solidFill>
                <a:latin typeface="Roboto Light"/>
                <a:ea typeface="Roboto Light"/>
                <a:cs typeface="Roboto Light"/>
                <a:sym typeface="Roboto Light"/>
              </a:rPr>
              <a:t>John</a:t>
            </a:r>
            <a:endParaRPr sz="900">
              <a:latin typeface="Roboto Light"/>
              <a:ea typeface="Roboto Light"/>
              <a:cs typeface="Roboto Light"/>
              <a:sym typeface="Roboto Light"/>
            </a:endParaRPr>
          </a:p>
        </p:txBody>
      </p:sp>
      <p:sp>
        <p:nvSpPr>
          <p:cNvPr id="677" name="Google Shape;677;p61"/>
          <p:cNvSpPr txBox="1"/>
          <p:nvPr/>
        </p:nvSpPr>
        <p:spPr>
          <a:xfrm>
            <a:off x="3051148" y="785475"/>
            <a:ext cx="2828100" cy="30939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GB" sz="900">
                <a:solidFill>
                  <a:srgbClr val="202123"/>
                </a:solidFill>
                <a:latin typeface="Roboto Light"/>
                <a:ea typeface="Roboto Light"/>
                <a:cs typeface="Roboto Light"/>
                <a:sym typeface="Roboto Light"/>
              </a:rPr>
              <a:t>Hi John,</a:t>
            </a:r>
            <a:endParaRPr sz="900">
              <a:solidFill>
                <a:srgbClr val="202123"/>
              </a:solidFill>
              <a:latin typeface="Roboto Light"/>
              <a:ea typeface="Roboto Light"/>
              <a:cs typeface="Roboto Light"/>
              <a:sym typeface="Roboto Light"/>
            </a:endParaRPr>
          </a:p>
          <a:p>
            <a:pPr marL="0" lvl="0" indent="0" algn="l" rtl="0">
              <a:spcBef>
                <a:spcPts val="0"/>
              </a:spcBef>
              <a:spcAft>
                <a:spcPts val="0"/>
              </a:spcAft>
              <a:buNone/>
            </a:pPr>
            <a:endParaRPr sz="900">
              <a:solidFill>
                <a:srgbClr val="202123"/>
              </a:solidFill>
              <a:latin typeface="Roboto Light"/>
              <a:ea typeface="Roboto Light"/>
              <a:cs typeface="Roboto Light"/>
              <a:sym typeface="Roboto Light"/>
            </a:endParaRPr>
          </a:p>
          <a:p>
            <a:pPr marL="0" lvl="0" indent="0" algn="l" rtl="0">
              <a:spcBef>
                <a:spcPts val="0"/>
              </a:spcBef>
              <a:spcAft>
                <a:spcPts val="0"/>
              </a:spcAft>
              <a:buNone/>
            </a:pPr>
            <a:r>
              <a:rPr lang="en-GB" sz="900">
                <a:solidFill>
                  <a:srgbClr val="202123"/>
                </a:solidFill>
                <a:latin typeface="Roboto Light"/>
                <a:ea typeface="Roboto Light"/>
                <a:cs typeface="Roboto Light"/>
                <a:sym typeface="Roboto Light"/>
              </a:rPr>
              <a:t>Do you have a moment to fill out this form?</a:t>
            </a:r>
            <a:endParaRPr sz="900">
              <a:solidFill>
                <a:srgbClr val="202123"/>
              </a:solidFill>
              <a:latin typeface="Roboto Light"/>
              <a:ea typeface="Roboto Light"/>
              <a:cs typeface="Roboto Light"/>
              <a:sym typeface="Roboto Light"/>
            </a:endParaRPr>
          </a:p>
          <a:p>
            <a:pPr marL="0" lvl="0" indent="0" algn="l" rtl="0">
              <a:spcBef>
                <a:spcPts val="0"/>
              </a:spcBef>
              <a:spcAft>
                <a:spcPts val="0"/>
              </a:spcAft>
              <a:buNone/>
            </a:pPr>
            <a:endParaRPr sz="900">
              <a:solidFill>
                <a:srgbClr val="202123"/>
              </a:solidFill>
              <a:latin typeface="Roboto Light"/>
              <a:ea typeface="Roboto Light"/>
              <a:cs typeface="Roboto Light"/>
              <a:sym typeface="Roboto Light"/>
            </a:endParaRPr>
          </a:p>
          <a:p>
            <a:pPr marL="0" lvl="0" indent="0" algn="l" rtl="0">
              <a:spcBef>
                <a:spcPts val="0"/>
              </a:spcBef>
              <a:spcAft>
                <a:spcPts val="0"/>
              </a:spcAft>
              <a:buNone/>
            </a:pPr>
            <a:r>
              <a:rPr lang="en-GB" sz="900">
                <a:solidFill>
                  <a:srgbClr val="202123"/>
                </a:solidFill>
                <a:latin typeface="Roboto Light"/>
                <a:ea typeface="Roboto Light"/>
                <a:cs typeface="Roboto Light"/>
                <a:sym typeface="Roboto Light"/>
              </a:rPr>
              <a:t>It's already been 3 months since your work contract began, and I'm wondering if you're satisfied with the work-life balance we provide. I'm sure you're just as committed as we are to keeping our employees happy and fulfilled.</a:t>
            </a:r>
            <a:endParaRPr sz="900">
              <a:solidFill>
                <a:srgbClr val="202123"/>
              </a:solidFill>
              <a:latin typeface="Roboto Light"/>
              <a:ea typeface="Roboto Light"/>
              <a:cs typeface="Roboto Light"/>
              <a:sym typeface="Roboto Light"/>
            </a:endParaRPr>
          </a:p>
          <a:p>
            <a:pPr marL="0" lvl="0" indent="0" algn="l" rtl="0">
              <a:spcBef>
                <a:spcPts val="0"/>
              </a:spcBef>
              <a:spcAft>
                <a:spcPts val="0"/>
              </a:spcAft>
              <a:buNone/>
            </a:pPr>
            <a:endParaRPr sz="900">
              <a:solidFill>
                <a:srgbClr val="202123"/>
              </a:solidFill>
              <a:latin typeface="Roboto Light"/>
              <a:ea typeface="Roboto Light"/>
              <a:cs typeface="Roboto Light"/>
              <a:sym typeface="Roboto Light"/>
            </a:endParaRPr>
          </a:p>
          <a:p>
            <a:pPr marL="0" lvl="0" indent="0" algn="l" rtl="0">
              <a:spcBef>
                <a:spcPts val="0"/>
              </a:spcBef>
              <a:spcAft>
                <a:spcPts val="0"/>
              </a:spcAft>
              <a:buNone/>
            </a:pPr>
            <a:r>
              <a:rPr lang="en-GB" sz="900">
                <a:solidFill>
                  <a:srgbClr val="202123"/>
                </a:solidFill>
                <a:latin typeface="Roboto Light"/>
                <a:ea typeface="Roboto Light"/>
                <a:cs typeface="Roboto Light"/>
                <a:sym typeface="Roboto Light"/>
              </a:rPr>
              <a:t>This is a very short survey and it only takes a few minutes to complete.</a:t>
            </a:r>
            <a:endParaRPr sz="900">
              <a:solidFill>
                <a:srgbClr val="202123"/>
              </a:solidFill>
              <a:latin typeface="Roboto Light"/>
              <a:ea typeface="Roboto Light"/>
              <a:cs typeface="Roboto Light"/>
              <a:sym typeface="Roboto Light"/>
            </a:endParaRPr>
          </a:p>
          <a:p>
            <a:pPr marL="0" lvl="0" indent="0" algn="l" rtl="0">
              <a:spcBef>
                <a:spcPts val="0"/>
              </a:spcBef>
              <a:spcAft>
                <a:spcPts val="0"/>
              </a:spcAft>
              <a:buNone/>
            </a:pPr>
            <a:endParaRPr sz="900">
              <a:solidFill>
                <a:srgbClr val="202123"/>
              </a:solidFill>
              <a:latin typeface="Roboto Light"/>
              <a:ea typeface="Roboto Light"/>
              <a:cs typeface="Roboto Light"/>
              <a:sym typeface="Roboto Light"/>
            </a:endParaRPr>
          </a:p>
          <a:p>
            <a:pPr marL="0" lvl="0" indent="0" algn="l" rtl="0">
              <a:spcBef>
                <a:spcPts val="0"/>
              </a:spcBef>
              <a:spcAft>
                <a:spcPts val="0"/>
              </a:spcAft>
              <a:buNone/>
            </a:pPr>
            <a:r>
              <a:rPr lang="en-GB" sz="900">
                <a:solidFill>
                  <a:srgbClr val="202123"/>
                </a:solidFill>
                <a:latin typeface="Roboto Light"/>
                <a:ea typeface="Roboto Light"/>
                <a:cs typeface="Roboto Light"/>
                <a:sym typeface="Roboto Light"/>
              </a:rPr>
              <a:t>You'll find that your responses will help us understand how we can improve your experience with </a:t>
            </a:r>
            <a:r>
              <a:rPr lang="en-GB" sz="900">
                <a:solidFill>
                  <a:srgbClr val="FF0000"/>
                </a:solidFill>
                <a:latin typeface="Roboto Light"/>
                <a:ea typeface="Roboto Light"/>
                <a:cs typeface="Roboto Light"/>
                <a:sym typeface="Roboto Light"/>
              </a:rPr>
              <a:t>Company Y</a:t>
            </a:r>
            <a:r>
              <a:rPr lang="en-GB" sz="900">
                <a:solidFill>
                  <a:srgbClr val="202123"/>
                </a:solidFill>
                <a:latin typeface="Roboto Light"/>
                <a:ea typeface="Roboto Light"/>
                <a:cs typeface="Roboto Light"/>
                <a:sym typeface="Roboto Light"/>
              </a:rPr>
              <a:t>.</a:t>
            </a:r>
            <a:endParaRPr sz="900">
              <a:solidFill>
                <a:srgbClr val="202123"/>
              </a:solidFill>
              <a:latin typeface="Roboto Light"/>
              <a:ea typeface="Roboto Light"/>
              <a:cs typeface="Roboto Light"/>
              <a:sym typeface="Roboto Light"/>
            </a:endParaRPr>
          </a:p>
          <a:p>
            <a:pPr marL="0" lvl="0" indent="0" algn="l" rtl="0">
              <a:spcBef>
                <a:spcPts val="0"/>
              </a:spcBef>
              <a:spcAft>
                <a:spcPts val="0"/>
              </a:spcAft>
              <a:buNone/>
            </a:pPr>
            <a:endParaRPr sz="900">
              <a:solidFill>
                <a:srgbClr val="202123"/>
              </a:solidFill>
              <a:latin typeface="Roboto Light"/>
              <a:ea typeface="Roboto Light"/>
              <a:cs typeface="Roboto Light"/>
              <a:sym typeface="Roboto Light"/>
            </a:endParaRPr>
          </a:p>
          <a:p>
            <a:pPr marL="0" lvl="0" indent="0" algn="l" rtl="0">
              <a:spcBef>
                <a:spcPts val="0"/>
              </a:spcBef>
              <a:spcAft>
                <a:spcPts val="0"/>
              </a:spcAft>
              <a:buNone/>
            </a:pPr>
            <a:r>
              <a:rPr lang="en-GB" sz="900">
                <a:solidFill>
                  <a:srgbClr val="202123"/>
                </a:solidFill>
                <a:latin typeface="Roboto Light"/>
                <a:ea typeface="Roboto Light"/>
                <a:cs typeface="Roboto Light"/>
                <a:sym typeface="Roboto Light"/>
              </a:rPr>
              <a:t>Kind regards,</a:t>
            </a:r>
            <a:endParaRPr sz="900">
              <a:solidFill>
                <a:srgbClr val="202123"/>
              </a:solidFill>
              <a:latin typeface="Roboto Light"/>
              <a:ea typeface="Roboto Light"/>
              <a:cs typeface="Roboto Light"/>
              <a:sym typeface="Roboto Light"/>
            </a:endParaRPr>
          </a:p>
          <a:p>
            <a:pPr marL="0" lvl="0" indent="0" algn="l" rtl="0">
              <a:spcBef>
                <a:spcPts val="0"/>
              </a:spcBef>
              <a:spcAft>
                <a:spcPts val="0"/>
              </a:spcAft>
              <a:buNone/>
            </a:pPr>
            <a:endParaRPr sz="900">
              <a:solidFill>
                <a:srgbClr val="202123"/>
              </a:solidFill>
              <a:latin typeface="Roboto Light"/>
              <a:ea typeface="Roboto Light"/>
              <a:cs typeface="Roboto Light"/>
              <a:sym typeface="Roboto Light"/>
            </a:endParaRPr>
          </a:p>
          <a:p>
            <a:pPr marL="0" lvl="0" indent="0" algn="l" rtl="0">
              <a:spcBef>
                <a:spcPts val="0"/>
              </a:spcBef>
              <a:spcAft>
                <a:spcPts val="0"/>
              </a:spcAft>
              <a:buNone/>
            </a:pPr>
            <a:r>
              <a:rPr lang="en-GB" sz="900">
                <a:solidFill>
                  <a:srgbClr val="202123"/>
                </a:solidFill>
                <a:latin typeface="Roboto Light"/>
                <a:ea typeface="Roboto Light"/>
                <a:cs typeface="Roboto Light"/>
                <a:sym typeface="Roboto Light"/>
              </a:rPr>
              <a:t>John Doe</a:t>
            </a:r>
            <a:endParaRPr sz="900">
              <a:solidFill>
                <a:srgbClr val="202123"/>
              </a:solidFill>
              <a:latin typeface="Roboto Light"/>
              <a:ea typeface="Roboto Light"/>
              <a:cs typeface="Roboto Light"/>
              <a:sym typeface="Roboto Light"/>
            </a:endParaRPr>
          </a:p>
          <a:p>
            <a:pPr marL="0" lvl="0" indent="0" algn="l" rtl="0">
              <a:spcBef>
                <a:spcPts val="0"/>
              </a:spcBef>
              <a:spcAft>
                <a:spcPts val="0"/>
              </a:spcAft>
              <a:buNone/>
            </a:pPr>
            <a:endParaRPr sz="900">
              <a:solidFill>
                <a:srgbClr val="202123"/>
              </a:solidFill>
              <a:latin typeface="Roboto Light"/>
              <a:ea typeface="Roboto Light"/>
              <a:cs typeface="Roboto Light"/>
              <a:sym typeface="Roboto Light"/>
            </a:endParaRPr>
          </a:p>
        </p:txBody>
      </p:sp>
      <p:sp>
        <p:nvSpPr>
          <p:cNvPr id="678" name="Google Shape;678;p61"/>
          <p:cNvSpPr txBox="1"/>
          <p:nvPr/>
        </p:nvSpPr>
        <p:spPr>
          <a:xfrm>
            <a:off x="5958573" y="785475"/>
            <a:ext cx="2828100" cy="30939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GB" sz="900">
                <a:solidFill>
                  <a:srgbClr val="202123"/>
                </a:solidFill>
                <a:latin typeface="Roboto Light"/>
                <a:ea typeface="Roboto Light"/>
                <a:cs typeface="Roboto Light"/>
                <a:sym typeface="Roboto Light"/>
              </a:rPr>
              <a:t>Hi John,</a:t>
            </a:r>
            <a:endParaRPr sz="900">
              <a:solidFill>
                <a:srgbClr val="202123"/>
              </a:solidFill>
              <a:latin typeface="Roboto Light"/>
              <a:ea typeface="Roboto Light"/>
              <a:cs typeface="Roboto Light"/>
              <a:sym typeface="Roboto Light"/>
            </a:endParaRPr>
          </a:p>
          <a:p>
            <a:pPr marL="0" lvl="0" indent="0" algn="l" rtl="0">
              <a:spcBef>
                <a:spcPts val="0"/>
              </a:spcBef>
              <a:spcAft>
                <a:spcPts val="0"/>
              </a:spcAft>
              <a:buNone/>
            </a:pPr>
            <a:endParaRPr sz="900">
              <a:solidFill>
                <a:srgbClr val="202123"/>
              </a:solidFill>
              <a:latin typeface="Roboto Light"/>
              <a:ea typeface="Roboto Light"/>
              <a:cs typeface="Roboto Light"/>
              <a:sym typeface="Roboto Light"/>
            </a:endParaRPr>
          </a:p>
          <a:p>
            <a:pPr marL="0" lvl="0" indent="0" algn="l" rtl="0">
              <a:spcBef>
                <a:spcPts val="0"/>
              </a:spcBef>
              <a:spcAft>
                <a:spcPts val="0"/>
              </a:spcAft>
              <a:buNone/>
            </a:pPr>
            <a:r>
              <a:rPr lang="en-GB" sz="900">
                <a:solidFill>
                  <a:srgbClr val="202123"/>
                </a:solidFill>
                <a:latin typeface="Roboto Light"/>
                <a:ea typeface="Roboto Light"/>
                <a:cs typeface="Roboto Light"/>
                <a:sym typeface="Roboto Light"/>
              </a:rPr>
              <a:t>Your profile has caught our attention. Your domain expertise in technology is someone whom my client is looking for. As such, I would like to share an upcoming opportunity with you. </a:t>
            </a:r>
            <a:endParaRPr sz="900">
              <a:solidFill>
                <a:srgbClr val="202123"/>
              </a:solidFill>
              <a:latin typeface="Roboto Light"/>
              <a:ea typeface="Roboto Light"/>
              <a:cs typeface="Roboto Light"/>
              <a:sym typeface="Roboto Light"/>
            </a:endParaRPr>
          </a:p>
          <a:p>
            <a:pPr marL="0" lvl="0" indent="0" algn="l" rtl="0">
              <a:spcBef>
                <a:spcPts val="0"/>
              </a:spcBef>
              <a:spcAft>
                <a:spcPts val="0"/>
              </a:spcAft>
              <a:buNone/>
            </a:pPr>
            <a:endParaRPr sz="900">
              <a:solidFill>
                <a:srgbClr val="202123"/>
              </a:solidFill>
              <a:latin typeface="Roboto Light"/>
              <a:ea typeface="Roboto Light"/>
              <a:cs typeface="Roboto Light"/>
              <a:sym typeface="Roboto Light"/>
            </a:endParaRPr>
          </a:p>
          <a:p>
            <a:pPr marL="0" lvl="0" indent="0" algn="l" rtl="0">
              <a:spcBef>
                <a:spcPts val="0"/>
              </a:spcBef>
              <a:spcAft>
                <a:spcPts val="0"/>
              </a:spcAft>
              <a:buNone/>
            </a:pPr>
            <a:r>
              <a:rPr lang="en-GB" sz="900">
                <a:solidFill>
                  <a:srgbClr val="202123"/>
                </a:solidFill>
                <a:latin typeface="Roboto Light"/>
                <a:ea typeface="Roboto Light"/>
                <a:cs typeface="Roboto Light"/>
                <a:sym typeface="Roboto Light"/>
              </a:rPr>
              <a:t>However, before I can share any further, I will need you to sign up this Non-Disclosure Agreement (NDA) document attached in this email.</a:t>
            </a:r>
            <a:endParaRPr sz="900">
              <a:solidFill>
                <a:srgbClr val="202123"/>
              </a:solidFill>
              <a:latin typeface="Roboto Light"/>
              <a:ea typeface="Roboto Light"/>
              <a:cs typeface="Roboto Light"/>
              <a:sym typeface="Roboto Light"/>
            </a:endParaRPr>
          </a:p>
          <a:p>
            <a:pPr marL="0" lvl="0" indent="0" algn="l" rtl="0">
              <a:spcBef>
                <a:spcPts val="0"/>
              </a:spcBef>
              <a:spcAft>
                <a:spcPts val="0"/>
              </a:spcAft>
              <a:buNone/>
            </a:pPr>
            <a:endParaRPr sz="900">
              <a:solidFill>
                <a:srgbClr val="202123"/>
              </a:solidFill>
              <a:latin typeface="Roboto Light"/>
              <a:ea typeface="Roboto Light"/>
              <a:cs typeface="Roboto Light"/>
              <a:sym typeface="Roboto Light"/>
            </a:endParaRPr>
          </a:p>
          <a:p>
            <a:pPr marL="0" lvl="0" indent="0" algn="l" rtl="0">
              <a:spcBef>
                <a:spcPts val="0"/>
              </a:spcBef>
              <a:spcAft>
                <a:spcPts val="0"/>
              </a:spcAft>
              <a:buNone/>
            </a:pPr>
            <a:r>
              <a:rPr lang="en-GB" sz="900">
                <a:solidFill>
                  <a:srgbClr val="202123"/>
                </a:solidFill>
                <a:latin typeface="Roboto Light"/>
                <a:ea typeface="Roboto Light"/>
                <a:cs typeface="Roboto Light"/>
                <a:sym typeface="Roboto Light"/>
              </a:rPr>
              <a:t>The upcoming opportunity which I will be sharing is of high business sensitivity and I would appreciate if you do not share with anyone on this matter. As this opportunity is time critical, we do hope to hear from you soon!</a:t>
            </a:r>
            <a:endParaRPr sz="900">
              <a:solidFill>
                <a:srgbClr val="202123"/>
              </a:solidFill>
              <a:latin typeface="Roboto Light"/>
              <a:ea typeface="Roboto Light"/>
              <a:cs typeface="Roboto Light"/>
              <a:sym typeface="Roboto Light"/>
            </a:endParaRPr>
          </a:p>
          <a:p>
            <a:pPr marL="0" lvl="0" indent="0" algn="l" rtl="0">
              <a:spcBef>
                <a:spcPts val="0"/>
              </a:spcBef>
              <a:spcAft>
                <a:spcPts val="0"/>
              </a:spcAft>
              <a:buNone/>
            </a:pPr>
            <a:endParaRPr sz="900">
              <a:solidFill>
                <a:srgbClr val="202123"/>
              </a:solidFill>
              <a:latin typeface="Roboto Light"/>
              <a:ea typeface="Roboto Light"/>
              <a:cs typeface="Roboto Light"/>
              <a:sym typeface="Roboto Light"/>
            </a:endParaRPr>
          </a:p>
          <a:p>
            <a:pPr marL="0" lvl="0" indent="0" algn="l" rtl="0">
              <a:spcBef>
                <a:spcPts val="0"/>
              </a:spcBef>
              <a:spcAft>
                <a:spcPts val="0"/>
              </a:spcAft>
              <a:buNone/>
            </a:pPr>
            <a:r>
              <a:rPr lang="en-GB" sz="900">
                <a:solidFill>
                  <a:srgbClr val="202123"/>
                </a:solidFill>
                <a:latin typeface="Roboto Light"/>
                <a:ea typeface="Roboto Light"/>
                <a:cs typeface="Roboto Light"/>
                <a:sym typeface="Roboto Light"/>
              </a:rPr>
              <a:t>Sincerely,</a:t>
            </a:r>
            <a:endParaRPr sz="900">
              <a:solidFill>
                <a:srgbClr val="202123"/>
              </a:solidFill>
              <a:latin typeface="Roboto Light"/>
              <a:ea typeface="Roboto Light"/>
              <a:cs typeface="Roboto Light"/>
              <a:sym typeface="Roboto Light"/>
            </a:endParaRPr>
          </a:p>
          <a:p>
            <a:pPr marL="0" lvl="0" indent="0" algn="l" rtl="0">
              <a:spcBef>
                <a:spcPts val="0"/>
              </a:spcBef>
              <a:spcAft>
                <a:spcPts val="0"/>
              </a:spcAft>
              <a:buNone/>
            </a:pPr>
            <a:endParaRPr sz="900">
              <a:solidFill>
                <a:srgbClr val="202123"/>
              </a:solidFill>
              <a:latin typeface="Roboto Light"/>
              <a:ea typeface="Roboto Light"/>
              <a:cs typeface="Roboto Light"/>
              <a:sym typeface="Roboto Light"/>
            </a:endParaRPr>
          </a:p>
          <a:p>
            <a:pPr marL="0" lvl="0" indent="0" algn="l" rtl="0">
              <a:spcBef>
                <a:spcPts val="0"/>
              </a:spcBef>
              <a:spcAft>
                <a:spcPts val="0"/>
              </a:spcAft>
              <a:buNone/>
            </a:pPr>
            <a:r>
              <a:rPr lang="en-GB" sz="900">
                <a:solidFill>
                  <a:srgbClr val="202123"/>
                </a:solidFill>
                <a:latin typeface="Roboto Light"/>
                <a:ea typeface="Roboto Light"/>
                <a:cs typeface="Roboto Light"/>
                <a:sym typeface="Roboto Light"/>
              </a:rPr>
              <a:t>John Doe</a:t>
            </a:r>
            <a:endParaRPr sz="900">
              <a:solidFill>
                <a:srgbClr val="202123"/>
              </a:solidFill>
              <a:latin typeface="Roboto Light"/>
              <a:ea typeface="Roboto Light"/>
              <a:cs typeface="Roboto Light"/>
              <a:sym typeface="Roboto Light"/>
            </a:endParaRPr>
          </a:p>
          <a:p>
            <a:pPr marL="0" lvl="0" indent="0" algn="l" rtl="0">
              <a:spcBef>
                <a:spcPts val="0"/>
              </a:spcBef>
              <a:spcAft>
                <a:spcPts val="0"/>
              </a:spcAft>
              <a:buNone/>
            </a:pPr>
            <a:endParaRPr sz="900">
              <a:solidFill>
                <a:srgbClr val="202123"/>
              </a:solidFill>
              <a:latin typeface="Roboto Light"/>
              <a:ea typeface="Roboto Light"/>
              <a:cs typeface="Roboto Light"/>
              <a:sym typeface="Roboto Light"/>
            </a:endParaRPr>
          </a:p>
        </p:txBody>
      </p:sp>
      <p:grpSp>
        <p:nvGrpSpPr>
          <p:cNvPr id="679" name="Google Shape;679;p61"/>
          <p:cNvGrpSpPr/>
          <p:nvPr/>
        </p:nvGrpSpPr>
        <p:grpSpPr>
          <a:xfrm>
            <a:off x="143713" y="4268750"/>
            <a:ext cx="6778565" cy="431100"/>
            <a:chOff x="365025" y="4289550"/>
            <a:chExt cx="7936500" cy="431100"/>
          </a:xfrm>
        </p:grpSpPr>
        <p:sp>
          <p:nvSpPr>
            <p:cNvPr id="680" name="Google Shape;680;p61"/>
            <p:cNvSpPr/>
            <p:nvPr/>
          </p:nvSpPr>
          <p:spPr>
            <a:xfrm>
              <a:off x="365025" y="4294350"/>
              <a:ext cx="7936500" cy="393600"/>
            </a:xfrm>
            <a:prstGeom prst="rect">
              <a:avLst/>
            </a:prstGeom>
            <a:solidFill>
              <a:srgbClr val="0095AF"/>
            </a:solidFill>
            <a:ln w="9525" cap="flat" cmpd="sng">
              <a:solidFill>
                <a:srgbClr val="0095AF"/>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1200"/>
                </a:spcAft>
                <a:buNone/>
              </a:pPr>
              <a:endParaRPr sz="1800">
                <a:latin typeface="Roboto"/>
                <a:ea typeface="Roboto"/>
                <a:cs typeface="Roboto"/>
                <a:sym typeface="Roboto"/>
              </a:endParaRPr>
            </a:p>
          </p:txBody>
        </p:sp>
        <p:sp>
          <p:nvSpPr>
            <p:cNvPr id="681" name="Google Shape;681;p61"/>
            <p:cNvSpPr txBox="1"/>
            <p:nvPr/>
          </p:nvSpPr>
          <p:spPr>
            <a:xfrm>
              <a:off x="408978" y="4289550"/>
              <a:ext cx="7848600" cy="4311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GB" sz="1600">
                  <a:solidFill>
                    <a:schemeClr val="lt1"/>
                  </a:solidFill>
                  <a:latin typeface="Roboto"/>
                  <a:ea typeface="Roboto"/>
                  <a:cs typeface="Roboto"/>
                  <a:sym typeface="Roboto"/>
                </a:rPr>
                <a:t>Try figuring out which piece is generated by AI</a:t>
              </a:r>
              <a:endParaRPr sz="1600">
                <a:solidFill>
                  <a:schemeClr val="lt1"/>
                </a:solidFill>
                <a:latin typeface="Roboto"/>
                <a:ea typeface="Roboto"/>
                <a:cs typeface="Roboto"/>
                <a:sym typeface="Roboto"/>
              </a:endParaRPr>
            </a:p>
          </p:txBody>
        </p:sp>
      </p:grpSp>
      <p:sp>
        <p:nvSpPr>
          <p:cNvPr id="682" name="Google Shape;682;p61"/>
          <p:cNvSpPr txBox="1"/>
          <p:nvPr/>
        </p:nvSpPr>
        <p:spPr>
          <a:xfrm>
            <a:off x="143725" y="3851850"/>
            <a:ext cx="2828100" cy="3231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GB" sz="900" i="1">
                <a:solidFill>
                  <a:schemeClr val="dk2"/>
                </a:solidFill>
                <a:latin typeface="Roboto Light"/>
                <a:ea typeface="Roboto Light"/>
                <a:cs typeface="Roboto Light"/>
                <a:sym typeface="Roboto Light"/>
              </a:rPr>
              <a:t>Sample A</a:t>
            </a:r>
            <a:endParaRPr sz="900">
              <a:latin typeface="Roboto"/>
              <a:ea typeface="Roboto"/>
              <a:cs typeface="Roboto"/>
              <a:sym typeface="Roboto"/>
            </a:endParaRPr>
          </a:p>
        </p:txBody>
      </p:sp>
      <p:sp>
        <p:nvSpPr>
          <p:cNvPr id="683" name="Google Shape;683;p61"/>
          <p:cNvSpPr txBox="1"/>
          <p:nvPr/>
        </p:nvSpPr>
        <p:spPr>
          <a:xfrm>
            <a:off x="3039325" y="3851850"/>
            <a:ext cx="2828100" cy="3231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GB" sz="900" i="1">
                <a:solidFill>
                  <a:schemeClr val="dk2"/>
                </a:solidFill>
                <a:latin typeface="Roboto Light"/>
                <a:ea typeface="Roboto Light"/>
                <a:cs typeface="Roboto Light"/>
                <a:sym typeface="Roboto Light"/>
              </a:rPr>
              <a:t>Sample B</a:t>
            </a:r>
            <a:endParaRPr sz="900">
              <a:latin typeface="Roboto"/>
              <a:ea typeface="Roboto"/>
              <a:cs typeface="Roboto"/>
              <a:sym typeface="Roboto"/>
            </a:endParaRPr>
          </a:p>
        </p:txBody>
      </p:sp>
      <p:sp>
        <p:nvSpPr>
          <p:cNvPr id="684" name="Google Shape;684;p61"/>
          <p:cNvSpPr txBox="1"/>
          <p:nvPr/>
        </p:nvSpPr>
        <p:spPr>
          <a:xfrm>
            <a:off x="5934925" y="3851850"/>
            <a:ext cx="2828100" cy="3231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GB" sz="900" i="1">
                <a:solidFill>
                  <a:schemeClr val="dk2"/>
                </a:solidFill>
                <a:latin typeface="Roboto Light"/>
                <a:ea typeface="Roboto Light"/>
                <a:cs typeface="Roboto Light"/>
                <a:sym typeface="Roboto Light"/>
              </a:rPr>
              <a:t>Sample C</a:t>
            </a:r>
            <a:endParaRPr sz="900">
              <a:latin typeface="Roboto"/>
              <a:ea typeface="Roboto"/>
              <a:cs typeface="Roboto"/>
              <a:sym typeface="Roboto"/>
            </a:endParaRPr>
          </a:p>
        </p:txBody>
      </p:sp>
      <p:sp>
        <p:nvSpPr>
          <p:cNvPr id="685" name="Google Shape;685;p61"/>
          <p:cNvSpPr txBox="1"/>
          <p:nvPr/>
        </p:nvSpPr>
        <p:spPr>
          <a:xfrm>
            <a:off x="7537775" y="4322750"/>
            <a:ext cx="12489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900">
                <a:solidFill>
                  <a:srgbClr val="FF0000"/>
                </a:solidFill>
                <a:latin typeface="Roboto"/>
                <a:ea typeface="Roboto"/>
                <a:cs typeface="Roboto"/>
                <a:sym typeface="Roboto"/>
              </a:rPr>
              <a:t>Text - </a:t>
            </a:r>
            <a:r>
              <a:rPr lang="en-GB" sz="900">
                <a:solidFill>
                  <a:schemeClr val="dk1"/>
                </a:solidFill>
                <a:latin typeface="Roboto"/>
                <a:ea typeface="Roboto"/>
                <a:cs typeface="Roboto"/>
                <a:sym typeface="Roboto"/>
              </a:rPr>
              <a:t>Redacted Text</a:t>
            </a:r>
            <a:endParaRPr sz="900">
              <a:solidFill>
                <a:schemeClr val="dk1"/>
              </a:solidFill>
              <a:latin typeface="Roboto"/>
              <a:ea typeface="Roboto"/>
              <a:cs typeface="Roboto"/>
              <a:sym typeface="Roboto"/>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89"/>
        <p:cNvGrpSpPr/>
        <p:nvPr/>
      </p:nvGrpSpPr>
      <p:grpSpPr>
        <a:xfrm>
          <a:off x="0" y="0"/>
          <a:ext cx="0" cy="0"/>
          <a:chOff x="0" y="0"/>
          <a:chExt cx="0" cy="0"/>
        </a:xfrm>
      </p:grpSpPr>
      <p:sp>
        <p:nvSpPr>
          <p:cNvPr id="690" name="Google Shape;690;p62"/>
          <p:cNvSpPr/>
          <p:nvPr/>
        </p:nvSpPr>
        <p:spPr>
          <a:xfrm>
            <a:off x="0" y="120875"/>
            <a:ext cx="5819700" cy="402600"/>
          </a:xfrm>
          <a:prstGeom prst="rect">
            <a:avLst/>
          </a:prstGeom>
          <a:gradFill>
            <a:gsLst>
              <a:gs pos="0">
                <a:srgbClr val="00C0F3"/>
              </a:gs>
              <a:gs pos="100000">
                <a:srgbClr val="008E4E"/>
              </a:gs>
            </a:gsLst>
            <a:lin ang="270000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Lucida Sans"/>
              <a:ea typeface="Lucida Sans"/>
              <a:cs typeface="Lucida Sans"/>
              <a:sym typeface="Lucida Sans"/>
            </a:endParaRPr>
          </a:p>
        </p:txBody>
      </p:sp>
      <p:sp>
        <p:nvSpPr>
          <p:cNvPr id="691" name="Google Shape;691;p6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44</a:t>
            </a:fld>
            <a:endParaRPr/>
          </a:p>
        </p:txBody>
      </p:sp>
      <p:sp>
        <p:nvSpPr>
          <p:cNvPr id="692" name="Google Shape;692;p62"/>
          <p:cNvSpPr txBox="1">
            <a:spLocks noGrp="1"/>
          </p:cNvSpPr>
          <p:nvPr>
            <p:ph type="title"/>
          </p:nvPr>
        </p:nvSpPr>
        <p:spPr>
          <a:xfrm>
            <a:off x="311700" y="73175"/>
            <a:ext cx="5508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Using OpenAI’s GPT3 To Detect Synthetic Text</a:t>
            </a:r>
            <a:endParaRPr/>
          </a:p>
        </p:txBody>
      </p:sp>
      <p:sp>
        <p:nvSpPr>
          <p:cNvPr id="693" name="Google Shape;693;p62"/>
          <p:cNvSpPr txBox="1"/>
          <p:nvPr/>
        </p:nvSpPr>
        <p:spPr>
          <a:xfrm>
            <a:off x="143725" y="861675"/>
            <a:ext cx="2828100" cy="30939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GB" sz="900">
                <a:solidFill>
                  <a:srgbClr val="202123"/>
                </a:solidFill>
                <a:latin typeface="Roboto Light"/>
                <a:ea typeface="Roboto Light"/>
                <a:cs typeface="Roboto Light"/>
                <a:sym typeface="Roboto Light"/>
              </a:rPr>
              <a:t>Dear John Doe, </a:t>
            </a:r>
            <a:endParaRPr sz="900">
              <a:solidFill>
                <a:srgbClr val="202123"/>
              </a:solidFill>
              <a:latin typeface="Roboto Light"/>
              <a:ea typeface="Roboto Light"/>
              <a:cs typeface="Roboto Light"/>
              <a:sym typeface="Roboto Light"/>
            </a:endParaRPr>
          </a:p>
          <a:p>
            <a:pPr marL="0" lvl="0" indent="0" algn="l" rtl="0">
              <a:spcBef>
                <a:spcPts val="0"/>
              </a:spcBef>
              <a:spcAft>
                <a:spcPts val="0"/>
              </a:spcAft>
              <a:buClr>
                <a:schemeClr val="dk1"/>
              </a:buClr>
              <a:buSzPts val="1100"/>
              <a:buFont typeface="Arial"/>
              <a:buNone/>
            </a:pPr>
            <a:endParaRPr sz="900">
              <a:solidFill>
                <a:srgbClr val="202123"/>
              </a:solidFill>
              <a:latin typeface="Roboto Light"/>
              <a:ea typeface="Roboto Light"/>
              <a:cs typeface="Roboto Light"/>
              <a:sym typeface="Roboto Light"/>
            </a:endParaRPr>
          </a:p>
          <a:p>
            <a:pPr marL="0" lvl="0" indent="0" algn="l" rtl="0">
              <a:spcBef>
                <a:spcPts val="0"/>
              </a:spcBef>
              <a:spcAft>
                <a:spcPts val="0"/>
              </a:spcAft>
              <a:buClr>
                <a:schemeClr val="dk1"/>
              </a:buClr>
              <a:buSzPts val="1100"/>
              <a:buFont typeface="Arial"/>
              <a:buNone/>
            </a:pPr>
            <a:r>
              <a:rPr lang="en-GB" sz="900">
                <a:solidFill>
                  <a:srgbClr val="202123"/>
                </a:solidFill>
                <a:latin typeface="Roboto Light"/>
                <a:ea typeface="Roboto Light"/>
                <a:cs typeface="Roboto Light"/>
                <a:sym typeface="Roboto Light"/>
              </a:rPr>
              <a:t>We hope that you are well. </a:t>
            </a:r>
            <a:endParaRPr sz="900">
              <a:solidFill>
                <a:srgbClr val="202123"/>
              </a:solidFill>
              <a:latin typeface="Roboto Light"/>
              <a:ea typeface="Roboto Light"/>
              <a:cs typeface="Roboto Light"/>
              <a:sym typeface="Roboto Light"/>
            </a:endParaRPr>
          </a:p>
          <a:p>
            <a:pPr marL="0" lvl="0" indent="0" algn="l" rtl="0">
              <a:spcBef>
                <a:spcPts val="0"/>
              </a:spcBef>
              <a:spcAft>
                <a:spcPts val="0"/>
              </a:spcAft>
              <a:buClr>
                <a:schemeClr val="dk1"/>
              </a:buClr>
              <a:buSzPts val="1100"/>
              <a:buFont typeface="Arial"/>
              <a:buNone/>
            </a:pPr>
            <a:endParaRPr sz="900">
              <a:solidFill>
                <a:srgbClr val="202123"/>
              </a:solidFill>
              <a:latin typeface="Roboto Light"/>
              <a:ea typeface="Roboto Light"/>
              <a:cs typeface="Roboto Light"/>
              <a:sym typeface="Roboto Light"/>
            </a:endParaRPr>
          </a:p>
          <a:p>
            <a:pPr marL="0" lvl="0" indent="0" algn="l" rtl="0">
              <a:spcBef>
                <a:spcPts val="0"/>
              </a:spcBef>
              <a:spcAft>
                <a:spcPts val="0"/>
              </a:spcAft>
              <a:buClr>
                <a:schemeClr val="dk1"/>
              </a:buClr>
              <a:buSzPts val="1100"/>
              <a:buFont typeface="Arial"/>
              <a:buNone/>
            </a:pPr>
            <a:r>
              <a:rPr lang="en-GB" sz="900">
                <a:solidFill>
                  <a:srgbClr val="202123"/>
                </a:solidFill>
                <a:latin typeface="Roboto Light"/>
                <a:ea typeface="Roboto Light"/>
                <a:cs typeface="Roboto Light"/>
                <a:sym typeface="Roboto Light"/>
              </a:rPr>
              <a:t>We have a form for you to complete in order to be a part of </a:t>
            </a:r>
            <a:r>
              <a:rPr lang="en-GB" sz="900">
                <a:solidFill>
                  <a:srgbClr val="FF0000"/>
                </a:solidFill>
                <a:latin typeface="Roboto Light"/>
                <a:ea typeface="Roboto Light"/>
                <a:cs typeface="Roboto Light"/>
                <a:sym typeface="Roboto Light"/>
              </a:rPr>
              <a:t>Company Y</a:t>
            </a:r>
            <a:r>
              <a:rPr lang="en-GB" sz="900">
                <a:solidFill>
                  <a:srgbClr val="202123"/>
                </a:solidFill>
                <a:latin typeface="Roboto Light"/>
                <a:ea typeface="Roboto Light"/>
                <a:cs typeface="Roboto Light"/>
                <a:sym typeface="Roboto Light"/>
              </a:rPr>
              <a:t>. Please take a look at the attached form. This form is done to review your personal information and background. It is important for us to know you better in order for us to confidently assist us in recruiting you. </a:t>
            </a:r>
            <a:endParaRPr sz="900">
              <a:solidFill>
                <a:srgbClr val="202123"/>
              </a:solidFill>
              <a:latin typeface="Roboto Light"/>
              <a:ea typeface="Roboto Light"/>
              <a:cs typeface="Roboto Light"/>
              <a:sym typeface="Roboto Light"/>
            </a:endParaRPr>
          </a:p>
          <a:p>
            <a:pPr marL="0" lvl="0" indent="0" algn="l" rtl="0">
              <a:spcBef>
                <a:spcPts val="0"/>
              </a:spcBef>
              <a:spcAft>
                <a:spcPts val="0"/>
              </a:spcAft>
              <a:buClr>
                <a:schemeClr val="dk1"/>
              </a:buClr>
              <a:buSzPts val="1100"/>
              <a:buFont typeface="Arial"/>
              <a:buNone/>
            </a:pPr>
            <a:endParaRPr sz="900">
              <a:solidFill>
                <a:srgbClr val="202123"/>
              </a:solidFill>
              <a:latin typeface="Roboto Light"/>
              <a:ea typeface="Roboto Light"/>
              <a:cs typeface="Roboto Light"/>
              <a:sym typeface="Roboto Light"/>
            </a:endParaRPr>
          </a:p>
          <a:p>
            <a:pPr marL="0" lvl="0" indent="0" algn="l" rtl="0">
              <a:spcBef>
                <a:spcPts val="0"/>
              </a:spcBef>
              <a:spcAft>
                <a:spcPts val="0"/>
              </a:spcAft>
              <a:buClr>
                <a:schemeClr val="dk1"/>
              </a:buClr>
              <a:buSzPts val="1100"/>
              <a:buFont typeface="Arial"/>
              <a:buNone/>
            </a:pPr>
            <a:r>
              <a:rPr lang="en-GB" sz="900">
                <a:solidFill>
                  <a:srgbClr val="202123"/>
                </a:solidFill>
                <a:latin typeface="Roboto Light"/>
                <a:ea typeface="Roboto Light"/>
                <a:cs typeface="Roboto Light"/>
                <a:sym typeface="Roboto Light"/>
              </a:rPr>
              <a:t>We would like you to review the attached form and fill it up based on the information you have. We hope that you will be able to fulfil this form and provide us with the required information. </a:t>
            </a:r>
            <a:endParaRPr sz="900">
              <a:solidFill>
                <a:srgbClr val="202123"/>
              </a:solidFill>
              <a:latin typeface="Roboto Light"/>
              <a:ea typeface="Roboto Light"/>
              <a:cs typeface="Roboto Light"/>
              <a:sym typeface="Roboto Light"/>
            </a:endParaRPr>
          </a:p>
          <a:p>
            <a:pPr marL="0" lvl="0" indent="0" algn="l" rtl="0">
              <a:spcBef>
                <a:spcPts val="0"/>
              </a:spcBef>
              <a:spcAft>
                <a:spcPts val="0"/>
              </a:spcAft>
              <a:buClr>
                <a:schemeClr val="dk1"/>
              </a:buClr>
              <a:buSzPts val="1100"/>
              <a:buFont typeface="Arial"/>
              <a:buNone/>
            </a:pPr>
            <a:endParaRPr sz="900">
              <a:solidFill>
                <a:srgbClr val="202123"/>
              </a:solidFill>
              <a:latin typeface="Roboto Light"/>
              <a:ea typeface="Roboto Light"/>
              <a:cs typeface="Roboto Light"/>
              <a:sym typeface="Roboto Light"/>
            </a:endParaRPr>
          </a:p>
          <a:p>
            <a:pPr marL="0" lvl="0" indent="0" algn="l" rtl="0">
              <a:spcBef>
                <a:spcPts val="0"/>
              </a:spcBef>
              <a:spcAft>
                <a:spcPts val="0"/>
              </a:spcAft>
              <a:buClr>
                <a:schemeClr val="dk1"/>
              </a:buClr>
              <a:buSzPts val="1100"/>
              <a:buFont typeface="Arial"/>
              <a:buNone/>
            </a:pPr>
            <a:r>
              <a:rPr lang="en-GB" sz="900">
                <a:solidFill>
                  <a:srgbClr val="202123"/>
                </a:solidFill>
                <a:latin typeface="Roboto Light"/>
                <a:ea typeface="Roboto Light"/>
                <a:cs typeface="Roboto Light"/>
                <a:sym typeface="Roboto Light"/>
              </a:rPr>
              <a:t>We look forward to hearing from you soon. </a:t>
            </a:r>
            <a:endParaRPr sz="900">
              <a:solidFill>
                <a:srgbClr val="202123"/>
              </a:solidFill>
              <a:latin typeface="Roboto Light"/>
              <a:ea typeface="Roboto Light"/>
              <a:cs typeface="Roboto Light"/>
              <a:sym typeface="Roboto Light"/>
            </a:endParaRPr>
          </a:p>
          <a:p>
            <a:pPr marL="0" lvl="0" indent="0" algn="l" rtl="0">
              <a:spcBef>
                <a:spcPts val="0"/>
              </a:spcBef>
              <a:spcAft>
                <a:spcPts val="0"/>
              </a:spcAft>
              <a:buClr>
                <a:schemeClr val="dk1"/>
              </a:buClr>
              <a:buSzPts val="1100"/>
              <a:buFont typeface="Arial"/>
              <a:buNone/>
            </a:pPr>
            <a:endParaRPr sz="900">
              <a:solidFill>
                <a:srgbClr val="202123"/>
              </a:solidFill>
              <a:latin typeface="Roboto Light"/>
              <a:ea typeface="Roboto Light"/>
              <a:cs typeface="Roboto Light"/>
              <a:sym typeface="Roboto Light"/>
            </a:endParaRPr>
          </a:p>
          <a:p>
            <a:pPr marL="0" lvl="0" indent="0" algn="l" rtl="0">
              <a:spcBef>
                <a:spcPts val="0"/>
              </a:spcBef>
              <a:spcAft>
                <a:spcPts val="0"/>
              </a:spcAft>
              <a:buClr>
                <a:schemeClr val="dk1"/>
              </a:buClr>
              <a:buSzPts val="1100"/>
              <a:buFont typeface="Arial"/>
              <a:buNone/>
            </a:pPr>
            <a:r>
              <a:rPr lang="en-GB" sz="900">
                <a:solidFill>
                  <a:srgbClr val="202123"/>
                </a:solidFill>
                <a:latin typeface="Roboto Light"/>
                <a:ea typeface="Roboto Light"/>
                <a:cs typeface="Roboto Light"/>
                <a:sym typeface="Roboto Light"/>
              </a:rPr>
              <a:t>Best Regards, </a:t>
            </a:r>
            <a:endParaRPr sz="900">
              <a:solidFill>
                <a:srgbClr val="202123"/>
              </a:solidFill>
              <a:latin typeface="Roboto Light"/>
              <a:ea typeface="Roboto Light"/>
              <a:cs typeface="Roboto Light"/>
              <a:sym typeface="Roboto Light"/>
            </a:endParaRPr>
          </a:p>
          <a:p>
            <a:pPr marL="0" lvl="0" indent="0" algn="l" rtl="0">
              <a:spcBef>
                <a:spcPts val="0"/>
              </a:spcBef>
              <a:spcAft>
                <a:spcPts val="0"/>
              </a:spcAft>
              <a:buClr>
                <a:schemeClr val="dk1"/>
              </a:buClr>
              <a:buSzPts val="1100"/>
              <a:buFont typeface="Arial"/>
              <a:buNone/>
            </a:pPr>
            <a:endParaRPr sz="900">
              <a:solidFill>
                <a:srgbClr val="202123"/>
              </a:solidFill>
              <a:latin typeface="Roboto Light"/>
              <a:ea typeface="Roboto Light"/>
              <a:cs typeface="Roboto Light"/>
              <a:sym typeface="Roboto Light"/>
            </a:endParaRPr>
          </a:p>
          <a:p>
            <a:pPr marL="0" lvl="0" indent="0" algn="l" rtl="0">
              <a:spcBef>
                <a:spcPts val="0"/>
              </a:spcBef>
              <a:spcAft>
                <a:spcPts val="0"/>
              </a:spcAft>
              <a:buNone/>
            </a:pPr>
            <a:r>
              <a:rPr lang="en-GB" sz="900">
                <a:solidFill>
                  <a:srgbClr val="202123"/>
                </a:solidFill>
                <a:latin typeface="Roboto Light"/>
                <a:ea typeface="Roboto Light"/>
                <a:cs typeface="Roboto Light"/>
                <a:sym typeface="Roboto Light"/>
              </a:rPr>
              <a:t>John</a:t>
            </a:r>
            <a:endParaRPr sz="900">
              <a:solidFill>
                <a:srgbClr val="202123"/>
              </a:solidFill>
              <a:latin typeface="Roboto Light"/>
              <a:ea typeface="Roboto Light"/>
              <a:cs typeface="Roboto Light"/>
              <a:sym typeface="Roboto Light"/>
            </a:endParaRPr>
          </a:p>
        </p:txBody>
      </p:sp>
      <p:pic>
        <p:nvPicPr>
          <p:cNvPr id="694" name="Google Shape;694;p62"/>
          <p:cNvPicPr preferRelativeResize="0"/>
          <p:nvPr/>
        </p:nvPicPr>
        <p:blipFill>
          <a:blip r:embed="rId3">
            <a:alphaModFix/>
          </a:blip>
          <a:stretch>
            <a:fillRect/>
          </a:stretch>
        </p:blipFill>
        <p:spPr>
          <a:xfrm>
            <a:off x="3086199" y="850625"/>
            <a:ext cx="5934952" cy="3181151"/>
          </a:xfrm>
          <a:prstGeom prst="rect">
            <a:avLst/>
          </a:prstGeom>
          <a:noFill/>
          <a:ln>
            <a:noFill/>
          </a:ln>
        </p:spPr>
      </p:pic>
      <p:grpSp>
        <p:nvGrpSpPr>
          <p:cNvPr id="695" name="Google Shape;695;p62"/>
          <p:cNvGrpSpPr/>
          <p:nvPr/>
        </p:nvGrpSpPr>
        <p:grpSpPr>
          <a:xfrm>
            <a:off x="540443" y="4229700"/>
            <a:ext cx="2065077" cy="431100"/>
            <a:chOff x="365025" y="4289550"/>
            <a:chExt cx="7936500" cy="431100"/>
          </a:xfrm>
        </p:grpSpPr>
        <p:sp>
          <p:nvSpPr>
            <p:cNvPr id="696" name="Google Shape;696;p62"/>
            <p:cNvSpPr/>
            <p:nvPr/>
          </p:nvSpPr>
          <p:spPr>
            <a:xfrm>
              <a:off x="365025" y="4294350"/>
              <a:ext cx="7936500" cy="393600"/>
            </a:xfrm>
            <a:prstGeom prst="rect">
              <a:avLst/>
            </a:prstGeom>
            <a:solidFill>
              <a:srgbClr val="0095AF"/>
            </a:solidFill>
            <a:ln w="9525" cap="flat" cmpd="sng">
              <a:solidFill>
                <a:srgbClr val="0095AF"/>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1200"/>
                </a:spcAft>
                <a:buNone/>
              </a:pPr>
              <a:endParaRPr sz="1800">
                <a:latin typeface="Roboto"/>
                <a:ea typeface="Roboto"/>
                <a:cs typeface="Roboto"/>
                <a:sym typeface="Roboto"/>
              </a:endParaRPr>
            </a:p>
          </p:txBody>
        </p:sp>
        <p:sp>
          <p:nvSpPr>
            <p:cNvPr id="697" name="Google Shape;697;p62"/>
            <p:cNvSpPr txBox="1"/>
            <p:nvPr/>
          </p:nvSpPr>
          <p:spPr>
            <a:xfrm>
              <a:off x="408978" y="4289550"/>
              <a:ext cx="7848600" cy="4311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GB" sz="1600">
                  <a:solidFill>
                    <a:schemeClr val="lt1"/>
                  </a:solidFill>
                  <a:latin typeface="Roboto"/>
                  <a:ea typeface="Roboto"/>
                  <a:cs typeface="Roboto"/>
                  <a:sym typeface="Roboto"/>
                </a:rPr>
                <a:t>frac(p): 0.833</a:t>
              </a:r>
              <a:endParaRPr sz="1600">
                <a:solidFill>
                  <a:schemeClr val="lt1"/>
                </a:solidFill>
                <a:latin typeface="Roboto"/>
                <a:ea typeface="Roboto"/>
                <a:cs typeface="Roboto"/>
                <a:sym typeface="Roboto"/>
              </a:endParaRPr>
            </a:p>
          </p:txBody>
        </p:sp>
      </p:grpSp>
      <p:sp>
        <p:nvSpPr>
          <p:cNvPr id="698" name="Google Shape;698;p62"/>
          <p:cNvSpPr txBox="1"/>
          <p:nvPr/>
        </p:nvSpPr>
        <p:spPr>
          <a:xfrm>
            <a:off x="143725" y="3928050"/>
            <a:ext cx="2828100" cy="3231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GB" sz="900" i="1">
                <a:solidFill>
                  <a:schemeClr val="dk2"/>
                </a:solidFill>
                <a:latin typeface="Roboto Light"/>
                <a:ea typeface="Roboto Light"/>
                <a:cs typeface="Roboto Light"/>
                <a:sym typeface="Roboto Light"/>
              </a:rPr>
              <a:t>Sample A</a:t>
            </a:r>
            <a:endParaRPr sz="900">
              <a:latin typeface="Roboto"/>
              <a:ea typeface="Roboto"/>
              <a:cs typeface="Roboto"/>
              <a:sym typeface="Roboto"/>
            </a:endParaRPr>
          </a:p>
        </p:txBody>
      </p:sp>
      <p:sp>
        <p:nvSpPr>
          <p:cNvPr id="699" name="Google Shape;699;p62"/>
          <p:cNvSpPr/>
          <p:nvPr/>
        </p:nvSpPr>
        <p:spPr>
          <a:xfrm>
            <a:off x="6157475" y="2893275"/>
            <a:ext cx="966900" cy="147900"/>
          </a:xfrm>
          <a:prstGeom prst="rect">
            <a:avLst/>
          </a:prstGeom>
          <a:solidFill>
            <a:srgbClr val="FF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700">
                <a:solidFill>
                  <a:schemeClr val="lt1"/>
                </a:solidFill>
                <a:latin typeface="Roboto"/>
                <a:ea typeface="Roboto"/>
                <a:cs typeface="Roboto"/>
                <a:sym typeface="Roboto"/>
              </a:rPr>
              <a:t>Company Y</a:t>
            </a:r>
            <a:endParaRPr sz="700">
              <a:solidFill>
                <a:schemeClr val="lt1"/>
              </a:solidFill>
              <a:latin typeface="Roboto"/>
              <a:ea typeface="Roboto"/>
              <a:cs typeface="Roboto"/>
              <a:sym typeface="Roboto"/>
            </a:endParaRPr>
          </a:p>
        </p:txBody>
      </p:sp>
      <p:sp>
        <p:nvSpPr>
          <p:cNvPr id="700" name="Google Shape;700;p62"/>
          <p:cNvSpPr txBox="1"/>
          <p:nvPr/>
        </p:nvSpPr>
        <p:spPr>
          <a:xfrm>
            <a:off x="7957700" y="4114800"/>
            <a:ext cx="10635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900">
                <a:solidFill>
                  <a:schemeClr val="dk1"/>
                </a:solidFill>
                <a:latin typeface="Roboto"/>
                <a:ea typeface="Roboto"/>
                <a:cs typeface="Roboto"/>
                <a:sym typeface="Roboto"/>
              </a:rPr>
              <a:t>Redacted Text</a:t>
            </a:r>
            <a:endParaRPr sz="900">
              <a:solidFill>
                <a:schemeClr val="dk1"/>
              </a:solidFill>
              <a:latin typeface="Roboto"/>
              <a:ea typeface="Roboto"/>
              <a:cs typeface="Roboto"/>
              <a:sym typeface="Roboto"/>
            </a:endParaRPr>
          </a:p>
        </p:txBody>
      </p:sp>
      <p:sp>
        <p:nvSpPr>
          <p:cNvPr id="701" name="Google Shape;701;p62"/>
          <p:cNvSpPr/>
          <p:nvPr/>
        </p:nvSpPr>
        <p:spPr>
          <a:xfrm>
            <a:off x="7314800" y="4212138"/>
            <a:ext cx="642900" cy="128400"/>
          </a:xfrm>
          <a:prstGeom prst="rect">
            <a:avLst/>
          </a:prstGeom>
          <a:solidFill>
            <a:srgbClr val="FF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700">
                <a:solidFill>
                  <a:schemeClr val="lt1"/>
                </a:solidFill>
                <a:latin typeface="Roboto"/>
                <a:ea typeface="Roboto"/>
                <a:cs typeface="Roboto"/>
                <a:sym typeface="Roboto"/>
              </a:rPr>
              <a:t>Company Y</a:t>
            </a:r>
            <a:endParaRPr sz="700">
              <a:solidFill>
                <a:schemeClr val="lt1"/>
              </a:solidFill>
              <a:latin typeface="Roboto"/>
              <a:ea typeface="Roboto"/>
              <a:cs typeface="Roboto"/>
              <a:sym typeface="Roboto"/>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705"/>
        <p:cNvGrpSpPr/>
        <p:nvPr/>
      </p:nvGrpSpPr>
      <p:grpSpPr>
        <a:xfrm>
          <a:off x="0" y="0"/>
          <a:ext cx="0" cy="0"/>
          <a:chOff x="0" y="0"/>
          <a:chExt cx="0" cy="0"/>
        </a:xfrm>
      </p:grpSpPr>
      <p:sp>
        <p:nvSpPr>
          <p:cNvPr id="706" name="Google Shape;706;p63"/>
          <p:cNvSpPr txBox="1"/>
          <p:nvPr/>
        </p:nvSpPr>
        <p:spPr>
          <a:xfrm>
            <a:off x="155548" y="861675"/>
            <a:ext cx="2828100" cy="30939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GB" sz="900">
                <a:solidFill>
                  <a:srgbClr val="202123"/>
                </a:solidFill>
                <a:latin typeface="Roboto Light"/>
                <a:ea typeface="Roboto Light"/>
                <a:cs typeface="Roboto Light"/>
                <a:sym typeface="Roboto Light"/>
              </a:rPr>
              <a:t>Hi John,</a:t>
            </a:r>
            <a:endParaRPr sz="900">
              <a:solidFill>
                <a:srgbClr val="202123"/>
              </a:solidFill>
              <a:latin typeface="Roboto Light"/>
              <a:ea typeface="Roboto Light"/>
              <a:cs typeface="Roboto Light"/>
              <a:sym typeface="Roboto Light"/>
            </a:endParaRPr>
          </a:p>
          <a:p>
            <a:pPr marL="0" lvl="0" indent="0" algn="l" rtl="0">
              <a:spcBef>
                <a:spcPts val="0"/>
              </a:spcBef>
              <a:spcAft>
                <a:spcPts val="0"/>
              </a:spcAft>
              <a:buClr>
                <a:schemeClr val="dk1"/>
              </a:buClr>
              <a:buSzPts val="1100"/>
              <a:buFont typeface="Arial"/>
              <a:buNone/>
            </a:pPr>
            <a:endParaRPr sz="900">
              <a:solidFill>
                <a:srgbClr val="202123"/>
              </a:solidFill>
              <a:latin typeface="Roboto Light"/>
              <a:ea typeface="Roboto Light"/>
              <a:cs typeface="Roboto Light"/>
              <a:sym typeface="Roboto Light"/>
            </a:endParaRPr>
          </a:p>
          <a:p>
            <a:pPr marL="0" lvl="0" indent="0" algn="l" rtl="0">
              <a:spcBef>
                <a:spcPts val="0"/>
              </a:spcBef>
              <a:spcAft>
                <a:spcPts val="0"/>
              </a:spcAft>
              <a:buClr>
                <a:schemeClr val="dk1"/>
              </a:buClr>
              <a:buSzPts val="1100"/>
              <a:buFont typeface="Arial"/>
              <a:buNone/>
            </a:pPr>
            <a:r>
              <a:rPr lang="en-GB" sz="900">
                <a:solidFill>
                  <a:srgbClr val="202123"/>
                </a:solidFill>
                <a:latin typeface="Roboto Light"/>
                <a:ea typeface="Roboto Light"/>
                <a:cs typeface="Roboto Light"/>
                <a:sym typeface="Roboto Light"/>
              </a:rPr>
              <a:t>Do you have a moment to fill out this form?</a:t>
            </a:r>
            <a:endParaRPr sz="900">
              <a:solidFill>
                <a:srgbClr val="202123"/>
              </a:solidFill>
              <a:latin typeface="Roboto Light"/>
              <a:ea typeface="Roboto Light"/>
              <a:cs typeface="Roboto Light"/>
              <a:sym typeface="Roboto Light"/>
            </a:endParaRPr>
          </a:p>
          <a:p>
            <a:pPr marL="0" lvl="0" indent="0" algn="l" rtl="0">
              <a:spcBef>
                <a:spcPts val="0"/>
              </a:spcBef>
              <a:spcAft>
                <a:spcPts val="0"/>
              </a:spcAft>
              <a:buClr>
                <a:schemeClr val="dk1"/>
              </a:buClr>
              <a:buSzPts val="1100"/>
              <a:buFont typeface="Arial"/>
              <a:buNone/>
            </a:pPr>
            <a:endParaRPr sz="900">
              <a:solidFill>
                <a:srgbClr val="202123"/>
              </a:solidFill>
              <a:latin typeface="Roboto Light"/>
              <a:ea typeface="Roboto Light"/>
              <a:cs typeface="Roboto Light"/>
              <a:sym typeface="Roboto Light"/>
            </a:endParaRPr>
          </a:p>
          <a:p>
            <a:pPr marL="0" lvl="0" indent="0" algn="l" rtl="0">
              <a:spcBef>
                <a:spcPts val="0"/>
              </a:spcBef>
              <a:spcAft>
                <a:spcPts val="0"/>
              </a:spcAft>
              <a:buClr>
                <a:schemeClr val="dk1"/>
              </a:buClr>
              <a:buSzPts val="1100"/>
              <a:buFont typeface="Arial"/>
              <a:buNone/>
            </a:pPr>
            <a:r>
              <a:rPr lang="en-GB" sz="900">
                <a:solidFill>
                  <a:srgbClr val="202123"/>
                </a:solidFill>
                <a:latin typeface="Roboto Light"/>
                <a:ea typeface="Roboto Light"/>
                <a:cs typeface="Roboto Light"/>
                <a:sym typeface="Roboto Light"/>
              </a:rPr>
              <a:t>It's already been 3 months since your work contract began, and I'm wondering if you're satisfied with the work-life balance we provide. I'm sure you're just as committed as we are to keeping our employees happy and fulfilled.</a:t>
            </a:r>
            <a:endParaRPr sz="900">
              <a:solidFill>
                <a:srgbClr val="202123"/>
              </a:solidFill>
              <a:latin typeface="Roboto Light"/>
              <a:ea typeface="Roboto Light"/>
              <a:cs typeface="Roboto Light"/>
              <a:sym typeface="Roboto Light"/>
            </a:endParaRPr>
          </a:p>
          <a:p>
            <a:pPr marL="0" lvl="0" indent="0" algn="l" rtl="0">
              <a:spcBef>
                <a:spcPts val="0"/>
              </a:spcBef>
              <a:spcAft>
                <a:spcPts val="0"/>
              </a:spcAft>
              <a:buClr>
                <a:schemeClr val="dk1"/>
              </a:buClr>
              <a:buSzPts val="1100"/>
              <a:buFont typeface="Arial"/>
              <a:buNone/>
            </a:pPr>
            <a:endParaRPr sz="900">
              <a:solidFill>
                <a:srgbClr val="202123"/>
              </a:solidFill>
              <a:latin typeface="Roboto Light"/>
              <a:ea typeface="Roboto Light"/>
              <a:cs typeface="Roboto Light"/>
              <a:sym typeface="Roboto Light"/>
            </a:endParaRPr>
          </a:p>
          <a:p>
            <a:pPr marL="0" lvl="0" indent="0" algn="l" rtl="0">
              <a:spcBef>
                <a:spcPts val="0"/>
              </a:spcBef>
              <a:spcAft>
                <a:spcPts val="0"/>
              </a:spcAft>
              <a:buClr>
                <a:schemeClr val="dk1"/>
              </a:buClr>
              <a:buSzPts val="1100"/>
              <a:buFont typeface="Arial"/>
              <a:buNone/>
            </a:pPr>
            <a:r>
              <a:rPr lang="en-GB" sz="900">
                <a:solidFill>
                  <a:srgbClr val="202123"/>
                </a:solidFill>
                <a:latin typeface="Roboto Light"/>
                <a:ea typeface="Roboto Light"/>
                <a:cs typeface="Roboto Light"/>
                <a:sym typeface="Roboto Light"/>
              </a:rPr>
              <a:t>This is a very short survey and it only takes a few minutes to complete.</a:t>
            </a:r>
            <a:endParaRPr sz="900">
              <a:solidFill>
                <a:srgbClr val="202123"/>
              </a:solidFill>
              <a:latin typeface="Roboto Light"/>
              <a:ea typeface="Roboto Light"/>
              <a:cs typeface="Roboto Light"/>
              <a:sym typeface="Roboto Light"/>
            </a:endParaRPr>
          </a:p>
          <a:p>
            <a:pPr marL="0" lvl="0" indent="0" algn="l" rtl="0">
              <a:spcBef>
                <a:spcPts val="0"/>
              </a:spcBef>
              <a:spcAft>
                <a:spcPts val="0"/>
              </a:spcAft>
              <a:buClr>
                <a:schemeClr val="dk1"/>
              </a:buClr>
              <a:buSzPts val="1100"/>
              <a:buFont typeface="Arial"/>
              <a:buNone/>
            </a:pPr>
            <a:endParaRPr sz="900">
              <a:solidFill>
                <a:srgbClr val="202123"/>
              </a:solidFill>
              <a:latin typeface="Roboto Light"/>
              <a:ea typeface="Roboto Light"/>
              <a:cs typeface="Roboto Light"/>
              <a:sym typeface="Roboto Light"/>
            </a:endParaRPr>
          </a:p>
          <a:p>
            <a:pPr marL="0" lvl="0" indent="0" algn="l" rtl="0">
              <a:spcBef>
                <a:spcPts val="0"/>
              </a:spcBef>
              <a:spcAft>
                <a:spcPts val="0"/>
              </a:spcAft>
              <a:buClr>
                <a:schemeClr val="dk1"/>
              </a:buClr>
              <a:buSzPts val="1100"/>
              <a:buFont typeface="Arial"/>
              <a:buNone/>
            </a:pPr>
            <a:r>
              <a:rPr lang="en-GB" sz="900">
                <a:solidFill>
                  <a:srgbClr val="202123"/>
                </a:solidFill>
                <a:latin typeface="Roboto Light"/>
                <a:ea typeface="Roboto Light"/>
                <a:cs typeface="Roboto Light"/>
                <a:sym typeface="Roboto Light"/>
              </a:rPr>
              <a:t>You'll find that your responses will help us understand how we can improve your experience with </a:t>
            </a:r>
            <a:r>
              <a:rPr lang="en-GB" sz="900">
                <a:solidFill>
                  <a:srgbClr val="FF0000"/>
                </a:solidFill>
                <a:latin typeface="Roboto Light"/>
                <a:ea typeface="Roboto Light"/>
                <a:cs typeface="Roboto Light"/>
                <a:sym typeface="Roboto Light"/>
              </a:rPr>
              <a:t>Company Y</a:t>
            </a:r>
            <a:r>
              <a:rPr lang="en-GB" sz="900">
                <a:solidFill>
                  <a:srgbClr val="202123"/>
                </a:solidFill>
                <a:latin typeface="Roboto Light"/>
                <a:ea typeface="Roboto Light"/>
                <a:cs typeface="Roboto Light"/>
                <a:sym typeface="Roboto Light"/>
              </a:rPr>
              <a:t>.</a:t>
            </a:r>
            <a:endParaRPr sz="900">
              <a:solidFill>
                <a:srgbClr val="202123"/>
              </a:solidFill>
              <a:latin typeface="Roboto Light"/>
              <a:ea typeface="Roboto Light"/>
              <a:cs typeface="Roboto Light"/>
              <a:sym typeface="Roboto Light"/>
            </a:endParaRPr>
          </a:p>
          <a:p>
            <a:pPr marL="0" lvl="0" indent="0" algn="l" rtl="0">
              <a:spcBef>
                <a:spcPts val="0"/>
              </a:spcBef>
              <a:spcAft>
                <a:spcPts val="0"/>
              </a:spcAft>
              <a:buClr>
                <a:schemeClr val="dk1"/>
              </a:buClr>
              <a:buSzPts val="1100"/>
              <a:buFont typeface="Arial"/>
              <a:buNone/>
            </a:pPr>
            <a:endParaRPr sz="900">
              <a:solidFill>
                <a:srgbClr val="202123"/>
              </a:solidFill>
              <a:latin typeface="Roboto Light"/>
              <a:ea typeface="Roboto Light"/>
              <a:cs typeface="Roboto Light"/>
              <a:sym typeface="Roboto Light"/>
            </a:endParaRPr>
          </a:p>
          <a:p>
            <a:pPr marL="0" lvl="0" indent="0" algn="l" rtl="0">
              <a:spcBef>
                <a:spcPts val="0"/>
              </a:spcBef>
              <a:spcAft>
                <a:spcPts val="0"/>
              </a:spcAft>
              <a:buClr>
                <a:schemeClr val="dk1"/>
              </a:buClr>
              <a:buSzPts val="1100"/>
              <a:buFont typeface="Arial"/>
              <a:buNone/>
            </a:pPr>
            <a:r>
              <a:rPr lang="en-GB" sz="900">
                <a:solidFill>
                  <a:srgbClr val="202123"/>
                </a:solidFill>
                <a:latin typeface="Roboto Light"/>
                <a:ea typeface="Roboto Light"/>
                <a:cs typeface="Roboto Light"/>
                <a:sym typeface="Roboto Light"/>
              </a:rPr>
              <a:t>Kind regards,</a:t>
            </a:r>
            <a:endParaRPr sz="900">
              <a:solidFill>
                <a:srgbClr val="202123"/>
              </a:solidFill>
              <a:latin typeface="Roboto Light"/>
              <a:ea typeface="Roboto Light"/>
              <a:cs typeface="Roboto Light"/>
              <a:sym typeface="Roboto Light"/>
            </a:endParaRPr>
          </a:p>
          <a:p>
            <a:pPr marL="0" lvl="0" indent="0" algn="l" rtl="0">
              <a:spcBef>
                <a:spcPts val="0"/>
              </a:spcBef>
              <a:spcAft>
                <a:spcPts val="0"/>
              </a:spcAft>
              <a:buClr>
                <a:schemeClr val="dk1"/>
              </a:buClr>
              <a:buSzPts val="1100"/>
              <a:buFont typeface="Arial"/>
              <a:buNone/>
            </a:pPr>
            <a:endParaRPr sz="900">
              <a:solidFill>
                <a:srgbClr val="202123"/>
              </a:solidFill>
              <a:latin typeface="Roboto Light"/>
              <a:ea typeface="Roboto Light"/>
              <a:cs typeface="Roboto Light"/>
              <a:sym typeface="Roboto Light"/>
            </a:endParaRPr>
          </a:p>
          <a:p>
            <a:pPr marL="0" lvl="0" indent="0" algn="l" rtl="0">
              <a:spcBef>
                <a:spcPts val="0"/>
              </a:spcBef>
              <a:spcAft>
                <a:spcPts val="0"/>
              </a:spcAft>
              <a:buClr>
                <a:schemeClr val="dk1"/>
              </a:buClr>
              <a:buSzPts val="1100"/>
              <a:buFont typeface="Arial"/>
              <a:buNone/>
            </a:pPr>
            <a:r>
              <a:rPr lang="en-GB" sz="900">
                <a:solidFill>
                  <a:srgbClr val="202123"/>
                </a:solidFill>
                <a:latin typeface="Roboto Light"/>
                <a:ea typeface="Roboto Light"/>
                <a:cs typeface="Roboto Light"/>
                <a:sym typeface="Roboto Light"/>
              </a:rPr>
              <a:t>John Doe</a:t>
            </a:r>
            <a:endParaRPr sz="900">
              <a:solidFill>
                <a:srgbClr val="202123"/>
              </a:solidFill>
              <a:latin typeface="Roboto Light"/>
              <a:ea typeface="Roboto Light"/>
              <a:cs typeface="Roboto Light"/>
              <a:sym typeface="Roboto Light"/>
            </a:endParaRPr>
          </a:p>
          <a:p>
            <a:pPr marL="0" lvl="0" indent="0" algn="l" rtl="0">
              <a:spcBef>
                <a:spcPts val="0"/>
              </a:spcBef>
              <a:spcAft>
                <a:spcPts val="0"/>
              </a:spcAft>
              <a:buNone/>
            </a:pPr>
            <a:endParaRPr sz="900">
              <a:solidFill>
                <a:srgbClr val="202123"/>
              </a:solidFill>
              <a:latin typeface="Roboto Light"/>
              <a:ea typeface="Roboto Light"/>
              <a:cs typeface="Roboto Light"/>
              <a:sym typeface="Roboto Light"/>
            </a:endParaRPr>
          </a:p>
        </p:txBody>
      </p:sp>
      <p:sp>
        <p:nvSpPr>
          <p:cNvPr id="707" name="Google Shape;707;p63"/>
          <p:cNvSpPr/>
          <p:nvPr/>
        </p:nvSpPr>
        <p:spPr>
          <a:xfrm>
            <a:off x="0" y="120875"/>
            <a:ext cx="5819700" cy="402600"/>
          </a:xfrm>
          <a:prstGeom prst="rect">
            <a:avLst/>
          </a:prstGeom>
          <a:gradFill>
            <a:gsLst>
              <a:gs pos="0">
                <a:srgbClr val="00C0F3"/>
              </a:gs>
              <a:gs pos="100000">
                <a:srgbClr val="008E4E"/>
              </a:gs>
            </a:gsLst>
            <a:lin ang="270000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Lucida Sans"/>
              <a:ea typeface="Lucida Sans"/>
              <a:cs typeface="Lucida Sans"/>
              <a:sym typeface="Lucida Sans"/>
            </a:endParaRPr>
          </a:p>
        </p:txBody>
      </p:sp>
      <p:sp>
        <p:nvSpPr>
          <p:cNvPr id="708" name="Google Shape;708;p6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45</a:t>
            </a:fld>
            <a:endParaRPr/>
          </a:p>
        </p:txBody>
      </p:sp>
      <p:sp>
        <p:nvSpPr>
          <p:cNvPr id="709" name="Google Shape;709;p63"/>
          <p:cNvSpPr txBox="1">
            <a:spLocks noGrp="1"/>
          </p:cNvSpPr>
          <p:nvPr>
            <p:ph type="title"/>
          </p:nvPr>
        </p:nvSpPr>
        <p:spPr>
          <a:xfrm>
            <a:off x="311700" y="73175"/>
            <a:ext cx="5508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Using OpenAI’s GPT3 To Detect Synthetic Text</a:t>
            </a:r>
            <a:endParaRPr/>
          </a:p>
        </p:txBody>
      </p:sp>
      <p:grpSp>
        <p:nvGrpSpPr>
          <p:cNvPr id="710" name="Google Shape;710;p63"/>
          <p:cNvGrpSpPr/>
          <p:nvPr/>
        </p:nvGrpSpPr>
        <p:grpSpPr>
          <a:xfrm>
            <a:off x="540443" y="4229700"/>
            <a:ext cx="2065077" cy="431100"/>
            <a:chOff x="365025" y="4289550"/>
            <a:chExt cx="7936500" cy="431100"/>
          </a:xfrm>
        </p:grpSpPr>
        <p:sp>
          <p:nvSpPr>
            <p:cNvPr id="711" name="Google Shape;711;p63"/>
            <p:cNvSpPr/>
            <p:nvPr/>
          </p:nvSpPr>
          <p:spPr>
            <a:xfrm>
              <a:off x="365025" y="4294350"/>
              <a:ext cx="7936500" cy="393600"/>
            </a:xfrm>
            <a:prstGeom prst="rect">
              <a:avLst/>
            </a:prstGeom>
            <a:solidFill>
              <a:srgbClr val="0095AF"/>
            </a:solidFill>
            <a:ln w="9525" cap="flat" cmpd="sng">
              <a:solidFill>
                <a:srgbClr val="0095AF"/>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1200"/>
                </a:spcAft>
                <a:buNone/>
              </a:pPr>
              <a:endParaRPr sz="1800">
                <a:latin typeface="Roboto"/>
                <a:ea typeface="Roboto"/>
                <a:cs typeface="Roboto"/>
                <a:sym typeface="Roboto"/>
              </a:endParaRPr>
            </a:p>
          </p:txBody>
        </p:sp>
        <p:sp>
          <p:nvSpPr>
            <p:cNvPr id="712" name="Google Shape;712;p63"/>
            <p:cNvSpPr txBox="1"/>
            <p:nvPr/>
          </p:nvSpPr>
          <p:spPr>
            <a:xfrm>
              <a:off x="408978" y="4289550"/>
              <a:ext cx="7848600" cy="4311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GB" sz="1600">
                  <a:solidFill>
                    <a:schemeClr val="lt1"/>
                  </a:solidFill>
                  <a:latin typeface="Roboto"/>
                  <a:ea typeface="Roboto"/>
                  <a:cs typeface="Roboto"/>
                  <a:sym typeface="Roboto"/>
                </a:rPr>
                <a:t>frac(p): 0.884</a:t>
              </a:r>
              <a:endParaRPr sz="1600">
                <a:solidFill>
                  <a:schemeClr val="lt1"/>
                </a:solidFill>
                <a:latin typeface="Roboto"/>
                <a:ea typeface="Roboto"/>
                <a:cs typeface="Roboto"/>
                <a:sym typeface="Roboto"/>
              </a:endParaRPr>
            </a:p>
          </p:txBody>
        </p:sp>
      </p:grpSp>
      <p:sp>
        <p:nvSpPr>
          <p:cNvPr id="713" name="Google Shape;713;p63"/>
          <p:cNvSpPr txBox="1"/>
          <p:nvPr/>
        </p:nvSpPr>
        <p:spPr>
          <a:xfrm>
            <a:off x="143725" y="3928050"/>
            <a:ext cx="2828100" cy="3231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GB" sz="900" i="1">
                <a:solidFill>
                  <a:schemeClr val="dk2"/>
                </a:solidFill>
                <a:latin typeface="Roboto Light"/>
                <a:ea typeface="Roboto Light"/>
                <a:cs typeface="Roboto Light"/>
                <a:sym typeface="Roboto Light"/>
              </a:rPr>
              <a:t>Sample B</a:t>
            </a:r>
            <a:endParaRPr sz="900">
              <a:latin typeface="Roboto"/>
              <a:ea typeface="Roboto"/>
              <a:cs typeface="Roboto"/>
              <a:sym typeface="Roboto"/>
            </a:endParaRPr>
          </a:p>
        </p:txBody>
      </p:sp>
      <p:pic>
        <p:nvPicPr>
          <p:cNvPr id="714" name="Google Shape;714;p63"/>
          <p:cNvPicPr preferRelativeResize="0"/>
          <p:nvPr/>
        </p:nvPicPr>
        <p:blipFill>
          <a:blip r:embed="rId3">
            <a:alphaModFix/>
          </a:blip>
          <a:stretch>
            <a:fillRect/>
          </a:stretch>
        </p:blipFill>
        <p:spPr>
          <a:xfrm>
            <a:off x="3086200" y="937875"/>
            <a:ext cx="5934949" cy="2896237"/>
          </a:xfrm>
          <a:prstGeom prst="rect">
            <a:avLst/>
          </a:prstGeom>
          <a:noFill/>
          <a:ln>
            <a:noFill/>
          </a:ln>
        </p:spPr>
      </p:pic>
      <p:sp>
        <p:nvSpPr>
          <p:cNvPr id="715" name="Google Shape;715;p63"/>
          <p:cNvSpPr txBox="1"/>
          <p:nvPr/>
        </p:nvSpPr>
        <p:spPr>
          <a:xfrm>
            <a:off x="7957700" y="4114800"/>
            <a:ext cx="10635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900">
                <a:solidFill>
                  <a:schemeClr val="dk1"/>
                </a:solidFill>
                <a:latin typeface="Roboto"/>
                <a:ea typeface="Roboto"/>
                <a:cs typeface="Roboto"/>
                <a:sym typeface="Roboto"/>
              </a:rPr>
              <a:t>Redacted Text</a:t>
            </a:r>
            <a:endParaRPr sz="900">
              <a:solidFill>
                <a:schemeClr val="dk1"/>
              </a:solidFill>
              <a:latin typeface="Roboto"/>
              <a:ea typeface="Roboto"/>
              <a:cs typeface="Roboto"/>
              <a:sym typeface="Roboto"/>
            </a:endParaRPr>
          </a:p>
        </p:txBody>
      </p:sp>
      <p:sp>
        <p:nvSpPr>
          <p:cNvPr id="716" name="Google Shape;716;p63"/>
          <p:cNvSpPr/>
          <p:nvPr/>
        </p:nvSpPr>
        <p:spPr>
          <a:xfrm>
            <a:off x="7957700" y="3412438"/>
            <a:ext cx="642900" cy="128400"/>
          </a:xfrm>
          <a:prstGeom prst="rect">
            <a:avLst/>
          </a:prstGeom>
          <a:solidFill>
            <a:srgbClr val="FF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700">
                <a:solidFill>
                  <a:schemeClr val="lt1"/>
                </a:solidFill>
                <a:latin typeface="Roboto"/>
                <a:ea typeface="Roboto"/>
                <a:cs typeface="Roboto"/>
                <a:sym typeface="Roboto"/>
              </a:rPr>
              <a:t>Company Y</a:t>
            </a:r>
            <a:endParaRPr sz="700">
              <a:solidFill>
                <a:schemeClr val="lt1"/>
              </a:solidFill>
              <a:latin typeface="Roboto"/>
              <a:ea typeface="Roboto"/>
              <a:cs typeface="Roboto"/>
              <a:sym typeface="Roboto"/>
            </a:endParaRPr>
          </a:p>
        </p:txBody>
      </p:sp>
      <p:sp>
        <p:nvSpPr>
          <p:cNvPr id="717" name="Google Shape;717;p63"/>
          <p:cNvSpPr/>
          <p:nvPr/>
        </p:nvSpPr>
        <p:spPr>
          <a:xfrm>
            <a:off x="7314800" y="4212138"/>
            <a:ext cx="642900" cy="128400"/>
          </a:xfrm>
          <a:prstGeom prst="rect">
            <a:avLst/>
          </a:prstGeom>
          <a:solidFill>
            <a:srgbClr val="FF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700">
                <a:solidFill>
                  <a:schemeClr val="lt1"/>
                </a:solidFill>
                <a:latin typeface="Roboto"/>
                <a:ea typeface="Roboto"/>
                <a:cs typeface="Roboto"/>
                <a:sym typeface="Roboto"/>
              </a:rPr>
              <a:t>Company Y</a:t>
            </a:r>
            <a:endParaRPr sz="700">
              <a:solidFill>
                <a:schemeClr val="lt1"/>
              </a:solidFill>
              <a:latin typeface="Roboto"/>
              <a:ea typeface="Roboto"/>
              <a:cs typeface="Roboto"/>
              <a:sym typeface="Roboto"/>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sp>
        <p:nvSpPr>
          <p:cNvPr id="722" name="Google Shape;722;p64"/>
          <p:cNvSpPr/>
          <p:nvPr/>
        </p:nvSpPr>
        <p:spPr>
          <a:xfrm>
            <a:off x="0" y="120875"/>
            <a:ext cx="5819700" cy="402600"/>
          </a:xfrm>
          <a:prstGeom prst="rect">
            <a:avLst/>
          </a:prstGeom>
          <a:gradFill>
            <a:gsLst>
              <a:gs pos="0">
                <a:srgbClr val="00C0F3"/>
              </a:gs>
              <a:gs pos="100000">
                <a:srgbClr val="008E4E"/>
              </a:gs>
            </a:gsLst>
            <a:lin ang="270000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Lucida Sans"/>
              <a:ea typeface="Lucida Sans"/>
              <a:cs typeface="Lucida Sans"/>
              <a:sym typeface="Lucida Sans"/>
            </a:endParaRPr>
          </a:p>
        </p:txBody>
      </p:sp>
      <p:sp>
        <p:nvSpPr>
          <p:cNvPr id="723" name="Google Shape;723;p6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46</a:t>
            </a:fld>
            <a:endParaRPr/>
          </a:p>
        </p:txBody>
      </p:sp>
      <p:sp>
        <p:nvSpPr>
          <p:cNvPr id="724" name="Google Shape;724;p64"/>
          <p:cNvSpPr txBox="1">
            <a:spLocks noGrp="1"/>
          </p:cNvSpPr>
          <p:nvPr>
            <p:ph type="title"/>
          </p:nvPr>
        </p:nvSpPr>
        <p:spPr>
          <a:xfrm>
            <a:off x="311700" y="73175"/>
            <a:ext cx="5508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Using OpenAI’s GPT3 To Detect Synthetic Text</a:t>
            </a:r>
            <a:endParaRPr/>
          </a:p>
        </p:txBody>
      </p:sp>
      <p:grpSp>
        <p:nvGrpSpPr>
          <p:cNvPr id="725" name="Google Shape;725;p64"/>
          <p:cNvGrpSpPr/>
          <p:nvPr/>
        </p:nvGrpSpPr>
        <p:grpSpPr>
          <a:xfrm>
            <a:off x="540443" y="4229700"/>
            <a:ext cx="2065077" cy="431100"/>
            <a:chOff x="365025" y="4289550"/>
            <a:chExt cx="7936500" cy="431100"/>
          </a:xfrm>
        </p:grpSpPr>
        <p:sp>
          <p:nvSpPr>
            <p:cNvPr id="726" name="Google Shape;726;p64"/>
            <p:cNvSpPr/>
            <p:nvPr/>
          </p:nvSpPr>
          <p:spPr>
            <a:xfrm>
              <a:off x="365025" y="4294350"/>
              <a:ext cx="7936500" cy="393600"/>
            </a:xfrm>
            <a:prstGeom prst="rect">
              <a:avLst/>
            </a:prstGeom>
            <a:solidFill>
              <a:srgbClr val="0095AF"/>
            </a:solidFill>
            <a:ln w="9525" cap="flat" cmpd="sng">
              <a:solidFill>
                <a:srgbClr val="0095AF"/>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1200"/>
                </a:spcAft>
                <a:buNone/>
              </a:pPr>
              <a:endParaRPr sz="1800">
                <a:latin typeface="Roboto"/>
                <a:ea typeface="Roboto"/>
                <a:cs typeface="Roboto"/>
                <a:sym typeface="Roboto"/>
              </a:endParaRPr>
            </a:p>
          </p:txBody>
        </p:sp>
        <p:sp>
          <p:nvSpPr>
            <p:cNvPr id="727" name="Google Shape;727;p64"/>
            <p:cNvSpPr txBox="1"/>
            <p:nvPr/>
          </p:nvSpPr>
          <p:spPr>
            <a:xfrm>
              <a:off x="408978" y="4289550"/>
              <a:ext cx="7848600" cy="4311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GB" sz="1600">
                  <a:solidFill>
                    <a:schemeClr val="lt1"/>
                  </a:solidFill>
                  <a:latin typeface="Roboto"/>
                  <a:ea typeface="Roboto"/>
                  <a:cs typeface="Roboto"/>
                  <a:sym typeface="Roboto"/>
                </a:rPr>
                <a:t>frac(p): 0.554</a:t>
              </a:r>
              <a:endParaRPr sz="1600">
                <a:solidFill>
                  <a:schemeClr val="lt1"/>
                </a:solidFill>
                <a:latin typeface="Roboto"/>
                <a:ea typeface="Roboto"/>
                <a:cs typeface="Roboto"/>
                <a:sym typeface="Roboto"/>
              </a:endParaRPr>
            </a:p>
          </p:txBody>
        </p:sp>
      </p:grpSp>
      <p:sp>
        <p:nvSpPr>
          <p:cNvPr id="728" name="Google Shape;728;p64"/>
          <p:cNvSpPr txBox="1"/>
          <p:nvPr/>
        </p:nvSpPr>
        <p:spPr>
          <a:xfrm>
            <a:off x="143725" y="3928050"/>
            <a:ext cx="2828100" cy="3231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GB" sz="900" i="1">
                <a:solidFill>
                  <a:schemeClr val="dk2"/>
                </a:solidFill>
                <a:latin typeface="Roboto Light"/>
                <a:ea typeface="Roboto Light"/>
                <a:cs typeface="Roboto Light"/>
                <a:sym typeface="Roboto Light"/>
              </a:rPr>
              <a:t>Sample C</a:t>
            </a:r>
            <a:endParaRPr sz="900">
              <a:latin typeface="Roboto"/>
              <a:ea typeface="Roboto"/>
              <a:cs typeface="Roboto"/>
              <a:sym typeface="Roboto"/>
            </a:endParaRPr>
          </a:p>
        </p:txBody>
      </p:sp>
      <p:sp>
        <p:nvSpPr>
          <p:cNvPr id="729" name="Google Shape;729;p64"/>
          <p:cNvSpPr txBox="1"/>
          <p:nvPr/>
        </p:nvSpPr>
        <p:spPr>
          <a:xfrm>
            <a:off x="160298" y="861675"/>
            <a:ext cx="2828100" cy="30939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GB" sz="900">
                <a:solidFill>
                  <a:srgbClr val="202123"/>
                </a:solidFill>
                <a:latin typeface="Roboto Light"/>
                <a:ea typeface="Roboto Light"/>
                <a:cs typeface="Roboto Light"/>
                <a:sym typeface="Roboto Light"/>
              </a:rPr>
              <a:t>Hi John,</a:t>
            </a:r>
            <a:endParaRPr sz="900">
              <a:solidFill>
                <a:srgbClr val="202123"/>
              </a:solidFill>
              <a:latin typeface="Roboto Light"/>
              <a:ea typeface="Roboto Light"/>
              <a:cs typeface="Roboto Light"/>
              <a:sym typeface="Roboto Light"/>
            </a:endParaRPr>
          </a:p>
          <a:p>
            <a:pPr marL="0" lvl="0" indent="0" algn="l" rtl="0">
              <a:spcBef>
                <a:spcPts val="0"/>
              </a:spcBef>
              <a:spcAft>
                <a:spcPts val="0"/>
              </a:spcAft>
              <a:buClr>
                <a:schemeClr val="dk1"/>
              </a:buClr>
              <a:buSzPts val="1100"/>
              <a:buFont typeface="Arial"/>
              <a:buNone/>
            </a:pPr>
            <a:endParaRPr sz="900">
              <a:solidFill>
                <a:srgbClr val="202123"/>
              </a:solidFill>
              <a:latin typeface="Roboto Light"/>
              <a:ea typeface="Roboto Light"/>
              <a:cs typeface="Roboto Light"/>
              <a:sym typeface="Roboto Light"/>
            </a:endParaRPr>
          </a:p>
          <a:p>
            <a:pPr marL="0" lvl="0" indent="0" algn="l" rtl="0">
              <a:spcBef>
                <a:spcPts val="0"/>
              </a:spcBef>
              <a:spcAft>
                <a:spcPts val="0"/>
              </a:spcAft>
              <a:buClr>
                <a:schemeClr val="dk1"/>
              </a:buClr>
              <a:buSzPts val="1100"/>
              <a:buFont typeface="Arial"/>
              <a:buNone/>
            </a:pPr>
            <a:r>
              <a:rPr lang="en-GB" sz="900">
                <a:solidFill>
                  <a:srgbClr val="202123"/>
                </a:solidFill>
                <a:latin typeface="Roboto Light"/>
                <a:ea typeface="Roboto Light"/>
                <a:cs typeface="Roboto Light"/>
                <a:sym typeface="Roboto Light"/>
              </a:rPr>
              <a:t>Your profile has caught our attention. Your domain expertise in technology is someone whom my client is looking for. As such, I would like to share an upcoming opportunity with you. </a:t>
            </a:r>
            <a:endParaRPr sz="900">
              <a:solidFill>
                <a:srgbClr val="202123"/>
              </a:solidFill>
              <a:latin typeface="Roboto Light"/>
              <a:ea typeface="Roboto Light"/>
              <a:cs typeface="Roboto Light"/>
              <a:sym typeface="Roboto Light"/>
            </a:endParaRPr>
          </a:p>
          <a:p>
            <a:pPr marL="0" lvl="0" indent="0" algn="l" rtl="0">
              <a:spcBef>
                <a:spcPts val="0"/>
              </a:spcBef>
              <a:spcAft>
                <a:spcPts val="0"/>
              </a:spcAft>
              <a:buClr>
                <a:schemeClr val="dk1"/>
              </a:buClr>
              <a:buSzPts val="1100"/>
              <a:buFont typeface="Arial"/>
              <a:buNone/>
            </a:pPr>
            <a:endParaRPr sz="900">
              <a:solidFill>
                <a:srgbClr val="202123"/>
              </a:solidFill>
              <a:latin typeface="Roboto Light"/>
              <a:ea typeface="Roboto Light"/>
              <a:cs typeface="Roboto Light"/>
              <a:sym typeface="Roboto Light"/>
            </a:endParaRPr>
          </a:p>
          <a:p>
            <a:pPr marL="0" lvl="0" indent="0" algn="l" rtl="0">
              <a:spcBef>
                <a:spcPts val="0"/>
              </a:spcBef>
              <a:spcAft>
                <a:spcPts val="0"/>
              </a:spcAft>
              <a:buClr>
                <a:schemeClr val="dk1"/>
              </a:buClr>
              <a:buSzPts val="1100"/>
              <a:buFont typeface="Arial"/>
              <a:buNone/>
            </a:pPr>
            <a:r>
              <a:rPr lang="en-GB" sz="900">
                <a:solidFill>
                  <a:srgbClr val="202123"/>
                </a:solidFill>
                <a:latin typeface="Roboto Light"/>
                <a:ea typeface="Roboto Light"/>
                <a:cs typeface="Roboto Light"/>
                <a:sym typeface="Roboto Light"/>
              </a:rPr>
              <a:t>However, before I can share any further, I will need you to sign up this Non-Disclosure Agreement (NDA) document attached in this email.</a:t>
            </a:r>
            <a:endParaRPr sz="900">
              <a:solidFill>
                <a:srgbClr val="202123"/>
              </a:solidFill>
              <a:latin typeface="Roboto Light"/>
              <a:ea typeface="Roboto Light"/>
              <a:cs typeface="Roboto Light"/>
              <a:sym typeface="Roboto Light"/>
            </a:endParaRPr>
          </a:p>
          <a:p>
            <a:pPr marL="0" lvl="0" indent="0" algn="l" rtl="0">
              <a:spcBef>
                <a:spcPts val="0"/>
              </a:spcBef>
              <a:spcAft>
                <a:spcPts val="0"/>
              </a:spcAft>
              <a:buClr>
                <a:schemeClr val="dk1"/>
              </a:buClr>
              <a:buSzPts val="1100"/>
              <a:buFont typeface="Arial"/>
              <a:buNone/>
            </a:pPr>
            <a:endParaRPr sz="900">
              <a:solidFill>
                <a:srgbClr val="202123"/>
              </a:solidFill>
              <a:latin typeface="Roboto Light"/>
              <a:ea typeface="Roboto Light"/>
              <a:cs typeface="Roboto Light"/>
              <a:sym typeface="Roboto Light"/>
            </a:endParaRPr>
          </a:p>
          <a:p>
            <a:pPr marL="0" lvl="0" indent="0" algn="l" rtl="0">
              <a:spcBef>
                <a:spcPts val="0"/>
              </a:spcBef>
              <a:spcAft>
                <a:spcPts val="0"/>
              </a:spcAft>
              <a:buClr>
                <a:schemeClr val="dk1"/>
              </a:buClr>
              <a:buSzPts val="1100"/>
              <a:buFont typeface="Arial"/>
              <a:buNone/>
            </a:pPr>
            <a:r>
              <a:rPr lang="en-GB" sz="900">
                <a:solidFill>
                  <a:srgbClr val="202123"/>
                </a:solidFill>
                <a:latin typeface="Roboto Light"/>
                <a:ea typeface="Roboto Light"/>
                <a:cs typeface="Roboto Light"/>
                <a:sym typeface="Roboto Light"/>
              </a:rPr>
              <a:t>The upcoming opportunity which I will be sharing is of high business sensitivity and I would appreciate if you do not share with anyone on this matter. As this opportunity is time critical, we do hope to hear from you soon!</a:t>
            </a:r>
            <a:endParaRPr sz="900">
              <a:solidFill>
                <a:srgbClr val="202123"/>
              </a:solidFill>
              <a:latin typeface="Roboto Light"/>
              <a:ea typeface="Roboto Light"/>
              <a:cs typeface="Roboto Light"/>
              <a:sym typeface="Roboto Light"/>
            </a:endParaRPr>
          </a:p>
          <a:p>
            <a:pPr marL="0" lvl="0" indent="0" algn="l" rtl="0">
              <a:spcBef>
                <a:spcPts val="0"/>
              </a:spcBef>
              <a:spcAft>
                <a:spcPts val="0"/>
              </a:spcAft>
              <a:buClr>
                <a:schemeClr val="dk1"/>
              </a:buClr>
              <a:buSzPts val="1100"/>
              <a:buFont typeface="Arial"/>
              <a:buNone/>
            </a:pPr>
            <a:endParaRPr sz="900">
              <a:solidFill>
                <a:srgbClr val="202123"/>
              </a:solidFill>
              <a:latin typeface="Roboto Light"/>
              <a:ea typeface="Roboto Light"/>
              <a:cs typeface="Roboto Light"/>
              <a:sym typeface="Roboto Light"/>
            </a:endParaRPr>
          </a:p>
          <a:p>
            <a:pPr marL="0" lvl="0" indent="0" algn="l" rtl="0">
              <a:spcBef>
                <a:spcPts val="0"/>
              </a:spcBef>
              <a:spcAft>
                <a:spcPts val="0"/>
              </a:spcAft>
              <a:buClr>
                <a:schemeClr val="dk1"/>
              </a:buClr>
              <a:buSzPts val="1100"/>
              <a:buFont typeface="Arial"/>
              <a:buNone/>
            </a:pPr>
            <a:r>
              <a:rPr lang="en-GB" sz="900">
                <a:solidFill>
                  <a:srgbClr val="202123"/>
                </a:solidFill>
                <a:latin typeface="Roboto Light"/>
                <a:ea typeface="Roboto Light"/>
                <a:cs typeface="Roboto Light"/>
                <a:sym typeface="Roboto Light"/>
              </a:rPr>
              <a:t>Sincerely,</a:t>
            </a:r>
            <a:endParaRPr sz="900">
              <a:solidFill>
                <a:srgbClr val="202123"/>
              </a:solidFill>
              <a:latin typeface="Roboto Light"/>
              <a:ea typeface="Roboto Light"/>
              <a:cs typeface="Roboto Light"/>
              <a:sym typeface="Roboto Light"/>
            </a:endParaRPr>
          </a:p>
          <a:p>
            <a:pPr marL="0" lvl="0" indent="0" algn="l" rtl="0">
              <a:spcBef>
                <a:spcPts val="0"/>
              </a:spcBef>
              <a:spcAft>
                <a:spcPts val="0"/>
              </a:spcAft>
              <a:buClr>
                <a:schemeClr val="dk1"/>
              </a:buClr>
              <a:buSzPts val="1100"/>
              <a:buFont typeface="Arial"/>
              <a:buNone/>
            </a:pPr>
            <a:endParaRPr sz="900">
              <a:solidFill>
                <a:srgbClr val="202123"/>
              </a:solidFill>
              <a:latin typeface="Roboto Light"/>
              <a:ea typeface="Roboto Light"/>
              <a:cs typeface="Roboto Light"/>
              <a:sym typeface="Roboto Light"/>
            </a:endParaRPr>
          </a:p>
          <a:p>
            <a:pPr marL="0" lvl="0" indent="0" algn="l" rtl="0">
              <a:spcBef>
                <a:spcPts val="0"/>
              </a:spcBef>
              <a:spcAft>
                <a:spcPts val="0"/>
              </a:spcAft>
              <a:buNone/>
            </a:pPr>
            <a:r>
              <a:rPr lang="en-GB" sz="900">
                <a:solidFill>
                  <a:srgbClr val="202123"/>
                </a:solidFill>
                <a:latin typeface="Roboto Light"/>
                <a:ea typeface="Roboto Light"/>
                <a:cs typeface="Roboto Light"/>
                <a:sym typeface="Roboto Light"/>
              </a:rPr>
              <a:t>John Doe</a:t>
            </a:r>
            <a:endParaRPr sz="900">
              <a:solidFill>
                <a:srgbClr val="202123"/>
              </a:solidFill>
              <a:latin typeface="Roboto Light"/>
              <a:ea typeface="Roboto Light"/>
              <a:cs typeface="Roboto Light"/>
              <a:sym typeface="Roboto Light"/>
            </a:endParaRPr>
          </a:p>
          <a:p>
            <a:pPr marL="0" lvl="0" indent="0" algn="l" rtl="0">
              <a:spcBef>
                <a:spcPts val="0"/>
              </a:spcBef>
              <a:spcAft>
                <a:spcPts val="0"/>
              </a:spcAft>
              <a:buNone/>
            </a:pPr>
            <a:endParaRPr sz="900">
              <a:solidFill>
                <a:srgbClr val="202123"/>
              </a:solidFill>
              <a:latin typeface="Roboto Light"/>
              <a:ea typeface="Roboto Light"/>
              <a:cs typeface="Roboto Light"/>
              <a:sym typeface="Roboto Light"/>
            </a:endParaRPr>
          </a:p>
        </p:txBody>
      </p:sp>
      <p:pic>
        <p:nvPicPr>
          <p:cNvPr id="730" name="Google Shape;730;p64"/>
          <p:cNvPicPr preferRelativeResize="0"/>
          <p:nvPr/>
        </p:nvPicPr>
        <p:blipFill>
          <a:blip r:embed="rId3">
            <a:alphaModFix/>
          </a:blip>
          <a:stretch>
            <a:fillRect/>
          </a:stretch>
        </p:blipFill>
        <p:spPr>
          <a:xfrm>
            <a:off x="3068525" y="918775"/>
            <a:ext cx="5819701" cy="2979698"/>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734"/>
        <p:cNvGrpSpPr/>
        <p:nvPr/>
      </p:nvGrpSpPr>
      <p:grpSpPr>
        <a:xfrm>
          <a:off x="0" y="0"/>
          <a:ext cx="0" cy="0"/>
          <a:chOff x="0" y="0"/>
          <a:chExt cx="0" cy="0"/>
        </a:xfrm>
      </p:grpSpPr>
      <p:sp>
        <p:nvSpPr>
          <p:cNvPr id="735" name="Google Shape;735;p65"/>
          <p:cNvSpPr/>
          <p:nvPr/>
        </p:nvSpPr>
        <p:spPr>
          <a:xfrm>
            <a:off x="0" y="120875"/>
            <a:ext cx="4650600" cy="402600"/>
          </a:xfrm>
          <a:prstGeom prst="rect">
            <a:avLst/>
          </a:prstGeom>
          <a:gradFill>
            <a:gsLst>
              <a:gs pos="0">
                <a:srgbClr val="00C0F3"/>
              </a:gs>
              <a:gs pos="100000">
                <a:srgbClr val="008E4E"/>
              </a:gs>
            </a:gsLst>
            <a:lin ang="270000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Lucida Sans"/>
              <a:ea typeface="Lucida Sans"/>
              <a:cs typeface="Lucida Sans"/>
              <a:sym typeface="Lucida Sans"/>
            </a:endParaRPr>
          </a:p>
        </p:txBody>
      </p:sp>
      <p:sp>
        <p:nvSpPr>
          <p:cNvPr id="736" name="Google Shape;736;p6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47</a:t>
            </a:fld>
            <a:endParaRPr/>
          </a:p>
        </p:txBody>
      </p:sp>
      <p:sp>
        <p:nvSpPr>
          <p:cNvPr id="737" name="Google Shape;737;p65"/>
          <p:cNvSpPr txBox="1">
            <a:spLocks noGrp="1"/>
          </p:cNvSpPr>
          <p:nvPr>
            <p:ph type="title"/>
          </p:nvPr>
        </p:nvSpPr>
        <p:spPr>
          <a:xfrm>
            <a:off x="311700" y="73176"/>
            <a:ext cx="49377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Fighting Abuses with Governance</a:t>
            </a:r>
            <a:endParaRPr/>
          </a:p>
        </p:txBody>
      </p:sp>
      <p:grpSp>
        <p:nvGrpSpPr>
          <p:cNvPr id="738" name="Google Shape;738;p65"/>
          <p:cNvGrpSpPr/>
          <p:nvPr/>
        </p:nvGrpSpPr>
        <p:grpSpPr>
          <a:xfrm>
            <a:off x="601225" y="1179775"/>
            <a:ext cx="7941550" cy="2932550"/>
            <a:chOff x="448825" y="1179775"/>
            <a:chExt cx="7941550" cy="2932550"/>
          </a:xfrm>
        </p:grpSpPr>
        <p:sp>
          <p:nvSpPr>
            <p:cNvPr id="739" name="Google Shape;739;p65"/>
            <p:cNvSpPr txBox="1"/>
            <p:nvPr/>
          </p:nvSpPr>
          <p:spPr>
            <a:xfrm>
              <a:off x="448825" y="2763150"/>
              <a:ext cx="3867900" cy="846900"/>
            </a:xfrm>
            <a:prstGeom prst="rect">
              <a:avLst/>
            </a:prstGeom>
            <a:noFill/>
            <a:ln>
              <a:noFill/>
            </a:ln>
          </p:spPr>
          <p:txBody>
            <a:bodyPr spcFirstLastPara="1" wrap="square" lIns="121900" tIns="121900" rIns="121900" bIns="121900" anchor="ctr" anchorCtr="0">
              <a:noAutofit/>
            </a:bodyPr>
            <a:lstStyle/>
            <a:p>
              <a:pPr marL="457200" marR="0" lvl="0" indent="-317500" algn="l" rtl="0">
                <a:lnSpc>
                  <a:spcPct val="90000"/>
                </a:lnSpc>
                <a:spcBef>
                  <a:spcPts val="500"/>
                </a:spcBef>
                <a:spcAft>
                  <a:spcPts val="0"/>
                </a:spcAft>
                <a:buClr>
                  <a:srgbClr val="5E5E5E"/>
                </a:buClr>
                <a:buSzPts val="1400"/>
                <a:buFont typeface="Quattrocento Sans"/>
                <a:buChar char="●"/>
              </a:pPr>
              <a:r>
                <a:rPr lang="en-GB" i="0" u="none" strike="noStrike" cap="none">
                  <a:solidFill>
                    <a:srgbClr val="5E5E5E"/>
                  </a:solidFill>
                  <a:latin typeface="Roboto"/>
                  <a:ea typeface="Roboto"/>
                  <a:cs typeface="Roboto"/>
                  <a:sym typeface="Roboto"/>
                </a:rPr>
                <a:t>Adopt “human in the loop” approach for AI-augmented decision-making </a:t>
              </a:r>
              <a:endParaRPr i="0" u="none" strike="noStrike" cap="none">
                <a:solidFill>
                  <a:srgbClr val="5E5E5E"/>
                </a:solidFill>
                <a:latin typeface="Roboto"/>
                <a:ea typeface="Roboto"/>
                <a:cs typeface="Roboto"/>
                <a:sym typeface="Roboto"/>
              </a:endParaRPr>
            </a:p>
          </p:txBody>
        </p:sp>
        <p:sp>
          <p:nvSpPr>
            <p:cNvPr id="740" name="Google Shape;740;p65"/>
            <p:cNvSpPr txBox="1"/>
            <p:nvPr/>
          </p:nvSpPr>
          <p:spPr>
            <a:xfrm>
              <a:off x="4502075" y="2763150"/>
              <a:ext cx="3888300" cy="906600"/>
            </a:xfrm>
            <a:prstGeom prst="rect">
              <a:avLst/>
            </a:prstGeom>
            <a:noFill/>
            <a:ln>
              <a:noFill/>
            </a:ln>
          </p:spPr>
          <p:txBody>
            <a:bodyPr spcFirstLastPara="1" wrap="square" lIns="121900" tIns="121900" rIns="121900" bIns="121900" anchor="ctr" anchorCtr="0">
              <a:noAutofit/>
            </a:bodyPr>
            <a:lstStyle/>
            <a:p>
              <a:pPr marL="457200" marR="0" lvl="0" indent="-317500" algn="l" rtl="0">
                <a:lnSpc>
                  <a:spcPct val="90000"/>
                </a:lnSpc>
                <a:spcBef>
                  <a:spcPts val="500"/>
                </a:spcBef>
                <a:spcAft>
                  <a:spcPts val="0"/>
                </a:spcAft>
                <a:buClr>
                  <a:srgbClr val="5E5E5E"/>
                </a:buClr>
                <a:buSzPts val="1400"/>
                <a:buFont typeface="Quattrocento Sans"/>
                <a:buChar char="●"/>
              </a:pPr>
              <a:r>
                <a:rPr lang="en-GB" i="0" u="none" strike="noStrike" cap="none">
                  <a:solidFill>
                    <a:srgbClr val="5E5E5E"/>
                  </a:solidFill>
                  <a:latin typeface="Roboto"/>
                  <a:ea typeface="Roboto"/>
                  <a:cs typeface="Roboto"/>
                  <a:sym typeface="Roboto"/>
                </a:rPr>
                <a:t>Ensure traceability and auditability of use</a:t>
              </a:r>
              <a:endParaRPr i="0" u="none" strike="noStrike" cap="none">
                <a:solidFill>
                  <a:srgbClr val="5E5E5E"/>
                </a:solidFill>
                <a:latin typeface="Roboto"/>
                <a:ea typeface="Roboto"/>
                <a:cs typeface="Roboto"/>
                <a:sym typeface="Roboto"/>
              </a:endParaRPr>
            </a:p>
            <a:p>
              <a:pPr marL="457200" marR="0" lvl="0" indent="-317500" algn="l" rtl="0">
                <a:lnSpc>
                  <a:spcPct val="90000"/>
                </a:lnSpc>
                <a:spcBef>
                  <a:spcPts val="0"/>
                </a:spcBef>
                <a:spcAft>
                  <a:spcPts val="0"/>
                </a:spcAft>
                <a:buClr>
                  <a:srgbClr val="5E5E5E"/>
                </a:buClr>
                <a:buSzPts val="1400"/>
                <a:buFont typeface="Roboto"/>
                <a:buChar char="●"/>
              </a:pPr>
              <a:r>
                <a:rPr lang="en-GB" i="0" u="none" strike="noStrike" cap="none">
                  <a:solidFill>
                    <a:srgbClr val="5E5E5E"/>
                  </a:solidFill>
                  <a:latin typeface="Roboto"/>
                  <a:ea typeface="Roboto"/>
                  <a:cs typeface="Roboto"/>
                  <a:sym typeface="Roboto"/>
                </a:rPr>
                <a:t>Enforce acceptable use policies</a:t>
              </a:r>
              <a:endParaRPr i="0" u="none" strike="noStrike" cap="none">
                <a:solidFill>
                  <a:srgbClr val="5E5E5E"/>
                </a:solidFill>
                <a:latin typeface="Roboto"/>
                <a:ea typeface="Roboto"/>
                <a:cs typeface="Roboto"/>
                <a:sym typeface="Roboto"/>
              </a:endParaRPr>
            </a:p>
          </p:txBody>
        </p:sp>
        <p:sp>
          <p:nvSpPr>
            <p:cNvPr id="741" name="Google Shape;741;p65"/>
            <p:cNvSpPr/>
            <p:nvPr/>
          </p:nvSpPr>
          <p:spPr>
            <a:xfrm>
              <a:off x="448825" y="1316875"/>
              <a:ext cx="1329900" cy="741600"/>
            </a:xfrm>
            <a:prstGeom prst="roundRect">
              <a:avLst>
                <a:gd name="adj" fmla="val 16667"/>
              </a:avLst>
            </a:prstGeom>
            <a:solidFill>
              <a:srgbClr val="11648E"/>
            </a:solidFill>
            <a:ln w="9525" cap="flat" cmpd="sng">
              <a:solidFill>
                <a:srgbClr val="11648E"/>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GB" i="0" u="none" strike="noStrike" cap="none">
                  <a:solidFill>
                    <a:srgbClr val="FFFFFF"/>
                  </a:solidFill>
                  <a:latin typeface="Roboto"/>
                  <a:ea typeface="Roboto"/>
                  <a:cs typeface="Roboto"/>
                  <a:sym typeface="Roboto"/>
                </a:rPr>
                <a:t>Everyone</a:t>
              </a:r>
              <a:endParaRPr i="0" u="none" strike="noStrike" cap="none">
                <a:solidFill>
                  <a:srgbClr val="FFFFFF"/>
                </a:solidFill>
                <a:latin typeface="Roboto"/>
                <a:ea typeface="Roboto"/>
                <a:cs typeface="Roboto"/>
                <a:sym typeface="Roboto"/>
              </a:endParaRPr>
            </a:p>
          </p:txBody>
        </p:sp>
        <p:sp>
          <p:nvSpPr>
            <p:cNvPr id="742" name="Google Shape;742;p65"/>
            <p:cNvSpPr txBox="1"/>
            <p:nvPr/>
          </p:nvSpPr>
          <p:spPr>
            <a:xfrm>
              <a:off x="1780775" y="1179775"/>
              <a:ext cx="6589200" cy="1015800"/>
            </a:xfrm>
            <a:prstGeom prst="rect">
              <a:avLst/>
            </a:prstGeom>
            <a:noFill/>
            <a:ln>
              <a:noFill/>
            </a:ln>
          </p:spPr>
          <p:txBody>
            <a:bodyPr spcFirstLastPara="1" wrap="square" lIns="91425" tIns="91425" rIns="91425" bIns="91425" anchor="ctr" anchorCtr="0">
              <a:noAutofit/>
            </a:bodyPr>
            <a:lstStyle/>
            <a:p>
              <a:pPr marL="457200" marR="0" lvl="0" indent="-317500" algn="l" rtl="0">
                <a:lnSpc>
                  <a:spcPct val="90000"/>
                </a:lnSpc>
                <a:spcBef>
                  <a:spcPts val="500"/>
                </a:spcBef>
                <a:spcAft>
                  <a:spcPts val="0"/>
                </a:spcAft>
                <a:buClr>
                  <a:srgbClr val="5E5E5E"/>
                </a:buClr>
                <a:buSzPts val="1400"/>
                <a:buFont typeface="Roboto"/>
                <a:buChar char="●"/>
              </a:pPr>
              <a:r>
                <a:rPr lang="en-GB" i="0" u="none" strike="noStrike" cap="none">
                  <a:solidFill>
                    <a:srgbClr val="5E5E5E"/>
                  </a:solidFill>
                  <a:latin typeface="Roboto"/>
                  <a:ea typeface="Roboto"/>
                  <a:cs typeface="Roboto"/>
                  <a:sym typeface="Roboto"/>
                </a:rPr>
                <a:t>Use Implementation and Self-Assessment Guide for Organizations</a:t>
              </a:r>
              <a:endParaRPr i="0" u="none" strike="noStrike" cap="none">
                <a:solidFill>
                  <a:srgbClr val="5E5E5E"/>
                </a:solidFill>
                <a:latin typeface="Roboto"/>
                <a:ea typeface="Roboto"/>
                <a:cs typeface="Roboto"/>
                <a:sym typeface="Roboto"/>
              </a:endParaRPr>
            </a:p>
            <a:p>
              <a:pPr marL="457200" marR="0" lvl="0" indent="-317500" algn="l" rtl="0">
                <a:lnSpc>
                  <a:spcPct val="90000"/>
                </a:lnSpc>
                <a:spcBef>
                  <a:spcPts val="0"/>
                </a:spcBef>
                <a:spcAft>
                  <a:spcPts val="0"/>
                </a:spcAft>
                <a:buClr>
                  <a:srgbClr val="5E5E5E"/>
                </a:buClr>
                <a:buSzPts val="1400"/>
                <a:buFont typeface="Roboto"/>
                <a:buChar char="●"/>
              </a:pPr>
              <a:r>
                <a:rPr lang="en-GB" i="0" u="none" strike="noStrike" cap="none">
                  <a:solidFill>
                    <a:srgbClr val="5E5E5E"/>
                  </a:solidFill>
                  <a:latin typeface="Roboto"/>
                  <a:ea typeface="Roboto"/>
                  <a:cs typeface="Roboto"/>
                  <a:sym typeface="Roboto"/>
                </a:rPr>
                <a:t>Policy for explanation and practice general disclosure of use</a:t>
              </a:r>
              <a:endParaRPr i="0" u="none" strike="noStrike" cap="none">
                <a:solidFill>
                  <a:srgbClr val="5E5E5E"/>
                </a:solidFill>
                <a:latin typeface="Roboto"/>
                <a:ea typeface="Roboto"/>
                <a:cs typeface="Roboto"/>
                <a:sym typeface="Roboto"/>
              </a:endParaRPr>
            </a:p>
            <a:p>
              <a:pPr marL="457200" marR="0" lvl="0" indent="-317500" algn="l" rtl="0">
                <a:lnSpc>
                  <a:spcPct val="90000"/>
                </a:lnSpc>
                <a:spcBef>
                  <a:spcPts val="0"/>
                </a:spcBef>
                <a:spcAft>
                  <a:spcPts val="0"/>
                </a:spcAft>
                <a:buClr>
                  <a:srgbClr val="5E5E5E"/>
                </a:buClr>
                <a:buSzPts val="1400"/>
                <a:buFont typeface="Roboto"/>
                <a:buChar char="●"/>
              </a:pPr>
              <a:r>
                <a:rPr lang="en-GB" i="0" u="none" strike="noStrike" cap="none">
                  <a:solidFill>
                    <a:srgbClr val="5E5E5E"/>
                  </a:solidFill>
                  <a:latin typeface="Roboto"/>
                  <a:ea typeface="Roboto"/>
                  <a:cs typeface="Roboto"/>
                  <a:sym typeface="Roboto"/>
                </a:rPr>
                <a:t>Ethical evaluation</a:t>
              </a:r>
              <a:endParaRPr i="0" u="none" strike="noStrike" cap="none">
                <a:solidFill>
                  <a:srgbClr val="5E5E5E"/>
                </a:solidFill>
                <a:latin typeface="Roboto"/>
                <a:ea typeface="Roboto"/>
                <a:cs typeface="Roboto"/>
                <a:sym typeface="Roboto"/>
              </a:endParaRPr>
            </a:p>
            <a:p>
              <a:pPr marL="457200" marR="0" lvl="0" indent="-317500" algn="l" rtl="0">
                <a:lnSpc>
                  <a:spcPct val="90000"/>
                </a:lnSpc>
                <a:spcBef>
                  <a:spcPts val="0"/>
                </a:spcBef>
                <a:spcAft>
                  <a:spcPts val="0"/>
                </a:spcAft>
                <a:buClr>
                  <a:srgbClr val="5E5E5E"/>
                </a:buClr>
                <a:buSzPts val="1400"/>
                <a:buFont typeface="Roboto"/>
                <a:buChar char="●"/>
              </a:pPr>
              <a:r>
                <a:rPr lang="en-GB" i="0" u="none" strike="noStrike" cap="none">
                  <a:solidFill>
                    <a:srgbClr val="5E5E5E"/>
                  </a:solidFill>
                  <a:latin typeface="Roboto"/>
                  <a:ea typeface="Roboto"/>
                  <a:cs typeface="Roboto"/>
                  <a:sym typeface="Roboto"/>
                </a:rPr>
                <a:t>Implement clear roles and responsibilities for the ethical deployment of AI</a:t>
              </a:r>
              <a:endParaRPr i="0" u="none" strike="noStrike" cap="none">
                <a:solidFill>
                  <a:srgbClr val="5E5E5E"/>
                </a:solidFill>
                <a:latin typeface="Roboto"/>
                <a:ea typeface="Roboto"/>
                <a:cs typeface="Roboto"/>
                <a:sym typeface="Roboto"/>
              </a:endParaRPr>
            </a:p>
          </p:txBody>
        </p:sp>
        <p:sp>
          <p:nvSpPr>
            <p:cNvPr id="743" name="Google Shape;743;p65"/>
            <p:cNvSpPr/>
            <p:nvPr/>
          </p:nvSpPr>
          <p:spPr>
            <a:xfrm>
              <a:off x="448825" y="2373975"/>
              <a:ext cx="3888300" cy="300600"/>
            </a:xfrm>
            <a:prstGeom prst="roundRect">
              <a:avLst>
                <a:gd name="adj" fmla="val 16667"/>
              </a:avLst>
            </a:prstGeom>
            <a:solidFill>
              <a:srgbClr val="0095AF"/>
            </a:solidFill>
            <a:ln w="9525" cap="flat" cmpd="sng">
              <a:solidFill>
                <a:srgbClr val="0095A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GB" i="0" u="none" strike="noStrike" cap="none">
                  <a:solidFill>
                    <a:srgbClr val="FFFFFF"/>
                  </a:solidFill>
                  <a:latin typeface="Roboto"/>
                  <a:ea typeface="Roboto"/>
                  <a:cs typeface="Roboto"/>
                  <a:sym typeface="Roboto"/>
                </a:rPr>
                <a:t>Consumers</a:t>
              </a:r>
              <a:endParaRPr i="0" u="none" strike="noStrike" cap="none">
                <a:solidFill>
                  <a:srgbClr val="FFFFFF"/>
                </a:solidFill>
                <a:latin typeface="Roboto"/>
                <a:ea typeface="Roboto"/>
                <a:cs typeface="Roboto"/>
                <a:sym typeface="Roboto"/>
              </a:endParaRPr>
            </a:p>
          </p:txBody>
        </p:sp>
        <p:sp>
          <p:nvSpPr>
            <p:cNvPr id="744" name="Google Shape;744;p65"/>
            <p:cNvSpPr/>
            <p:nvPr/>
          </p:nvSpPr>
          <p:spPr>
            <a:xfrm>
              <a:off x="4481675" y="2373975"/>
              <a:ext cx="3888300" cy="300600"/>
            </a:xfrm>
            <a:prstGeom prst="roundRect">
              <a:avLst>
                <a:gd name="adj" fmla="val 16667"/>
              </a:avLst>
            </a:prstGeom>
            <a:solidFill>
              <a:srgbClr val="0095AF"/>
            </a:solidFill>
            <a:ln w="9525" cap="flat" cmpd="sng">
              <a:solidFill>
                <a:srgbClr val="0095A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GB" i="0" u="none" strike="noStrike" cap="none">
                  <a:solidFill>
                    <a:srgbClr val="FFFFFF"/>
                  </a:solidFill>
                  <a:latin typeface="Roboto"/>
                  <a:ea typeface="Roboto"/>
                  <a:cs typeface="Roboto"/>
                  <a:sym typeface="Roboto"/>
                </a:rPr>
                <a:t>Suppliers</a:t>
              </a:r>
              <a:endParaRPr i="0" u="none" strike="noStrike" cap="none">
                <a:solidFill>
                  <a:srgbClr val="FFFFFF"/>
                </a:solidFill>
                <a:latin typeface="Roboto"/>
                <a:ea typeface="Roboto"/>
                <a:cs typeface="Roboto"/>
                <a:sym typeface="Roboto"/>
              </a:endParaRPr>
            </a:p>
          </p:txBody>
        </p:sp>
        <p:sp>
          <p:nvSpPr>
            <p:cNvPr id="745" name="Google Shape;745;p65"/>
            <p:cNvSpPr txBox="1"/>
            <p:nvPr/>
          </p:nvSpPr>
          <p:spPr>
            <a:xfrm>
              <a:off x="448825" y="3758325"/>
              <a:ext cx="5045700" cy="354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GB" sz="1100" i="1" u="none" strike="noStrike" cap="none">
                  <a:solidFill>
                    <a:srgbClr val="000000"/>
                  </a:solidFill>
                  <a:latin typeface="Roboto Light"/>
                  <a:ea typeface="Roboto Light"/>
                  <a:cs typeface="Roboto Light"/>
                  <a:sym typeface="Roboto Light"/>
                </a:rPr>
                <a:t>Personal Data Protection Commission, “Model AI Governance Framework,” 2020</a:t>
              </a:r>
              <a:endParaRPr sz="1100" i="1" u="none" strike="noStrike" cap="none">
                <a:solidFill>
                  <a:srgbClr val="000000"/>
                </a:solidFill>
                <a:latin typeface="Roboto Light"/>
                <a:ea typeface="Roboto Light"/>
                <a:cs typeface="Roboto Light"/>
                <a:sym typeface="Roboto Light"/>
              </a:endParaRPr>
            </a:p>
          </p:txBody>
        </p:sp>
      </p:grpSp>
      <p:sp>
        <p:nvSpPr>
          <p:cNvPr id="746" name="Google Shape;746;p65"/>
          <p:cNvSpPr txBox="1"/>
          <p:nvPr/>
        </p:nvSpPr>
        <p:spPr>
          <a:xfrm>
            <a:off x="264000" y="760000"/>
            <a:ext cx="8616000" cy="387000"/>
          </a:xfrm>
          <a:prstGeom prst="rect">
            <a:avLst/>
          </a:prstGeom>
          <a:noFill/>
          <a:ln>
            <a:noFill/>
          </a:ln>
        </p:spPr>
        <p:txBody>
          <a:bodyPr spcFirstLastPara="1" wrap="square" lIns="121900" tIns="121900" rIns="121900" bIns="121900" anchor="ctr" anchorCtr="0">
            <a:noAutofit/>
          </a:bodyPr>
          <a:lstStyle/>
          <a:p>
            <a:pPr marL="0" marR="0" lvl="0" indent="0" algn="ctr" rtl="0">
              <a:lnSpc>
                <a:spcPct val="115000"/>
              </a:lnSpc>
              <a:spcBef>
                <a:spcPts val="0"/>
              </a:spcBef>
              <a:spcAft>
                <a:spcPts val="0"/>
              </a:spcAft>
              <a:buClr>
                <a:srgbClr val="000000"/>
              </a:buClr>
              <a:buSzPts val="1700"/>
              <a:buFont typeface="Arial"/>
              <a:buNone/>
            </a:pPr>
            <a:r>
              <a:rPr lang="en-GB" sz="1600" b="1" i="0" u="none" strike="noStrike" cap="none">
                <a:solidFill>
                  <a:srgbClr val="000000"/>
                </a:solidFill>
                <a:latin typeface="Roboto"/>
                <a:ea typeface="Roboto"/>
                <a:cs typeface="Roboto"/>
                <a:sym typeface="Roboto"/>
              </a:rPr>
              <a:t>Key applicable recommendations from Singapore’s Model AI Governance Framework</a:t>
            </a:r>
            <a:endParaRPr sz="1600" b="1" i="0" u="none" strike="noStrike" cap="none">
              <a:solidFill>
                <a:srgbClr val="000000"/>
              </a:solidFill>
              <a:latin typeface="Roboto"/>
              <a:ea typeface="Roboto"/>
              <a:cs typeface="Roboto"/>
              <a:sym typeface="Roboto"/>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750"/>
        <p:cNvGrpSpPr/>
        <p:nvPr/>
      </p:nvGrpSpPr>
      <p:grpSpPr>
        <a:xfrm>
          <a:off x="0" y="0"/>
          <a:ext cx="0" cy="0"/>
          <a:chOff x="0" y="0"/>
          <a:chExt cx="0" cy="0"/>
        </a:xfrm>
      </p:grpSpPr>
      <p:sp>
        <p:nvSpPr>
          <p:cNvPr id="751" name="Google Shape;751;p66"/>
          <p:cNvSpPr txBox="1">
            <a:spLocks noGrp="1"/>
          </p:cNvSpPr>
          <p:nvPr>
            <p:ph type="title"/>
          </p:nvPr>
        </p:nvSpPr>
        <p:spPr>
          <a:xfrm>
            <a:off x="490250" y="2805450"/>
            <a:ext cx="8477100" cy="10512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GB"/>
              <a:t>Conclusion</a:t>
            </a:r>
            <a:endParaRPr/>
          </a:p>
        </p:txBody>
      </p:sp>
      <p:sp>
        <p:nvSpPr>
          <p:cNvPr id="752" name="Google Shape;752;p6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48</a:t>
            </a:fld>
            <a:endParaRPr/>
          </a:p>
        </p:txBody>
      </p:sp>
      <p:sp>
        <p:nvSpPr>
          <p:cNvPr id="753" name="Google Shape;753;p66"/>
          <p:cNvSpPr txBox="1">
            <a:spLocks noGrp="1"/>
          </p:cNvSpPr>
          <p:nvPr>
            <p:ph type="subTitle" idx="1"/>
          </p:nvPr>
        </p:nvSpPr>
        <p:spPr>
          <a:xfrm>
            <a:off x="490250" y="3596125"/>
            <a:ext cx="6367800" cy="480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Our Parting Words</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757"/>
        <p:cNvGrpSpPr/>
        <p:nvPr/>
      </p:nvGrpSpPr>
      <p:grpSpPr>
        <a:xfrm>
          <a:off x="0" y="0"/>
          <a:ext cx="0" cy="0"/>
          <a:chOff x="0" y="0"/>
          <a:chExt cx="0" cy="0"/>
        </a:xfrm>
      </p:grpSpPr>
      <p:sp>
        <p:nvSpPr>
          <p:cNvPr id="758" name="Google Shape;758;p67"/>
          <p:cNvSpPr/>
          <p:nvPr/>
        </p:nvSpPr>
        <p:spPr>
          <a:xfrm>
            <a:off x="0" y="120875"/>
            <a:ext cx="2443200" cy="402600"/>
          </a:xfrm>
          <a:prstGeom prst="rect">
            <a:avLst/>
          </a:prstGeom>
          <a:gradFill>
            <a:gsLst>
              <a:gs pos="0">
                <a:srgbClr val="00C0F3"/>
              </a:gs>
              <a:gs pos="100000">
                <a:srgbClr val="008E4E"/>
              </a:gs>
            </a:gsLst>
            <a:lin ang="2700006"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rgbClr val="FFFFFF"/>
              </a:solidFill>
              <a:latin typeface="Lucida Sans"/>
              <a:ea typeface="Lucida Sans"/>
              <a:cs typeface="Lucida Sans"/>
              <a:sym typeface="Lucida Sans"/>
            </a:endParaRPr>
          </a:p>
        </p:txBody>
      </p:sp>
      <p:sp>
        <p:nvSpPr>
          <p:cNvPr id="759" name="Google Shape;759;p67"/>
          <p:cNvSpPr txBox="1">
            <a:spLocks noGrp="1"/>
          </p:cNvSpPr>
          <p:nvPr>
            <p:ph type="body" idx="1"/>
          </p:nvPr>
        </p:nvSpPr>
        <p:spPr>
          <a:xfrm>
            <a:off x="311700" y="908675"/>
            <a:ext cx="8520600" cy="36603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AutoNum type="arabicPeriod"/>
            </a:pPr>
            <a:r>
              <a:rPr lang="en-GB"/>
              <a:t>The rapid growth of AIaaS has placed advanced, cost-effective AI text generation capabilities in the hands of the global market. </a:t>
            </a:r>
            <a:endParaRPr/>
          </a:p>
          <a:p>
            <a:pPr marL="457200" lvl="0" indent="0" algn="l" rtl="0">
              <a:spcBef>
                <a:spcPts val="0"/>
              </a:spcBef>
              <a:spcAft>
                <a:spcPts val="0"/>
              </a:spcAft>
              <a:buNone/>
            </a:pPr>
            <a:r>
              <a:rPr lang="en-GB" sz="1500" i="1">
                <a:solidFill>
                  <a:srgbClr val="A5A5A5"/>
                </a:solidFill>
              </a:rPr>
              <a:t>These capabilities can be used to deliver both authorised and malicious phishing campaigns.</a:t>
            </a:r>
            <a:endParaRPr sz="1500" i="1">
              <a:solidFill>
                <a:srgbClr val="A5A5A5"/>
              </a:solidFill>
            </a:endParaRPr>
          </a:p>
          <a:p>
            <a:pPr marL="457200" lvl="0" indent="-342900" algn="l" rtl="0">
              <a:spcBef>
                <a:spcPts val="1200"/>
              </a:spcBef>
              <a:spcAft>
                <a:spcPts val="0"/>
              </a:spcAft>
              <a:buSzPts val="1800"/>
              <a:buAutoNum type="arabicPeriod"/>
            </a:pPr>
            <a:r>
              <a:rPr lang="en-GB"/>
              <a:t>While automated tools can be used  to build defenses against AI-generated text, current approaches are brittle and model-dependent. </a:t>
            </a:r>
            <a:endParaRPr/>
          </a:p>
          <a:p>
            <a:pPr marL="457200" lvl="0" indent="0" algn="l" rtl="0">
              <a:spcBef>
                <a:spcPts val="0"/>
              </a:spcBef>
              <a:spcAft>
                <a:spcPts val="0"/>
              </a:spcAft>
              <a:buNone/>
            </a:pPr>
            <a:r>
              <a:rPr lang="en-GB" sz="1500" i="1">
                <a:solidFill>
                  <a:srgbClr val="A5A5A5"/>
                </a:solidFill>
              </a:rPr>
              <a:t>AI-assisted human detection of AI-generated text could be more effective.</a:t>
            </a:r>
            <a:endParaRPr sz="1500" i="1">
              <a:solidFill>
                <a:srgbClr val="A5A5A5"/>
              </a:solidFill>
            </a:endParaRPr>
          </a:p>
          <a:p>
            <a:pPr marL="457200" lvl="0" indent="-342900" algn="l" rtl="0">
              <a:spcBef>
                <a:spcPts val="1200"/>
              </a:spcBef>
              <a:spcAft>
                <a:spcPts val="0"/>
              </a:spcAft>
              <a:buSzPts val="1800"/>
              <a:buAutoNum type="arabicPeriod"/>
            </a:pPr>
            <a:r>
              <a:rPr lang="en-GB"/>
              <a:t>Decision makers have the responsibility to implement sound strategies governing the supply and consumption of advanced AIaaS.</a:t>
            </a:r>
            <a:endParaRPr/>
          </a:p>
          <a:p>
            <a:pPr marL="457200" lvl="0" indent="0" algn="l" rtl="0">
              <a:spcBef>
                <a:spcPts val="0"/>
              </a:spcBef>
              <a:spcAft>
                <a:spcPts val="1200"/>
              </a:spcAft>
              <a:buNone/>
            </a:pPr>
            <a:r>
              <a:rPr lang="en-GB" sz="1500" i="1">
                <a:solidFill>
                  <a:srgbClr val="A5A5A5"/>
                </a:solidFill>
              </a:rPr>
              <a:t>Tightening the usage of advanced AIaaS can potentially reduce the likelihood of abuse.</a:t>
            </a:r>
            <a:endParaRPr/>
          </a:p>
        </p:txBody>
      </p:sp>
      <p:sp>
        <p:nvSpPr>
          <p:cNvPr id="760" name="Google Shape;760;p6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49</a:t>
            </a:fld>
            <a:endParaRPr/>
          </a:p>
        </p:txBody>
      </p:sp>
      <p:sp>
        <p:nvSpPr>
          <p:cNvPr id="761" name="Google Shape;761;p67"/>
          <p:cNvSpPr txBox="1">
            <a:spLocks noGrp="1"/>
          </p:cNvSpPr>
          <p:nvPr>
            <p:ph type="title"/>
          </p:nvPr>
        </p:nvSpPr>
        <p:spPr>
          <a:xfrm>
            <a:off x="311700" y="73175"/>
            <a:ext cx="20028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Key Takeaways</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765"/>
        <p:cNvGrpSpPr/>
        <p:nvPr/>
      </p:nvGrpSpPr>
      <p:grpSpPr>
        <a:xfrm>
          <a:off x="0" y="0"/>
          <a:ext cx="0" cy="0"/>
          <a:chOff x="0" y="0"/>
          <a:chExt cx="0" cy="0"/>
        </a:xfrm>
      </p:grpSpPr>
      <p:sp>
        <p:nvSpPr>
          <p:cNvPr id="766" name="Google Shape;766;p68"/>
          <p:cNvSpPr txBox="1">
            <a:spLocks noGrp="1"/>
          </p:cNvSpPr>
          <p:nvPr>
            <p:ph type="ctrTitle"/>
          </p:nvPr>
        </p:nvSpPr>
        <p:spPr>
          <a:xfrm>
            <a:off x="311700" y="2004575"/>
            <a:ext cx="8520600" cy="7926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GB"/>
              <a:t>THANK YOU</a:t>
            </a:r>
            <a:endParaRPr/>
          </a:p>
        </p:txBody>
      </p:sp>
      <p:sp>
        <p:nvSpPr>
          <p:cNvPr id="767" name="Google Shape;767;p68"/>
          <p:cNvSpPr txBox="1">
            <a:spLocks noGrp="1"/>
          </p:cNvSpPr>
          <p:nvPr>
            <p:ph type="subTitle" idx="1"/>
          </p:nvPr>
        </p:nvSpPr>
        <p:spPr>
          <a:xfrm>
            <a:off x="311700" y="2797175"/>
            <a:ext cx="3246000" cy="18165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en-GB"/>
              <a:t>For any enquiries, please contact:</a:t>
            </a:r>
            <a:endParaRPr/>
          </a:p>
          <a:p>
            <a:pPr marL="0" lvl="0" indent="0" algn="l" rtl="0">
              <a:spcBef>
                <a:spcPts val="0"/>
              </a:spcBef>
              <a:spcAft>
                <a:spcPts val="0"/>
              </a:spcAft>
              <a:buNone/>
            </a:pPr>
            <a:endParaRPr/>
          </a:p>
          <a:p>
            <a:pPr marL="0" lvl="0" indent="0" algn="l" rtl="0">
              <a:lnSpc>
                <a:spcPct val="100000"/>
              </a:lnSpc>
              <a:spcBef>
                <a:spcPts val="0"/>
              </a:spcBef>
              <a:spcAft>
                <a:spcPts val="0"/>
              </a:spcAft>
              <a:buNone/>
            </a:pPr>
            <a:r>
              <a:rPr lang="en-GB"/>
              <a:t>www.tech.gov.sg</a:t>
            </a:r>
            <a:endParaRPr/>
          </a:p>
          <a:p>
            <a:pPr marL="0" lvl="0" indent="0" algn="l" rtl="0">
              <a:lnSpc>
                <a:spcPct val="100000"/>
              </a:lnSpc>
              <a:spcBef>
                <a:spcPts val="700"/>
              </a:spcBef>
              <a:spcAft>
                <a:spcPts val="0"/>
              </a:spcAft>
              <a:buNone/>
            </a:pPr>
            <a:r>
              <a:rPr lang="en-GB"/>
              <a:t>@GovTechSG </a:t>
            </a:r>
            <a:endParaRPr/>
          </a:p>
          <a:p>
            <a:pPr marL="0" lvl="0" indent="0" algn="l" rtl="0">
              <a:lnSpc>
                <a:spcPct val="100000"/>
              </a:lnSpc>
              <a:spcBef>
                <a:spcPts val="700"/>
              </a:spcBef>
              <a:spcAft>
                <a:spcPts val="0"/>
              </a:spcAft>
              <a:buNone/>
            </a:pPr>
            <a:r>
              <a:rPr lang="en-GB"/>
              <a:t>Facebook.com/GovTechSG</a:t>
            </a:r>
            <a:endParaRPr/>
          </a:p>
          <a:p>
            <a:pPr marL="0" lvl="0" indent="0" algn="ctr" rtl="0">
              <a:spcBef>
                <a:spcPts val="700"/>
              </a:spcBef>
              <a:spcAft>
                <a:spcPts val="0"/>
              </a:spcAft>
              <a:buNone/>
            </a:pP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3035</Words>
  <PresentationFormat>On-screen Show (16:9)</PresentationFormat>
  <Paragraphs>514</Paragraphs>
  <Slides>50</Slides>
  <Notes>50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50</vt:i4>
      </vt:variant>
    </vt:vector>
  </HeadingPairs>
  <TitlesOfParts>
    <vt:vector size="60" baseType="lpstr">
      <vt:lpstr>Noto Sans Symbols</vt:lpstr>
      <vt:lpstr>Courier New</vt:lpstr>
      <vt:lpstr>Roboto Light</vt:lpstr>
      <vt:lpstr>Roboto Medium</vt:lpstr>
      <vt:lpstr>Arial</vt:lpstr>
      <vt:lpstr>Roboto Thin</vt:lpstr>
      <vt:lpstr>Roboto</vt:lpstr>
      <vt:lpstr>Lucida Sans</vt:lpstr>
      <vt:lpstr>Quattrocento Sans</vt:lpstr>
      <vt:lpstr>Simple Light</vt:lpstr>
      <vt:lpstr>Hacking Humans with AI as a Service</vt:lpstr>
      <vt:lpstr>Meet the Team</vt:lpstr>
      <vt:lpstr>Meet the Team</vt:lpstr>
      <vt:lpstr>Meet the Team</vt:lpstr>
      <vt:lpstr>Meet the Team</vt:lpstr>
      <vt:lpstr>Overview</vt:lpstr>
      <vt:lpstr>Hacking Humans - The Traditional Way</vt:lpstr>
      <vt:lpstr>Social Engineering 101</vt:lpstr>
      <vt:lpstr>Social Engineering 101</vt:lpstr>
      <vt:lpstr>Social Engineering 101</vt:lpstr>
      <vt:lpstr>PowerPoint Presentation</vt:lpstr>
      <vt:lpstr>PowerPoint Presentation</vt:lpstr>
      <vt:lpstr>PowerPoint Presentation</vt:lpstr>
      <vt:lpstr>PowerPoint Presentation</vt:lpstr>
      <vt:lpstr>PowerPoint Presentation</vt:lpstr>
      <vt:lpstr>The AI Market Landscape</vt:lpstr>
      <vt:lpstr>AI as a Service</vt:lpstr>
      <vt:lpstr>AIaaS for Human Resources Functions</vt:lpstr>
      <vt:lpstr>Unleashing OpenAI’s GPT-3 API</vt:lpstr>
      <vt:lpstr>Accessibility of OpenAI’s GPT-3 API</vt:lpstr>
      <vt:lpstr>OpenAI’s GPT3 Models</vt:lpstr>
      <vt:lpstr>A Sneak Peak to OpenAI’s Playground</vt:lpstr>
      <vt:lpstr>A Primer to OpenAI’s GPT3 Capability</vt:lpstr>
      <vt:lpstr>A Primer to OpenAI’s GPT3 Capability</vt:lpstr>
      <vt:lpstr>Hacking Humans - The AI Way</vt:lpstr>
      <vt:lpstr>Piecing Everything Together For Phishing Delivery</vt:lpstr>
      <vt:lpstr>Piecing Everything Together For Phishing Delivery</vt:lpstr>
      <vt:lpstr>Piecing Everything Together For Phishing Delivery</vt:lpstr>
      <vt:lpstr>Piecing Everything Together For Phishing Delivery</vt:lpstr>
      <vt:lpstr>Piecing Everything Together For Phishing Delivery</vt:lpstr>
      <vt:lpstr>Our Experiments</vt:lpstr>
      <vt:lpstr>Type 1 Experiment Setup</vt:lpstr>
      <vt:lpstr>Type 1 Experiment (Stage 1) Results</vt:lpstr>
      <vt:lpstr>Type 1 Experiment (Stage 2) Results</vt:lpstr>
      <vt:lpstr>Type 2 Experiment Setup and Results</vt:lpstr>
      <vt:lpstr>Key Observations From The Experiments</vt:lpstr>
      <vt:lpstr>Protecting the Hoomans</vt:lpstr>
      <vt:lpstr>Detecting Synthetic Text</vt:lpstr>
      <vt:lpstr>Using GLTR Approach To Detect</vt:lpstr>
      <vt:lpstr>Building A Zero-Shot Detector That Extends GLTR</vt:lpstr>
      <vt:lpstr>Using GLTR Metrics To Distinguish Synthetic Text</vt:lpstr>
      <vt:lpstr>Using GLTR Metrics To Distinguish Synthetic Text</vt:lpstr>
      <vt:lpstr>Using OpenAI’s GPT3 To Detect Synthetic Text</vt:lpstr>
      <vt:lpstr>Using OpenAI’s GPT3 To Detect Synthetic Text</vt:lpstr>
      <vt:lpstr>Using OpenAI’s GPT3 To Detect Synthetic Text</vt:lpstr>
      <vt:lpstr>Using OpenAI’s GPT3 To Detect Synthetic Text</vt:lpstr>
      <vt:lpstr>Fighting Abuses with Governance</vt:lpstr>
      <vt:lpstr>Conclusion</vt:lpstr>
      <vt:lpstr>Key Takeaways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modified xsi:type="dcterms:W3CDTF">2021-07-17T13:11:23Z</dcterms:modified>
</cp:coreProperties>
</file>