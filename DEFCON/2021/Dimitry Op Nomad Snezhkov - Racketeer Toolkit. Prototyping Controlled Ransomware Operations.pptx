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26" r:id="rId2"/>
    <p:sldId id="336" r:id="rId3"/>
    <p:sldId id="369" r:id="rId4"/>
    <p:sldId id="337" r:id="rId5"/>
    <p:sldId id="353" r:id="rId6"/>
    <p:sldId id="266" r:id="rId7"/>
    <p:sldId id="377" r:id="rId8"/>
    <p:sldId id="378" r:id="rId9"/>
    <p:sldId id="379" r:id="rId10"/>
    <p:sldId id="380" r:id="rId11"/>
    <p:sldId id="381" r:id="rId12"/>
    <p:sldId id="382" r:id="rId13"/>
    <p:sldId id="334" r:id="rId14"/>
    <p:sldId id="383" r:id="rId15"/>
    <p:sldId id="363" r:id="rId16"/>
    <p:sldId id="33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01"/>
    <a:srgbClr val="B60101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C65D0-46F9-EA4D-A796-D7E0D6D23F23}" v="63" dt="2021-07-11T05:01:40.145"/>
    <p1510:client id="{E7E6762B-CEC8-4B11-9F7E-E353597E35B3}" v="6" dt="2021-07-12T16:44:14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zhkov, Dimitry (10110)" userId="99557e5f-bf3b-4042-a71b-c4a0c79299cb" providerId="ADAL" clId="{E7E6762B-CEC8-4B11-9F7E-E353597E35B3}"/>
    <pc:docChg chg="undo custSel modSld">
      <pc:chgData name="Snezhkov, Dimitry (10110)" userId="99557e5f-bf3b-4042-a71b-c4a0c79299cb" providerId="ADAL" clId="{E7E6762B-CEC8-4B11-9F7E-E353597E35B3}" dt="2021-07-12T16:44:14.714" v="4" actId="1076"/>
      <pc:docMkLst>
        <pc:docMk/>
      </pc:docMkLst>
      <pc:sldChg chg="modSp mod">
        <pc:chgData name="Snezhkov, Dimitry (10110)" userId="99557e5f-bf3b-4042-a71b-c4a0c79299cb" providerId="ADAL" clId="{E7E6762B-CEC8-4B11-9F7E-E353597E35B3}" dt="2021-07-12T16:44:10.458" v="2" actId="1035"/>
        <pc:sldMkLst>
          <pc:docMk/>
          <pc:sldMk cId="4186218660" sldId="333"/>
        </pc:sldMkLst>
        <pc:spChg chg="mod">
          <ac:chgData name="Snezhkov, Dimitry (10110)" userId="99557e5f-bf3b-4042-a71b-c4a0c79299cb" providerId="ADAL" clId="{E7E6762B-CEC8-4B11-9F7E-E353597E35B3}" dt="2021-07-12T16:44:10.458" v="2" actId="1035"/>
          <ac:spMkLst>
            <pc:docMk/>
            <pc:sldMk cId="4186218660" sldId="333"/>
            <ac:spMk id="6" creationId="{C80A61CB-B624-8945-82C1-11DCD3F1FB5C}"/>
          </ac:spMkLst>
        </pc:spChg>
      </pc:sldChg>
      <pc:sldChg chg="modSp mod">
        <pc:chgData name="Snezhkov, Dimitry (10110)" userId="99557e5f-bf3b-4042-a71b-c4a0c79299cb" providerId="ADAL" clId="{E7E6762B-CEC8-4B11-9F7E-E353597E35B3}" dt="2021-07-12T16:44:14.714" v="4" actId="1076"/>
        <pc:sldMkLst>
          <pc:docMk/>
          <pc:sldMk cId="1550630742" sldId="334"/>
        </pc:sldMkLst>
        <pc:picChg chg="mod">
          <ac:chgData name="Snezhkov, Dimitry (10110)" userId="99557e5f-bf3b-4042-a71b-c4a0c79299cb" providerId="ADAL" clId="{E7E6762B-CEC8-4B11-9F7E-E353597E35B3}" dt="2021-07-12T16:44:14.714" v="4" actId="1076"/>
          <ac:picMkLst>
            <pc:docMk/>
            <pc:sldMk cId="1550630742" sldId="334"/>
            <ac:picMk id="8" creationId="{D00C1714-BA73-884C-8F9E-C485459D8B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664B1-44DF-A14A-93B1-A50DF586A71C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8F5BF-FF36-9A44-A7DA-A1DBA304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64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79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06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define an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63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06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39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4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45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5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2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96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27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8F5BF-FF36-9A44-A7DA-A1DBA30495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5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D523-E6A6-7D46-A905-4EBAABEDD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5F261-FAE1-7743-8A60-6E1BC48A8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78F33-3110-C542-84A2-C6C9E2D6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8748-2F72-9F42-8696-278F7F90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D0FF7-130F-124C-837A-DD40F54B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66480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FA4A-20B5-F545-8D16-A5CD56D2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8F564-ECCA-1E4B-80FC-6767ADDBF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F3211-B36B-334C-A688-666B5E0CF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BB5C2-6518-E54A-8DB4-54DBB1528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50E25-6067-CC40-A9F8-EBC8BC39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50279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E59C-BA2F-E349-A46D-0FF82D4F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2714C-798C-A040-A1FC-92211B8F5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7970-CCEE-774E-9183-6F1ABA58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DF0F-FA44-7145-8B05-9C331951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6AB09-CB04-FB4E-BD65-D110AFE4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82237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BC6A-8BFD-B94C-AFF3-1125B400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0761-A882-5542-8A81-3C8572EBA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AC2CA-5B50-934D-BFE2-1303D287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533C0-AA29-A34A-ACF6-66318388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3C569-00FF-A143-B130-1A5C23FF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26BCA-D835-9348-9C00-05F4A6C5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3278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A1A6-9F13-7541-9651-3C9139FF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7B34E-EF0E-6B45-8B42-13E5C0693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70754-D3F2-8B47-9ED9-40C70BD9A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DBBAA-EE28-7948-A13E-764A1BA8D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560FC-B385-FF4E-BE6D-C911D37D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1DFCA-4DB7-1C4B-BA0F-98573AB7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7F630-2AA8-E545-9084-734662885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7C6E6-8AD3-6145-8097-C362B149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6442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ABD2-50ED-8E45-A04E-DA757697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D63EA-7BDD-B54A-81C2-193D5303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B6C6D-B3EF-EF48-844A-656DF9BF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7CF4F-DEAF-DF47-A903-0C4CE87B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70869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DEC3D-E47E-8A40-B0AF-6AFD416B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F0D04-0CE1-A341-8185-B0547B2E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BC70F-3668-2C43-8A89-31E29338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5380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195F-EB9D-F140-A46F-82AE355E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FAB6-32DC-7642-A88E-E47B9DF04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34A7B-DAE7-9243-9D46-1822A996A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ED14F-18AC-9342-B558-0B01478D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87439-6EA7-584D-A2CB-EA2B9283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635CC-AA1A-504D-81BE-7AD7D0E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45989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27B7-30EF-D64F-B1A3-4C5CA293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6DA63-7FD0-8B4D-AF5B-624CA7E9A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3ED3D-A680-FF4B-9140-D75E29F60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A98ED-DC72-A24D-AC78-A5A737C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EBD1B-819D-6847-8DD5-9C0C96F9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21D03-E5AE-3546-B639-0B48F042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2486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1E43-D8D8-4149-9DBB-0399D1F1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EA1CD-7D89-7A4B-942E-2A16A9706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1B404-3EF8-D144-9FB8-EE4E980B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571A-7B82-CD47-9155-A9DC37C5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32AA2-EF12-8045-909F-081F527E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39253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8477C-75E2-274D-9E5C-202B90A44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AAED6-642A-3D48-8602-7A8C89049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572C2-6B0E-6842-B585-9AEA36C7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15053-264F-9C44-9913-168DA6BD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F50E0-4061-6D47-9881-D6690EF6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4736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C4B70-1725-394A-B09F-0EC483F0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C2B38-7F77-C74E-9F28-A8019767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F6BD-C30F-0D40-ABEA-6BA1917CC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39058-40C8-2849-BC82-B5FBE723D9C9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5E5EA-4A38-B04A-9612-9FD6CBD9B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242F0-39F1-5A4C-9577-E20208ACE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A47F1-9E28-5942-92C6-EC86434D2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hyperlink" Target="https://github.com/dsnezhkov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628287-5C3A-9440-8934-7D2CCCE3BC05}"/>
              </a:ext>
            </a:extLst>
          </p:cNvPr>
          <p:cNvSpPr txBox="1"/>
          <p:nvPr/>
        </p:nvSpPr>
        <p:spPr>
          <a:xfrm>
            <a:off x="542508" y="2350723"/>
            <a:ext cx="1110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880001"/>
                </a:solidFill>
                <a:latin typeface="American Typewriter" panose="02090604020004020304" pitchFamily="18" charset="77"/>
              </a:rPr>
              <a:t>Prototyping Controlled Ransomware 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C9D9C-F11F-CC4B-84D0-0F4DFAD0506C}"/>
              </a:ext>
            </a:extLst>
          </p:cNvPr>
          <p:cNvSpPr txBox="1"/>
          <p:nvPr/>
        </p:nvSpPr>
        <p:spPr>
          <a:xfrm>
            <a:off x="3484676" y="3327578"/>
            <a:ext cx="5222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>
                <a:latin typeface="Copperplate Gothic Bold" panose="020E0705020206020404" pitchFamily="34" charset="77"/>
              </a:rPr>
              <a:t>DEFCON 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7D570-AF6F-C34C-A211-CEB94B0E3B35}"/>
              </a:ext>
            </a:extLst>
          </p:cNvPr>
          <p:cNvSpPr txBox="1"/>
          <p:nvPr/>
        </p:nvSpPr>
        <p:spPr>
          <a:xfrm>
            <a:off x="4490759" y="4735321"/>
            <a:ext cx="2468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880001"/>
                </a:solidFill>
              </a:rPr>
              <a:t>@</a:t>
            </a:r>
            <a:r>
              <a:rPr lang="en-US" sz="3200" err="1">
                <a:solidFill>
                  <a:srgbClr val="880001"/>
                </a:solidFill>
              </a:rPr>
              <a:t>Op_Nomad</a:t>
            </a:r>
            <a:endParaRPr lang="en-US" sz="3200">
              <a:solidFill>
                <a:srgbClr val="88000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8B3285-FBD2-F745-97DD-27C5680ADBF0}"/>
              </a:ext>
            </a:extLst>
          </p:cNvPr>
          <p:cNvSpPr txBox="1"/>
          <p:nvPr/>
        </p:nvSpPr>
        <p:spPr>
          <a:xfrm>
            <a:off x="3368938" y="876184"/>
            <a:ext cx="54541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>
                <a:solidFill>
                  <a:srgbClr val="880001"/>
                </a:solidFill>
                <a:latin typeface="American Typewriter Semibold" panose="02090604020004020304" pitchFamily="18" charset="77"/>
              </a:rPr>
              <a:t>Racketeer </a:t>
            </a:r>
          </a:p>
        </p:txBody>
      </p:sp>
    </p:spTree>
    <p:extLst>
      <p:ext uri="{BB962C8B-B14F-4D97-AF65-F5344CB8AC3E}">
        <p14:creationId xmlns:p14="http://schemas.microsoft.com/office/powerpoint/2010/main" val="1217739738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5F3668-C135-0B47-BF9A-2F59B841E1D0}"/>
              </a:ext>
            </a:extLst>
          </p:cNvPr>
          <p:cNvSpPr txBox="1"/>
          <p:nvPr/>
        </p:nvSpPr>
        <p:spPr>
          <a:xfrm>
            <a:off x="4524957" y="189395"/>
            <a:ext cx="1864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C00000"/>
                </a:solidFill>
              </a:rPr>
              <a:t>$ who –m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406FF-6E0C-6F47-9EDD-7DC5B1EC81A5}"/>
              </a:ext>
            </a:extLst>
          </p:cNvPr>
          <p:cNvSpPr txBox="1"/>
          <p:nvPr/>
        </p:nvSpPr>
        <p:spPr>
          <a:xfrm>
            <a:off x="1615503" y="716890"/>
            <a:ext cx="83340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>
              <a:solidFill>
                <a:srgbClr val="C00000"/>
              </a:solidFill>
              <a:latin typeface="American Typewriter" panose="02090604020004020304" pitchFamily="18" charset="77"/>
            </a:endParaRPr>
          </a:p>
          <a:p>
            <a:pPr algn="ctr"/>
            <a:r>
              <a:rPr lang="en-US" sz="3600">
                <a:solidFill>
                  <a:srgbClr val="C00000"/>
                </a:solidFill>
                <a:latin typeface="American Typewriter" panose="02090604020004020304" pitchFamily="18" charset="77"/>
              </a:rPr>
              <a:t>Dimitry </a:t>
            </a:r>
            <a:r>
              <a:rPr lang="en-US" sz="3600" err="1">
                <a:solidFill>
                  <a:srgbClr val="C00000"/>
                </a:solidFill>
                <a:latin typeface="American Typewriter" panose="02090604020004020304" pitchFamily="18" charset="77"/>
              </a:rPr>
              <a:t>Snezhkov</a:t>
            </a:r>
            <a:r>
              <a:rPr lang="en-US" sz="3600">
                <a:solidFill>
                  <a:srgbClr val="C00000"/>
                </a:solidFill>
                <a:latin typeface="American Typewriter" panose="02090604020004020304" pitchFamily="18" charset="77"/>
              </a:rPr>
              <a:t> </a:t>
            </a:r>
            <a:endParaRPr lang="en-US" sz="3200"/>
          </a:p>
          <a:p>
            <a:r>
              <a:rPr lang="en-US" sz="3200"/>
              <a:t>                	       Attack &amp; Pen Team</a:t>
            </a:r>
          </a:p>
          <a:p>
            <a:pPr lvl="3"/>
            <a:r>
              <a:rPr lang="en-US" sz="3200"/>
              <a:t>    Tools, research, automation</a:t>
            </a:r>
            <a:endParaRPr lang="en-US" sz="2800">
              <a:solidFill>
                <a:srgbClr val="C00000"/>
              </a:solidFill>
              <a:latin typeface="American Typewriter" panose="02090604020004020304" pitchFamily="18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3F566-CB51-9843-98DA-193DEA29F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77" y="3319809"/>
            <a:ext cx="2002338" cy="800936"/>
          </a:xfrm>
          <a:prstGeom prst="rect">
            <a:avLst/>
          </a:prstGeom>
          <a:noFill/>
        </p:spPr>
      </p:pic>
      <p:pic>
        <p:nvPicPr>
          <p:cNvPr id="1028" name="Picture 4" descr="Minions Transparent Free PNG | PNG Play">
            <a:extLst>
              <a:ext uri="{FF2B5EF4-FFF2-40B4-BE49-F238E27FC236}">
                <a16:creationId xmlns:a16="http://schemas.microsoft.com/office/drawing/2014/main" id="{9CEC4553-A5DB-4B4E-B73F-4E69CC8B1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596" y="4284320"/>
            <a:ext cx="4044950" cy="225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65038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48EAFE-88EE-DC44-88A1-8F95DDD0D0F0}"/>
              </a:ext>
            </a:extLst>
          </p:cNvPr>
          <p:cNvSpPr txBox="1"/>
          <p:nvPr/>
        </p:nvSpPr>
        <p:spPr>
          <a:xfrm>
            <a:off x="1840836" y="408828"/>
            <a:ext cx="8085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Ransomware: A Problem of Winning Business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95CE36-A461-8946-B8A6-BD2052BE10C7}"/>
              </a:ext>
            </a:extLst>
          </p:cNvPr>
          <p:cNvSpPr txBox="1"/>
          <p:nvPr/>
        </p:nvSpPr>
        <p:spPr>
          <a:xfrm>
            <a:off x="1417046" y="1215102"/>
            <a:ext cx="10201832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330% YoY growth in 2020 – </a:t>
            </a:r>
            <a:r>
              <a:rPr lang="en-US" sz="2800" b="1"/>
              <a:t>high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Return on capital speed vs. other cyber channels – </a:t>
            </a:r>
            <a:r>
              <a:rPr lang="en-US" sz="2800" b="1"/>
              <a:t>high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Cost of customer acquisition per unit of attack – </a:t>
            </a:r>
            <a:r>
              <a:rPr lang="en-US" sz="2800" b="1"/>
              <a:t>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Stealth mode to holding period to monetization – </a:t>
            </a:r>
            <a:r>
              <a:rPr lang="en-US" sz="2800" b="1"/>
              <a:t>hours</a:t>
            </a:r>
            <a:r>
              <a:rPr lang="en-US" sz="2800"/>
              <a:t>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Paying customer base, funding and feature iteration – </a:t>
            </a:r>
            <a:r>
              <a:rPr lang="en-US" sz="2800" b="1"/>
              <a:t>days</a:t>
            </a:r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Barrier of entry – </a:t>
            </a:r>
            <a:r>
              <a:rPr lang="en-US" sz="2800" b="1"/>
              <a:t>low</a:t>
            </a:r>
            <a:r>
              <a:rPr lang="en-US" sz="280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Monetization activation path – </a:t>
            </a:r>
            <a:r>
              <a:rPr lang="en-US" sz="2800" b="1"/>
              <a:t>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Attribution vs. Investment (technical and operational) – </a:t>
            </a:r>
            <a:r>
              <a:rPr lang="en-US" sz="2800" b="1"/>
              <a:t>moderate</a:t>
            </a:r>
            <a:r>
              <a:rPr lang="en-US" sz="2800"/>
              <a:t> </a:t>
            </a:r>
          </a:p>
          <a:p>
            <a:endParaRPr lang="en-US" sz="2800"/>
          </a:p>
          <a:p>
            <a:r>
              <a:rPr lang="en-US" sz="2800">
                <a:solidFill>
                  <a:srgbClr val="C00000"/>
                </a:solidFill>
              </a:rPr>
              <a:t>          Ransomware is an efficient economic exit activity.</a:t>
            </a:r>
          </a:p>
          <a:p>
            <a:endParaRPr lang="en-US" sz="2800">
              <a:solidFill>
                <a:srgbClr val="C00000"/>
              </a:solidFill>
            </a:endParaRP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95808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48EAFE-88EE-DC44-88A1-8F95DDD0D0F0}"/>
              </a:ext>
            </a:extLst>
          </p:cNvPr>
          <p:cNvSpPr txBox="1"/>
          <p:nvPr/>
        </p:nvSpPr>
        <p:spPr>
          <a:xfrm>
            <a:off x="2596455" y="397943"/>
            <a:ext cx="6004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Ransomware: Disrupting the Lifecycle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95CE36-A461-8946-B8A6-BD2052BE10C7}"/>
              </a:ext>
            </a:extLst>
          </p:cNvPr>
          <p:cNvSpPr txBox="1"/>
          <p:nvPr/>
        </p:nvSpPr>
        <p:spPr>
          <a:xfrm>
            <a:off x="653741" y="1619292"/>
            <a:ext cx="761157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/>
              <a:t>Preventive and Detection Controls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/>
              <a:t>Disaster Recover Drills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/>
              <a:t>Incident Response Triage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/>
              <a:t>External Negotiation</a:t>
            </a:r>
          </a:p>
          <a:p>
            <a:endParaRPr lang="en-US" sz="2400"/>
          </a:p>
          <a:p>
            <a:r>
              <a:rPr lang="en-US" sz="2400" b="1"/>
              <a:t>Realistic Victim Goal: </a:t>
            </a:r>
            <a:r>
              <a:rPr lang="en-US" sz="2400" u="sng"/>
              <a:t>Increase Mean Time Between Failures</a:t>
            </a:r>
          </a:p>
          <a:p>
            <a:endParaRPr lang="en-US" sz="2400"/>
          </a:p>
          <a:p>
            <a:r>
              <a:rPr lang="en-US" sz="2400"/>
              <a:t>Achieved by:</a:t>
            </a:r>
          </a:p>
          <a:p>
            <a:pPr marL="342900" indent="-342900">
              <a:buFontTx/>
              <a:buChar char="-"/>
            </a:pPr>
            <a:r>
              <a:rPr lang="en-US" sz="2400"/>
              <a:t>Knowing Your Assets and Data</a:t>
            </a:r>
          </a:p>
          <a:p>
            <a:pPr marL="342900" indent="-342900">
              <a:buFontTx/>
              <a:buChar char="-"/>
            </a:pPr>
            <a:r>
              <a:rPr lang="en-US" sz="2400"/>
              <a:t>Checking Process via </a:t>
            </a:r>
            <a:r>
              <a:rPr lang="en-US" sz="2400" b="1">
                <a:solidFill>
                  <a:srgbClr val="880001"/>
                </a:solidFill>
              </a:rPr>
              <a:t>Simulation and Feedback</a:t>
            </a:r>
          </a:p>
          <a:p>
            <a:endParaRPr lang="en-US" sz="2400"/>
          </a:p>
        </p:txBody>
      </p:sp>
      <p:pic>
        <p:nvPicPr>
          <p:cNvPr id="7" name="Picture 6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0F669A07-41C9-2242-95B0-4DB58CCA6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92" y="1083724"/>
            <a:ext cx="3966726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85209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9BA8C6-8CC1-D14B-B406-E87C5F3F505F}"/>
              </a:ext>
            </a:extLst>
          </p:cNvPr>
          <p:cNvSpPr txBox="1"/>
          <p:nvPr/>
        </p:nvSpPr>
        <p:spPr>
          <a:xfrm>
            <a:off x="853770" y="1105770"/>
            <a:ext cx="1117729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800" u="sng"/>
              <a:t>Objective</a:t>
            </a:r>
            <a:r>
              <a:rPr lang="en-US" sz="2800"/>
              <a:t>: Help with the Steps to Create / Refine </a:t>
            </a:r>
            <a:r>
              <a:rPr lang="en-US" sz="2800" b="1"/>
              <a:t>Process</a:t>
            </a:r>
          </a:p>
          <a:p>
            <a:pPr lvl="1"/>
            <a:endParaRPr lang="en-US" sz="2800"/>
          </a:p>
          <a:p>
            <a:pPr lvl="1"/>
            <a:r>
              <a:rPr lang="en-US" sz="2800"/>
              <a:t>Pick your color: </a:t>
            </a:r>
          </a:p>
          <a:p>
            <a:pPr lvl="1"/>
            <a:endParaRPr lang="en-US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Tabletop and IR kickoff (Purple)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Optics and IOCs (Blue)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Reference implementation for last mile objectives in campaigns (Red)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SLAs and verified asset recovery, online and offline (Org)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Protection of data access and authentication (Org)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Precise targets - leave customer mostly intact, testing is goal (Org)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/>
              <a:t>Stealth is a balance (Red / Blue maturity dial)</a:t>
            </a:r>
          </a:p>
          <a:p>
            <a:pPr lvl="1"/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1FC0E-20F4-1240-887E-8B752E073AC0}"/>
              </a:ext>
            </a:extLst>
          </p:cNvPr>
          <p:cNvSpPr txBox="1"/>
          <p:nvPr/>
        </p:nvSpPr>
        <p:spPr>
          <a:xfrm>
            <a:off x="2344894" y="193459"/>
            <a:ext cx="8912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Racketeer Strategic Goals: Better Simulation and Feedback</a:t>
            </a:r>
          </a:p>
        </p:txBody>
      </p:sp>
    </p:spTree>
    <p:extLst>
      <p:ext uri="{BB962C8B-B14F-4D97-AF65-F5344CB8AC3E}">
        <p14:creationId xmlns:p14="http://schemas.microsoft.com/office/powerpoint/2010/main" val="1625876747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B95CE36-A461-8946-B8A6-BD2052BE10C7}"/>
              </a:ext>
            </a:extLst>
          </p:cNvPr>
          <p:cNvSpPr txBox="1"/>
          <p:nvPr/>
        </p:nvSpPr>
        <p:spPr>
          <a:xfrm>
            <a:off x="1625321" y="1524892"/>
            <a:ext cx="820744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Ransomware Simulation</a:t>
            </a:r>
            <a:r>
              <a:rPr lang="en-US" sz="2800"/>
              <a:t> to address technical specifics:</a:t>
            </a:r>
          </a:p>
          <a:p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Correct asset lock/unlock (encryption, decryption)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Reliable Life-Time Key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Realtime vs. offsite asset unlock capabilities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Dormancy and Activation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Flexibility (comms, targets, connectivity)</a:t>
            </a:r>
          </a:p>
          <a:p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19546-914F-5C4C-93FC-9EF63EB2B489}"/>
              </a:ext>
            </a:extLst>
          </p:cNvPr>
          <p:cNvSpPr txBox="1"/>
          <p:nvPr/>
        </p:nvSpPr>
        <p:spPr>
          <a:xfrm>
            <a:off x="2842610" y="402541"/>
            <a:ext cx="5772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Racketeer: Attack Lifecycle Alignment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3AD46-6615-1448-BBD4-64A795A7904C}"/>
              </a:ext>
            </a:extLst>
          </p:cNvPr>
          <p:cNvSpPr/>
          <p:nvPr/>
        </p:nvSpPr>
        <p:spPr>
          <a:xfrm>
            <a:off x="4140208" y="5727343"/>
            <a:ext cx="19557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C00000"/>
                </a:solidFill>
              </a:rPr>
              <a:t>Let’s Build it</a:t>
            </a:r>
          </a:p>
        </p:txBody>
      </p:sp>
    </p:spTree>
    <p:extLst>
      <p:ext uri="{BB962C8B-B14F-4D97-AF65-F5344CB8AC3E}">
        <p14:creationId xmlns:p14="http://schemas.microsoft.com/office/powerpoint/2010/main" val="2114384559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48EAFE-88EE-DC44-88A1-8F95DDD0D0F0}"/>
              </a:ext>
            </a:extLst>
          </p:cNvPr>
          <p:cNvSpPr txBox="1"/>
          <p:nvPr/>
        </p:nvSpPr>
        <p:spPr>
          <a:xfrm>
            <a:off x="3723940" y="418912"/>
            <a:ext cx="47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Construction: Tactical Features</a:t>
            </a:r>
          </a:p>
        </p:txBody>
      </p:sp>
      <p:pic>
        <p:nvPicPr>
          <p:cNvPr id="4" name="Picture 3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737395E2-D705-594A-AEED-B152FD148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270" y="1373190"/>
            <a:ext cx="3012142" cy="5229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C75A82-7245-A84B-88C1-7D53263FB77B}"/>
              </a:ext>
            </a:extLst>
          </p:cNvPr>
          <p:cNvSpPr txBox="1"/>
          <p:nvPr/>
        </p:nvSpPr>
        <p:spPr>
          <a:xfrm>
            <a:off x="1015865" y="1613118"/>
            <a:ext cx="539885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Assets / Targets </a:t>
            </a: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Windows (agent)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Local files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Ability to remote on Internal Net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Tight Control of execution</a:t>
            </a:r>
          </a:p>
        </p:txBody>
      </p:sp>
    </p:spTree>
    <p:extLst>
      <p:ext uri="{BB962C8B-B14F-4D97-AF65-F5344CB8AC3E}">
        <p14:creationId xmlns:p14="http://schemas.microsoft.com/office/powerpoint/2010/main" val="2828252225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C75A82-7245-A84B-88C1-7D53263FB77B}"/>
              </a:ext>
            </a:extLst>
          </p:cNvPr>
          <p:cNvSpPr txBox="1"/>
          <p:nvPr/>
        </p:nvSpPr>
        <p:spPr>
          <a:xfrm>
            <a:off x="760371" y="1780886"/>
            <a:ext cx="393915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err="1"/>
              <a:t>KeyGen</a:t>
            </a:r>
            <a:r>
              <a:rPr lang="en-US" sz="2800"/>
              <a:t> (offline)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LTKM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Encrypt/decrypt mode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Policies / Profiles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Offline asset recovery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Commander</a:t>
            </a:r>
          </a:p>
          <a:p>
            <a:endParaRPr lang="en-US" sz="2800"/>
          </a:p>
        </p:txBody>
      </p:sp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F59EBDB-0AAF-9D49-B16E-58D063AB1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1780886"/>
            <a:ext cx="5690626" cy="2112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6898B3-5016-554E-81F6-4622645FE94B}"/>
              </a:ext>
            </a:extLst>
          </p:cNvPr>
          <p:cNvSpPr txBox="1"/>
          <p:nvPr/>
        </p:nvSpPr>
        <p:spPr>
          <a:xfrm>
            <a:off x="3723940" y="418912"/>
            <a:ext cx="47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Construction: Tactical Features</a:t>
            </a:r>
          </a:p>
        </p:txBody>
      </p:sp>
    </p:spTree>
    <p:extLst>
      <p:ext uri="{BB962C8B-B14F-4D97-AF65-F5344CB8AC3E}">
        <p14:creationId xmlns:p14="http://schemas.microsoft.com/office/powerpoint/2010/main" val="3348677738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C75A82-7245-A84B-88C1-7D53263FB77B}"/>
              </a:ext>
            </a:extLst>
          </p:cNvPr>
          <p:cNvSpPr txBox="1"/>
          <p:nvPr/>
        </p:nvSpPr>
        <p:spPr>
          <a:xfrm>
            <a:off x="163008" y="1855164"/>
            <a:ext cx="46425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Communication emulation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Transmission Layer encrypt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Appl-level message encrypt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REST endpoints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7D87081-18D2-9C49-85D6-29D0D1013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561" y="1317812"/>
            <a:ext cx="6973259" cy="47064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D570BA-2DF7-834E-BB6E-AF10F0198BE0}"/>
              </a:ext>
            </a:extLst>
          </p:cNvPr>
          <p:cNvSpPr txBox="1"/>
          <p:nvPr/>
        </p:nvSpPr>
        <p:spPr>
          <a:xfrm>
            <a:off x="3723940" y="418912"/>
            <a:ext cx="47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Construction: Tactical Features</a:t>
            </a:r>
          </a:p>
        </p:txBody>
      </p:sp>
    </p:spTree>
    <p:extLst>
      <p:ext uri="{BB962C8B-B14F-4D97-AF65-F5344CB8AC3E}">
        <p14:creationId xmlns:p14="http://schemas.microsoft.com/office/powerpoint/2010/main" val="374129873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C75A82-7245-A84B-88C1-7D53263FB77B}"/>
              </a:ext>
            </a:extLst>
          </p:cNvPr>
          <p:cNvSpPr txBox="1"/>
          <p:nvPr/>
        </p:nvSpPr>
        <p:spPr>
          <a:xfrm>
            <a:off x="427046" y="1586728"/>
            <a:ext cx="45214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Policy Hot Patching  </a:t>
            </a:r>
            <a:br>
              <a:rPr lang="en-US" sz="2800"/>
            </a:br>
            <a:r>
              <a:rPr lang="en-US" sz="2800"/>
              <a:t>(real-time, remote)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Credential Shielding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Asset Connectivity </a:t>
            </a:r>
            <a:br>
              <a:rPr lang="en-US" sz="2800"/>
            </a:br>
            <a:r>
              <a:rPr lang="en-US" sz="2800"/>
              <a:t>Authentication Maps</a:t>
            </a:r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F688244-C1EE-1B4F-A4B3-1E710B327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983" y="1286164"/>
            <a:ext cx="6198453" cy="4715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44CA4E-4E7C-DA40-B966-84A6DC119BC8}"/>
              </a:ext>
            </a:extLst>
          </p:cNvPr>
          <p:cNvSpPr txBox="1"/>
          <p:nvPr/>
        </p:nvSpPr>
        <p:spPr>
          <a:xfrm>
            <a:off x="3723940" y="418912"/>
            <a:ext cx="47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Construction: Tactical Features</a:t>
            </a:r>
          </a:p>
        </p:txBody>
      </p:sp>
    </p:spTree>
    <p:extLst>
      <p:ext uri="{BB962C8B-B14F-4D97-AF65-F5344CB8AC3E}">
        <p14:creationId xmlns:p14="http://schemas.microsoft.com/office/powerpoint/2010/main" val="4058552194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C75A82-7245-A84B-88C1-7D53263FB77B}"/>
              </a:ext>
            </a:extLst>
          </p:cNvPr>
          <p:cNvSpPr txBox="1"/>
          <p:nvPr/>
        </p:nvSpPr>
        <p:spPr>
          <a:xfrm>
            <a:off x="600682" y="1413529"/>
            <a:ext cx="762689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Flexible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Mutual Authentication of Base and Agents (Sites)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Delivery options and Trigger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Config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Embedded </a:t>
            </a:r>
            <a:r>
              <a:rPr lang="en-US" sz="2800" err="1"/>
              <a:t>Rsrc</a:t>
            </a:r>
            <a:endParaRPr lang="en-US" sz="2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Trigger on-launch or Dormant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Memory Log Ring 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err="1"/>
              <a:t>Destaging</a:t>
            </a:r>
            <a:r>
              <a:rPr lang="en-US" sz="2800"/>
              <a:t> /Cleanup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B6A30BF-ADDF-2E4E-AAF2-FC754C993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900" y="1413529"/>
            <a:ext cx="4807773" cy="4707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79CB8-D16B-3945-99E4-45997CDA5ADD}"/>
              </a:ext>
            </a:extLst>
          </p:cNvPr>
          <p:cNvSpPr txBox="1"/>
          <p:nvPr/>
        </p:nvSpPr>
        <p:spPr>
          <a:xfrm>
            <a:off x="3723940" y="418912"/>
            <a:ext cx="47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Construction: Tactical Features</a:t>
            </a:r>
          </a:p>
        </p:txBody>
      </p:sp>
    </p:spTree>
    <p:extLst>
      <p:ext uri="{BB962C8B-B14F-4D97-AF65-F5344CB8AC3E}">
        <p14:creationId xmlns:p14="http://schemas.microsoft.com/office/powerpoint/2010/main" val="2295557269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A03BCDFD-142B-1E40-B542-0C8DFD55A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916" y="825432"/>
            <a:ext cx="5052868" cy="5764540"/>
          </a:xfrm>
          <a:prstGeom prst="rect">
            <a:avLst/>
          </a:prstGeom>
        </p:spPr>
      </p:pic>
      <p:pic>
        <p:nvPicPr>
          <p:cNvPr id="8" name="Picture 7" descr="A picture containing timeline&#10;&#10;Description automatically generated">
            <a:extLst>
              <a:ext uri="{FF2B5EF4-FFF2-40B4-BE49-F238E27FC236}">
                <a16:creationId xmlns:a16="http://schemas.microsoft.com/office/drawing/2014/main" id="{3B0A99ED-AF66-264A-9984-D334651AF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00" y="3857278"/>
            <a:ext cx="2582987" cy="2863778"/>
          </a:xfrm>
          <a:prstGeom prst="ellipse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C0AE065-2D89-C54A-88DA-07AD4C3D3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13" y="3839934"/>
            <a:ext cx="2797889" cy="3013354"/>
          </a:xfrm>
          <a:prstGeom prst="ellipse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D8905032-46BC-B540-8B8E-4AA2F1C1E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62" y="888827"/>
            <a:ext cx="2582986" cy="2863778"/>
          </a:xfrm>
          <a:prstGeom prst="ellipse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882E456-AE31-6547-AA24-A46B7D5E58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5412" y="825432"/>
            <a:ext cx="2797889" cy="2821422"/>
          </a:xfrm>
          <a:prstGeom prst="ellipse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89C490-3DE5-754D-9BCD-0B83D5963BDA}"/>
              </a:ext>
            </a:extLst>
          </p:cNvPr>
          <p:cNvSpPr txBox="1"/>
          <p:nvPr/>
        </p:nvSpPr>
        <p:spPr>
          <a:xfrm>
            <a:off x="3650665" y="268028"/>
            <a:ext cx="47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Construction: Tactical Features</a:t>
            </a:r>
          </a:p>
        </p:txBody>
      </p:sp>
    </p:spTree>
    <p:extLst>
      <p:ext uri="{BB962C8B-B14F-4D97-AF65-F5344CB8AC3E}">
        <p14:creationId xmlns:p14="http://schemas.microsoft.com/office/powerpoint/2010/main" val="3111889581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48EAFE-88EE-DC44-88A1-8F95DDD0D0F0}"/>
              </a:ext>
            </a:extLst>
          </p:cNvPr>
          <p:cNvSpPr txBox="1"/>
          <p:nvPr/>
        </p:nvSpPr>
        <p:spPr>
          <a:xfrm>
            <a:off x="3612221" y="408060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Racketeer Toolkit Demo</a:t>
            </a:r>
          </a:p>
        </p:txBody>
      </p:sp>
      <p:pic>
        <p:nvPicPr>
          <p:cNvPr id="8" name="Picture 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D00C1714-BA73-884C-8F9E-C485459D8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435" y="1866900"/>
            <a:ext cx="7505700" cy="1638300"/>
          </a:xfrm>
          <a:prstGeom prst="rect">
            <a:avLst/>
          </a:prstGeom>
          <a:effectLst>
            <a:glow rad="649950">
              <a:srgbClr val="880001">
                <a:alpha val="40000"/>
              </a:srgbClr>
            </a:glow>
          </a:effectLst>
        </p:spPr>
      </p:pic>
      <p:pic>
        <p:nvPicPr>
          <p:cNvPr id="3074" name="Picture 2" descr="Minions PNG Download Image | PNG Arts">
            <a:extLst>
              <a:ext uri="{FF2B5EF4-FFF2-40B4-BE49-F238E27FC236}">
                <a16:creationId xmlns:a16="http://schemas.microsoft.com/office/drawing/2014/main" id="{01E7EF4E-2FA8-AF48-A7BE-8628F6CFD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114" y="3505200"/>
            <a:ext cx="4960257" cy="320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630742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48EAFE-88EE-DC44-88A1-8F95DDD0D0F0}"/>
              </a:ext>
            </a:extLst>
          </p:cNvPr>
          <p:cNvSpPr txBox="1"/>
          <p:nvPr/>
        </p:nvSpPr>
        <p:spPr>
          <a:xfrm>
            <a:off x="3612221" y="408060"/>
            <a:ext cx="3187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 Offensive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4D36D-73CF-0546-817B-9B1C514F05D9}"/>
              </a:ext>
            </a:extLst>
          </p:cNvPr>
          <p:cNvSpPr txBox="1"/>
          <p:nvPr/>
        </p:nvSpPr>
        <p:spPr>
          <a:xfrm>
            <a:off x="1527628" y="2011436"/>
            <a:ext cx="1010289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800"/>
              <a:t>Simulate controlled ransomware lifecycle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800"/>
              <a:t>Deliver last mile monetization module for teams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800"/>
              <a:t>Facilitate existence of response process, align with it and refine it.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800"/>
              <a:t>Verify offensive and defensive triage deficiencies in approaches</a:t>
            </a:r>
          </a:p>
        </p:txBody>
      </p:sp>
    </p:spTree>
    <p:extLst>
      <p:ext uri="{BB962C8B-B14F-4D97-AF65-F5344CB8AC3E}">
        <p14:creationId xmlns:p14="http://schemas.microsoft.com/office/powerpoint/2010/main" val="3703395769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48EAFE-88EE-DC44-88A1-8F95DDD0D0F0}"/>
              </a:ext>
            </a:extLst>
          </p:cNvPr>
          <p:cNvSpPr txBox="1"/>
          <p:nvPr/>
        </p:nvSpPr>
        <p:spPr>
          <a:xfrm>
            <a:off x="3612221" y="408060"/>
            <a:ext cx="3061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Notes to Defenders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BA8C6-8CC1-D14B-B406-E87C5F3F505F}"/>
              </a:ext>
            </a:extLst>
          </p:cNvPr>
          <p:cNvSpPr txBox="1"/>
          <p:nvPr/>
        </p:nvSpPr>
        <p:spPr>
          <a:xfrm>
            <a:off x="847558" y="1361159"/>
            <a:ext cx="1033071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Don’t signature the tool, </a:t>
            </a:r>
            <a:r>
              <a:rPr lang="en-US" sz="2800" u="sng"/>
              <a:t>pay attention to behaviors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/>
              <a:t>Artifacts may be minimal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/>
              <a:t>IOCs tied to implementation. Test agent is weakened on purpose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Instrument environments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/>
              <a:t>correlate operational, performance, security messages </a:t>
            </a:r>
          </a:p>
        </p:txBody>
      </p:sp>
    </p:spTree>
    <p:extLst>
      <p:ext uri="{BB962C8B-B14F-4D97-AF65-F5344CB8AC3E}">
        <p14:creationId xmlns:p14="http://schemas.microsoft.com/office/powerpoint/2010/main" val="2001705129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8879A-E03A-AC43-96B5-BA4E52241D57}"/>
              </a:ext>
            </a:extLst>
          </p:cNvPr>
          <p:cNvSpPr txBox="1"/>
          <p:nvPr/>
        </p:nvSpPr>
        <p:spPr>
          <a:xfrm>
            <a:off x="5130597" y="346983"/>
            <a:ext cx="76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EOF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A61CB-B624-8945-82C1-11DCD3F1FB5C}"/>
              </a:ext>
            </a:extLst>
          </p:cNvPr>
          <p:cNvSpPr txBox="1"/>
          <p:nvPr/>
        </p:nvSpPr>
        <p:spPr>
          <a:xfrm>
            <a:off x="4219597" y="1198233"/>
            <a:ext cx="2267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Thank you!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9CA0A-B63E-DF41-BAAE-0841BC5279ED}"/>
              </a:ext>
            </a:extLst>
          </p:cNvPr>
          <p:cNvSpPr txBox="1"/>
          <p:nvPr/>
        </p:nvSpPr>
        <p:spPr>
          <a:xfrm>
            <a:off x="8229600" y="2566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49CA6-A9D9-0B48-981E-19B68ED23EA4}"/>
              </a:ext>
            </a:extLst>
          </p:cNvPr>
          <p:cNvSpPr txBox="1"/>
          <p:nvPr/>
        </p:nvSpPr>
        <p:spPr>
          <a:xfrm>
            <a:off x="2137320" y="3641142"/>
            <a:ext cx="7917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https://github.com/dsnezhkov/</a:t>
            </a:r>
            <a:r>
              <a:rPr lang="en-US" sz="3600" u="sng">
                <a:solidFill>
                  <a:srgbClr val="C00000"/>
                </a:solidFill>
              </a:rPr>
              <a:t>racketeer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8DDC36-16A9-EB42-A6BB-F3011657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340" y="2146620"/>
            <a:ext cx="1415311" cy="1425005"/>
          </a:xfrm>
          <a:prstGeom prst="rect">
            <a:avLst/>
          </a:prstGeom>
        </p:spPr>
      </p:pic>
      <p:pic>
        <p:nvPicPr>
          <p:cNvPr id="2050" name="Picture 2" descr="Download HD Minions 5 - Despicable Me 2 Headphones Easter Gift Set, 3 Pc  Transparent PNG Image - NicePNG.com">
            <a:extLst>
              <a:ext uri="{FF2B5EF4-FFF2-40B4-BE49-F238E27FC236}">
                <a16:creationId xmlns:a16="http://schemas.microsoft.com/office/drawing/2014/main" id="{3BE541E6-3746-F941-8421-E9C6C601B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480" y="4189500"/>
            <a:ext cx="4601029" cy="256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218660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N/A</dc:creator>
  <cp:revision>1</cp:revision>
  <cp:lastPrinted>2021-07-10T23:53:30Z</cp:lastPrinted>
  <dcterms:created xsi:type="dcterms:W3CDTF">2019-02-22T04:37:53Z</dcterms:created>
  <dcterms:modified xsi:type="dcterms:W3CDTF">2021-07-12T16:44:58Z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623df2-7a25-4a8f-b59b-3a3459c1375f_Enabled">
    <vt:lpwstr>true</vt:lpwstr>
  </property>
  <property fmtid="{D5CDD505-2E9C-101B-9397-08002B2CF9AE}" pid="3" name="MSIP_Label_da623df2-7a25-4a8f-b59b-3a3459c1375f_SetDate">
    <vt:lpwstr>2021-07-07T13:39:51Z</vt:lpwstr>
  </property>
  <property fmtid="{D5CDD505-2E9C-101B-9397-08002B2CF9AE}" pid="4" name="MSIP_Label_da623df2-7a25-4a8f-b59b-3a3459c1375f_Method">
    <vt:lpwstr>Privileged</vt:lpwstr>
  </property>
  <property fmtid="{D5CDD505-2E9C-101B-9397-08002B2CF9AE}" pid="5" name="MSIP_Label_da623df2-7a25-4a8f-b59b-3a3459c1375f_Name">
    <vt:lpwstr>General-PRO</vt:lpwstr>
  </property>
  <property fmtid="{D5CDD505-2E9C-101B-9397-08002B2CF9AE}" pid="6" name="MSIP_Label_da623df2-7a25-4a8f-b59b-3a3459c1375f_SiteId">
    <vt:lpwstr>16532572-d567-4d67-8727-f12f7bb6aed3</vt:lpwstr>
  </property>
  <property fmtid="{D5CDD505-2E9C-101B-9397-08002B2CF9AE}" pid="7" name="MSIP_Label_da623df2-7a25-4a8f-b59b-3a3459c1375f_ActionId">
    <vt:lpwstr>9f2fbce3-a73d-46a4-ae48-23b16d5f6a20</vt:lpwstr>
  </property>
  <property fmtid="{D5CDD505-2E9C-101B-9397-08002B2CF9AE}" pid="8" name="MSIP_Label_da623df2-7a25-4a8f-b59b-3a3459c1375f_ContentBits">
    <vt:lpwstr>0</vt:lpwstr>
  </property>
</Properties>
</file>