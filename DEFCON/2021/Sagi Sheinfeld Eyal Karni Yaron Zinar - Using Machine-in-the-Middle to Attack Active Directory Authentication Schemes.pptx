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92" r:id="rId11"/>
    <p:sldId id="265" r:id="rId12"/>
    <p:sldId id="294" r:id="rId13"/>
    <p:sldId id="266" r:id="rId14"/>
    <p:sldId id="268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95" r:id="rId25"/>
    <p:sldId id="277" r:id="rId26"/>
    <p:sldId id="289" r:id="rId27"/>
    <p:sldId id="290" r:id="rId28"/>
    <p:sldId id="278" r:id="rId29"/>
    <p:sldId id="280" r:id="rId30"/>
    <p:sldId id="293" r:id="rId31"/>
    <p:sldId id="291" r:id="rId32"/>
    <p:sldId id="279" r:id="rId33"/>
    <p:sldId id="282" r:id="rId34"/>
    <p:sldId id="283" r:id="rId35"/>
    <p:sldId id="287" r:id="rId36"/>
    <p:sldId id="284" r:id="rId37"/>
    <p:sldId id="286" r:id="rId3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76"/>
    <p:restoredTop sz="81686"/>
  </p:normalViewPr>
  <p:slideViewPr>
    <p:cSldViewPr snapToGrid="0" snapToObjects="1">
      <p:cViewPr varScale="1">
        <p:scale>
          <a:sx n="106" d="100"/>
          <a:sy n="106" d="100"/>
        </p:scale>
        <p:origin x="918" y="108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 snapToObjects="1">
      <p:cViewPr varScale="1">
        <p:scale>
          <a:sx n="124" d="100"/>
          <a:sy n="124" d="100"/>
        </p:scale>
        <p:origin x="328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90EE9-0D49-4E78-8F65-3C54BD97BD4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65D8F9-45A8-46E0-BF24-1D82523DF6E3}">
      <dgm:prSet/>
      <dgm:spPr/>
      <dgm:t>
        <a:bodyPr/>
        <a:lstStyle/>
        <a:p>
          <a:r>
            <a:rPr lang="en-US" dirty="0" err="1"/>
            <a:t>Sagi</a:t>
          </a:r>
          <a:r>
            <a:rPr lang="en-US" dirty="0"/>
            <a:t> </a:t>
          </a:r>
          <a:r>
            <a:rPr lang="en-US" dirty="0" err="1"/>
            <a:t>Sheinfeld</a:t>
          </a:r>
          <a:r>
            <a:rPr lang="en-US" dirty="0"/>
            <a:t> (@sagish1233)</a:t>
          </a:r>
        </a:p>
      </dgm:t>
    </dgm:pt>
    <dgm:pt modelId="{37EC5819-93BE-4159-AFE5-BAB8FB46253C}" type="parTrans" cxnId="{BC79AD12-4D28-43D7-A511-86ACFACAE8BE}">
      <dgm:prSet/>
      <dgm:spPr/>
      <dgm:t>
        <a:bodyPr/>
        <a:lstStyle/>
        <a:p>
          <a:endParaRPr lang="en-US"/>
        </a:p>
      </dgm:t>
    </dgm:pt>
    <dgm:pt modelId="{19CDD628-14D8-4F10-B105-929396CC8141}" type="sibTrans" cxnId="{BC79AD12-4D28-43D7-A511-86ACFACAE8BE}">
      <dgm:prSet/>
      <dgm:spPr/>
      <dgm:t>
        <a:bodyPr/>
        <a:lstStyle/>
        <a:p>
          <a:endParaRPr lang="en-US"/>
        </a:p>
      </dgm:t>
    </dgm:pt>
    <dgm:pt modelId="{CCE0D15C-E5FD-4DC8-9732-A2B39860E1C2}">
      <dgm:prSet/>
      <dgm:spPr/>
      <dgm:t>
        <a:bodyPr/>
        <a:lstStyle/>
        <a:p>
          <a:r>
            <a:rPr lang="en-US" dirty="0"/>
            <a:t>Senior Engineer @CrowdStrike (Former @Preempt)</a:t>
          </a:r>
        </a:p>
      </dgm:t>
    </dgm:pt>
    <dgm:pt modelId="{BDF4EDA4-5AAB-4A69-AE9C-5E8449440365}" type="parTrans" cxnId="{3BCE0F7F-963E-40DA-962E-393271BBD9E8}">
      <dgm:prSet/>
      <dgm:spPr/>
      <dgm:t>
        <a:bodyPr/>
        <a:lstStyle/>
        <a:p>
          <a:endParaRPr lang="en-US"/>
        </a:p>
      </dgm:t>
    </dgm:pt>
    <dgm:pt modelId="{4CBB1631-F9CC-403D-AF35-69B0570395C5}" type="sibTrans" cxnId="{3BCE0F7F-963E-40DA-962E-393271BBD9E8}">
      <dgm:prSet/>
      <dgm:spPr/>
      <dgm:t>
        <a:bodyPr/>
        <a:lstStyle/>
        <a:p>
          <a:endParaRPr lang="en-US"/>
        </a:p>
      </dgm:t>
    </dgm:pt>
    <dgm:pt modelId="{31DF1E22-D721-4018-98B7-71394BA9D7B3}">
      <dgm:prSet/>
      <dgm:spPr/>
      <dgm:t>
        <a:bodyPr/>
        <a:lstStyle/>
        <a:p>
          <a:r>
            <a:rPr lang="en-US" dirty="0" err="1"/>
            <a:t>Eyal</a:t>
          </a:r>
          <a:r>
            <a:rPr lang="en-US" dirty="0"/>
            <a:t> </a:t>
          </a:r>
          <a:r>
            <a:rPr lang="en-US" dirty="0" err="1"/>
            <a:t>Karni</a:t>
          </a:r>
          <a:r>
            <a:rPr lang="en-US" dirty="0"/>
            <a:t> (@</a:t>
          </a:r>
          <a:r>
            <a:rPr lang="en-US" dirty="0" err="1"/>
            <a:t>eyal_karni</a:t>
          </a:r>
          <a:r>
            <a:rPr lang="en-US" dirty="0"/>
            <a:t>)</a:t>
          </a:r>
        </a:p>
      </dgm:t>
    </dgm:pt>
    <dgm:pt modelId="{85FFE733-6EAC-42AE-A848-99D5AE5B078E}" type="parTrans" cxnId="{92E11E18-550E-4239-B808-5B3AFF24220D}">
      <dgm:prSet/>
      <dgm:spPr/>
      <dgm:t>
        <a:bodyPr/>
        <a:lstStyle/>
        <a:p>
          <a:endParaRPr lang="en-US"/>
        </a:p>
      </dgm:t>
    </dgm:pt>
    <dgm:pt modelId="{0D742D4E-AD6D-4991-8AE0-B24946BDBB58}" type="sibTrans" cxnId="{92E11E18-550E-4239-B808-5B3AFF24220D}">
      <dgm:prSet/>
      <dgm:spPr/>
      <dgm:t>
        <a:bodyPr/>
        <a:lstStyle/>
        <a:p>
          <a:endParaRPr lang="en-US"/>
        </a:p>
      </dgm:t>
    </dgm:pt>
    <dgm:pt modelId="{A3233185-DDEE-4290-978F-0A18A8F5A1C6}">
      <dgm:prSet/>
      <dgm:spPr/>
      <dgm:t>
        <a:bodyPr/>
        <a:lstStyle/>
        <a:p>
          <a:r>
            <a:rPr lang="en-US" dirty="0"/>
            <a:t>Senior Manager, Engineering @CrowdStrike</a:t>
          </a:r>
        </a:p>
      </dgm:t>
    </dgm:pt>
    <dgm:pt modelId="{3EFC0D2C-333D-4076-9502-68B7AC190F21}" type="parTrans" cxnId="{5C8C1F4A-3A62-4F5D-A91B-81E00C6E5EEC}">
      <dgm:prSet/>
      <dgm:spPr/>
      <dgm:t>
        <a:bodyPr/>
        <a:lstStyle/>
        <a:p>
          <a:endParaRPr lang="en-US"/>
        </a:p>
      </dgm:t>
    </dgm:pt>
    <dgm:pt modelId="{E20B9354-998D-46E5-BD8D-346A850A8B4B}" type="sibTrans" cxnId="{5C8C1F4A-3A62-4F5D-A91B-81E00C6E5EEC}">
      <dgm:prSet/>
      <dgm:spPr/>
      <dgm:t>
        <a:bodyPr/>
        <a:lstStyle/>
        <a:p>
          <a:endParaRPr lang="en-US"/>
        </a:p>
      </dgm:t>
    </dgm:pt>
    <dgm:pt modelId="{86EBDCB2-CB35-4BE4-B107-AC8B618D06DE}">
      <dgm:prSet/>
      <dgm:spPr/>
      <dgm:t>
        <a:bodyPr/>
        <a:lstStyle/>
        <a:p>
          <a:r>
            <a:rPr lang="en-US" dirty="0"/>
            <a:t>Extensive background as a security researcher</a:t>
          </a:r>
        </a:p>
      </dgm:t>
    </dgm:pt>
    <dgm:pt modelId="{4B5CD166-49C7-4886-97AC-71120F284279}" type="sibTrans" cxnId="{7CF5653D-8C77-43A8-8601-04D116BEE30D}">
      <dgm:prSet/>
      <dgm:spPr/>
      <dgm:t>
        <a:bodyPr/>
        <a:lstStyle/>
        <a:p>
          <a:endParaRPr lang="en-US"/>
        </a:p>
      </dgm:t>
    </dgm:pt>
    <dgm:pt modelId="{741352BB-B2DA-40DC-9CEF-BCEE6A082020}" type="parTrans" cxnId="{7CF5653D-8C77-43A8-8601-04D116BEE30D}">
      <dgm:prSet/>
      <dgm:spPr/>
      <dgm:t>
        <a:bodyPr/>
        <a:lstStyle/>
        <a:p>
          <a:endParaRPr lang="en-US"/>
        </a:p>
      </dgm:t>
    </dgm:pt>
    <dgm:pt modelId="{8E2EC1FE-D333-274A-BE1C-E905D298B65F}">
      <dgm:prSet/>
      <dgm:spPr/>
      <dgm:t>
        <a:bodyPr/>
        <a:lstStyle/>
        <a:p>
          <a:r>
            <a:rPr lang="en-US" dirty="0"/>
            <a:t>Senior Engineer @CrowdStrike (Former @Preempt)</a:t>
          </a:r>
        </a:p>
      </dgm:t>
    </dgm:pt>
    <dgm:pt modelId="{7BA44D8D-29DF-C742-9F7F-852FB1526A9A}" type="parTrans" cxnId="{F213650C-BAE5-7F40-93F5-F5703E791BF6}">
      <dgm:prSet/>
      <dgm:spPr/>
      <dgm:t>
        <a:bodyPr/>
        <a:lstStyle/>
        <a:p>
          <a:endParaRPr lang="en-US"/>
        </a:p>
      </dgm:t>
    </dgm:pt>
    <dgm:pt modelId="{8A3EA31B-0EEE-5A4B-B906-D33F86BDEB2D}" type="sibTrans" cxnId="{F213650C-BAE5-7F40-93F5-F5703E791BF6}">
      <dgm:prSet/>
      <dgm:spPr/>
      <dgm:t>
        <a:bodyPr/>
        <a:lstStyle/>
        <a:p>
          <a:endParaRPr lang="en-US"/>
        </a:p>
      </dgm:t>
    </dgm:pt>
    <dgm:pt modelId="{B6238123-4E8E-5C47-A901-34CBDB3BAAFB}">
      <dgm:prSet/>
      <dgm:spPr/>
      <dgm:t>
        <a:bodyPr/>
        <a:lstStyle/>
        <a:p>
          <a:r>
            <a:rPr lang="en-US"/>
            <a:t>Yaron </a:t>
          </a:r>
          <a:r>
            <a:rPr lang="en-US" dirty="0" err="1"/>
            <a:t>Zinar</a:t>
          </a:r>
          <a:r>
            <a:rPr lang="en-US" dirty="0"/>
            <a:t> (@</a:t>
          </a:r>
          <a:r>
            <a:rPr lang="en-US" dirty="0" err="1"/>
            <a:t>YaronZi</a:t>
          </a:r>
          <a:r>
            <a:rPr lang="en-US" dirty="0"/>
            <a:t>)</a:t>
          </a:r>
        </a:p>
      </dgm:t>
    </dgm:pt>
    <dgm:pt modelId="{F156EA0F-C9EA-B74D-B0BE-005D6AA37C86}" type="parTrans" cxnId="{D1A03088-8606-404A-B9C2-6389B36902C0}">
      <dgm:prSet/>
      <dgm:spPr/>
      <dgm:t>
        <a:bodyPr/>
        <a:lstStyle/>
        <a:p>
          <a:endParaRPr lang="en-US"/>
        </a:p>
      </dgm:t>
    </dgm:pt>
    <dgm:pt modelId="{3F5D1DC3-3FE1-1443-9476-36D2785356EE}" type="sibTrans" cxnId="{D1A03088-8606-404A-B9C2-6389B36902C0}">
      <dgm:prSet/>
      <dgm:spPr/>
      <dgm:t>
        <a:bodyPr/>
        <a:lstStyle/>
        <a:p>
          <a:endParaRPr lang="en-US"/>
        </a:p>
      </dgm:t>
    </dgm:pt>
    <dgm:pt modelId="{73B86282-6F80-F74F-A031-0D649B9614FE}">
      <dgm:prSet/>
      <dgm:spPr/>
      <dgm:t>
        <a:bodyPr/>
        <a:lstStyle/>
        <a:p>
          <a:r>
            <a:rPr lang="en-US" dirty="0"/>
            <a:t>Previously presented on Black Hat</a:t>
          </a:r>
        </a:p>
      </dgm:t>
    </dgm:pt>
    <dgm:pt modelId="{43811F10-1744-C942-8D7A-857216462FF2}" type="parTrans" cxnId="{1AD58D61-6AF5-644D-B969-FF51B6A67044}">
      <dgm:prSet/>
      <dgm:spPr/>
      <dgm:t>
        <a:bodyPr/>
        <a:lstStyle/>
        <a:p>
          <a:endParaRPr lang="en-US"/>
        </a:p>
      </dgm:t>
    </dgm:pt>
    <dgm:pt modelId="{DF96F7E4-E93D-534D-B0EA-244C2FB23EDF}" type="sibTrans" cxnId="{1AD58D61-6AF5-644D-B969-FF51B6A67044}">
      <dgm:prSet/>
      <dgm:spPr/>
      <dgm:t>
        <a:bodyPr/>
        <a:lstStyle/>
        <a:p>
          <a:endParaRPr lang="en-US"/>
        </a:p>
      </dgm:t>
    </dgm:pt>
    <dgm:pt modelId="{1AE9EED6-C88C-3644-87C5-B3C2699CE31C}">
      <dgm:prSet/>
      <dgm:spPr/>
      <dgm:t>
        <a:bodyPr/>
        <a:lstStyle/>
        <a:p>
          <a:r>
            <a:rPr lang="en-US" dirty="0"/>
            <a:t>2xBlack Hat, 1xDEFCON</a:t>
          </a:r>
        </a:p>
      </dgm:t>
    </dgm:pt>
    <dgm:pt modelId="{D7D3B66C-50D7-D742-B205-239596210D51}" type="parTrans" cxnId="{931ABA1A-F99C-D449-83C1-E757987D256B}">
      <dgm:prSet/>
      <dgm:spPr/>
      <dgm:t>
        <a:bodyPr/>
        <a:lstStyle/>
        <a:p>
          <a:endParaRPr lang="en-US"/>
        </a:p>
      </dgm:t>
    </dgm:pt>
    <dgm:pt modelId="{8C2FD8D1-3BF9-2942-93EA-356A38E60D77}" type="sibTrans" cxnId="{931ABA1A-F99C-D449-83C1-E757987D256B}">
      <dgm:prSet/>
      <dgm:spPr/>
      <dgm:t>
        <a:bodyPr/>
        <a:lstStyle/>
        <a:p>
          <a:endParaRPr lang="en-US"/>
        </a:p>
      </dgm:t>
    </dgm:pt>
    <dgm:pt modelId="{F3B06261-F6DA-B849-BD47-5FD0EAECA2D5}" type="pres">
      <dgm:prSet presAssocID="{0BF90EE9-0D49-4E78-8F65-3C54BD97BD4F}" presName="linear" presStyleCnt="0">
        <dgm:presLayoutVars>
          <dgm:dir/>
          <dgm:animLvl val="lvl"/>
          <dgm:resizeHandles val="exact"/>
        </dgm:presLayoutVars>
      </dgm:prSet>
      <dgm:spPr/>
    </dgm:pt>
    <dgm:pt modelId="{7D2D2DDD-2B25-7C42-B520-69974B5486E3}" type="pres">
      <dgm:prSet presAssocID="{C165D8F9-45A8-46E0-BF24-1D82523DF6E3}" presName="parentLin" presStyleCnt="0"/>
      <dgm:spPr/>
    </dgm:pt>
    <dgm:pt modelId="{B4C78724-7589-C741-8471-1A86DF1F1B8B}" type="pres">
      <dgm:prSet presAssocID="{C165D8F9-45A8-46E0-BF24-1D82523DF6E3}" presName="parentLeftMargin" presStyleLbl="node1" presStyleIdx="0" presStyleCnt="3"/>
      <dgm:spPr/>
    </dgm:pt>
    <dgm:pt modelId="{1AEE820F-3E46-0B42-9EA6-E4C45B7C4F47}" type="pres">
      <dgm:prSet presAssocID="{C165D8F9-45A8-46E0-BF24-1D82523DF6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9FE324-BB51-3C4A-BE7B-1C711A237A95}" type="pres">
      <dgm:prSet presAssocID="{C165D8F9-45A8-46E0-BF24-1D82523DF6E3}" presName="negativeSpace" presStyleCnt="0"/>
      <dgm:spPr/>
    </dgm:pt>
    <dgm:pt modelId="{9C7D8838-D12F-B946-A5CD-25B632AE2879}" type="pres">
      <dgm:prSet presAssocID="{C165D8F9-45A8-46E0-BF24-1D82523DF6E3}" presName="childText" presStyleLbl="conFgAcc1" presStyleIdx="0" presStyleCnt="3">
        <dgm:presLayoutVars>
          <dgm:bulletEnabled val="1"/>
        </dgm:presLayoutVars>
      </dgm:prSet>
      <dgm:spPr/>
    </dgm:pt>
    <dgm:pt modelId="{BF1E6F7E-C323-284F-8D8D-742513436DD4}" type="pres">
      <dgm:prSet presAssocID="{19CDD628-14D8-4F10-B105-929396CC8141}" presName="spaceBetweenRectangles" presStyleCnt="0"/>
      <dgm:spPr/>
    </dgm:pt>
    <dgm:pt modelId="{36629EB6-7955-6242-A9B0-57E3904058C3}" type="pres">
      <dgm:prSet presAssocID="{31DF1E22-D721-4018-98B7-71394BA9D7B3}" presName="parentLin" presStyleCnt="0"/>
      <dgm:spPr/>
    </dgm:pt>
    <dgm:pt modelId="{19EB7181-9199-DE42-9DA9-477E4435867F}" type="pres">
      <dgm:prSet presAssocID="{31DF1E22-D721-4018-98B7-71394BA9D7B3}" presName="parentLeftMargin" presStyleLbl="node1" presStyleIdx="0" presStyleCnt="3"/>
      <dgm:spPr/>
    </dgm:pt>
    <dgm:pt modelId="{C5129449-4BF9-7147-B1A7-1F97D0638007}" type="pres">
      <dgm:prSet presAssocID="{31DF1E22-D721-4018-98B7-71394BA9D7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D31F6D-5006-AA42-96F0-4D869CAB85B8}" type="pres">
      <dgm:prSet presAssocID="{31DF1E22-D721-4018-98B7-71394BA9D7B3}" presName="negativeSpace" presStyleCnt="0"/>
      <dgm:spPr/>
    </dgm:pt>
    <dgm:pt modelId="{1B3BCC64-1659-9F4B-AB2B-85346AF6385E}" type="pres">
      <dgm:prSet presAssocID="{31DF1E22-D721-4018-98B7-71394BA9D7B3}" presName="childText" presStyleLbl="conFgAcc1" presStyleIdx="1" presStyleCnt="3">
        <dgm:presLayoutVars>
          <dgm:bulletEnabled val="1"/>
        </dgm:presLayoutVars>
      </dgm:prSet>
      <dgm:spPr/>
    </dgm:pt>
    <dgm:pt modelId="{B65E27AE-9988-F641-AEC0-4F1847037C88}" type="pres">
      <dgm:prSet presAssocID="{0D742D4E-AD6D-4991-8AE0-B24946BDBB58}" presName="spaceBetweenRectangles" presStyleCnt="0"/>
      <dgm:spPr/>
    </dgm:pt>
    <dgm:pt modelId="{885AA3E4-12D9-0B46-851B-3BD2C07991F3}" type="pres">
      <dgm:prSet presAssocID="{B6238123-4E8E-5C47-A901-34CBDB3BAAFB}" presName="parentLin" presStyleCnt="0"/>
      <dgm:spPr/>
    </dgm:pt>
    <dgm:pt modelId="{4990664E-3CEE-8F46-9EF1-E31A42CB1E65}" type="pres">
      <dgm:prSet presAssocID="{B6238123-4E8E-5C47-A901-34CBDB3BAAFB}" presName="parentLeftMargin" presStyleLbl="node1" presStyleIdx="1" presStyleCnt="3"/>
      <dgm:spPr/>
    </dgm:pt>
    <dgm:pt modelId="{D08238D4-FD85-5842-8F0B-E89ED83EE654}" type="pres">
      <dgm:prSet presAssocID="{B6238123-4E8E-5C47-A901-34CBDB3BAAF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4ADA67-79B8-6749-BE56-90F5473650D7}" type="pres">
      <dgm:prSet presAssocID="{B6238123-4E8E-5C47-A901-34CBDB3BAAFB}" presName="negativeSpace" presStyleCnt="0"/>
      <dgm:spPr/>
    </dgm:pt>
    <dgm:pt modelId="{49A539FA-5DD7-C44C-9F5E-3FE9845DC921}" type="pres">
      <dgm:prSet presAssocID="{B6238123-4E8E-5C47-A901-34CBDB3BAAF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1F50E07-354B-5D44-B39C-B0C556565320}" type="presOf" srcId="{73B86282-6F80-F74F-A031-0D649B9614FE}" destId="{1B3BCC64-1659-9F4B-AB2B-85346AF6385E}" srcOrd="0" destOrd="1" presId="urn:microsoft.com/office/officeart/2005/8/layout/list1"/>
    <dgm:cxn modelId="{993EBF0A-4175-8247-ADEA-BEAF08EDEB75}" type="presOf" srcId="{8E2EC1FE-D333-274A-BE1C-E905D298B65F}" destId="{1B3BCC64-1659-9F4B-AB2B-85346AF6385E}" srcOrd="0" destOrd="0" presId="urn:microsoft.com/office/officeart/2005/8/layout/list1"/>
    <dgm:cxn modelId="{F213650C-BAE5-7F40-93F5-F5703E791BF6}" srcId="{31DF1E22-D721-4018-98B7-71394BA9D7B3}" destId="{8E2EC1FE-D333-274A-BE1C-E905D298B65F}" srcOrd="0" destOrd="0" parTransId="{7BA44D8D-29DF-C742-9F7F-852FB1526A9A}" sibTransId="{8A3EA31B-0EEE-5A4B-B906-D33F86BDEB2D}"/>
    <dgm:cxn modelId="{9FCE5B0F-610C-BA4C-915C-074C9144033A}" type="presOf" srcId="{C165D8F9-45A8-46E0-BF24-1D82523DF6E3}" destId="{B4C78724-7589-C741-8471-1A86DF1F1B8B}" srcOrd="0" destOrd="0" presId="urn:microsoft.com/office/officeart/2005/8/layout/list1"/>
    <dgm:cxn modelId="{BC79AD12-4D28-43D7-A511-86ACFACAE8BE}" srcId="{0BF90EE9-0D49-4E78-8F65-3C54BD97BD4F}" destId="{C165D8F9-45A8-46E0-BF24-1D82523DF6E3}" srcOrd="0" destOrd="0" parTransId="{37EC5819-93BE-4159-AFE5-BAB8FB46253C}" sibTransId="{19CDD628-14D8-4F10-B105-929396CC8141}"/>
    <dgm:cxn modelId="{92E11E18-550E-4239-B808-5B3AFF24220D}" srcId="{0BF90EE9-0D49-4E78-8F65-3C54BD97BD4F}" destId="{31DF1E22-D721-4018-98B7-71394BA9D7B3}" srcOrd="1" destOrd="0" parTransId="{85FFE733-6EAC-42AE-A848-99D5AE5B078E}" sibTransId="{0D742D4E-AD6D-4991-8AE0-B24946BDBB58}"/>
    <dgm:cxn modelId="{931ABA1A-F99C-D449-83C1-E757987D256B}" srcId="{B6238123-4E8E-5C47-A901-34CBDB3BAAFB}" destId="{1AE9EED6-C88C-3644-87C5-B3C2699CE31C}" srcOrd="1" destOrd="0" parTransId="{D7D3B66C-50D7-D742-B205-239596210D51}" sibTransId="{8C2FD8D1-3BF9-2942-93EA-356A38E60D77}"/>
    <dgm:cxn modelId="{F171ED2E-72F9-D94A-ABE1-35C81E9BA796}" type="presOf" srcId="{86EBDCB2-CB35-4BE4-B107-AC8B618D06DE}" destId="{9C7D8838-D12F-B946-A5CD-25B632AE2879}" srcOrd="0" destOrd="1" presId="urn:microsoft.com/office/officeart/2005/8/layout/list1"/>
    <dgm:cxn modelId="{86E64C2F-1230-294E-BCAE-B4D2CE5072BC}" type="presOf" srcId="{31DF1E22-D721-4018-98B7-71394BA9D7B3}" destId="{19EB7181-9199-DE42-9DA9-477E4435867F}" srcOrd="0" destOrd="0" presId="urn:microsoft.com/office/officeart/2005/8/layout/list1"/>
    <dgm:cxn modelId="{5C892A3A-AE1D-ED49-92DA-5889DA201862}" type="presOf" srcId="{B6238123-4E8E-5C47-A901-34CBDB3BAAFB}" destId="{4990664E-3CEE-8F46-9EF1-E31A42CB1E65}" srcOrd="0" destOrd="0" presId="urn:microsoft.com/office/officeart/2005/8/layout/list1"/>
    <dgm:cxn modelId="{47C2093C-088D-B24B-8603-6C78AF36CA79}" type="presOf" srcId="{1AE9EED6-C88C-3644-87C5-B3C2699CE31C}" destId="{49A539FA-5DD7-C44C-9F5E-3FE9845DC921}" srcOrd="0" destOrd="1" presId="urn:microsoft.com/office/officeart/2005/8/layout/list1"/>
    <dgm:cxn modelId="{7CF5653D-8C77-43A8-8601-04D116BEE30D}" srcId="{C165D8F9-45A8-46E0-BF24-1D82523DF6E3}" destId="{86EBDCB2-CB35-4BE4-B107-AC8B618D06DE}" srcOrd="1" destOrd="0" parTransId="{741352BB-B2DA-40DC-9CEF-BCEE6A082020}" sibTransId="{4B5CD166-49C7-4886-97AC-71120F284279}"/>
    <dgm:cxn modelId="{1AD58D61-6AF5-644D-B969-FF51B6A67044}" srcId="{31DF1E22-D721-4018-98B7-71394BA9D7B3}" destId="{73B86282-6F80-F74F-A031-0D649B9614FE}" srcOrd="1" destOrd="0" parTransId="{43811F10-1744-C942-8D7A-857216462FF2}" sibTransId="{DF96F7E4-E93D-534D-B0EA-244C2FB23EDF}"/>
    <dgm:cxn modelId="{0D7F6247-C197-1D45-A43A-4E4BC873A4DC}" type="presOf" srcId="{C165D8F9-45A8-46E0-BF24-1D82523DF6E3}" destId="{1AEE820F-3E46-0B42-9EA6-E4C45B7C4F47}" srcOrd="1" destOrd="0" presId="urn:microsoft.com/office/officeart/2005/8/layout/list1"/>
    <dgm:cxn modelId="{5C8C1F4A-3A62-4F5D-A91B-81E00C6E5EEC}" srcId="{B6238123-4E8E-5C47-A901-34CBDB3BAAFB}" destId="{A3233185-DDEE-4290-978F-0A18A8F5A1C6}" srcOrd="0" destOrd="0" parTransId="{3EFC0D2C-333D-4076-9502-68B7AC190F21}" sibTransId="{E20B9354-998D-46E5-BD8D-346A850A8B4B}"/>
    <dgm:cxn modelId="{13C2916D-4206-B74E-8201-C3D557805262}" type="presOf" srcId="{0BF90EE9-0D49-4E78-8F65-3C54BD97BD4F}" destId="{F3B06261-F6DA-B849-BD47-5FD0EAECA2D5}" srcOrd="0" destOrd="0" presId="urn:microsoft.com/office/officeart/2005/8/layout/list1"/>
    <dgm:cxn modelId="{B232C67B-9C45-CF42-A097-726A6EDE80A5}" type="presOf" srcId="{CCE0D15C-E5FD-4DC8-9732-A2B39860E1C2}" destId="{9C7D8838-D12F-B946-A5CD-25B632AE2879}" srcOrd="0" destOrd="0" presId="urn:microsoft.com/office/officeart/2005/8/layout/list1"/>
    <dgm:cxn modelId="{5081327D-8939-AB45-822F-3378938A69F1}" type="presOf" srcId="{B6238123-4E8E-5C47-A901-34CBDB3BAAFB}" destId="{D08238D4-FD85-5842-8F0B-E89ED83EE654}" srcOrd="1" destOrd="0" presId="urn:microsoft.com/office/officeart/2005/8/layout/list1"/>
    <dgm:cxn modelId="{3BCE0F7F-963E-40DA-962E-393271BBD9E8}" srcId="{C165D8F9-45A8-46E0-BF24-1D82523DF6E3}" destId="{CCE0D15C-E5FD-4DC8-9732-A2B39860E1C2}" srcOrd="0" destOrd="0" parTransId="{BDF4EDA4-5AAB-4A69-AE9C-5E8449440365}" sibTransId="{4CBB1631-F9CC-403D-AF35-69B0570395C5}"/>
    <dgm:cxn modelId="{D1A03088-8606-404A-B9C2-6389B36902C0}" srcId="{0BF90EE9-0D49-4E78-8F65-3C54BD97BD4F}" destId="{B6238123-4E8E-5C47-A901-34CBDB3BAAFB}" srcOrd="2" destOrd="0" parTransId="{F156EA0F-C9EA-B74D-B0BE-005D6AA37C86}" sibTransId="{3F5D1DC3-3FE1-1443-9476-36D2785356EE}"/>
    <dgm:cxn modelId="{4CF15EA5-8051-8D42-B129-C2512985F073}" type="presOf" srcId="{A3233185-DDEE-4290-978F-0A18A8F5A1C6}" destId="{49A539FA-5DD7-C44C-9F5E-3FE9845DC921}" srcOrd="0" destOrd="0" presId="urn:microsoft.com/office/officeart/2005/8/layout/list1"/>
    <dgm:cxn modelId="{84590BCE-0B91-2C47-B19B-0F673E64F5F4}" type="presOf" srcId="{31DF1E22-D721-4018-98B7-71394BA9D7B3}" destId="{C5129449-4BF9-7147-B1A7-1F97D0638007}" srcOrd="1" destOrd="0" presId="urn:microsoft.com/office/officeart/2005/8/layout/list1"/>
    <dgm:cxn modelId="{7FF6618C-F519-3A4F-B722-B800D2AAE9BA}" type="presParOf" srcId="{F3B06261-F6DA-B849-BD47-5FD0EAECA2D5}" destId="{7D2D2DDD-2B25-7C42-B520-69974B5486E3}" srcOrd="0" destOrd="0" presId="urn:microsoft.com/office/officeart/2005/8/layout/list1"/>
    <dgm:cxn modelId="{FD3D767C-C850-C740-9808-DE0E2A49312F}" type="presParOf" srcId="{7D2D2DDD-2B25-7C42-B520-69974B5486E3}" destId="{B4C78724-7589-C741-8471-1A86DF1F1B8B}" srcOrd="0" destOrd="0" presId="urn:microsoft.com/office/officeart/2005/8/layout/list1"/>
    <dgm:cxn modelId="{94B0A81E-3EF6-F74C-823D-E84E7754A810}" type="presParOf" srcId="{7D2D2DDD-2B25-7C42-B520-69974B5486E3}" destId="{1AEE820F-3E46-0B42-9EA6-E4C45B7C4F47}" srcOrd="1" destOrd="0" presId="urn:microsoft.com/office/officeart/2005/8/layout/list1"/>
    <dgm:cxn modelId="{E3FCCC1B-D769-F64E-98C8-8DB0CB1E712B}" type="presParOf" srcId="{F3B06261-F6DA-B849-BD47-5FD0EAECA2D5}" destId="{399FE324-BB51-3C4A-BE7B-1C711A237A95}" srcOrd="1" destOrd="0" presId="urn:microsoft.com/office/officeart/2005/8/layout/list1"/>
    <dgm:cxn modelId="{4C862B62-CDB3-184A-8236-99DE65E8CBF6}" type="presParOf" srcId="{F3B06261-F6DA-B849-BD47-5FD0EAECA2D5}" destId="{9C7D8838-D12F-B946-A5CD-25B632AE2879}" srcOrd="2" destOrd="0" presId="urn:microsoft.com/office/officeart/2005/8/layout/list1"/>
    <dgm:cxn modelId="{1ABA1F22-4E9C-1F4A-A0B6-342D6529158D}" type="presParOf" srcId="{F3B06261-F6DA-B849-BD47-5FD0EAECA2D5}" destId="{BF1E6F7E-C323-284F-8D8D-742513436DD4}" srcOrd="3" destOrd="0" presId="urn:microsoft.com/office/officeart/2005/8/layout/list1"/>
    <dgm:cxn modelId="{ABF8B294-9294-B24E-BF57-1FA42EF81B83}" type="presParOf" srcId="{F3B06261-F6DA-B849-BD47-5FD0EAECA2D5}" destId="{36629EB6-7955-6242-A9B0-57E3904058C3}" srcOrd="4" destOrd="0" presId="urn:microsoft.com/office/officeart/2005/8/layout/list1"/>
    <dgm:cxn modelId="{1270E7D6-F3BA-1A44-AFE0-D5BC1F8E309F}" type="presParOf" srcId="{36629EB6-7955-6242-A9B0-57E3904058C3}" destId="{19EB7181-9199-DE42-9DA9-477E4435867F}" srcOrd="0" destOrd="0" presId="urn:microsoft.com/office/officeart/2005/8/layout/list1"/>
    <dgm:cxn modelId="{A8227292-BE8F-8C45-8FB7-6159170CB1C7}" type="presParOf" srcId="{36629EB6-7955-6242-A9B0-57E3904058C3}" destId="{C5129449-4BF9-7147-B1A7-1F97D0638007}" srcOrd="1" destOrd="0" presId="urn:microsoft.com/office/officeart/2005/8/layout/list1"/>
    <dgm:cxn modelId="{F9F3ADEF-19D7-4946-8B8A-1BDC7ECF89CC}" type="presParOf" srcId="{F3B06261-F6DA-B849-BD47-5FD0EAECA2D5}" destId="{02D31F6D-5006-AA42-96F0-4D869CAB85B8}" srcOrd="5" destOrd="0" presId="urn:microsoft.com/office/officeart/2005/8/layout/list1"/>
    <dgm:cxn modelId="{2F8BC6ED-E80A-FE40-9920-F0F33C5183CE}" type="presParOf" srcId="{F3B06261-F6DA-B849-BD47-5FD0EAECA2D5}" destId="{1B3BCC64-1659-9F4B-AB2B-85346AF6385E}" srcOrd="6" destOrd="0" presId="urn:microsoft.com/office/officeart/2005/8/layout/list1"/>
    <dgm:cxn modelId="{7929E094-A222-4C45-A510-590CB0BACF9F}" type="presParOf" srcId="{F3B06261-F6DA-B849-BD47-5FD0EAECA2D5}" destId="{B65E27AE-9988-F641-AEC0-4F1847037C88}" srcOrd="7" destOrd="0" presId="urn:microsoft.com/office/officeart/2005/8/layout/list1"/>
    <dgm:cxn modelId="{78DA992C-712B-3547-880B-7A483E647191}" type="presParOf" srcId="{F3B06261-F6DA-B849-BD47-5FD0EAECA2D5}" destId="{885AA3E4-12D9-0B46-851B-3BD2C07991F3}" srcOrd="8" destOrd="0" presId="urn:microsoft.com/office/officeart/2005/8/layout/list1"/>
    <dgm:cxn modelId="{C2213CA8-7832-0649-B82C-913B6DD99F9B}" type="presParOf" srcId="{885AA3E4-12D9-0B46-851B-3BD2C07991F3}" destId="{4990664E-3CEE-8F46-9EF1-E31A42CB1E65}" srcOrd="0" destOrd="0" presId="urn:microsoft.com/office/officeart/2005/8/layout/list1"/>
    <dgm:cxn modelId="{5CA85A9E-F8F5-4742-8BFD-36BDD6C25319}" type="presParOf" srcId="{885AA3E4-12D9-0B46-851B-3BD2C07991F3}" destId="{D08238D4-FD85-5842-8F0B-E89ED83EE654}" srcOrd="1" destOrd="0" presId="urn:microsoft.com/office/officeart/2005/8/layout/list1"/>
    <dgm:cxn modelId="{8DAFB38C-87EA-AC4D-B290-513790ECB2C8}" type="presParOf" srcId="{F3B06261-F6DA-B849-BD47-5FD0EAECA2D5}" destId="{9C4ADA67-79B8-6749-BE56-90F5473650D7}" srcOrd="9" destOrd="0" presId="urn:microsoft.com/office/officeart/2005/8/layout/list1"/>
    <dgm:cxn modelId="{2E3C7824-0A77-ED46-A6D0-1C5B73F6E04C}" type="presParOf" srcId="{F3B06261-F6DA-B849-BD47-5FD0EAECA2D5}" destId="{49A539FA-5DD7-C44C-9F5E-3FE9845DC92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D8838-D12F-B946-A5CD-25B632AE2879}">
      <dsp:nvSpPr>
        <dsp:cNvPr id="0" name=""/>
        <dsp:cNvSpPr/>
      </dsp:nvSpPr>
      <dsp:spPr>
        <a:xfrm>
          <a:off x="0" y="303112"/>
          <a:ext cx="968071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331" tIns="374904" rIns="75133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Senior Engineer @CrowdStrike (Former @Preempt)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Extensive background as a security researcher</a:t>
          </a:r>
        </a:p>
      </dsp:txBody>
      <dsp:txXfrm>
        <a:off x="0" y="303112"/>
        <a:ext cx="9680713" cy="1048950"/>
      </dsp:txXfrm>
    </dsp:sp>
    <dsp:sp modelId="{1AEE820F-3E46-0B42-9EA6-E4C45B7C4F47}">
      <dsp:nvSpPr>
        <dsp:cNvPr id="0" name=""/>
        <dsp:cNvSpPr/>
      </dsp:nvSpPr>
      <dsp:spPr>
        <a:xfrm>
          <a:off x="484035" y="37432"/>
          <a:ext cx="677649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36" tIns="0" rIns="25613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Sagi</a:t>
          </a:r>
          <a:r>
            <a:rPr lang="en-US" sz="1800" kern="1200" dirty="0"/>
            <a:t> </a:t>
          </a:r>
          <a:r>
            <a:rPr lang="en-US" sz="1800" kern="1200" dirty="0" err="1"/>
            <a:t>Sheinfeld</a:t>
          </a:r>
          <a:r>
            <a:rPr lang="en-US" sz="1800" kern="1200" dirty="0"/>
            <a:t> (@sagish1233)</a:t>
          </a:r>
        </a:p>
      </dsp:txBody>
      <dsp:txXfrm>
        <a:off x="509974" y="63371"/>
        <a:ext cx="6724621" cy="479482"/>
      </dsp:txXfrm>
    </dsp:sp>
    <dsp:sp modelId="{1B3BCC64-1659-9F4B-AB2B-85346AF6385E}">
      <dsp:nvSpPr>
        <dsp:cNvPr id="0" name=""/>
        <dsp:cNvSpPr/>
      </dsp:nvSpPr>
      <dsp:spPr>
        <a:xfrm>
          <a:off x="0" y="1714942"/>
          <a:ext cx="968071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331" tIns="374904" rIns="75133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Senior Engineer @CrowdStrike (Former @Preempt)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Previously presented on Black Hat</a:t>
          </a:r>
        </a:p>
      </dsp:txBody>
      <dsp:txXfrm>
        <a:off x="0" y="1714942"/>
        <a:ext cx="9680713" cy="1048950"/>
      </dsp:txXfrm>
    </dsp:sp>
    <dsp:sp modelId="{C5129449-4BF9-7147-B1A7-1F97D0638007}">
      <dsp:nvSpPr>
        <dsp:cNvPr id="0" name=""/>
        <dsp:cNvSpPr/>
      </dsp:nvSpPr>
      <dsp:spPr>
        <a:xfrm>
          <a:off x="484035" y="1449262"/>
          <a:ext cx="6776499" cy="53136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36" tIns="0" rIns="25613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Eyal</a:t>
          </a:r>
          <a:r>
            <a:rPr lang="en-US" sz="1800" kern="1200" dirty="0"/>
            <a:t> </a:t>
          </a:r>
          <a:r>
            <a:rPr lang="en-US" sz="1800" kern="1200" dirty="0" err="1"/>
            <a:t>Karni</a:t>
          </a:r>
          <a:r>
            <a:rPr lang="en-US" sz="1800" kern="1200" dirty="0"/>
            <a:t> (@</a:t>
          </a:r>
          <a:r>
            <a:rPr lang="en-US" sz="1800" kern="1200" dirty="0" err="1"/>
            <a:t>eyal_karni</a:t>
          </a:r>
          <a:r>
            <a:rPr lang="en-US" sz="1800" kern="1200" dirty="0"/>
            <a:t>)</a:t>
          </a:r>
        </a:p>
      </dsp:txBody>
      <dsp:txXfrm>
        <a:off x="509974" y="1475201"/>
        <a:ext cx="6724621" cy="479482"/>
      </dsp:txXfrm>
    </dsp:sp>
    <dsp:sp modelId="{49A539FA-5DD7-C44C-9F5E-3FE9845DC921}">
      <dsp:nvSpPr>
        <dsp:cNvPr id="0" name=""/>
        <dsp:cNvSpPr/>
      </dsp:nvSpPr>
      <dsp:spPr>
        <a:xfrm>
          <a:off x="0" y="3126772"/>
          <a:ext cx="9680713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1331" tIns="374904" rIns="75133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Senior Manager, Engineering @CrowdStrike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2xBlack Hat, 1xDEFCON</a:t>
          </a:r>
        </a:p>
      </dsp:txBody>
      <dsp:txXfrm>
        <a:off x="0" y="3126772"/>
        <a:ext cx="9680713" cy="1048950"/>
      </dsp:txXfrm>
    </dsp:sp>
    <dsp:sp modelId="{D08238D4-FD85-5842-8F0B-E89ED83EE654}">
      <dsp:nvSpPr>
        <dsp:cNvPr id="0" name=""/>
        <dsp:cNvSpPr/>
      </dsp:nvSpPr>
      <dsp:spPr>
        <a:xfrm>
          <a:off x="484035" y="2861092"/>
          <a:ext cx="6776499" cy="5313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36" tIns="0" rIns="25613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Yaron </a:t>
          </a:r>
          <a:r>
            <a:rPr lang="en-US" sz="1800" kern="1200" dirty="0" err="1"/>
            <a:t>Zinar</a:t>
          </a:r>
          <a:r>
            <a:rPr lang="en-US" sz="1800" kern="1200" dirty="0"/>
            <a:t> (@</a:t>
          </a:r>
          <a:r>
            <a:rPr lang="en-US" sz="1800" kern="1200" dirty="0" err="1"/>
            <a:t>YaronZi</a:t>
          </a:r>
          <a:r>
            <a:rPr lang="en-US" sz="1800" kern="1200" dirty="0"/>
            <a:t>)</a:t>
          </a:r>
        </a:p>
      </dsp:txBody>
      <dsp:txXfrm>
        <a:off x="509974" y="2887031"/>
        <a:ext cx="6724621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8B0771-8C5A-DE4B-944E-3C5CAF13D6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23CF6-7AFB-724D-8E6B-CC3CFA672E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4C85-F43A-9543-9FF7-0012E74DAF8A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D1216-342A-DC46-85FC-5EE009240D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6B895-C8C1-4A49-86A5-79BEFA5D00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5FEAC-3029-484C-A583-60581D8C594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0472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F3EAA-7491-8443-9029-2088F04D1208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09A4A-3502-0F40-86F8-9577EE7FE6B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80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068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9977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879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4653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24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5829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8661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6420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9686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DBEB8-D863-453E-8E02-C0EE1957473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5634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6350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975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0920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1420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7353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3862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6682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62271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8265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6606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7285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40492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7912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125371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37601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9860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6062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17976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59697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2893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64768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87637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80670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44343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2378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14570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09A4A-3502-0F40-86F8-9577EE7FE6B3}" type="slidenum">
              <a:rPr lang="en-IL" smtClean="0"/>
              <a:t>37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2510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9CE6-E820-8141-9535-BD0A83293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48847-9C5C-FA4E-8FC0-2BF8DD9FB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D331A-C107-3249-94F7-85E568C71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29E4D-5E62-6E47-97BB-2218FE87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L" dirty="0"/>
              <a:t>DEFCON 29 – Adventures in MiTM-Land (Sheinfeld, Karni, Zinar)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82E7F-7F42-8247-8C1D-5782D3E7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7C7F6B-4CA1-0941-A010-4A2F8B2BD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28245" y="5864087"/>
            <a:ext cx="1590260" cy="99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8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44E0-B22B-9B46-BF7F-38056D05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F475-5F3F-274A-BE29-AAFED2663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0A406-C7A9-0A41-91E1-A643607A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B8793-C042-FB4F-8A3F-5A5EC0A6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L" dirty="0"/>
              <a:t>DEFCON 29 – Adventures in MiTM-Land (Sheinfeld, Karni, Zinar)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C8C19-E109-B949-89CE-AC5674EA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C0B2B7-0B19-4A4F-BC00-A7E484C85F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4422" y="6086475"/>
            <a:ext cx="25400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63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4660-58D0-7742-AEB8-C8DF6CEE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DA44C-A4BD-224A-B6B5-00784CB23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D2E0F-496A-AD47-9833-15DFA424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476A7-AD4C-9442-A262-A5854446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12FA2-2B9E-6C4F-92AD-FA03615C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405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C19F-A9D9-5F4A-B71F-FDA1764E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F9251-F618-DC4A-96C9-899E35091E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2F4E9-8784-344A-8CF2-85392655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E5F93-3BA4-334D-9093-0ACCACA5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95073-1368-0F48-A58C-AEF1E3D1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743B1-A200-9A43-B601-D2F34FFC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17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CD94-F8E5-434E-B080-0B24EDD0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79A62-77EA-EF42-8A21-3DAA5C75E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81F99-DF0D-8246-9D66-7ED19B558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8D390-957B-0D4B-BFD3-4C857A2AE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904B1-2E8F-214D-AFCB-A9D60CABF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710AC5-3205-9548-8FF8-44F7DEEA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F550B-65F2-0F44-B001-BBF7DF86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02857-332D-EA4E-85CB-90AC2FA2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046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9766-07A2-054C-82B5-BB2FB29A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C4892-0EEB-F348-9C87-AAEAA4DA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4DBD1-0B9B-7649-81E6-88283827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8D5BC-A315-EC4B-8D19-85185A3F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557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4EDEA-A361-7549-9C07-C0D1F64A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2F2C0-A4BA-EF47-855D-267F811F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AA071-69E8-B840-9840-76655050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074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3C5B-B0E3-2D43-8D56-4E3D8051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6A84-2F87-B14B-96F4-433F5008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B660A-6CC2-414A-A835-1339B4432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C808B-3899-1146-9324-F1684532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0E5BB-3908-8B40-82C5-195AED58B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A6983-84F9-814D-9F1C-4579BCA7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7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28BD-1FAF-5A47-AD28-12E5E943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DEFBA-B37A-054D-8B63-6C50B159A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71359-28CB-5F4D-A486-E3FB14090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56A36-93E1-5C4C-8CE2-21C1BF54C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654FD-AD8E-F041-B62A-8FDC17B9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E1EE7-0C16-9241-8238-71CBAC01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099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3D16F-D936-CD48-A2FA-72A5707B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EE172-84FA-9D48-8810-4CBFAC778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5B35F-54A1-CF40-BB06-3179DB1E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08AA0-EE88-D44D-874A-78D5657D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FAFE-8E6F-214E-81E0-D30CD3D9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641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4915D-B3AD-6048-A316-C008F5FC6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A7434-49D0-8745-9C72-0390C6912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AAC5A-ADFF-A649-A371-193AC92E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9EB9C-7986-2745-9371-DBC1DF18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5B7B-A734-5644-92B7-9E18441D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57C4-BDAB-7F42-8F1D-8D5E8C56CB2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205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D2D17F-9063-1947-A0A1-3AACE3CC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40D1B-6761-2D47-B0A3-ADFB69250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7CD4B-B8DB-D144-B342-16190D400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F050-057B-2940-A604-92D152B39CB7}" type="datetimeFigureOut">
              <a:rPr lang="en-IL" smtClean="0"/>
              <a:t>20/07/2021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DDEC3-2CBF-5C45-B1C9-A955E2E6B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9B105-99FD-C042-8A08-DFCD763CB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57C4-BDAB-7F42-8F1D-8D5E8C56CB28}" type="slidenum">
              <a:rPr lang="en-IL" smtClean="0"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2913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openxmlformats.org/officeDocument/2006/relationships/image" Target="../media/image3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openxmlformats.org/officeDocument/2006/relationships/image" Target="../media/image3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2822-8303-2640-8494-7117ED498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Adventures in MitM-land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49F1E-1DC6-874A-9403-0D64D4B65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MITM to Attack Active Directory Authentication Schemes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7728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EF56-0BF1-B742-896B-D9FBB931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About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AB4D0-66A9-C941-A31F-D3A5EBA37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D6E00551-EE86-8E45-88A4-61AFB3D3FE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269424"/>
              </p:ext>
            </p:extLst>
          </p:nvPr>
        </p:nvGraphicFramePr>
        <p:xfrm>
          <a:off x="1371600" y="1690687"/>
          <a:ext cx="9680713" cy="4213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878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0EAD-4171-CA43-8914-6DCB38077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MITM an Important Technique?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754B1-1379-C548-94ED-F300E26D2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Sometimes…</a:t>
            </a:r>
          </a:p>
          <a:p>
            <a:pPr lvl="1"/>
            <a:r>
              <a:rPr lang="en-IL" dirty="0"/>
              <a:t>Works when other techniques fail</a:t>
            </a:r>
          </a:p>
          <a:p>
            <a:pPr lvl="1"/>
            <a:r>
              <a:rPr lang="en-IL" dirty="0"/>
              <a:t>Often overlooked…</a:t>
            </a:r>
          </a:p>
          <a:p>
            <a:endParaRPr lang="en-IL" dirty="0"/>
          </a:p>
          <a:p>
            <a:r>
              <a:rPr lang="en-IL" dirty="0"/>
              <a:t>Active Directory</a:t>
            </a:r>
          </a:p>
          <a:p>
            <a:pPr lvl="1"/>
            <a:r>
              <a:rPr lang="en-IL" dirty="0"/>
              <a:t>Relatively old protocols</a:t>
            </a:r>
          </a:p>
          <a:p>
            <a:pPr lvl="1"/>
            <a:r>
              <a:rPr lang="en-IL" dirty="0"/>
              <a:t>Usually don’t use TLS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3324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FCC2-983C-B74A-8D4C-30512354F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Basics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229B0-5E21-314C-9117-AD86C13FF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CBB4A89-E50F-3A4C-9894-2460998F01DB}"/>
              </a:ext>
            </a:extLst>
          </p:cNvPr>
          <p:cNvSpPr txBox="1">
            <a:spLocks/>
          </p:cNvSpPr>
          <p:nvPr/>
        </p:nvSpPr>
        <p:spPr>
          <a:xfrm>
            <a:off x="3363435" y="5694229"/>
            <a:ext cx="5935548" cy="40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/>
              <a:t>Authentication is </a:t>
            </a:r>
            <a:r>
              <a:rPr lang="en-US" sz="2000" b="1" i="1"/>
              <a:t>not</a:t>
            </a:r>
            <a:r>
              <a:rPr lang="en-US" sz="2000" b="1"/>
              <a:t> bound to the target server!</a:t>
            </a:r>
            <a:endParaRPr lang="en-US" sz="2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F0339F-3942-9745-BBE7-BDD8CF423B10}"/>
              </a:ext>
            </a:extLst>
          </p:cNvPr>
          <p:cNvSpPr>
            <a:spLocks noGrp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DB8205-EE39-FC4D-9FED-CD3D6C44D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702" y="2353770"/>
            <a:ext cx="1174440" cy="1800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F5A8C-2EC4-2941-AC96-F24F9811B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815" y="2353770"/>
            <a:ext cx="1174440" cy="1800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3D6DD-A015-AD42-BB19-09E155A16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590" y="2353770"/>
            <a:ext cx="1174440" cy="180080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E1409BD-EBEB-E44F-9D78-AD4E3D40ACCA}"/>
              </a:ext>
            </a:extLst>
          </p:cNvPr>
          <p:cNvGrpSpPr/>
          <p:nvPr/>
        </p:nvGrpSpPr>
        <p:grpSpPr>
          <a:xfrm>
            <a:off x="2821030" y="2419076"/>
            <a:ext cx="2581672" cy="276999"/>
            <a:chOff x="2936777" y="3247052"/>
            <a:chExt cx="2581672" cy="27699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8C2BDF8-3E55-5B4F-86C9-9AB8770F5330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E2E504-3543-0D4D-9415-A99B7F0E804E}"/>
                </a:ext>
              </a:extLst>
            </p:cNvPr>
            <p:cNvSpPr txBox="1"/>
            <p:nvPr/>
          </p:nvSpPr>
          <p:spPr>
            <a:xfrm>
              <a:off x="3592291" y="3247052"/>
              <a:ext cx="16332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NTLM Negotiate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187DB0-C9A1-F04D-9E2A-BF930B8B2491}"/>
              </a:ext>
            </a:extLst>
          </p:cNvPr>
          <p:cNvGrpSpPr/>
          <p:nvPr/>
        </p:nvGrpSpPr>
        <p:grpSpPr>
          <a:xfrm>
            <a:off x="2833468" y="3065997"/>
            <a:ext cx="2581672" cy="276999"/>
            <a:chOff x="2936777" y="3247052"/>
            <a:chExt cx="2581672" cy="276999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8C467A2-F20B-9E4F-B572-3421AFA07513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CC789A-2C80-B546-8630-25BCC49684ED}"/>
                </a:ext>
              </a:extLst>
            </p:cNvPr>
            <p:cNvSpPr txBox="1"/>
            <p:nvPr/>
          </p:nvSpPr>
          <p:spPr>
            <a:xfrm>
              <a:off x="3592291" y="3247052"/>
              <a:ext cx="19012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NTLM Authenticate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FD539C-714A-684E-9249-75E5E3A1ED3E}"/>
              </a:ext>
            </a:extLst>
          </p:cNvPr>
          <p:cNvGrpSpPr/>
          <p:nvPr/>
        </p:nvGrpSpPr>
        <p:grpSpPr>
          <a:xfrm>
            <a:off x="2821030" y="2730097"/>
            <a:ext cx="2594110" cy="276998"/>
            <a:chOff x="2942997" y="3247053"/>
            <a:chExt cx="2594110" cy="27699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18B4FD7-810C-E94E-A862-A1F65A979BE2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1FF76A-F625-0140-AF3D-E1B01B718145}"/>
                </a:ext>
              </a:extLst>
            </p:cNvPr>
            <p:cNvSpPr txBox="1"/>
            <p:nvPr/>
          </p:nvSpPr>
          <p:spPr>
            <a:xfrm>
              <a:off x="3592292" y="3247053"/>
              <a:ext cx="1601752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NTLM Challenge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87EB83-0D83-DB49-9376-7F4E3D113DD0}"/>
              </a:ext>
            </a:extLst>
          </p:cNvPr>
          <p:cNvGrpSpPr/>
          <p:nvPr/>
        </p:nvGrpSpPr>
        <p:grpSpPr>
          <a:xfrm>
            <a:off x="6587491" y="3218397"/>
            <a:ext cx="2581672" cy="276999"/>
            <a:chOff x="2936777" y="3247052"/>
            <a:chExt cx="2581672" cy="27699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A759D7D-12D4-DE45-9342-42FFB3E160BD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1CB5EC-264E-7D4F-B5E8-CD11DFF75DDF}"/>
                </a:ext>
              </a:extLst>
            </p:cNvPr>
            <p:cNvSpPr txBox="1"/>
            <p:nvPr/>
          </p:nvSpPr>
          <p:spPr>
            <a:xfrm>
              <a:off x="3592291" y="3247052"/>
              <a:ext cx="16017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NETLOGON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1B494F-11F5-9046-B107-69C61C1034C2}"/>
              </a:ext>
            </a:extLst>
          </p:cNvPr>
          <p:cNvGrpSpPr/>
          <p:nvPr/>
        </p:nvGrpSpPr>
        <p:grpSpPr>
          <a:xfrm>
            <a:off x="6556387" y="3442336"/>
            <a:ext cx="2594110" cy="276998"/>
            <a:chOff x="2942997" y="3247053"/>
            <a:chExt cx="2594110" cy="27699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3F6D84A-6A14-BA48-87C4-02F21A1C0665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736E39E-35D0-514E-AAEE-9D499F3D714F}"/>
                </a:ext>
              </a:extLst>
            </p:cNvPr>
            <p:cNvSpPr txBox="1"/>
            <p:nvPr/>
          </p:nvSpPr>
          <p:spPr>
            <a:xfrm>
              <a:off x="3592292" y="3247053"/>
              <a:ext cx="1639076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Approve/Reject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F984AB5-00BE-DB44-A8FC-829B96864393}"/>
              </a:ext>
            </a:extLst>
          </p:cNvPr>
          <p:cNvSpPr txBox="1"/>
          <p:nvPr/>
        </p:nvSpPr>
        <p:spPr>
          <a:xfrm>
            <a:off x="1515958" y="4173241"/>
            <a:ext cx="1973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 Machine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642130-0FBC-A74F-B2AC-EC1F3365F94F}"/>
              </a:ext>
            </a:extLst>
          </p:cNvPr>
          <p:cNvSpPr txBox="1"/>
          <p:nvPr/>
        </p:nvSpPr>
        <p:spPr>
          <a:xfrm>
            <a:off x="5244785" y="4185520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5F65E9-298A-F94B-BD3D-5DBFE490AFFC}"/>
              </a:ext>
            </a:extLst>
          </p:cNvPr>
          <p:cNvSpPr txBox="1"/>
          <p:nvPr/>
        </p:nvSpPr>
        <p:spPr>
          <a:xfrm>
            <a:off x="9535277" y="4173241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</p:spTree>
    <p:extLst>
      <p:ext uri="{BB962C8B-B14F-4D97-AF65-F5344CB8AC3E}">
        <p14:creationId xmlns:p14="http://schemas.microsoft.com/office/powerpoint/2010/main" val="377501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D707-661C-6B43-B4C0-B43CEE07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Basics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99FB-74DE-A341-8F96-FCFB8F3BD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4B131-C4DD-E845-9E43-A44AB0597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501" y="3695871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F71FB5-F030-4545-BEE5-57C63ED23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33" y="1536223"/>
            <a:ext cx="1174440" cy="1800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38DCA9-5F2D-D147-B544-92FC5907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3695871"/>
            <a:ext cx="1174440" cy="180080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F456A8A-D6F9-E54F-A11B-6109C535002A}"/>
              </a:ext>
            </a:extLst>
          </p:cNvPr>
          <p:cNvGrpSpPr/>
          <p:nvPr/>
        </p:nvGrpSpPr>
        <p:grpSpPr>
          <a:xfrm>
            <a:off x="2506186" y="4973172"/>
            <a:ext cx="5980267" cy="276999"/>
            <a:chOff x="2936777" y="3247052"/>
            <a:chExt cx="2581672" cy="27699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32F37C9-D358-0C41-9FE3-F751CAED2577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829D8E-7C8B-8E4B-A926-F19B3C31FDC5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AP-Req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7B3CB0E-26FB-6545-BE62-31A485114A2C}"/>
              </a:ext>
            </a:extLst>
          </p:cNvPr>
          <p:cNvSpPr txBox="1"/>
          <p:nvPr/>
        </p:nvSpPr>
        <p:spPr>
          <a:xfrm>
            <a:off x="1188678" y="5515342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A20340-85DA-8947-A0CF-38E503DE29B2}"/>
              </a:ext>
            </a:extLst>
          </p:cNvPr>
          <p:cNvSpPr txBox="1"/>
          <p:nvPr/>
        </p:nvSpPr>
        <p:spPr>
          <a:xfrm>
            <a:off x="8008599" y="5515755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Server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840CAA-A5E3-C245-8F3C-5AB4BD9A4D94}"/>
              </a:ext>
            </a:extLst>
          </p:cNvPr>
          <p:cNvSpPr txBox="1"/>
          <p:nvPr/>
        </p:nvSpPr>
        <p:spPr>
          <a:xfrm>
            <a:off x="5401990" y="3355694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48085E5-231C-0D41-AB71-9FB5BDBD5DA6}"/>
              </a:ext>
            </a:extLst>
          </p:cNvPr>
          <p:cNvGrpSpPr/>
          <p:nvPr/>
        </p:nvGrpSpPr>
        <p:grpSpPr>
          <a:xfrm rot="19276852">
            <a:off x="2141062" y="2841373"/>
            <a:ext cx="3144201" cy="281290"/>
            <a:chOff x="2936777" y="3242761"/>
            <a:chExt cx="2581672" cy="28129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AB6AA63-D3EE-A14C-9A3D-0139B15EA3E9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7C57B4-497E-194A-897E-0241B13E9DCE}"/>
                </a:ext>
              </a:extLst>
            </p:cNvPr>
            <p:cNvSpPr txBox="1"/>
            <p:nvPr/>
          </p:nvSpPr>
          <p:spPr>
            <a:xfrm>
              <a:off x="3592291" y="3242761"/>
              <a:ext cx="1741294" cy="281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AS-Req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6649F65-13A3-134F-B58F-8868C7C63474}"/>
              </a:ext>
            </a:extLst>
          </p:cNvPr>
          <p:cNvGrpSpPr/>
          <p:nvPr/>
        </p:nvGrpSpPr>
        <p:grpSpPr>
          <a:xfrm rot="19276852">
            <a:off x="2078711" y="3097086"/>
            <a:ext cx="3296849" cy="276999"/>
            <a:chOff x="2942997" y="3229378"/>
            <a:chExt cx="2676752" cy="276999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4F18759-D4CE-434E-8A00-0D32DF1DF9C2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886AC1F-8EE5-6F4C-852E-ABC3060FB61B}"/>
                </a:ext>
              </a:extLst>
            </p:cNvPr>
            <p:cNvSpPr txBox="1"/>
            <p:nvPr/>
          </p:nvSpPr>
          <p:spPr>
            <a:xfrm>
              <a:off x="3592291" y="3229378"/>
              <a:ext cx="20274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AS-Rep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CD21692-3B91-B942-9FE2-80EBD7443D17}"/>
              </a:ext>
            </a:extLst>
          </p:cNvPr>
          <p:cNvGrpSpPr/>
          <p:nvPr/>
        </p:nvGrpSpPr>
        <p:grpSpPr>
          <a:xfrm rot="19276852">
            <a:off x="2118804" y="3456105"/>
            <a:ext cx="3144201" cy="281290"/>
            <a:chOff x="2936777" y="3242761"/>
            <a:chExt cx="2581672" cy="281290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F4FF5D8-F0FA-3646-BABC-2DD70F2C58E7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715B3D7-A862-9349-B872-DCAD3D3377A2}"/>
                </a:ext>
              </a:extLst>
            </p:cNvPr>
            <p:cNvSpPr txBox="1"/>
            <p:nvPr/>
          </p:nvSpPr>
          <p:spPr>
            <a:xfrm>
              <a:off x="3592291" y="3242761"/>
              <a:ext cx="1741294" cy="281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TGS-Req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F0FAE4A-529C-534C-9EEA-A03D088B2E52}"/>
              </a:ext>
            </a:extLst>
          </p:cNvPr>
          <p:cNvGrpSpPr/>
          <p:nvPr/>
        </p:nvGrpSpPr>
        <p:grpSpPr>
          <a:xfrm rot="19276852">
            <a:off x="2426807" y="2698413"/>
            <a:ext cx="3209936" cy="2087103"/>
            <a:chOff x="3217156" y="2444262"/>
            <a:chExt cx="2402593" cy="2087103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1B0D45E-9033-F846-8E81-4A29E5371969}"/>
                </a:ext>
              </a:extLst>
            </p:cNvPr>
            <p:cNvCxnSpPr>
              <a:cxnSpLocks/>
            </p:cNvCxnSpPr>
            <p:nvPr/>
          </p:nvCxnSpPr>
          <p:spPr>
            <a:xfrm rot="2323148" flipH="1">
              <a:off x="3217156" y="2444262"/>
              <a:ext cx="1951170" cy="20871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AAC4F11-EB44-794F-A6E9-196163AB4D68}"/>
                </a:ext>
              </a:extLst>
            </p:cNvPr>
            <p:cNvSpPr txBox="1"/>
            <p:nvPr/>
          </p:nvSpPr>
          <p:spPr>
            <a:xfrm>
              <a:off x="3592291" y="3229378"/>
              <a:ext cx="20274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TGS-Rep</a:t>
              </a:r>
            </a:p>
          </p:txBody>
        </p:sp>
      </p:grpSp>
      <p:pic>
        <p:nvPicPr>
          <p:cNvPr id="25" name="Graphic 57" descr="Ticket">
            <a:extLst>
              <a:ext uri="{FF2B5EF4-FFF2-40B4-BE49-F238E27FC236}">
                <a16:creationId xmlns:a16="http://schemas.microsoft.com/office/drawing/2014/main" id="{94894AF7-792D-EC4C-962F-9952053C7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0823" y="4593536"/>
            <a:ext cx="443753" cy="45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raphic 57" descr="Ticket">
            <a:extLst>
              <a:ext uri="{FF2B5EF4-FFF2-40B4-BE49-F238E27FC236}">
                <a16:creationId xmlns:a16="http://schemas.microsoft.com/office/drawing/2014/main" id="{DD09A6B4-0ACF-D444-ACE3-DE282C838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5881" y="4145300"/>
            <a:ext cx="443753" cy="4512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C38D07-DFC5-D84A-A5D8-F16788EF9F63}"/>
              </a:ext>
            </a:extLst>
          </p:cNvPr>
          <p:cNvSpPr txBox="1"/>
          <p:nvPr/>
        </p:nvSpPr>
        <p:spPr>
          <a:xfrm>
            <a:off x="203200" y="4040985"/>
            <a:ext cx="985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Signed with server’s secret</a:t>
            </a:r>
          </a:p>
        </p:txBody>
      </p:sp>
    </p:spTree>
    <p:extLst>
      <p:ext uri="{BB962C8B-B14F-4D97-AF65-F5344CB8AC3E}">
        <p14:creationId xmlns:p14="http://schemas.microsoft.com/office/powerpoint/2010/main" val="78572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1 0.00231 L 0.57018 0.00231 " pathEditMode="relative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2B6C-2F94-8F43-9CBB-99004C34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vs. NTLM</a:t>
            </a:r>
            <a:endParaRPr lang="en-IL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C0753F-BBD4-E848-8AD2-34C58A59C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635894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920">
                  <a:extLst>
                    <a:ext uri="{9D8B030D-6E8A-4147-A177-3AD203B41FA5}">
                      <a16:colId xmlns:a16="http://schemas.microsoft.com/office/drawing/2014/main" val="3827698865"/>
                    </a:ext>
                  </a:extLst>
                </a:gridCol>
                <a:gridCol w="3205478">
                  <a:extLst>
                    <a:ext uri="{9D8B030D-6E8A-4147-A177-3AD203B41FA5}">
                      <a16:colId xmlns:a16="http://schemas.microsoft.com/office/drawing/2014/main" val="16712556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85950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NTLM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dirty="0"/>
                        <a:t>Kerberos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064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Proteted from Offline Cracking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 (except X-roasting)</a:t>
                      </a:r>
                      <a:endParaRPr lang="en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9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Can Work w/o Storing Hash in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7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Supports Mutual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11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Smart Card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78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dirty="0"/>
                        <a:t>Hashes Contain Salt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 (except RC4)</a:t>
                      </a:r>
                      <a:endParaRPr lang="en-I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063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CC56-A0D2-8845-ABEF-C03BAD0F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NTLM Relay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D911-E88B-6448-B4F3-F1D1A9C9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A8667-DE93-1848-BFCB-0BEE3679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421" y="3695871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1234A-C745-A745-A32E-3F7350D18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60" y="3695871"/>
            <a:ext cx="1174440" cy="1800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0D7E54-0AAA-6D4D-A1A8-08C1F3336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3695871"/>
            <a:ext cx="1174440" cy="18008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8E0BA16-6315-904E-A058-9BD23DA60687}"/>
              </a:ext>
            </a:extLst>
          </p:cNvPr>
          <p:cNvGrpSpPr/>
          <p:nvPr/>
        </p:nvGrpSpPr>
        <p:grpSpPr>
          <a:xfrm>
            <a:off x="2493749" y="3761177"/>
            <a:ext cx="2581672" cy="276999"/>
            <a:chOff x="2936777" y="3247052"/>
            <a:chExt cx="2581672" cy="27699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C40A55-82EE-734D-BEE1-80BF8F9A86D5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9C1693-C9D2-0C4E-941B-0C8E8EFB7CB2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NTLM Negotiate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D9018A-28C3-814E-9D72-61A308EE319F}"/>
              </a:ext>
            </a:extLst>
          </p:cNvPr>
          <p:cNvGrpSpPr/>
          <p:nvPr/>
        </p:nvGrpSpPr>
        <p:grpSpPr>
          <a:xfrm>
            <a:off x="2506187" y="4408098"/>
            <a:ext cx="2581672" cy="276999"/>
            <a:chOff x="2936777" y="3247052"/>
            <a:chExt cx="2581672" cy="27699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F158986-EB92-8548-A2E0-24ED5505807D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72A91C-43FE-BE42-9E96-C1E9ADB9DFF2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NTLM Authenticate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F889A0-3F78-5149-9F93-13197B9DAC99}"/>
              </a:ext>
            </a:extLst>
          </p:cNvPr>
          <p:cNvGrpSpPr/>
          <p:nvPr/>
        </p:nvGrpSpPr>
        <p:grpSpPr>
          <a:xfrm>
            <a:off x="2493749" y="4072197"/>
            <a:ext cx="2594110" cy="276999"/>
            <a:chOff x="2942997" y="3247052"/>
            <a:chExt cx="2594110" cy="27699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EDE3E8D-25EC-4840-AA70-DB4E1A1672A7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38EA32-D190-C249-B68B-FFB785F3B7AF}"/>
                </a:ext>
              </a:extLst>
            </p:cNvPr>
            <p:cNvSpPr txBox="1"/>
            <p:nvPr/>
          </p:nvSpPr>
          <p:spPr>
            <a:xfrm>
              <a:off x="3592291" y="3247052"/>
              <a:ext cx="1749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NTLM Challenge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FA00F0-8E30-694E-85C6-8709FCBEF815}"/>
              </a:ext>
            </a:extLst>
          </p:cNvPr>
          <p:cNvGrpSpPr/>
          <p:nvPr/>
        </p:nvGrpSpPr>
        <p:grpSpPr>
          <a:xfrm rot="4222788">
            <a:off x="8430914" y="3339779"/>
            <a:ext cx="2159289" cy="276999"/>
            <a:chOff x="2936777" y="3247053"/>
            <a:chExt cx="2581672" cy="276999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60D646-B2A6-E94B-A7D7-D9660286E6BD}"/>
                </a:ext>
              </a:extLst>
            </p:cNvPr>
            <p:cNvCxnSpPr>
              <a:cxnSpLocks/>
            </p:cNvCxnSpPr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1AAF1C0-1AA1-1A41-AC73-96EB5FCEF6A2}"/>
                </a:ext>
              </a:extLst>
            </p:cNvPr>
            <p:cNvSpPr txBox="1"/>
            <p:nvPr/>
          </p:nvSpPr>
          <p:spPr>
            <a:xfrm>
              <a:off x="3592291" y="3247053"/>
              <a:ext cx="16017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(7) NETLOGON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14E57D-5DA1-CC42-8501-C9931BFB25E2}"/>
              </a:ext>
            </a:extLst>
          </p:cNvPr>
          <p:cNvGrpSpPr/>
          <p:nvPr/>
        </p:nvGrpSpPr>
        <p:grpSpPr>
          <a:xfrm rot="4222788">
            <a:off x="8563670" y="2953162"/>
            <a:ext cx="2168754" cy="276999"/>
            <a:chOff x="2942998" y="3252940"/>
            <a:chExt cx="3191327" cy="276999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EA6ED75-2100-D344-81D1-1D3A70ACF1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2998" y="3486724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924761-287C-1345-B544-98B1CF3297AA}"/>
                </a:ext>
              </a:extLst>
            </p:cNvPr>
            <p:cNvSpPr txBox="1"/>
            <p:nvPr/>
          </p:nvSpPr>
          <p:spPr>
            <a:xfrm>
              <a:off x="3592296" y="3252940"/>
              <a:ext cx="25420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(8) Approve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1E1DFA5-C368-C445-969B-38F5E09ECAD4}"/>
              </a:ext>
            </a:extLst>
          </p:cNvPr>
          <p:cNvSpPr txBox="1"/>
          <p:nvPr/>
        </p:nvSpPr>
        <p:spPr>
          <a:xfrm>
            <a:off x="1188678" y="5515342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4A475-C28F-0E46-9779-18EB6485CDBD}"/>
              </a:ext>
            </a:extLst>
          </p:cNvPr>
          <p:cNvSpPr txBox="1"/>
          <p:nvPr/>
        </p:nvSpPr>
        <p:spPr>
          <a:xfrm>
            <a:off x="4782519" y="5515755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Server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5C58F9-1673-AC4D-AC29-CE525EEE3FA1}"/>
              </a:ext>
            </a:extLst>
          </p:cNvPr>
          <p:cNvGrpSpPr/>
          <p:nvPr/>
        </p:nvGrpSpPr>
        <p:grpSpPr>
          <a:xfrm rot="18864839">
            <a:off x="5761039" y="2948881"/>
            <a:ext cx="2581672" cy="281290"/>
            <a:chOff x="2936777" y="3242761"/>
            <a:chExt cx="2581672" cy="28129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105A4DC-F59B-1C4F-9A74-ECB5CD9BAE46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5AA3CEC-B355-2F4D-90CD-F64BE9D73F00}"/>
                </a:ext>
              </a:extLst>
            </p:cNvPr>
            <p:cNvSpPr txBox="1"/>
            <p:nvPr/>
          </p:nvSpPr>
          <p:spPr>
            <a:xfrm>
              <a:off x="3592291" y="3242761"/>
              <a:ext cx="1741294" cy="281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NTLM Negotiate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3FD8674-60A6-CA40-AEC8-2CEB373D55CA}"/>
              </a:ext>
            </a:extLst>
          </p:cNvPr>
          <p:cNvGrpSpPr/>
          <p:nvPr/>
        </p:nvGrpSpPr>
        <p:grpSpPr>
          <a:xfrm rot="18864839">
            <a:off x="5753865" y="3529317"/>
            <a:ext cx="2816874" cy="276999"/>
            <a:chOff x="2936777" y="3266871"/>
            <a:chExt cx="2816874" cy="27699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666420F-CBFC-7F4C-B483-6B124E72D2A8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FD2561-C078-8D42-B1CF-BF91D41A515A}"/>
                </a:ext>
              </a:extLst>
            </p:cNvPr>
            <p:cNvSpPr txBox="1"/>
            <p:nvPr/>
          </p:nvSpPr>
          <p:spPr>
            <a:xfrm>
              <a:off x="3592293" y="3266871"/>
              <a:ext cx="21613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(6) NTLM Authenticate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BD728C-D1DE-4F4C-A686-762502F73050}"/>
              </a:ext>
            </a:extLst>
          </p:cNvPr>
          <p:cNvGrpSpPr/>
          <p:nvPr/>
        </p:nvGrpSpPr>
        <p:grpSpPr>
          <a:xfrm rot="18864839">
            <a:off x="5737545" y="3221663"/>
            <a:ext cx="2676752" cy="276999"/>
            <a:chOff x="2942997" y="3229378"/>
            <a:chExt cx="2676752" cy="27699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7A2E8A-C2D7-B943-B8BA-F305A9B53F4E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2C42A22-E4A0-0643-8FC1-63677115F812}"/>
                </a:ext>
              </a:extLst>
            </p:cNvPr>
            <p:cNvSpPr txBox="1"/>
            <p:nvPr/>
          </p:nvSpPr>
          <p:spPr>
            <a:xfrm>
              <a:off x="3592291" y="3229378"/>
              <a:ext cx="20274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NTLM Challenge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4238BFC7-BCCE-BD4E-AAF7-608FFD46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550" y="1636914"/>
            <a:ext cx="1174440" cy="180080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1797C07-BEFE-044E-B930-F542C1A807E6}"/>
              </a:ext>
            </a:extLst>
          </p:cNvPr>
          <p:cNvSpPr txBox="1"/>
          <p:nvPr/>
        </p:nvSpPr>
        <p:spPr>
          <a:xfrm>
            <a:off x="7593689" y="3490554"/>
            <a:ext cx="2095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Attacked</a:t>
            </a:r>
          </a:p>
          <a:p>
            <a:pPr algn="ctr"/>
            <a:r>
              <a:rPr lang="en-US" dirty="0"/>
              <a:t> Target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64C6030-9337-C544-8807-D555DBA1F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909" y="4227713"/>
            <a:ext cx="457296" cy="4572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384E325-3EED-D545-858A-020593489EF8}"/>
              </a:ext>
            </a:extLst>
          </p:cNvPr>
          <p:cNvSpPr txBox="1"/>
          <p:nvPr/>
        </p:nvSpPr>
        <p:spPr>
          <a:xfrm>
            <a:off x="10157117" y="5515342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</p:spTree>
    <p:extLst>
      <p:ext uri="{BB962C8B-B14F-4D97-AF65-F5344CB8AC3E}">
        <p14:creationId xmlns:p14="http://schemas.microsoft.com/office/powerpoint/2010/main" val="76706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1 -0.00833 L 0.24154 -0.3122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75" y="-1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C43A-1EB9-2449-86EE-87CEB135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NTLM Relay over DCE/RPC</a:t>
            </a:r>
            <a:endParaRPr lang="en-I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241F-05F4-DD4F-94C8-918971CC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b="1" dirty="0"/>
              <a:t>First suggested by </a:t>
            </a:r>
            <a:r>
              <a:rPr lang="en-US" b="1" dirty="0"/>
              <a:t>Sylvain </a:t>
            </a:r>
            <a:r>
              <a:rPr lang="en-US" b="1" dirty="0" err="1"/>
              <a:t>Heiniger</a:t>
            </a:r>
            <a:r>
              <a:rPr lang="en-US" b="1" dirty="0"/>
              <a:t> (@</a:t>
            </a:r>
            <a:r>
              <a:rPr lang="en-US" b="1" dirty="0" err="1"/>
              <a:t>sploutchy</a:t>
            </a:r>
            <a:r>
              <a:rPr lang="en-US" b="1" dirty="0"/>
              <a:t>)</a:t>
            </a:r>
          </a:p>
          <a:p>
            <a:endParaRPr lang="en-US" dirty="0"/>
          </a:p>
          <a:p>
            <a:r>
              <a:rPr lang="en-IL" dirty="0"/>
              <a:t>Found (at least) one interface (TSCH) with no server signing</a:t>
            </a:r>
          </a:p>
          <a:p>
            <a:endParaRPr lang="en-IL" dirty="0"/>
          </a:p>
          <a:p>
            <a:r>
              <a:rPr lang="en-IL" dirty="0"/>
              <a:t>Used NTLM Relay to create a new scheduled task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072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DCE/RPC Relay Mitigation is Broken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948038-F42C-8742-88A7-6694CE5710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622" y="1828799"/>
            <a:ext cx="8398859" cy="339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818CB7-B513-4A4E-86E8-7668F77C63EC}"/>
              </a:ext>
            </a:extLst>
          </p:cNvPr>
          <p:cNvSpPr/>
          <p:nvPr/>
        </p:nvSpPr>
        <p:spPr>
          <a:xfrm>
            <a:off x="1649622" y="5227057"/>
            <a:ext cx="88927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L" sz="1400" dirty="0"/>
              <a:t>https://docs.microsoft.com/en-us/openspecs/windows_protocols/ms-rpce/425a7c53-c33a-4868-8e5b-2a850d40dc73</a:t>
            </a:r>
          </a:p>
        </p:txBody>
      </p:sp>
    </p:spTree>
    <p:extLst>
      <p:ext uri="{BB962C8B-B14F-4D97-AF65-F5344CB8AC3E}">
        <p14:creationId xmlns:p14="http://schemas.microsoft.com/office/powerpoint/2010/main" val="192881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Printer Spooler LPE (CVE-2020-1048)</a:t>
            </a:r>
            <a:endParaRPr lang="en-I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76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Discovered by Peleg </a:t>
            </a:r>
            <a:r>
              <a:rPr lang="en-US" b="1" dirty="0" err="1"/>
              <a:t>Hadar</a:t>
            </a:r>
            <a:r>
              <a:rPr lang="en-US" b="1" dirty="0"/>
              <a:t> (@peleghd) and Tomer Bar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printing, you need a driver, and a port  </a:t>
            </a:r>
          </a:p>
          <a:p>
            <a:r>
              <a:rPr lang="en-US" dirty="0"/>
              <a:t>Any user can install a printer driver (from a pre-existing list)</a:t>
            </a:r>
          </a:p>
          <a:p>
            <a:pPr lvl="1"/>
            <a:r>
              <a:rPr lang="en-US" dirty="0"/>
              <a:t>“Generic/ Text” can write anything...</a:t>
            </a:r>
          </a:p>
          <a:p>
            <a:r>
              <a:rPr lang="en-US" dirty="0"/>
              <a:t>The port can be a file instead </a:t>
            </a:r>
            <a:r>
              <a:rPr lang="en-IL" dirty="0"/>
              <a:t>⇒</a:t>
            </a:r>
            <a:r>
              <a:rPr lang="en-US" dirty="0"/>
              <a:t> </a:t>
            </a:r>
            <a:r>
              <a:rPr lang="en-US" b="1" dirty="0"/>
              <a:t>We can write arbitrary files</a:t>
            </a:r>
          </a:p>
          <a:p>
            <a:endParaRPr lang="en-US" dirty="0"/>
          </a:p>
          <a:p>
            <a:r>
              <a:rPr lang="en-US" dirty="0"/>
              <a:t>It is a privileged process, and the access checks are done on the client side </a:t>
            </a:r>
            <a:r>
              <a:rPr lang="en-IL" dirty="0"/>
              <a:t>⇒</a:t>
            </a:r>
            <a:r>
              <a:rPr lang="en-US" dirty="0"/>
              <a:t> </a:t>
            </a:r>
            <a:r>
              <a:rPr lang="en-US" b="1" dirty="0"/>
              <a:t>We have an LPE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7389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CVE-2021-1678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L" dirty="0"/>
              <a:t>Was found using our RPC scanning tool </a:t>
            </a:r>
          </a:p>
          <a:p>
            <a:endParaRPr lang="en-IL" dirty="0"/>
          </a:p>
          <a:p>
            <a:r>
              <a:rPr lang="en-IL" dirty="0"/>
              <a:t>Targeting MS-PAR (IRemoteWinSpool) Interface</a:t>
            </a:r>
          </a:p>
          <a:p>
            <a:pPr lvl="1"/>
            <a:r>
              <a:rPr lang="en-IL" dirty="0"/>
              <a:t>Interface has only required  RPC_C_AUTHN_LEVEL_CONNECT</a:t>
            </a:r>
          </a:p>
          <a:p>
            <a:pPr lvl="1"/>
            <a:r>
              <a:rPr lang="en-IL" dirty="0"/>
              <a:t>Support remote printer operations</a:t>
            </a:r>
          </a:p>
          <a:p>
            <a:endParaRPr lang="en-IL" dirty="0"/>
          </a:p>
          <a:p>
            <a:r>
              <a:rPr lang="en-IL" dirty="0"/>
              <a:t>Works the same as </a:t>
            </a:r>
            <a:r>
              <a:rPr lang="en-US" dirty="0"/>
              <a:t>CVE-2020-1048 (just remotely)</a:t>
            </a:r>
          </a:p>
          <a:p>
            <a:pPr lvl="1" fontAlgn="base"/>
            <a:r>
              <a:rPr lang="en-US" dirty="0" err="1"/>
              <a:t>RpcAsyncInstallPrinterDriverFromPackage</a:t>
            </a:r>
            <a:r>
              <a:rPr lang="en-US" dirty="0"/>
              <a:t> (</a:t>
            </a:r>
            <a:r>
              <a:rPr lang="en-US" dirty="0" err="1"/>
              <a:t>Opnum</a:t>
            </a:r>
            <a:r>
              <a:rPr lang="en-US" dirty="0"/>
              <a:t> 62) — Installing “Generic/Text” printer driver</a:t>
            </a:r>
          </a:p>
          <a:p>
            <a:pPr lvl="1" fontAlgn="base"/>
            <a:r>
              <a:rPr lang="en-US" dirty="0" err="1"/>
              <a:t>RpcAsyncOpenPrinter</a:t>
            </a:r>
            <a:r>
              <a:rPr lang="en-US" dirty="0"/>
              <a:t> (</a:t>
            </a:r>
            <a:r>
              <a:rPr lang="en-US" dirty="0" err="1"/>
              <a:t>Opnum</a:t>
            </a:r>
            <a:r>
              <a:rPr lang="en-US" dirty="0"/>
              <a:t> 0)</a:t>
            </a:r>
          </a:p>
          <a:p>
            <a:pPr lvl="1" fontAlgn="base"/>
            <a:r>
              <a:rPr lang="en-US" dirty="0" err="1"/>
              <a:t>RpcAsyncXcvData</a:t>
            </a:r>
            <a:r>
              <a:rPr lang="en-US" dirty="0"/>
              <a:t> (</a:t>
            </a:r>
            <a:r>
              <a:rPr lang="en-US" dirty="0" err="1"/>
              <a:t>Opnum</a:t>
            </a:r>
            <a:r>
              <a:rPr lang="en-US" dirty="0"/>
              <a:t> 33) — Add port</a:t>
            </a:r>
          </a:p>
          <a:p>
            <a:pPr lvl="1" fontAlgn="base"/>
            <a:r>
              <a:rPr lang="en-US" dirty="0" err="1"/>
              <a:t>RpcAsyncAddPrinter</a:t>
            </a:r>
            <a:r>
              <a:rPr lang="en-US" dirty="0"/>
              <a:t> (</a:t>
            </a:r>
            <a:r>
              <a:rPr lang="en-US" dirty="0" err="1"/>
              <a:t>Opnum</a:t>
            </a:r>
            <a:r>
              <a:rPr lang="en-US" dirty="0"/>
              <a:t> 1) — Add a printer with the mentioned driver</a:t>
            </a:r>
          </a:p>
          <a:p>
            <a:pPr lvl="1" fontAlgn="base"/>
            <a:r>
              <a:rPr lang="en-US" dirty="0" err="1"/>
              <a:t>RpcAsyncStartDocPrinter</a:t>
            </a:r>
            <a:r>
              <a:rPr lang="en-US" dirty="0"/>
              <a:t>(</a:t>
            </a:r>
            <a:r>
              <a:rPr lang="en-US" dirty="0" err="1"/>
              <a:t>Opnum</a:t>
            </a:r>
            <a:r>
              <a:rPr lang="en-US" dirty="0"/>
              <a:t> 10) — Start a new document</a:t>
            </a:r>
          </a:p>
          <a:p>
            <a:pPr lvl="1" fontAlgn="base"/>
            <a:r>
              <a:rPr lang="en-US" dirty="0" err="1"/>
              <a:t>RpcAsyncWritePrinter</a:t>
            </a:r>
            <a:r>
              <a:rPr lang="en-US" dirty="0"/>
              <a:t> (</a:t>
            </a:r>
            <a:r>
              <a:rPr lang="en-US" dirty="0" err="1"/>
              <a:t>Opnum</a:t>
            </a:r>
            <a:r>
              <a:rPr lang="en-US" dirty="0"/>
              <a:t> 12) — Write to new document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6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F06D-31E1-1F48-9D53-88A12414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CVE-2021-1678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7950-8791-9E4B-BB84-DA1C3AC7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644BA-652A-684D-AF24-52193E0EE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04" y="1477005"/>
            <a:ext cx="505722" cy="77544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7771231-9F0A-BD41-9229-A1936778F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76" y="1434994"/>
            <a:ext cx="1174440" cy="180080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D14FE8D-7132-1D4D-BB02-2A49FAEB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60" y="1434994"/>
            <a:ext cx="1174440" cy="180080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E29E3AA-D69E-1F48-883B-571C142FB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1434994"/>
            <a:ext cx="1174440" cy="18008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F6F89B2-8B3D-684D-9AE4-06A0BD4D6866}"/>
              </a:ext>
            </a:extLst>
          </p:cNvPr>
          <p:cNvSpPr txBox="1"/>
          <p:nvPr/>
        </p:nvSpPr>
        <p:spPr>
          <a:xfrm>
            <a:off x="313464" y="1898549"/>
            <a:ext cx="117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C13CDC-FFD0-454C-A089-106ACBFCA732}"/>
              </a:ext>
            </a:extLst>
          </p:cNvPr>
          <p:cNvSpPr txBox="1"/>
          <p:nvPr/>
        </p:nvSpPr>
        <p:spPr>
          <a:xfrm>
            <a:off x="4106981" y="2045400"/>
            <a:ext cx="13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Rogue Server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2ACD9B4-B3C3-E54C-BF11-35B10CE47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164" y="1966836"/>
            <a:ext cx="457296" cy="45729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6B10B93-2F6F-8B4E-81FF-CBEBF528D94A}"/>
              </a:ext>
            </a:extLst>
          </p:cNvPr>
          <p:cNvSpPr txBox="1"/>
          <p:nvPr/>
        </p:nvSpPr>
        <p:spPr>
          <a:xfrm>
            <a:off x="9303010" y="2098911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A3F855-A46D-914A-B20A-765A095765DB}"/>
              </a:ext>
            </a:extLst>
          </p:cNvPr>
          <p:cNvCxnSpPr>
            <a:stCxn id="48" idx="2"/>
          </p:cNvCxnSpPr>
          <p:nvPr/>
        </p:nvCxnSpPr>
        <p:spPr>
          <a:xfrm>
            <a:off x="1906529" y="3235802"/>
            <a:ext cx="0" cy="3225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538450D-0E2B-654B-BC2B-D11F06A75728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5902816" y="3235802"/>
            <a:ext cx="21080" cy="338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1E5D39-3F7A-D145-8140-24A4E44CA8A8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10346052" y="3235802"/>
            <a:ext cx="24428" cy="338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E197C2D-92AF-E84F-9EC3-22E78B1A9DEE}"/>
              </a:ext>
            </a:extLst>
          </p:cNvPr>
          <p:cNvGrpSpPr/>
          <p:nvPr/>
        </p:nvGrpSpPr>
        <p:grpSpPr>
          <a:xfrm>
            <a:off x="5921758" y="4968833"/>
            <a:ext cx="4424294" cy="276999"/>
            <a:chOff x="2936777" y="3247052"/>
            <a:chExt cx="2581672" cy="276999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197803E-AB7F-D746-8F4B-E0A51499DAFB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50FBB7-BE60-3142-A022-7049FCF800FA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(8) </a:t>
              </a:r>
              <a:r>
                <a:rPr lang="en-US" sz="1200" dirty="0" err="1"/>
                <a:t>RpcAsyncInstallPrinterDriverFromPackage</a:t>
              </a:r>
              <a:endParaRPr lang="en-US" sz="12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84C92AA-396E-9543-BE06-3E4A1771D5BC}"/>
              </a:ext>
            </a:extLst>
          </p:cNvPr>
          <p:cNvGrpSpPr/>
          <p:nvPr/>
        </p:nvGrpSpPr>
        <p:grpSpPr>
          <a:xfrm>
            <a:off x="5913356" y="5270754"/>
            <a:ext cx="4424294" cy="276999"/>
            <a:chOff x="2936777" y="3247052"/>
            <a:chExt cx="2581672" cy="276999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9C81A7B-CE69-3C45-90F4-3B35EEC3842D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3921C54-5435-E448-B502-D59FAF29A2BF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(9) Several Printer RPC Commands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8CC7B37-A5FA-4148-B878-8765A98D3D0E}"/>
              </a:ext>
            </a:extLst>
          </p:cNvPr>
          <p:cNvCxnSpPr/>
          <p:nvPr/>
        </p:nvCxnSpPr>
        <p:spPr>
          <a:xfrm>
            <a:off x="5912755" y="5630424"/>
            <a:ext cx="442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5E2F498-7DDA-E041-ADB8-F23E2000405D}"/>
              </a:ext>
            </a:extLst>
          </p:cNvPr>
          <p:cNvCxnSpPr/>
          <p:nvPr/>
        </p:nvCxnSpPr>
        <p:spPr>
          <a:xfrm>
            <a:off x="5902816" y="5744429"/>
            <a:ext cx="4424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4AE8D1F-2768-AF49-9163-C094C3202A27}"/>
              </a:ext>
            </a:extLst>
          </p:cNvPr>
          <p:cNvGrpSpPr/>
          <p:nvPr/>
        </p:nvGrpSpPr>
        <p:grpSpPr>
          <a:xfrm>
            <a:off x="5919541" y="6026199"/>
            <a:ext cx="4424294" cy="276999"/>
            <a:chOff x="2936777" y="3247052"/>
            <a:chExt cx="2581672" cy="276999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58BB9A4-6CF4-C349-B68C-421499D9F0F0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7B95B86-296F-5848-B8C3-E56B45184200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(10) </a:t>
              </a:r>
              <a:r>
                <a:rPr lang="en-US" sz="1200" dirty="0" err="1"/>
                <a:t>RpcWritePrinter</a:t>
              </a:r>
              <a:r>
                <a:rPr lang="en-US" sz="1200" dirty="0"/>
                <a:t> (Writing a file remotely)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0F6CD39-586B-5C4E-A5C5-63B754F6500B}"/>
              </a:ext>
            </a:extLst>
          </p:cNvPr>
          <p:cNvGrpSpPr/>
          <p:nvPr/>
        </p:nvGrpSpPr>
        <p:grpSpPr>
          <a:xfrm>
            <a:off x="5935011" y="4654098"/>
            <a:ext cx="4424294" cy="276999"/>
            <a:chOff x="2936777" y="3247052"/>
            <a:chExt cx="2581672" cy="276999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6B566B7-8464-0E47-8C7E-6054F0652C70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730516A-0117-0F4F-B570-16146A29F670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(7) NTLMSSP_AUTHENTICATE (Relayed)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D1BF2F6-455D-7D42-9258-25EB4A643FB4}"/>
              </a:ext>
            </a:extLst>
          </p:cNvPr>
          <p:cNvGrpSpPr/>
          <p:nvPr/>
        </p:nvGrpSpPr>
        <p:grpSpPr>
          <a:xfrm>
            <a:off x="1925472" y="4379028"/>
            <a:ext cx="3982614" cy="461665"/>
            <a:chOff x="2936777" y="3247052"/>
            <a:chExt cx="2581672" cy="461665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3FE50C99-51B6-6A45-A76B-45206D89B858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8882F64-716D-F945-8E91-BE0026CD7933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(6) NTLMSSP_AUTHENTICATE</a:t>
              </a:r>
            </a:p>
            <a:p>
              <a:endParaRPr lang="en-US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7E2793E-7C95-F349-88BB-9EFE7DA0F884}"/>
              </a:ext>
            </a:extLst>
          </p:cNvPr>
          <p:cNvGrpSpPr/>
          <p:nvPr/>
        </p:nvGrpSpPr>
        <p:grpSpPr>
          <a:xfrm>
            <a:off x="1913574" y="4078545"/>
            <a:ext cx="4336282" cy="276999"/>
            <a:chOff x="2942997" y="3256246"/>
            <a:chExt cx="2813464" cy="276999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AB62CC9F-A70A-2E4A-B2A6-CF2D151AD559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1EF0916-BD20-F542-A092-E29F8766CCEC}"/>
                </a:ext>
              </a:extLst>
            </p:cNvPr>
            <p:cNvSpPr txBox="1"/>
            <p:nvPr/>
          </p:nvSpPr>
          <p:spPr>
            <a:xfrm>
              <a:off x="3596039" y="3256246"/>
              <a:ext cx="21604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NTLMSSP_CHALLENGE (Relayed)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A643D07-7002-B245-A638-DB223F2C0EE8}"/>
              </a:ext>
            </a:extLst>
          </p:cNvPr>
          <p:cNvGrpSpPr/>
          <p:nvPr/>
        </p:nvGrpSpPr>
        <p:grpSpPr>
          <a:xfrm>
            <a:off x="5912755" y="3900093"/>
            <a:ext cx="4443234" cy="276999"/>
            <a:chOff x="2942997" y="3247052"/>
            <a:chExt cx="2594110" cy="276999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B4CF0E0-227C-B74D-9332-9C61E7FF2D01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8F5CAB8-235C-2D4E-8938-5F00E56BB565}"/>
                </a:ext>
              </a:extLst>
            </p:cNvPr>
            <p:cNvSpPr txBox="1"/>
            <p:nvPr/>
          </p:nvSpPr>
          <p:spPr>
            <a:xfrm>
              <a:off x="3613089" y="3247052"/>
              <a:ext cx="1749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NTLMSSP_CHALLENGE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D225121-1344-D641-9C60-CD889B39AFE8}"/>
              </a:ext>
            </a:extLst>
          </p:cNvPr>
          <p:cNvGrpSpPr/>
          <p:nvPr/>
        </p:nvGrpSpPr>
        <p:grpSpPr>
          <a:xfrm>
            <a:off x="5948265" y="3623744"/>
            <a:ext cx="4424294" cy="276999"/>
            <a:chOff x="2936777" y="3247052"/>
            <a:chExt cx="2581672" cy="276999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5A5699C-3861-4A4B-8DDF-A26A111DFC02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EDDF5AE-113E-E446-8E3C-598FBB3CEF07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NTLMSSP_NEGOTIATE (Relayed)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4393F64-860E-024E-A559-0B643FBBB9C9}"/>
              </a:ext>
            </a:extLst>
          </p:cNvPr>
          <p:cNvGrpSpPr/>
          <p:nvPr/>
        </p:nvGrpSpPr>
        <p:grpSpPr>
          <a:xfrm>
            <a:off x="1928787" y="3090257"/>
            <a:ext cx="3982614" cy="461665"/>
            <a:chOff x="2936777" y="3247052"/>
            <a:chExt cx="2581672" cy="461665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C94E872-D02A-154A-A8AE-6339EEE5AADC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34A91FD-AA22-D04B-A140-AA35EE4BBA5E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NTLMSSP_ NEGOTIATE</a:t>
              </a:r>
            </a:p>
            <a:p>
              <a:endParaRPr lang="en-US" sz="12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0F89718-50B2-0F4C-BB43-6558A7414BB2}"/>
              </a:ext>
            </a:extLst>
          </p:cNvPr>
          <p:cNvGrpSpPr/>
          <p:nvPr/>
        </p:nvGrpSpPr>
        <p:grpSpPr>
          <a:xfrm>
            <a:off x="5951580" y="3338828"/>
            <a:ext cx="4424294" cy="276999"/>
            <a:chOff x="2936777" y="3247052"/>
            <a:chExt cx="2581672" cy="276999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79F139E-A04D-8D44-8988-06F502EF3A08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6BDD538-3D96-E942-8168-BEE95E64BFAD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RPC Bind (</a:t>
              </a:r>
              <a:r>
                <a:rPr lang="en-US" sz="1200" dirty="0" err="1"/>
                <a:t>IRemoteWinSpool</a:t>
              </a:r>
              <a:r>
                <a:rPr lang="en-US" sz="12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5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558768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L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7861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MS15-011</a:t>
            </a:r>
            <a:endParaRPr lang="en-I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b="1" dirty="0"/>
              <a:t>Initially discovered by Luke Jennings (</a:t>
            </a:r>
            <a:r>
              <a:rPr lang="en-US" b="1" dirty="0"/>
              <a:t>@</a:t>
            </a:r>
            <a:r>
              <a:rPr lang="en-US" b="1" dirty="0" err="1"/>
              <a:t>jukelennings</a:t>
            </a:r>
            <a:r>
              <a:rPr lang="en-US" b="1" dirty="0"/>
              <a:t>)</a:t>
            </a:r>
          </a:p>
          <a:p>
            <a:endParaRPr lang="en-US" dirty="0"/>
          </a:p>
          <a:p>
            <a:r>
              <a:rPr lang="en-US" dirty="0"/>
              <a:t>Attacking GPO retrieval using MITM</a:t>
            </a:r>
          </a:p>
          <a:p>
            <a:pPr lvl="1"/>
            <a:r>
              <a:rPr lang="en-US" dirty="0"/>
              <a:t>Many attack scenarios</a:t>
            </a:r>
          </a:p>
          <a:p>
            <a:pPr lvl="1"/>
            <a:r>
              <a:rPr lang="en-US" dirty="0"/>
              <a:t>Both RCE and privilege escalation</a:t>
            </a:r>
          </a:p>
          <a:p>
            <a:pPr lvl="1"/>
            <a:r>
              <a:rPr lang="en-US" dirty="0"/>
              <a:t>Some scenarios are still exploitable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5050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MS15-011 Explained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8FE54-C1C0-7049-9FE3-6F713DC67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76" y="1434994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D22BA0-98F6-F745-85A3-8FFC1395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60" y="1434994"/>
            <a:ext cx="1174440" cy="1800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2F2C4C-8771-874D-A1C9-74E6F3067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1434994"/>
            <a:ext cx="1174440" cy="18008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9DD9E3-7B56-8342-A217-6FD4CE798CBE}"/>
              </a:ext>
            </a:extLst>
          </p:cNvPr>
          <p:cNvGrpSpPr/>
          <p:nvPr/>
        </p:nvGrpSpPr>
        <p:grpSpPr>
          <a:xfrm>
            <a:off x="1899485" y="3419762"/>
            <a:ext cx="4022273" cy="276999"/>
            <a:chOff x="2936777" y="3247052"/>
            <a:chExt cx="2581672" cy="27699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D33599-1A79-2F45-BF04-14FA970FBA91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EA2B61-B43B-194A-9151-312023BB32CB}"/>
                </a:ext>
              </a:extLst>
            </p:cNvPr>
            <p:cNvSpPr txBox="1"/>
            <p:nvPr/>
          </p:nvSpPr>
          <p:spPr>
            <a:xfrm>
              <a:off x="3605190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NTLM Negotiate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89DB88-DE7E-CA4B-AA92-40B7225B9654}"/>
              </a:ext>
            </a:extLst>
          </p:cNvPr>
          <p:cNvGrpSpPr/>
          <p:nvPr/>
        </p:nvGrpSpPr>
        <p:grpSpPr>
          <a:xfrm>
            <a:off x="1913574" y="4277464"/>
            <a:ext cx="3989242" cy="276999"/>
            <a:chOff x="2936777" y="3247052"/>
            <a:chExt cx="2581672" cy="27699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B71F0B7-117E-3448-AC57-345FA778E0D7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462869-67AB-EF42-9222-390246976676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NTLM Authenticate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B0FDFE-5892-3F4D-BD86-61FBF074CC43}"/>
              </a:ext>
            </a:extLst>
          </p:cNvPr>
          <p:cNvGrpSpPr/>
          <p:nvPr/>
        </p:nvGrpSpPr>
        <p:grpSpPr>
          <a:xfrm>
            <a:off x="1913574" y="3820133"/>
            <a:ext cx="4336282" cy="461665"/>
            <a:chOff x="2942997" y="3256246"/>
            <a:chExt cx="2813464" cy="46166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791B528-AD0C-E146-87E7-F7990065965F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02678F-AF4E-6246-A5B2-6D52B52AFC4D}"/>
                </a:ext>
              </a:extLst>
            </p:cNvPr>
            <p:cNvSpPr txBox="1"/>
            <p:nvPr/>
          </p:nvSpPr>
          <p:spPr>
            <a:xfrm>
              <a:off x="3596039" y="3256246"/>
              <a:ext cx="2160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NTLM Challenge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Target name: Rogue Server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43D09DF-0F35-B94F-8176-8FB526BD58DF}"/>
              </a:ext>
            </a:extLst>
          </p:cNvPr>
          <p:cNvSpPr txBox="1"/>
          <p:nvPr/>
        </p:nvSpPr>
        <p:spPr>
          <a:xfrm>
            <a:off x="313464" y="1898549"/>
            <a:ext cx="117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21F3D6-5931-2647-9F4C-9FC000718C76}"/>
              </a:ext>
            </a:extLst>
          </p:cNvPr>
          <p:cNvSpPr txBox="1"/>
          <p:nvPr/>
        </p:nvSpPr>
        <p:spPr>
          <a:xfrm>
            <a:off x="4106981" y="2045400"/>
            <a:ext cx="13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Rogue Server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29E5FC-C98F-B54D-8345-EACDAAD9E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164" y="1966836"/>
            <a:ext cx="457296" cy="4572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5806A51-72B4-CC45-9C73-B4339CD7350B}"/>
              </a:ext>
            </a:extLst>
          </p:cNvPr>
          <p:cNvSpPr txBox="1"/>
          <p:nvPr/>
        </p:nvSpPr>
        <p:spPr>
          <a:xfrm>
            <a:off x="9303010" y="2098911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146C08-B97F-E74B-B32B-F3214B2DA2D3}"/>
              </a:ext>
            </a:extLst>
          </p:cNvPr>
          <p:cNvGrpSpPr/>
          <p:nvPr/>
        </p:nvGrpSpPr>
        <p:grpSpPr>
          <a:xfrm>
            <a:off x="5921758" y="4581212"/>
            <a:ext cx="4424294" cy="276999"/>
            <a:chOff x="2936777" y="3247052"/>
            <a:chExt cx="2581672" cy="276999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B796483-3984-8E4A-B0A3-F9BEC0BB6401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707BFB2-C6F4-D64A-AA0A-3917B0F2486D}"/>
                </a:ext>
              </a:extLst>
            </p:cNvPr>
            <p:cNvSpPr txBox="1"/>
            <p:nvPr/>
          </p:nvSpPr>
          <p:spPr>
            <a:xfrm>
              <a:off x="3592291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</a:t>
              </a:r>
              <a:r>
                <a:rPr lang="en-US" sz="1200" dirty="0" err="1"/>
                <a:t>NetLogonSamLogon</a:t>
              </a:r>
              <a:r>
                <a:rPr lang="en-US" sz="1200" dirty="0"/>
                <a:t> Request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69E8BB-6440-6041-8317-7ABA3C3AA800}"/>
              </a:ext>
            </a:extLst>
          </p:cNvPr>
          <p:cNvGrpSpPr/>
          <p:nvPr/>
        </p:nvGrpSpPr>
        <p:grpSpPr>
          <a:xfrm>
            <a:off x="5902816" y="4963588"/>
            <a:ext cx="4443234" cy="461665"/>
            <a:chOff x="2942997" y="3247052"/>
            <a:chExt cx="2594110" cy="461665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B69CFEE-D889-CE45-B928-8F8BA792A31D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8F8B2B6-5BB4-3E46-AD33-5B711D66D1CB}"/>
                </a:ext>
              </a:extLst>
            </p:cNvPr>
            <p:cNvSpPr txBox="1"/>
            <p:nvPr/>
          </p:nvSpPr>
          <p:spPr>
            <a:xfrm>
              <a:off x="3613089" y="3247052"/>
              <a:ext cx="17490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(6) </a:t>
              </a:r>
              <a:r>
                <a:rPr lang="en-US" sz="1200" dirty="0" err="1"/>
                <a:t>NetLogonSamLogon</a:t>
              </a:r>
              <a:r>
                <a:rPr lang="en-US" sz="1200" dirty="0"/>
                <a:t> Response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Contains: session key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F1DD5E-7A8B-6844-8D05-2DE1260838FA}"/>
              </a:ext>
            </a:extLst>
          </p:cNvPr>
          <p:cNvGrpSpPr/>
          <p:nvPr/>
        </p:nvGrpSpPr>
        <p:grpSpPr>
          <a:xfrm>
            <a:off x="1910219" y="3169636"/>
            <a:ext cx="4022273" cy="276999"/>
            <a:chOff x="2936777" y="3247052"/>
            <a:chExt cx="2581672" cy="276999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B661341-0A46-394A-8414-7AA09D83F0A0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B9A97AB-767C-DE48-BB00-A99F6CC1D8E1}"/>
                </a:ext>
              </a:extLst>
            </p:cNvPr>
            <p:cNvSpPr txBox="1"/>
            <p:nvPr/>
          </p:nvSpPr>
          <p:spPr>
            <a:xfrm>
              <a:off x="3602339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LDAP Bind</a:t>
              </a:r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0D9599E-0B82-8846-90F2-429E76438796}"/>
              </a:ext>
            </a:extLst>
          </p:cNvPr>
          <p:cNvCxnSpPr>
            <a:stCxn id="6" idx="2"/>
          </p:cNvCxnSpPr>
          <p:nvPr/>
        </p:nvCxnSpPr>
        <p:spPr>
          <a:xfrm>
            <a:off x="1906529" y="3235802"/>
            <a:ext cx="0" cy="3225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E44CDD4-486D-0842-9F9F-CFB56E5ED0B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902816" y="3235802"/>
            <a:ext cx="21080" cy="338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423C7C-80CD-A44A-BE01-B25DDF1636C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10346052" y="3235802"/>
            <a:ext cx="24428" cy="338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12042-2B6E-404D-AEA5-478175B8303A}"/>
              </a:ext>
            </a:extLst>
          </p:cNvPr>
          <p:cNvGrpSpPr/>
          <p:nvPr/>
        </p:nvGrpSpPr>
        <p:grpSpPr>
          <a:xfrm>
            <a:off x="1910853" y="5164516"/>
            <a:ext cx="4336282" cy="276999"/>
            <a:chOff x="2942997" y="3256246"/>
            <a:chExt cx="2813464" cy="27699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3D7DEE7-90EE-5846-9BA7-3E93E6B8EE9F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84FC6C-477E-E84D-BA2D-57E3FA0F7AE8}"/>
                </a:ext>
              </a:extLst>
            </p:cNvPr>
            <p:cNvSpPr txBox="1"/>
            <p:nvPr/>
          </p:nvSpPr>
          <p:spPr>
            <a:xfrm>
              <a:off x="3596039" y="3256246"/>
              <a:ext cx="21604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(7) accept-complete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539356-ECC4-EC41-A5D7-ACA2BDDBBD25}"/>
              </a:ext>
            </a:extLst>
          </p:cNvPr>
          <p:cNvGrpSpPr/>
          <p:nvPr/>
        </p:nvGrpSpPr>
        <p:grpSpPr>
          <a:xfrm>
            <a:off x="1899334" y="5444747"/>
            <a:ext cx="4022273" cy="276999"/>
            <a:chOff x="2936777" y="3247052"/>
            <a:chExt cx="2581672" cy="276999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A18DBD9-9DCF-CC47-B476-9E0C1A7FD8E2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378EE6C-3B68-1843-911E-9F431FDBE74C}"/>
                </a:ext>
              </a:extLst>
            </p:cNvPr>
            <p:cNvSpPr txBox="1"/>
            <p:nvPr/>
          </p:nvSpPr>
          <p:spPr>
            <a:xfrm>
              <a:off x="3586619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(8) LDAP Search (GPO search)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D61C157-E012-7749-BD15-E1141307948C}"/>
              </a:ext>
            </a:extLst>
          </p:cNvPr>
          <p:cNvGrpSpPr/>
          <p:nvPr/>
        </p:nvGrpSpPr>
        <p:grpSpPr>
          <a:xfrm>
            <a:off x="1908132" y="5700636"/>
            <a:ext cx="4336282" cy="461665"/>
            <a:chOff x="2942997" y="3256246"/>
            <a:chExt cx="2813464" cy="461665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41F8391-FE67-0045-AC1A-047A687141EE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852AB67-E56C-A94C-B644-E6CCAD4E712B}"/>
                </a:ext>
              </a:extLst>
            </p:cNvPr>
            <p:cNvSpPr txBox="1"/>
            <p:nvPr/>
          </p:nvSpPr>
          <p:spPr>
            <a:xfrm>
              <a:off x="3596039" y="3256246"/>
              <a:ext cx="2160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(9) LDAP Search Response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Redirects GPO to malicious UNC path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56BFD65-5A53-4140-B5AF-75D43AD20D84}"/>
              </a:ext>
            </a:extLst>
          </p:cNvPr>
          <p:cNvSpPr txBox="1"/>
          <p:nvPr/>
        </p:nvSpPr>
        <p:spPr>
          <a:xfrm>
            <a:off x="10458386" y="4735286"/>
            <a:ext cx="173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1200" dirty="0"/>
              <a:t>DC accepts request since Target is </a:t>
            </a:r>
            <a:r>
              <a:rPr lang="en-IL" sz="1200" b="1" dirty="0"/>
              <a:t>Rogue Server</a:t>
            </a:r>
          </a:p>
        </p:txBody>
      </p:sp>
    </p:spTree>
    <p:extLst>
      <p:ext uri="{BB962C8B-B14F-4D97-AF65-F5344CB8AC3E}">
        <p14:creationId xmlns:p14="http://schemas.microsoft.com/office/powerpoint/2010/main" val="354207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MS Fixes for </a:t>
            </a:r>
            <a:r>
              <a:rPr lang="en-US" dirty="0"/>
              <a:t>MS15-011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GPO retreival can no longer operate with NTLM</a:t>
            </a:r>
          </a:p>
          <a:p>
            <a:pPr lvl="1"/>
            <a:r>
              <a:rPr lang="en-US" dirty="0"/>
              <a:t>Registry Key</a:t>
            </a:r>
            <a:endParaRPr lang="en-IL" dirty="0"/>
          </a:p>
          <a:p>
            <a:pPr lvl="1"/>
            <a:endParaRPr lang="en-IL" dirty="0"/>
          </a:p>
          <a:p>
            <a:r>
              <a:rPr lang="en-IL" dirty="0"/>
              <a:t>Hardened UNC Paths</a:t>
            </a:r>
          </a:p>
          <a:p>
            <a:pPr lvl="1"/>
            <a:r>
              <a:rPr lang="en-IL" dirty="0"/>
              <a:t>Configuration to block NTLM usage in SMB</a:t>
            </a:r>
          </a:p>
          <a:p>
            <a:pPr lvl="1"/>
            <a:r>
              <a:rPr lang="en-IL" dirty="0"/>
              <a:t>Defaults</a:t>
            </a:r>
          </a:p>
          <a:p>
            <a:pPr lvl="2"/>
            <a:r>
              <a:rPr lang="en-IL" dirty="0"/>
              <a:t>\\*\SYSVOL</a:t>
            </a:r>
          </a:p>
          <a:p>
            <a:pPr lvl="2"/>
            <a:r>
              <a:rPr lang="en-IL" dirty="0"/>
              <a:t>\\*\NETLOGON</a:t>
            </a:r>
          </a:p>
        </p:txBody>
      </p:sp>
    </p:spTree>
    <p:extLst>
      <p:ext uri="{BB962C8B-B14F-4D97-AF65-F5344CB8AC3E}">
        <p14:creationId xmlns:p14="http://schemas.microsoft.com/office/powerpoint/2010/main" val="3684977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AD Connect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2050" name="Picture 2" descr="Detailed password flow">
            <a:extLst>
              <a:ext uri="{FF2B5EF4-FFF2-40B4-BE49-F238E27FC236}">
                <a16:creationId xmlns:a16="http://schemas.microsoft.com/office/drawing/2014/main" id="{73BAB10F-E0D7-5848-AA7F-052C492A8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312" y="1825625"/>
            <a:ext cx="8988629" cy="375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B9EC5-D287-F144-A870-67657EFE8783}"/>
              </a:ext>
            </a:extLst>
          </p:cNvPr>
          <p:cNvSpPr txBox="1"/>
          <p:nvPr/>
        </p:nvSpPr>
        <p:spPr>
          <a:xfrm>
            <a:off x="1477312" y="5696281"/>
            <a:ext cx="8988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docs.microsoft.com</a:t>
            </a:r>
            <a:r>
              <a:rPr lang="en-US" sz="1400" dirty="0"/>
              <a:t>/</a:t>
            </a:r>
            <a:r>
              <a:rPr lang="en-US" sz="1400" dirty="0" err="1"/>
              <a:t>en</a:t>
            </a:r>
            <a:r>
              <a:rPr lang="en-US" sz="1400" dirty="0"/>
              <a:t>-us/azure/active-directory/hybrid/how-to-connect-password-hash-synchronization</a:t>
            </a:r>
            <a:endParaRPr lang="en-IL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45361-E2E4-E14D-BF74-5B5C7B38E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364" y="2261476"/>
            <a:ext cx="457296" cy="45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6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AD Connect MITM Attack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MITM Between Azure AD Connect and DC</a:t>
            </a:r>
          </a:p>
          <a:p>
            <a:endParaRPr lang="en-IL" dirty="0"/>
          </a:p>
          <a:p>
            <a:r>
              <a:rPr lang="en-IL" dirty="0"/>
              <a:t>Attack Steps:</a:t>
            </a:r>
          </a:p>
          <a:p>
            <a:pPr lvl="1"/>
            <a:r>
              <a:rPr lang="en-US" dirty="0"/>
              <a:t>Establish a full MITM , make Kerberos fail while allowing LDAP to pass to the DC</a:t>
            </a:r>
          </a:p>
          <a:p>
            <a:pPr lvl="1"/>
            <a:r>
              <a:rPr lang="en-US" dirty="0"/>
              <a:t>Wait for domain replication in NTLM</a:t>
            </a:r>
          </a:p>
          <a:p>
            <a:pPr lvl="1"/>
            <a:r>
              <a:rPr lang="en-US" dirty="0"/>
              <a:t>I</a:t>
            </a:r>
            <a:r>
              <a:rPr lang="en-IL" dirty="0" err="1"/>
              <a:t>nject</a:t>
            </a:r>
            <a:r>
              <a:rPr lang="en-IL" dirty="0"/>
              <a:t> </a:t>
            </a:r>
            <a:r>
              <a:rPr lang="en-US" dirty="0"/>
              <a:t>new change </a:t>
            </a:r>
            <a:r>
              <a:rPr lang="en-IL" dirty="0"/>
              <a:t>MD4 password</a:t>
            </a:r>
            <a:r>
              <a:rPr lang="en-US" dirty="0"/>
              <a:t> for an account of your choice</a:t>
            </a:r>
            <a:endParaRPr lang="en-IL" dirty="0"/>
          </a:p>
          <a:p>
            <a:pPr lvl="1"/>
            <a:r>
              <a:rPr lang="en-IL" dirty="0"/>
              <a:t>Log in to Azure AD with injected password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6847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3EAB40-1BA2-E744-A88B-A3607499146F}"/>
              </a:ext>
            </a:extLst>
          </p:cNvPr>
          <p:cNvSpPr txBox="1">
            <a:spLocks/>
          </p:cNvSpPr>
          <p:nvPr/>
        </p:nvSpPr>
        <p:spPr>
          <a:xfrm>
            <a:off x="838200" y="589280"/>
            <a:ext cx="10515600" cy="5587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L" sz="8000"/>
              <a:t>DEMO</a:t>
            </a:r>
            <a:endParaRPr lang="en-IL" sz="8000" dirty="0"/>
          </a:p>
        </p:txBody>
      </p:sp>
    </p:spTree>
    <p:extLst>
      <p:ext uri="{BB962C8B-B14F-4D97-AF65-F5344CB8AC3E}">
        <p14:creationId xmlns:p14="http://schemas.microsoft.com/office/powerpoint/2010/main" val="3818178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2BC56E2-5547-8D49-A299-7C62557CA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387" y="3883392"/>
            <a:ext cx="1008321" cy="14257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Relay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764"/>
            <a:ext cx="10515600" cy="4351338"/>
          </a:xfrm>
        </p:spPr>
        <p:txBody>
          <a:bodyPr/>
          <a:lstStyle/>
          <a:p>
            <a:r>
              <a:rPr lang="en-IL" dirty="0"/>
              <a:t>Same as NTLM Relay (actually much easier)</a:t>
            </a:r>
          </a:p>
          <a:p>
            <a:pPr lvl="1"/>
            <a:r>
              <a:rPr lang="en-IL" dirty="0"/>
              <a:t>Just to the original target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E64097-D94C-3743-B03E-E1381F856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037" y="3695871"/>
            <a:ext cx="1174440" cy="1800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29888F-6650-D844-B878-8DA80BF66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09" y="3695871"/>
            <a:ext cx="1174440" cy="180080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93C5EB1-07CC-ED4B-9861-591D0268F8BC}"/>
              </a:ext>
            </a:extLst>
          </p:cNvPr>
          <p:cNvGrpSpPr/>
          <p:nvPr/>
        </p:nvGrpSpPr>
        <p:grpSpPr>
          <a:xfrm>
            <a:off x="2506187" y="4226862"/>
            <a:ext cx="2581672" cy="276999"/>
            <a:chOff x="2936777" y="3247052"/>
            <a:chExt cx="2581672" cy="27699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B814896-0D39-8240-A28B-E7E22A28DC8F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98BC8E-CA4E-FC49-B12F-01455D41ABBB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Kerberos AP-Req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719F22A-6C9E-C246-A1EB-B55C5F43FCC6}"/>
              </a:ext>
            </a:extLst>
          </p:cNvPr>
          <p:cNvSpPr txBox="1"/>
          <p:nvPr/>
        </p:nvSpPr>
        <p:spPr>
          <a:xfrm>
            <a:off x="1188678" y="5515342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98A50B-E449-334F-A60F-AA6270A0BA35}"/>
              </a:ext>
            </a:extLst>
          </p:cNvPr>
          <p:cNvSpPr txBox="1"/>
          <p:nvPr/>
        </p:nvSpPr>
        <p:spPr>
          <a:xfrm>
            <a:off x="8522315" y="5515755"/>
            <a:ext cx="172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Attacked</a:t>
            </a:r>
          </a:p>
          <a:p>
            <a:pPr algn="ctr"/>
            <a:r>
              <a:rPr lang="en-US" dirty="0"/>
              <a:t> Target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089298-A8A2-3543-8AD2-CC0E04CB9EBB}"/>
              </a:ext>
            </a:extLst>
          </p:cNvPr>
          <p:cNvGrpSpPr/>
          <p:nvPr/>
        </p:nvGrpSpPr>
        <p:grpSpPr>
          <a:xfrm>
            <a:off x="5940643" y="4226862"/>
            <a:ext cx="2905394" cy="276999"/>
            <a:chOff x="2936777" y="3247052"/>
            <a:chExt cx="2581672" cy="27699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390175-CF87-444D-B154-14B596059A24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BB8B97-EBB7-8644-A318-698ECB035B9C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Kerberos AP-Req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CBCDD7F-43F9-4947-A56E-16B983457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732" y="4742959"/>
            <a:ext cx="457296" cy="45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0D069DF-A7B7-BF4F-ADE0-47F0BEF92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387" y="3883392"/>
            <a:ext cx="1008321" cy="14257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Relay –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SMB Relay</a:t>
            </a:r>
          </a:p>
          <a:p>
            <a:pPr lvl="1"/>
            <a:r>
              <a:rPr lang="en-IL" dirty="0"/>
              <a:t>Works the same as with NTLM</a:t>
            </a:r>
          </a:p>
          <a:p>
            <a:pPr lvl="1"/>
            <a:r>
              <a:rPr lang="en-IL" dirty="0"/>
              <a:t>Attacker can negotiate no signing if server signing is not required (default)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AF910-976F-5B4C-94D9-B7433C880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037" y="3695871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17574C-79B8-E349-8C82-4A77A62D3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309" y="3695871"/>
            <a:ext cx="1174440" cy="180080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C880FCF-7F3F-F947-B5C5-895FE1247741}"/>
              </a:ext>
            </a:extLst>
          </p:cNvPr>
          <p:cNvGrpSpPr/>
          <p:nvPr/>
        </p:nvGrpSpPr>
        <p:grpSpPr>
          <a:xfrm>
            <a:off x="2506187" y="4226862"/>
            <a:ext cx="2581672" cy="276999"/>
            <a:chOff x="2936777" y="3247052"/>
            <a:chExt cx="2581672" cy="27699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BED31A4-33A0-2445-B736-C864AC643102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307474-34D9-7C4C-AB67-841BF82D9747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Kerberos AP-Req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726027-ED79-2F43-8082-5AAD2CE2A190}"/>
              </a:ext>
            </a:extLst>
          </p:cNvPr>
          <p:cNvSpPr txBox="1"/>
          <p:nvPr/>
        </p:nvSpPr>
        <p:spPr>
          <a:xfrm>
            <a:off x="1188678" y="5515342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C13DA-41C9-4C4D-BB56-486722D391F9}"/>
              </a:ext>
            </a:extLst>
          </p:cNvPr>
          <p:cNvSpPr txBox="1"/>
          <p:nvPr/>
        </p:nvSpPr>
        <p:spPr>
          <a:xfrm>
            <a:off x="8522315" y="5515755"/>
            <a:ext cx="172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Attacked</a:t>
            </a:r>
          </a:p>
          <a:p>
            <a:pPr algn="ctr"/>
            <a:r>
              <a:rPr lang="en-US" dirty="0"/>
              <a:t> Target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500552-60E5-8641-AA06-45459E3B4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732" y="4742959"/>
            <a:ext cx="457296" cy="4572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93E4F1D-D0B8-9140-949D-C452E33FA177}"/>
              </a:ext>
            </a:extLst>
          </p:cNvPr>
          <p:cNvGrpSpPr/>
          <p:nvPr/>
        </p:nvGrpSpPr>
        <p:grpSpPr>
          <a:xfrm>
            <a:off x="5940643" y="4226862"/>
            <a:ext cx="2905394" cy="276999"/>
            <a:chOff x="2936777" y="3247052"/>
            <a:chExt cx="2581672" cy="276999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AD67E7A-EA7E-8E43-B02E-B9A14F57E34F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82C35D-00F4-2449-AE17-BD60FF55DEE6}"/>
                </a:ext>
              </a:extLst>
            </p:cNvPr>
            <p:cNvSpPr txBox="1"/>
            <p:nvPr/>
          </p:nvSpPr>
          <p:spPr>
            <a:xfrm>
              <a:off x="3248061" y="3247052"/>
              <a:ext cx="22703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SMB Bind (Signing Negotiate)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696A9C-E250-364C-AE02-99A3950A334B}"/>
              </a:ext>
            </a:extLst>
          </p:cNvPr>
          <p:cNvGrpSpPr/>
          <p:nvPr/>
        </p:nvGrpSpPr>
        <p:grpSpPr>
          <a:xfrm>
            <a:off x="5944647" y="4655800"/>
            <a:ext cx="2901390" cy="276999"/>
            <a:chOff x="2936777" y="3247052"/>
            <a:chExt cx="2581672" cy="27699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28EB32-8BC6-E84D-A1DD-6D26B1232815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9660B6-11BD-EE4B-90C8-77954520F040}"/>
                </a:ext>
              </a:extLst>
            </p:cNvPr>
            <p:cNvSpPr txBox="1"/>
            <p:nvPr/>
          </p:nvSpPr>
          <p:spPr>
            <a:xfrm>
              <a:off x="3244057" y="3247052"/>
              <a:ext cx="22743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Kerberos AP-Req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68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Relay over TLS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L" dirty="0"/>
              <a:t>Relay protection in TLS channels</a:t>
            </a:r>
          </a:p>
          <a:p>
            <a:pPr lvl="1"/>
            <a:r>
              <a:rPr lang="en-IL" dirty="0"/>
              <a:t>Extended Protection for Authentication</a:t>
            </a:r>
          </a:p>
          <a:p>
            <a:pPr lvl="1"/>
            <a:endParaRPr lang="en-IL" dirty="0"/>
          </a:p>
          <a:p>
            <a:r>
              <a:rPr lang="en-IL" dirty="0"/>
              <a:t>Important examples of such protection</a:t>
            </a:r>
          </a:p>
          <a:p>
            <a:pPr lvl="1"/>
            <a:r>
              <a:rPr lang="en-IL" dirty="0"/>
              <a:t>LDAPS (called Channel Bindings)</a:t>
            </a:r>
          </a:p>
          <a:p>
            <a:pPr lvl="1"/>
            <a:r>
              <a:rPr lang="en-IL" dirty="0"/>
              <a:t>AD FS</a:t>
            </a:r>
          </a:p>
          <a:p>
            <a:pPr lvl="1"/>
            <a:r>
              <a:rPr lang="en-IL" dirty="0"/>
              <a:t>IIS</a:t>
            </a:r>
          </a:p>
          <a:p>
            <a:endParaRPr lang="en-IL" dirty="0"/>
          </a:p>
          <a:p>
            <a:r>
              <a:rPr lang="en-IL" dirty="0"/>
              <a:t>Can this be bypassed?</a:t>
            </a:r>
          </a:p>
          <a:p>
            <a:pPr lvl="1"/>
            <a:r>
              <a:rPr lang="en-IL" dirty="0"/>
              <a:t>NTLM (check out our DEFCON 2019 talk </a:t>
            </a:r>
            <a:r>
              <a:rPr lang="en-IL" dirty="0">
                <a:sym typeface="Wingdings" pitchFamily="2" charset="2"/>
              </a:rPr>
              <a:t>)</a:t>
            </a:r>
          </a:p>
          <a:p>
            <a:pPr lvl="1"/>
            <a:r>
              <a:rPr lang="en-IL" dirty="0">
                <a:sym typeface="Wingdings" pitchFamily="2" charset="2"/>
              </a:rPr>
              <a:t>Kerberos</a:t>
            </a:r>
          </a:p>
          <a:p>
            <a:pPr lvl="2"/>
            <a:r>
              <a:rPr lang="en-IL" dirty="0"/>
              <a:t>AP-Req contained signed certificate thumbprint inside checksum field</a:t>
            </a:r>
          </a:p>
          <a:p>
            <a:pPr lvl="2"/>
            <a:r>
              <a:rPr lang="en-IL" dirty="0"/>
              <a:t>What happens when Kerberos client has no checksum field?</a:t>
            </a:r>
          </a:p>
          <a:p>
            <a:pPr lvl="1"/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DA4C7-B62A-DF47-A991-C3ED9C651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080" y="1412240"/>
            <a:ext cx="5289169" cy="30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1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A4220B-652F-4848-A508-7D36E1F1010C}"/>
              </a:ext>
            </a:extLst>
          </p:cNvPr>
          <p:cNvSpPr txBox="1">
            <a:spLocks/>
          </p:cNvSpPr>
          <p:nvPr/>
        </p:nvSpPr>
        <p:spPr>
          <a:xfrm>
            <a:off x="838200" y="589280"/>
            <a:ext cx="10515600" cy="5587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IL" sz="8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58FEB-9B4A-4115-B9D2-BB0B2433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169" y="652074"/>
            <a:ext cx="7868844" cy="49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21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A4220B-652F-4848-A508-7D36E1F1010C}"/>
              </a:ext>
            </a:extLst>
          </p:cNvPr>
          <p:cNvSpPr txBox="1">
            <a:spLocks/>
          </p:cNvSpPr>
          <p:nvPr/>
        </p:nvSpPr>
        <p:spPr>
          <a:xfrm>
            <a:off x="838200" y="589280"/>
            <a:ext cx="10515600" cy="5587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IL" sz="8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58FEB-9B4A-4115-B9D2-BB0B2433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169" y="652074"/>
            <a:ext cx="7868844" cy="49486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4D1CA6-F602-4E7F-ABCE-8975E4B01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169" y="678136"/>
            <a:ext cx="7868844" cy="49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3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KDC Spoofing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KDC Spoofing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Old Technique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Using MITM for authentication bypass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Typically exists in VPNs, FWs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A1739-C7CF-674B-B1AE-723A45134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053" y="4058343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FA2488-C0C8-E244-A538-DEDD25A05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4058343"/>
            <a:ext cx="1174440" cy="180080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75D0D8-3BD6-564F-9A49-1EC96B80F534}"/>
              </a:ext>
            </a:extLst>
          </p:cNvPr>
          <p:cNvGrpSpPr/>
          <p:nvPr/>
        </p:nvGrpSpPr>
        <p:grpSpPr>
          <a:xfrm>
            <a:off x="2493749" y="4779972"/>
            <a:ext cx="2697194" cy="646331"/>
            <a:chOff x="2936777" y="3247052"/>
            <a:chExt cx="2581672" cy="646331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14DE6E3-2C80-9742-93C2-AE68134D2E58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E6B404-AC5B-1E4F-909E-DF84D27B481D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Plaintext Credentials</a:t>
              </a:r>
              <a:br>
                <a:rPr lang="en-US" sz="1200" dirty="0"/>
              </a:br>
              <a:r>
                <a:rPr lang="en-US" sz="1200" dirty="0"/>
                <a:t>      (over HTTPS, TLS, etc.)</a:t>
              </a:r>
            </a:p>
            <a:p>
              <a:endParaRPr lang="en-US" sz="12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A58600-8368-514A-BA7E-B574997BF4F9}"/>
              </a:ext>
            </a:extLst>
          </p:cNvPr>
          <p:cNvSpPr txBox="1"/>
          <p:nvPr/>
        </p:nvSpPr>
        <p:spPr>
          <a:xfrm>
            <a:off x="1188678" y="5877814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0B84D-123D-D541-AB9E-C3D1D2BFB479}"/>
              </a:ext>
            </a:extLst>
          </p:cNvPr>
          <p:cNvSpPr txBox="1"/>
          <p:nvPr/>
        </p:nvSpPr>
        <p:spPr>
          <a:xfrm>
            <a:off x="9750389" y="5820719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D65018-0382-7D4C-96F8-3529BEC1ECD7}"/>
              </a:ext>
            </a:extLst>
          </p:cNvPr>
          <p:cNvGrpSpPr/>
          <p:nvPr/>
        </p:nvGrpSpPr>
        <p:grpSpPr>
          <a:xfrm>
            <a:off x="6096000" y="4820247"/>
            <a:ext cx="3928053" cy="276999"/>
            <a:chOff x="2936777" y="3247052"/>
            <a:chExt cx="2581672" cy="27699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BFA840F-8EAC-B54D-A097-B2CD6BA8BD92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10E0C6-CECE-FF4E-BFF7-06FFD9DFDFCE}"/>
                </a:ext>
              </a:extLst>
            </p:cNvPr>
            <p:cNvSpPr txBox="1"/>
            <p:nvPr/>
          </p:nvSpPr>
          <p:spPr>
            <a:xfrm>
              <a:off x="3423456" y="3247052"/>
              <a:ext cx="970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Kerberos AS-Req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94A4F77-899D-8C4F-BF5C-7347C8217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943" y="4245863"/>
            <a:ext cx="1008321" cy="14257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7607C9-A574-4949-982F-4D9F87A25730}"/>
              </a:ext>
            </a:extLst>
          </p:cNvPr>
          <p:cNvSpPr txBox="1"/>
          <p:nvPr/>
        </p:nvSpPr>
        <p:spPr>
          <a:xfrm>
            <a:off x="4776379" y="5397828"/>
            <a:ext cx="2227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Authentication Server (VPN, FW)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F51C43-2039-D448-B5A1-51125EF4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306" y="4069464"/>
            <a:ext cx="1174440" cy="18008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D2F75-A123-2D4D-B365-120ABC14A265}"/>
              </a:ext>
            </a:extLst>
          </p:cNvPr>
          <p:cNvSpPr txBox="1"/>
          <p:nvPr/>
        </p:nvSpPr>
        <p:spPr>
          <a:xfrm>
            <a:off x="8420642" y="5831840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MITM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37AAC2-9B4B-AF45-BEC3-D3241AF1F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176" y="4501811"/>
            <a:ext cx="457296" cy="45729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F1C85D0-5670-B04F-8876-40A1907B014E}"/>
              </a:ext>
            </a:extLst>
          </p:cNvPr>
          <p:cNvGrpSpPr/>
          <p:nvPr/>
        </p:nvGrpSpPr>
        <p:grpSpPr>
          <a:xfrm>
            <a:off x="6096001" y="4820463"/>
            <a:ext cx="2598306" cy="276999"/>
            <a:chOff x="2936777" y="3247052"/>
            <a:chExt cx="2581672" cy="276999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5433934-A3F8-F84F-B2F4-DEF44F69F844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74D727-2362-A145-9D38-2ACF96EB3123}"/>
                </a:ext>
              </a:extLst>
            </p:cNvPr>
            <p:cNvSpPr txBox="1"/>
            <p:nvPr/>
          </p:nvSpPr>
          <p:spPr>
            <a:xfrm>
              <a:off x="3677197" y="3247052"/>
              <a:ext cx="1480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Kerberos AS-Req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C7255F-C009-F248-AF57-D7D0AD61A3A6}"/>
              </a:ext>
            </a:extLst>
          </p:cNvPr>
          <p:cNvGrpSpPr/>
          <p:nvPr/>
        </p:nvGrpSpPr>
        <p:grpSpPr>
          <a:xfrm>
            <a:off x="6095999" y="5081551"/>
            <a:ext cx="2920214" cy="461665"/>
            <a:chOff x="2942997" y="3256246"/>
            <a:chExt cx="2871533" cy="46166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3129B10-C683-5D43-BAD6-607E1EEE2063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A8B9054-CAD0-C645-957C-14B502FB80C9}"/>
                </a:ext>
              </a:extLst>
            </p:cNvPr>
            <p:cNvSpPr txBox="1"/>
            <p:nvPr/>
          </p:nvSpPr>
          <p:spPr>
            <a:xfrm>
              <a:off x="3654108" y="3256246"/>
              <a:ext cx="2160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Kerberos AS-Rep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Using: Fake Password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1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KDC Spoofing Protection</a:t>
            </a:r>
            <a:endParaRPr lang="en-I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Very </a:t>
            </a:r>
            <a:r>
              <a:rPr lang="en-US" b="1"/>
              <a:t>old technique</a:t>
            </a:r>
          </a:p>
          <a:p>
            <a:pPr lvl="1">
              <a:spcBef>
                <a:spcPts val="1000"/>
              </a:spcBef>
            </a:pPr>
            <a:endParaRPr lang="en-US" sz="500" b="1" dirty="0"/>
          </a:p>
          <a:p>
            <a:pPr marL="228600" indent="-228600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Protection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Create a computer account for authentication server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Create a TGS ticket to self using TGT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A1739-C7CF-674B-B1AE-723A45134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053" y="4058343"/>
            <a:ext cx="1174440" cy="1800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FA2488-C0C8-E244-A538-DEDD25A05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4058343"/>
            <a:ext cx="1174440" cy="180080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75D0D8-3BD6-564F-9A49-1EC96B80F534}"/>
              </a:ext>
            </a:extLst>
          </p:cNvPr>
          <p:cNvGrpSpPr/>
          <p:nvPr/>
        </p:nvGrpSpPr>
        <p:grpSpPr>
          <a:xfrm>
            <a:off x="2493748" y="4363412"/>
            <a:ext cx="2880891" cy="461665"/>
            <a:chOff x="2936777" y="3247052"/>
            <a:chExt cx="2581672" cy="46166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14DE6E3-2C80-9742-93C2-AE68134D2E58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E6B404-AC5B-1E4F-909E-DF84D27B481D}"/>
                </a:ext>
              </a:extLst>
            </p:cNvPr>
            <p:cNvSpPr txBox="1"/>
            <p:nvPr/>
          </p:nvSpPr>
          <p:spPr>
            <a:xfrm>
              <a:off x="3592291" y="3247052"/>
              <a:ext cx="1926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Plaintext Credentials</a:t>
              </a:r>
              <a:br>
                <a:rPr lang="en-US" sz="1200" dirty="0"/>
              </a:br>
              <a:r>
                <a:rPr lang="en-US" sz="1200" dirty="0"/>
                <a:t>      (over HTTPS, TLS, etc.)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A58600-8368-514A-BA7E-B574997BF4F9}"/>
              </a:ext>
            </a:extLst>
          </p:cNvPr>
          <p:cNvSpPr txBox="1"/>
          <p:nvPr/>
        </p:nvSpPr>
        <p:spPr>
          <a:xfrm>
            <a:off x="1188678" y="5877814"/>
            <a:ext cx="2133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0B84D-123D-D541-AB9E-C3D1D2BFB479}"/>
              </a:ext>
            </a:extLst>
          </p:cNvPr>
          <p:cNvSpPr txBox="1"/>
          <p:nvPr/>
        </p:nvSpPr>
        <p:spPr>
          <a:xfrm>
            <a:off x="9750389" y="5820719"/>
            <a:ext cx="172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D65018-0382-7D4C-96F8-3529BEC1ECD7}"/>
              </a:ext>
            </a:extLst>
          </p:cNvPr>
          <p:cNvGrpSpPr/>
          <p:nvPr/>
        </p:nvGrpSpPr>
        <p:grpSpPr>
          <a:xfrm>
            <a:off x="6096000" y="4466014"/>
            <a:ext cx="3928053" cy="276999"/>
            <a:chOff x="2936777" y="3247052"/>
            <a:chExt cx="2581672" cy="27699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BFA840F-8EAC-B54D-A097-B2CD6BA8BD92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10E0C6-CECE-FF4E-BFF7-06FFD9DFDFCE}"/>
                </a:ext>
              </a:extLst>
            </p:cNvPr>
            <p:cNvSpPr txBox="1"/>
            <p:nvPr/>
          </p:nvSpPr>
          <p:spPr>
            <a:xfrm>
              <a:off x="3677198" y="3247052"/>
              <a:ext cx="970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Kerberos AS-Req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94A4F77-899D-8C4F-BF5C-7347C8217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943" y="4245863"/>
            <a:ext cx="1008321" cy="14257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07607C9-A574-4949-982F-4D9F87A25730}"/>
              </a:ext>
            </a:extLst>
          </p:cNvPr>
          <p:cNvSpPr txBox="1"/>
          <p:nvPr/>
        </p:nvSpPr>
        <p:spPr>
          <a:xfrm>
            <a:off x="4776379" y="5397827"/>
            <a:ext cx="2227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Authentication Server (VPN, FW)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8E31CE-97DB-8F45-84B0-A46325845163}"/>
              </a:ext>
            </a:extLst>
          </p:cNvPr>
          <p:cNvGrpSpPr/>
          <p:nvPr/>
        </p:nvGrpSpPr>
        <p:grpSpPr>
          <a:xfrm>
            <a:off x="6096000" y="4927438"/>
            <a:ext cx="3928053" cy="276999"/>
            <a:chOff x="2936777" y="3247052"/>
            <a:chExt cx="2581672" cy="27699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FDE288E-2697-914D-AD74-55AAACAD36A3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B425C0-AE95-8640-94DF-587F823FE9E8}"/>
                </a:ext>
              </a:extLst>
            </p:cNvPr>
            <p:cNvSpPr txBox="1"/>
            <p:nvPr/>
          </p:nvSpPr>
          <p:spPr>
            <a:xfrm>
              <a:off x="3677198" y="3247052"/>
              <a:ext cx="1069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Kerberos TGS-Req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10DFDA-BA26-1D42-BD81-D5F4F759EB1A}"/>
              </a:ext>
            </a:extLst>
          </p:cNvPr>
          <p:cNvGrpSpPr/>
          <p:nvPr/>
        </p:nvGrpSpPr>
        <p:grpSpPr>
          <a:xfrm>
            <a:off x="6076650" y="4696726"/>
            <a:ext cx="3928052" cy="276999"/>
            <a:chOff x="2942997" y="3247052"/>
            <a:chExt cx="2594110" cy="276999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21C1AD3-9752-6E46-B77A-A7B678404284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91E05B-9392-2844-9AE6-457EA935F1E1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Kerberos AS-Rep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E30EB2-3032-6E46-85FD-91C7862AE45C}"/>
              </a:ext>
            </a:extLst>
          </p:cNvPr>
          <p:cNvGrpSpPr/>
          <p:nvPr/>
        </p:nvGrpSpPr>
        <p:grpSpPr>
          <a:xfrm>
            <a:off x="6096001" y="5158151"/>
            <a:ext cx="3928052" cy="830997"/>
            <a:chOff x="2942997" y="3247052"/>
            <a:chExt cx="2594110" cy="8309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AD8CD92-7AB4-C143-99B7-44ECEC0F4A08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293CCA0-5D07-8C4F-A791-DED1E6DB9BAA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Kerberos TGS-Rep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DC Proves identity by</a:t>
              </a:r>
              <a:br>
                <a:rPr lang="en-US" sz="1200" dirty="0">
                  <a:solidFill>
                    <a:srgbClr val="7030A0"/>
                  </a:solidFill>
                </a:rPr>
              </a:br>
              <a:r>
                <a:rPr lang="en-US" sz="1200" dirty="0">
                  <a:solidFill>
                    <a:srgbClr val="7030A0"/>
                  </a:solidFill>
                </a:rPr>
                <a:t>signing with server’s</a:t>
              </a:r>
              <a:br>
                <a:rPr lang="en-US" sz="1200" dirty="0">
                  <a:solidFill>
                    <a:srgbClr val="7030A0"/>
                  </a:solidFill>
                </a:rPr>
              </a:br>
              <a:r>
                <a:rPr lang="en-US" sz="1200" dirty="0">
                  <a:solidFill>
                    <a:srgbClr val="7030A0"/>
                  </a:solidFill>
                </a:rPr>
                <a:t>secret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98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Injection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5AA47B4-8BEE-384C-BAA8-4BC93C5AD63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B5B5CA-5A9E-5D41-B29B-A42BCDF3C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862" y="2123440"/>
            <a:ext cx="8419537" cy="39208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D3CF45-8EF1-2A4B-B72B-DE6C97B7E7A3}"/>
              </a:ext>
            </a:extLst>
          </p:cNvPr>
          <p:cNvSpPr/>
          <p:nvPr/>
        </p:nvSpPr>
        <p:spPr>
          <a:xfrm>
            <a:off x="1869440" y="5669280"/>
            <a:ext cx="3556000" cy="365760"/>
          </a:xfrm>
          <a:prstGeom prst="rect">
            <a:avLst/>
          </a:prstGeom>
          <a:noFill/>
          <a:ln w="635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5690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So, we cannot manipulate TGT and TGS, what now?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10679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DC Selection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357B36-D3DB-A74C-85FE-1417C7B97946}"/>
              </a:ext>
            </a:extLst>
          </p:cNvPr>
          <p:cNvGrpSpPr/>
          <p:nvPr/>
        </p:nvGrpSpPr>
        <p:grpSpPr>
          <a:xfrm>
            <a:off x="1888193" y="3234426"/>
            <a:ext cx="4011194" cy="280783"/>
            <a:chOff x="2936777" y="3351678"/>
            <a:chExt cx="2581672" cy="128640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4AC0EC4-D98C-B24D-8EAC-27FBBC49CD64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CA277E-7835-D947-BC6F-32A6DE53A50F}"/>
                </a:ext>
              </a:extLst>
            </p:cNvPr>
            <p:cNvSpPr txBox="1"/>
            <p:nvPr/>
          </p:nvSpPr>
          <p:spPr>
            <a:xfrm>
              <a:off x="3678742" y="3351678"/>
              <a:ext cx="1538356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Lookup DCs in </a:t>
              </a:r>
              <a:r>
                <a:rPr lang="en-US" sz="1200" dirty="0" err="1"/>
                <a:t>domain.com</a:t>
              </a:r>
              <a:endParaRPr lang="en-US" sz="12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37EDB63-ECB6-0047-BCFA-B7D0C3124549}"/>
              </a:ext>
            </a:extLst>
          </p:cNvPr>
          <p:cNvSpPr txBox="1"/>
          <p:nvPr/>
        </p:nvSpPr>
        <p:spPr>
          <a:xfrm>
            <a:off x="191742" y="2060435"/>
            <a:ext cx="10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DD4FA3-E37E-2F45-BDA9-75A46DBF39D4}"/>
              </a:ext>
            </a:extLst>
          </p:cNvPr>
          <p:cNvGrpSpPr/>
          <p:nvPr/>
        </p:nvGrpSpPr>
        <p:grpSpPr>
          <a:xfrm>
            <a:off x="1888193" y="4359468"/>
            <a:ext cx="8457859" cy="276998"/>
            <a:chOff x="2989867" y="2819512"/>
            <a:chExt cx="2619298" cy="12690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3E2765F-A43E-9149-B9F3-D6058E797352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67" y="2941497"/>
              <a:ext cx="2619298" cy="2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34A360-4ABC-2949-84C8-71988678342E}"/>
                </a:ext>
              </a:extLst>
            </p:cNvPr>
            <p:cNvSpPr txBox="1"/>
            <p:nvPr/>
          </p:nvSpPr>
          <p:spPr>
            <a:xfrm>
              <a:off x="4544419" y="2819512"/>
              <a:ext cx="1064746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Unauthenticated LDAP “Host Ping” (Get AD site)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05D1C62-655A-464F-A5E6-69F2B3F7F864}"/>
              </a:ext>
            </a:extLst>
          </p:cNvPr>
          <p:cNvGrpSpPr/>
          <p:nvPr/>
        </p:nvGrpSpPr>
        <p:grpSpPr>
          <a:xfrm>
            <a:off x="1903414" y="4732382"/>
            <a:ext cx="8467066" cy="276999"/>
            <a:chOff x="2936777" y="3358385"/>
            <a:chExt cx="2581672" cy="126906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AE8E829-B8B9-3443-B57A-C6019764A0C5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146A49-0002-2341-9030-0E3293904047}"/>
                </a:ext>
              </a:extLst>
            </p:cNvPr>
            <p:cNvSpPr txBox="1"/>
            <p:nvPr/>
          </p:nvSpPr>
          <p:spPr>
            <a:xfrm>
              <a:off x="4466300" y="3358385"/>
              <a:ext cx="758824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LDAP – Get domain capabilities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EA737FB-6238-F346-8E39-0391F1DD3BA4}"/>
              </a:ext>
            </a:extLst>
          </p:cNvPr>
          <p:cNvGrpSpPr/>
          <p:nvPr/>
        </p:nvGrpSpPr>
        <p:grpSpPr>
          <a:xfrm>
            <a:off x="1903413" y="5090411"/>
            <a:ext cx="4028459" cy="276999"/>
            <a:chOff x="2936777" y="3367566"/>
            <a:chExt cx="2581672" cy="12690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C46939E-C1A6-0747-B1CE-5FBCDD8612B9}"/>
                </a:ext>
              </a:extLst>
            </p:cNvPr>
            <p:cNvCxnSpPr/>
            <p:nvPr/>
          </p:nvCxnSpPr>
          <p:spPr>
            <a:xfrm>
              <a:off x="2936777" y="3480317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D7BABE1-93C4-6F4F-BDCB-02F209769F97}"/>
                </a:ext>
              </a:extLst>
            </p:cNvPr>
            <p:cNvSpPr txBox="1"/>
            <p:nvPr/>
          </p:nvSpPr>
          <p:spPr>
            <a:xfrm>
              <a:off x="3682793" y="3367566"/>
              <a:ext cx="1599351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(6) Get DCs in current site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68199CE-B806-D84C-BAED-7371278DD140}"/>
              </a:ext>
            </a:extLst>
          </p:cNvPr>
          <p:cNvGrpSpPr/>
          <p:nvPr/>
        </p:nvGrpSpPr>
        <p:grpSpPr>
          <a:xfrm>
            <a:off x="1888194" y="5797660"/>
            <a:ext cx="8457858" cy="276999"/>
            <a:chOff x="2936777" y="3367658"/>
            <a:chExt cx="2581672" cy="126906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0F6BF49-70F0-B440-A987-EC124E1A2E87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C279E5-76DC-B243-9122-9C4CD953ABFC}"/>
                </a:ext>
              </a:extLst>
            </p:cNvPr>
            <p:cNvSpPr txBox="1"/>
            <p:nvPr/>
          </p:nvSpPr>
          <p:spPr>
            <a:xfrm>
              <a:off x="3947448" y="3367658"/>
              <a:ext cx="684615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(7) Establish NETLOGON Session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ADF43D-CAA4-2542-A639-24EA23D872FF}"/>
              </a:ext>
            </a:extLst>
          </p:cNvPr>
          <p:cNvSpPr txBox="1"/>
          <p:nvPr/>
        </p:nvSpPr>
        <p:spPr>
          <a:xfrm>
            <a:off x="985996" y="5258630"/>
            <a:ext cx="91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Possibly Selecting another DC</a:t>
            </a:r>
            <a:endParaRPr lang="en-IL" sz="12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30C405B-F250-144E-A58C-33A2C89E3DBA}"/>
              </a:ext>
            </a:extLst>
          </p:cNvPr>
          <p:cNvGrpSpPr/>
          <p:nvPr/>
        </p:nvGrpSpPr>
        <p:grpSpPr>
          <a:xfrm>
            <a:off x="1888194" y="6112193"/>
            <a:ext cx="8467066" cy="276998"/>
            <a:chOff x="2898098" y="3576726"/>
            <a:chExt cx="2581672" cy="126906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391E006-D7FE-2647-A9E8-1DCA26C066D6}"/>
                </a:ext>
              </a:extLst>
            </p:cNvPr>
            <p:cNvCxnSpPr/>
            <p:nvPr/>
          </p:nvCxnSpPr>
          <p:spPr>
            <a:xfrm>
              <a:off x="2898098" y="3693080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090A02-61BB-BB4E-9ACA-26A7F5EA04F5}"/>
                </a:ext>
              </a:extLst>
            </p:cNvPr>
            <p:cNvSpPr txBox="1"/>
            <p:nvPr/>
          </p:nvSpPr>
          <p:spPr>
            <a:xfrm>
              <a:off x="3907518" y="3576726"/>
              <a:ext cx="515213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(8) Get Domain Info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CFC1BE6-0E79-E44C-9119-D111D86968E0}"/>
              </a:ext>
            </a:extLst>
          </p:cNvPr>
          <p:cNvSpPr txBox="1"/>
          <p:nvPr/>
        </p:nvSpPr>
        <p:spPr>
          <a:xfrm>
            <a:off x="4732883" y="2160335"/>
            <a:ext cx="70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8DDA93-D63D-0943-AC6B-16CF77A3BD0F}"/>
              </a:ext>
            </a:extLst>
          </p:cNvPr>
          <p:cNvSpPr txBox="1"/>
          <p:nvPr/>
        </p:nvSpPr>
        <p:spPr>
          <a:xfrm>
            <a:off x="9743616" y="2090804"/>
            <a:ext cx="70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2455E86-4D52-A54C-9D17-1CF2A0007738}"/>
              </a:ext>
            </a:extLst>
          </p:cNvPr>
          <p:cNvCxnSpPr/>
          <p:nvPr/>
        </p:nvCxnSpPr>
        <p:spPr>
          <a:xfrm>
            <a:off x="1906529" y="3174842"/>
            <a:ext cx="0" cy="3225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6C9D138-63AC-6E4C-A292-43C7CCAFD6E0}"/>
              </a:ext>
            </a:extLst>
          </p:cNvPr>
          <p:cNvCxnSpPr>
            <a:cxnSpLocks/>
          </p:cNvCxnSpPr>
          <p:nvPr/>
        </p:nvCxnSpPr>
        <p:spPr>
          <a:xfrm>
            <a:off x="5923896" y="3174842"/>
            <a:ext cx="7977" cy="2248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E363C8D-7C7E-D645-86F7-709298C577F3}"/>
              </a:ext>
            </a:extLst>
          </p:cNvPr>
          <p:cNvCxnSpPr>
            <a:cxnSpLocks/>
          </p:cNvCxnSpPr>
          <p:nvPr/>
        </p:nvCxnSpPr>
        <p:spPr>
          <a:xfrm flipH="1">
            <a:off x="10346052" y="3174842"/>
            <a:ext cx="24428" cy="338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7073FF39-ABBC-654F-B65B-B1C7B237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76" y="1434994"/>
            <a:ext cx="1174440" cy="180080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B3B2C3-E09C-0848-A860-B7397558C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60" y="1434994"/>
            <a:ext cx="1174440" cy="180080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C5F226E-B015-164A-9EB1-A32C77337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1434994"/>
            <a:ext cx="1174440" cy="180080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3FE39CE-D87B-DD47-855C-9ED4B57ABDBF}"/>
              </a:ext>
            </a:extLst>
          </p:cNvPr>
          <p:cNvSpPr txBox="1"/>
          <p:nvPr/>
        </p:nvSpPr>
        <p:spPr>
          <a:xfrm>
            <a:off x="9076317" y="2138895"/>
            <a:ext cx="70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B7910A6-BEF9-8F4D-AE44-9780D3B4C94D}"/>
              </a:ext>
            </a:extLst>
          </p:cNvPr>
          <p:cNvGrpSpPr/>
          <p:nvPr/>
        </p:nvGrpSpPr>
        <p:grpSpPr>
          <a:xfrm>
            <a:off x="1903413" y="4009680"/>
            <a:ext cx="3976739" cy="279351"/>
            <a:chOff x="2988869" y="3352334"/>
            <a:chExt cx="2529580" cy="127984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B834C81-9961-264F-ABBC-3ABB65FC2096}"/>
                </a:ext>
              </a:extLst>
            </p:cNvPr>
            <p:cNvCxnSpPr>
              <a:cxnSpLocks/>
            </p:cNvCxnSpPr>
            <p:nvPr/>
          </p:nvCxnSpPr>
          <p:spPr>
            <a:xfrm>
              <a:off x="2988869" y="3479240"/>
              <a:ext cx="2529580" cy="10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85CAB46-CB9D-DB49-8F8E-10568F743249}"/>
                </a:ext>
              </a:extLst>
            </p:cNvPr>
            <p:cNvSpPr txBox="1"/>
            <p:nvPr/>
          </p:nvSpPr>
          <p:spPr>
            <a:xfrm>
              <a:off x="3723251" y="3352334"/>
              <a:ext cx="1515299" cy="126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Resolve dc1.domain.com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24A6F19-D812-1F49-955B-BB5158C927CE}"/>
              </a:ext>
            </a:extLst>
          </p:cNvPr>
          <p:cNvGrpSpPr/>
          <p:nvPr/>
        </p:nvGrpSpPr>
        <p:grpSpPr>
          <a:xfrm>
            <a:off x="1903413" y="3557551"/>
            <a:ext cx="4011193" cy="276999"/>
            <a:chOff x="2942997" y="3235926"/>
            <a:chExt cx="2594110" cy="27699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78FB3FE-53C6-DA4D-AC10-7D3D16C00D86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5C3EF14-FDD9-0743-B5FD-7C1A5F7264AD}"/>
                </a:ext>
              </a:extLst>
            </p:cNvPr>
            <p:cNvSpPr txBox="1"/>
            <p:nvPr/>
          </p:nvSpPr>
          <p:spPr>
            <a:xfrm>
              <a:off x="3684737" y="3235926"/>
              <a:ext cx="12372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List of DC FQDNs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F43C241-198C-DA45-872E-3C19A97F1184}"/>
              </a:ext>
            </a:extLst>
          </p:cNvPr>
          <p:cNvSpPr txBox="1"/>
          <p:nvPr/>
        </p:nvSpPr>
        <p:spPr>
          <a:xfrm>
            <a:off x="875727" y="3825013"/>
            <a:ext cx="91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Picks a DC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269899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7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We can intervene in the DC selection process:</a:t>
            </a:r>
          </a:p>
          <a:p>
            <a:pPr lvl="1"/>
            <a:r>
              <a:rPr lang="en-IL" dirty="0"/>
              <a:t>Client choose a DC using </a:t>
            </a:r>
            <a:r>
              <a:rPr lang="en-US" dirty="0"/>
              <a:t>combination of </a:t>
            </a:r>
            <a:r>
              <a:rPr lang="en-IL" dirty="0"/>
              <a:t>DNS</a:t>
            </a:r>
            <a:r>
              <a:rPr lang="en-US" dirty="0"/>
              <a:t> and </a:t>
            </a:r>
            <a:r>
              <a:rPr lang="en-IL" dirty="0"/>
              <a:t>LDAP</a:t>
            </a:r>
            <a:r>
              <a:rPr lang="en-US" dirty="0"/>
              <a:t> queries</a:t>
            </a:r>
            <a:endParaRPr lang="en-IL" dirty="0"/>
          </a:p>
          <a:p>
            <a:pPr lvl="1"/>
            <a:r>
              <a:rPr lang="en-IL" dirty="0"/>
              <a:t>Our MITM relays AS-REQ and TGS-REQ (to self) to a real DC</a:t>
            </a:r>
          </a:p>
          <a:p>
            <a:pPr lvl="1"/>
            <a:r>
              <a:rPr lang="en-IL" dirty="0"/>
              <a:t>MITM is able to serve subsequent DCE/RPC and LDAP requests</a:t>
            </a:r>
          </a:p>
          <a:p>
            <a:pPr lvl="2"/>
            <a:r>
              <a:rPr lang="en-US" dirty="0"/>
              <a:t>(As long as NETLOGON secure channel is not required)</a:t>
            </a:r>
            <a:endParaRPr lang="en-IL" dirty="0"/>
          </a:p>
          <a:p>
            <a:pPr marL="457200" lvl="1" indent="0">
              <a:buNone/>
            </a:pPr>
            <a:endParaRPr lang="en-IL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4567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B75885-3E85-3D42-A932-5EB9FB15BCD9}"/>
              </a:ext>
            </a:extLst>
          </p:cNvPr>
          <p:cNvGrpSpPr/>
          <p:nvPr/>
        </p:nvGrpSpPr>
        <p:grpSpPr>
          <a:xfrm>
            <a:off x="1913575" y="3213445"/>
            <a:ext cx="4008032" cy="461665"/>
            <a:chOff x="2936777" y="3247052"/>
            <a:chExt cx="2581672" cy="46166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6D9866C-7183-2547-A2EB-688D2175E065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C595AD-27DF-9641-99FA-7608BEF59303}"/>
                </a:ext>
              </a:extLst>
            </p:cNvPr>
            <p:cNvSpPr txBox="1"/>
            <p:nvPr/>
          </p:nvSpPr>
          <p:spPr>
            <a:xfrm>
              <a:off x="3670823" y="3247052"/>
              <a:ext cx="13534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(1) DC Selection Process</a:t>
              </a:r>
            </a:p>
            <a:p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6BC79C-2515-8247-BF74-1AD9A67DD49E}"/>
              </a:ext>
            </a:extLst>
          </p:cNvPr>
          <p:cNvGrpSpPr/>
          <p:nvPr/>
        </p:nvGrpSpPr>
        <p:grpSpPr>
          <a:xfrm>
            <a:off x="1913574" y="3466111"/>
            <a:ext cx="3989242" cy="461665"/>
            <a:chOff x="2942997" y="3235926"/>
            <a:chExt cx="2594110" cy="46166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817399D-4811-3647-BB81-F62A2629FB40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6F68EF-68D5-3A45-9FE8-3F00C3C002E2}"/>
                </a:ext>
              </a:extLst>
            </p:cNvPr>
            <p:cNvSpPr txBox="1"/>
            <p:nvPr/>
          </p:nvSpPr>
          <p:spPr>
            <a:xfrm>
              <a:off x="3684737" y="3235926"/>
              <a:ext cx="1237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Injected DC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Using: Rogue Server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3186AD-EF67-2243-9A5D-011865CF4202}"/>
              </a:ext>
            </a:extLst>
          </p:cNvPr>
          <p:cNvGrpSpPr/>
          <p:nvPr/>
        </p:nvGrpSpPr>
        <p:grpSpPr>
          <a:xfrm>
            <a:off x="1887971" y="3895621"/>
            <a:ext cx="4042101" cy="276999"/>
            <a:chOff x="2936777" y="3247052"/>
            <a:chExt cx="2581672" cy="276999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C285E0A-B6E5-9A4D-9401-FFCFD2C48FCD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69151A-B0C0-4940-B213-3C24D6C55C6E}"/>
                </a:ext>
              </a:extLst>
            </p:cNvPr>
            <p:cNvSpPr txBox="1"/>
            <p:nvPr/>
          </p:nvSpPr>
          <p:spPr>
            <a:xfrm>
              <a:off x="3677198" y="3247052"/>
              <a:ext cx="970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(3) Kerberos AS-Req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04D62C-EFF9-E248-85C3-7C818F7C9741}"/>
              </a:ext>
            </a:extLst>
          </p:cNvPr>
          <p:cNvGrpSpPr/>
          <p:nvPr/>
        </p:nvGrpSpPr>
        <p:grpSpPr>
          <a:xfrm>
            <a:off x="1908779" y="4492605"/>
            <a:ext cx="4021021" cy="276999"/>
            <a:chOff x="2936777" y="3247052"/>
            <a:chExt cx="2581672" cy="27699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482B678-47D2-0C4B-ACF9-71082425C6AF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B5D52C7-DD32-5E4B-BA04-1C32749122DE}"/>
                </a:ext>
              </a:extLst>
            </p:cNvPr>
            <p:cNvSpPr txBox="1"/>
            <p:nvPr/>
          </p:nvSpPr>
          <p:spPr>
            <a:xfrm>
              <a:off x="3677198" y="3247052"/>
              <a:ext cx="1069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(7) Kerberos TGS-Req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2123A5-53EF-3946-A04D-233DA4F1C261}"/>
              </a:ext>
            </a:extLst>
          </p:cNvPr>
          <p:cNvGrpSpPr/>
          <p:nvPr/>
        </p:nvGrpSpPr>
        <p:grpSpPr>
          <a:xfrm>
            <a:off x="1913574" y="4194113"/>
            <a:ext cx="3999782" cy="276999"/>
            <a:chOff x="2942997" y="3247052"/>
            <a:chExt cx="2594110" cy="27699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D151206-934D-5B4D-B269-EB9BC5D3F7CD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60DB86-46D5-FE40-B69B-BD5D695AA845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(6) Kerberos AS-Rep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467149-87F0-3D47-8BE2-3B24366A7AF9}"/>
              </a:ext>
            </a:extLst>
          </p:cNvPr>
          <p:cNvGrpSpPr/>
          <p:nvPr/>
        </p:nvGrpSpPr>
        <p:grpSpPr>
          <a:xfrm>
            <a:off x="1899334" y="4791097"/>
            <a:ext cx="4001056" cy="461665"/>
            <a:chOff x="2942997" y="3247052"/>
            <a:chExt cx="2594110" cy="461665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582A15-61B4-5D4C-948C-B3892D229555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645E7B-EF01-FC45-A35C-5BB086CEA33B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(10) Kerberos TGS-Rep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Signing with client secret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897360E5-470A-E24C-9C4F-A6D16202E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76" y="1434994"/>
            <a:ext cx="1174440" cy="180080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785D9F6-E190-164D-9693-4A6F10F07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260" y="1434994"/>
            <a:ext cx="1174440" cy="180080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B0DEFAF-7D42-1C4F-A406-A3CDD6370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09" y="1434994"/>
            <a:ext cx="1174440" cy="1800808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FC069933-275A-A244-BA23-3CFD8FB50865}"/>
              </a:ext>
            </a:extLst>
          </p:cNvPr>
          <p:cNvSpPr txBox="1"/>
          <p:nvPr/>
        </p:nvSpPr>
        <p:spPr>
          <a:xfrm>
            <a:off x="313464" y="1898549"/>
            <a:ext cx="117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Machine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60FA02-5F3B-5C4A-ADB8-36AFE0FC78E3}"/>
              </a:ext>
            </a:extLst>
          </p:cNvPr>
          <p:cNvSpPr txBox="1"/>
          <p:nvPr/>
        </p:nvSpPr>
        <p:spPr>
          <a:xfrm>
            <a:off x="4106981" y="2045400"/>
            <a:ext cx="13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Rogue Server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F00FDD6F-3E66-134D-8FA4-33EBFA2FA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164" y="1966836"/>
            <a:ext cx="457296" cy="45729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A9F263D-B769-864D-A264-DDD9191A8E7B}"/>
              </a:ext>
            </a:extLst>
          </p:cNvPr>
          <p:cNvSpPr txBox="1"/>
          <p:nvPr/>
        </p:nvSpPr>
        <p:spPr>
          <a:xfrm>
            <a:off x="9303010" y="2098911"/>
            <a:ext cx="52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9419C69-2B59-E44D-8EBD-4A3EC9B2D95F}"/>
              </a:ext>
            </a:extLst>
          </p:cNvPr>
          <p:cNvCxnSpPr>
            <a:cxnSpLocks/>
            <a:stCxn id="73" idx="2"/>
          </p:cNvCxnSpPr>
          <p:nvPr/>
        </p:nvCxnSpPr>
        <p:spPr>
          <a:xfrm flipH="1">
            <a:off x="1887971" y="3235802"/>
            <a:ext cx="18558" cy="34596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9690D77-8161-B24D-8EB9-A12FD7261C4A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5902816" y="3235802"/>
            <a:ext cx="21080" cy="338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9E7D7DA-13B1-2049-8E30-D2C0073FFEAB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10346052" y="3235802"/>
            <a:ext cx="24428" cy="338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65E1350-48B5-2A4C-9002-8D274CFC0CCF}"/>
              </a:ext>
            </a:extLst>
          </p:cNvPr>
          <p:cNvGrpSpPr/>
          <p:nvPr/>
        </p:nvGrpSpPr>
        <p:grpSpPr>
          <a:xfrm>
            <a:off x="1899334" y="6094987"/>
            <a:ext cx="4022273" cy="276999"/>
            <a:chOff x="2936777" y="3247052"/>
            <a:chExt cx="2581672" cy="276999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1954033-A721-4B42-9FDF-3E3A1019B167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874A7CB-F1D0-474D-B0BB-3D8BCA99B624}"/>
                </a:ext>
              </a:extLst>
            </p:cNvPr>
            <p:cNvSpPr txBox="1"/>
            <p:nvPr/>
          </p:nvSpPr>
          <p:spPr>
            <a:xfrm>
              <a:off x="3677913" y="3247052"/>
              <a:ext cx="17537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(15) LDAP Search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F2D75BD-0C72-0449-BA0F-F6E29EE0B1F0}"/>
              </a:ext>
            </a:extLst>
          </p:cNvPr>
          <p:cNvGrpSpPr/>
          <p:nvPr/>
        </p:nvGrpSpPr>
        <p:grpSpPr>
          <a:xfrm>
            <a:off x="1908132" y="6350876"/>
            <a:ext cx="4468362" cy="461665"/>
            <a:chOff x="2942997" y="3256246"/>
            <a:chExt cx="2899160" cy="461665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FA4677B-F9CE-D84F-B199-B5250352A361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97FB3CF-4682-2748-8F62-731816D373DF}"/>
                </a:ext>
              </a:extLst>
            </p:cNvPr>
            <p:cNvSpPr txBox="1"/>
            <p:nvPr/>
          </p:nvSpPr>
          <p:spPr>
            <a:xfrm>
              <a:off x="3681735" y="3256246"/>
              <a:ext cx="21604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(16) LDAP Search Response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Malicious injected data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D305554-7C71-5D4E-AD5B-6E378F16F9C1}"/>
              </a:ext>
            </a:extLst>
          </p:cNvPr>
          <p:cNvGrpSpPr/>
          <p:nvPr/>
        </p:nvGrpSpPr>
        <p:grpSpPr>
          <a:xfrm>
            <a:off x="5931273" y="3895621"/>
            <a:ext cx="4439207" cy="276999"/>
            <a:chOff x="2936777" y="3247052"/>
            <a:chExt cx="2581672" cy="276999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87C40ED-3D8B-7246-9DD2-CDD1BD22B0DB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036C490-5F2A-7D4D-8E86-C71381D2CB22}"/>
                </a:ext>
              </a:extLst>
            </p:cNvPr>
            <p:cNvSpPr txBox="1"/>
            <p:nvPr/>
          </p:nvSpPr>
          <p:spPr>
            <a:xfrm>
              <a:off x="3677198" y="3247052"/>
              <a:ext cx="970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(4) Kerberos AS-Req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862C7AA-ACE1-784F-B124-1DB8902668DE}"/>
              </a:ext>
            </a:extLst>
          </p:cNvPr>
          <p:cNvGrpSpPr/>
          <p:nvPr/>
        </p:nvGrpSpPr>
        <p:grpSpPr>
          <a:xfrm>
            <a:off x="5930732" y="4492605"/>
            <a:ext cx="4409416" cy="276999"/>
            <a:chOff x="2936777" y="3247052"/>
            <a:chExt cx="2581672" cy="276999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7531E95-B46F-A640-8D68-985519DF327A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3987155-257B-0B46-BC76-0D0388750DB1}"/>
                </a:ext>
              </a:extLst>
            </p:cNvPr>
            <p:cNvSpPr txBox="1"/>
            <p:nvPr/>
          </p:nvSpPr>
          <p:spPr>
            <a:xfrm>
              <a:off x="3677198" y="3247052"/>
              <a:ext cx="1069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(8) Kerberos TGS-Req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A3DE337-5871-2343-AE22-5087240DC555}"/>
              </a:ext>
            </a:extLst>
          </p:cNvPr>
          <p:cNvGrpSpPr/>
          <p:nvPr/>
        </p:nvGrpSpPr>
        <p:grpSpPr>
          <a:xfrm>
            <a:off x="5935526" y="4194113"/>
            <a:ext cx="4434953" cy="276999"/>
            <a:chOff x="2942997" y="3247052"/>
            <a:chExt cx="2594110" cy="276999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40114CD4-BD28-8044-8ECE-FBF0B057F1D8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D3ACCB-AEBE-7F48-BC31-4908A8D37606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(5) Kerberos AS-Rep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AEB1D3A-0A17-B741-9B41-9C9F5DC6ECE3}"/>
              </a:ext>
            </a:extLst>
          </p:cNvPr>
          <p:cNvGrpSpPr/>
          <p:nvPr/>
        </p:nvGrpSpPr>
        <p:grpSpPr>
          <a:xfrm>
            <a:off x="5921287" y="4791097"/>
            <a:ext cx="4449192" cy="461665"/>
            <a:chOff x="2942997" y="3247052"/>
            <a:chExt cx="2594110" cy="461665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1EF03120-36F5-E142-A8D3-5DAA9D493A39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2C12138-6FF7-814F-9DCC-16ECDEF0E691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(9) Kerberos TGS-Rep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Signing with client secret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C1AE993-A25C-DC48-B80E-6A627397DBD2}"/>
              </a:ext>
            </a:extLst>
          </p:cNvPr>
          <p:cNvGrpSpPr/>
          <p:nvPr/>
        </p:nvGrpSpPr>
        <p:grpSpPr>
          <a:xfrm>
            <a:off x="1898619" y="5234285"/>
            <a:ext cx="4021021" cy="276999"/>
            <a:chOff x="2936777" y="3247052"/>
            <a:chExt cx="2581672" cy="276999"/>
          </a:xfrm>
        </p:grpSpPr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ED83130-8CCE-B341-B1A0-DA72C858740C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DF05E17-DC5F-6C4B-9C2F-29908D4F39CE}"/>
                </a:ext>
              </a:extLst>
            </p:cNvPr>
            <p:cNvSpPr txBox="1"/>
            <p:nvPr/>
          </p:nvSpPr>
          <p:spPr>
            <a:xfrm>
              <a:off x="3677198" y="3247052"/>
              <a:ext cx="1349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(11) Kerberos TGS-Req (LDAP)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1784340-21BB-004A-8EA2-6C57DE7B2A02}"/>
              </a:ext>
            </a:extLst>
          </p:cNvPr>
          <p:cNvGrpSpPr/>
          <p:nvPr/>
        </p:nvGrpSpPr>
        <p:grpSpPr>
          <a:xfrm>
            <a:off x="1889174" y="5532777"/>
            <a:ext cx="4001056" cy="461665"/>
            <a:chOff x="2942997" y="3247052"/>
            <a:chExt cx="2594110" cy="461665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15991FE-C313-C74D-B49F-AF3E2C72DF70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64D68EE-DFB3-4F42-997F-A1C38A3E15E8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(14) Kerberos TGS-Rep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Signing with Rogue server’s secret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9F8D711-B77E-FC47-AAAC-C25719E7A690}"/>
              </a:ext>
            </a:extLst>
          </p:cNvPr>
          <p:cNvGrpSpPr/>
          <p:nvPr/>
        </p:nvGrpSpPr>
        <p:grpSpPr>
          <a:xfrm>
            <a:off x="5940892" y="5254605"/>
            <a:ext cx="4409416" cy="276999"/>
            <a:chOff x="2936777" y="3247052"/>
            <a:chExt cx="2581672" cy="276999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6A727A54-1303-7842-BB33-CAAC62F3D624}"/>
                </a:ext>
              </a:extLst>
            </p:cNvPr>
            <p:cNvCxnSpPr/>
            <p:nvPr/>
          </p:nvCxnSpPr>
          <p:spPr>
            <a:xfrm>
              <a:off x="2936777" y="3480318"/>
              <a:ext cx="25816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B9E1300-81E6-9240-80EB-B8FE641E1AE2}"/>
                </a:ext>
              </a:extLst>
            </p:cNvPr>
            <p:cNvSpPr txBox="1"/>
            <p:nvPr/>
          </p:nvSpPr>
          <p:spPr>
            <a:xfrm>
              <a:off x="3677198" y="3247052"/>
              <a:ext cx="1069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(12) Kerberos TGS-Req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F0575B8-7473-A744-8B52-D4417E1ADC2B}"/>
              </a:ext>
            </a:extLst>
          </p:cNvPr>
          <p:cNvGrpSpPr/>
          <p:nvPr/>
        </p:nvGrpSpPr>
        <p:grpSpPr>
          <a:xfrm>
            <a:off x="5931447" y="5553097"/>
            <a:ext cx="4449192" cy="461665"/>
            <a:chOff x="2942997" y="3247052"/>
            <a:chExt cx="2594110" cy="461665"/>
          </a:xfrm>
        </p:grpSpPr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E561D74-FC5E-7C44-8AD1-DE639C533F98}"/>
                </a:ext>
              </a:extLst>
            </p:cNvPr>
            <p:cNvCxnSpPr/>
            <p:nvPr/>
          </p:nvCxnSpPr>
          <p:spPr>
            <a:xfrm flipH="1">
              <a:off x="2942997" y="3486727"/>
              <a:ext cx="25941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6FE3923-5CEE-444B-A785-1D09C33E8917}"/>
                </a:ext>
              </a:extLst>
            </p:cNvPr>
            <p:cNvSpPr txBox="1"/>
            <p:nvPr/>
          </p:nvSpPr>
          <p:spPr>
            <a:xfrm>
              <a:off x="3695659" y="3247052"/>
              <a:ext cx="17490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(13) Kerberos TGS-Rep</a:t>
              </a:r>
            </a:p>
            <a:p>
              <a:r>
                <a:rPr lang="en-US" sz="1200" dirty="0">
                  <a:solidFill>
                    <a:srgbClr val="7030A0"/>
                  </a:solidFill>
                </a:rPr>
                <a:t>Signing with Rogue server’s secret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06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Kerberos Injection – Attack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L" dirty="0"/>
              <a:t>A service that:</a:t>
            </a:r>
          </a:p>
          <a:p>
            <a:pPr lvl="1"/>
            <a:r>
              <a:rPr lang="en-IL" dirty="0"/>
              <a:t>Uses Kerberos (the usual case…)</a:t>
            </a:r>
          </a:p>
          <a:p>
            <a:pPr lvl="1"/>
            <a:r>
              <a:rPr lang="en-IL" dirty="0"/>
              <a:t>Ingests data from DC without certificate/netlogon validation (the usual case…)</a:t>
            </a:r>
          </a:p>
          <a:p>
            <a:pPr lvl="1"/>
            <a:r>
              <a:rPr lang="en-IL" dirty="0"/>
              <a:t>Does not have a fixed DC configured (the usual case…)</a:t>
            </a:r>
          </a:p>
          <a:p>
            <a:pPr lvl="1"/>
            <a:r>
              <a:rPr lang="en-IL" dirty="0"/>
              <a:t>MITM between the server and the DNS</a:t>
            </a:r>
          </a:p>
          <a:p>
            <a:pPr marL="457200" lvl="1" indent="0">
              <a:buNone/>
            </a:pPr>
            <a:endParaRPr lang="en-IL" dirty="0"/>
          </a:p>
          <a:p>
            <a:r>
              <a:rPr lang="en-IL" dirty="0"/>
              <a:t>The attack:</a:t>
            </a:r>
          </a:p>
          <a:p>
            <a:pPr lvl="1"/>
            <a:r>
              <a:rPr lang="en-IL" dirty="0"/>
              <a:t>Use MITM to redirect to the Rogue DC</a:t>
            </a:r>
          </a:p>
          <a:p>
            <a:pPr lvl="1"/>
            <a:r>
              <a:rPr lang="en-IL" dirty="0"/>
              <a:t>Client requests ticket to rogue server (SPN needs to be registered!)</a:t>
            </a:r>
          </a:p>
          <a:p>
            <a:pPr lvl="1"/>
            <a:r>
              <a:rPr lang="en-IL" dirty="0"/>
              <a:t>Modify responses to the ingested data</a:t>
            </a:r>
          </a:p>
        </p:txBody>
      </p:sp>
    </p:spTree>
    <p:extLst>
      <p:ext uri="{BB962C8B-B14F-4D97-AF65-F5344CB8AC3E}">
        <p14:creationId xmlns:p14="http://schemas.microsoft.com/office/powerpoint/2010/main" val="3317554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Injection – How to Mitigate?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Authenticate DC</a:t>
            </a:r>
          </a:p>
          <a:p>
            <a:pPr lvl="1"/>
            <a:r>
              <a:rPr lang="en-IL" dirty="0"/>
              <a:t>Establish a NETLOGON channel</a:t>
            </a:r>
          </a:p>
          <a:p>
            <a:pPr lvl="1"/>
            <a:r>
              <a:rPr lang="en-IL" dirty="0"/>
              <a:t>Use LDAPS with certificate validation</a:t>
            </a:r>
          </a:p>
          <a:p>
            <a:pPr lvl="1"/>
            <a:r>
              <a:rPr lang="en-IL" dirty="0"/>
              <a:t>Use Kerberos Armoring (we have not tested this…)</a:t>
            </a:r>
          </a:p>
          <a:p>
            <a:endParaRPr lang="en-IL" dirty="0"/>
          </a:p>
          <a:p>
            <a:r>
              <a:rPr lang="en-IL" dirty="0"/>
              <a:t>Windows GPO is still safe…</a:t>
            </a:r>
          </a:p>
        </p:txBody>
      </p:sp>
    </p:spTree>
    <p:extLst>
      <p:ext uri="{BB962C8B-B14F-4D97-AF65-F5344CB8AC3E}">
        <p14:creationId xmlns:p14="http://schemas.microsoft.com/office/powerpoint/2010/main" val="908313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078248-4BA3-1246-9020-8D8A1DAE88FF}"/>
              </a:ext>
            </a:extLst>
          </p:cNvPr>
          <p:cNvSpPr txBox="1">
            <a:spLocks/>
          </p:cNvSpPr>
          <p:nvPr/>
        </p:nvSpPr>
        <p:spPr>
          <a:xfrm>
            <a:off x="838200" y="589280"/>
            <a:ext cx="10515600" cy="5587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L" sz="8000"/>
              <a:t>DEMO</a:t>
            </a:r>
            <a:endParaRPr lang="en-IL" sz="8000" dirty="0"/>
          </a:p>
        </p:txBody>
      </p:sp>
    </p:spTree>
    <p:extLst>
      <p:ext uri="{BB962C8B-B14F-4D97-AF65-F5344CB8AC3E}">
        <p14:creationId xmlns:p14="http://schemas.microsoft.com/office/powerpoint/2010/main" val="113566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Disclosure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IRemoteWinSpool</a:t>
            </a:r>
            <a:r>
              <a:rPr lang="en-US" dirty="0"/>
              <a:t> NTLM Relay</a:t>
            </a:r>
          </a:p>
          <a:p>
            <a:pPr lvl="1"/>
            <a:r>
              <a:rPr lang="en-US" dirty="0"/>
              <a:t>Microsoft fixed issue under CVE-2021-1678</a:t>
            </a:r>
          </a:p>
          <a:p>
            <a:pPr lvl="1"/>
            <a:r>
              <a:rPr lang="en-US" dirty="0"/>
              <a:t>Regarding other vulnerable interfaces: “</a:t>
            </a:r>
            <a:r>
              <a:rPr lang="en-US" i="1" dirty="0"/>
              <a:t>Regarding other DCE/RPC interfaces for potential exploitation, </a:t>
            </a:r>
            <a:r>
              <a:rPr lang="en-US" b="1" i="1" dirty="0"/>
              <a:t>If </a:t>
            </a:r>
            <a:r>
              <a:rPr lang="en-US" b="1" i="1" dirty="0" err="1"/>
              <a:t>youl</a:t>
            </a:r>
            <a:r>
              <a:rPr lang="en-US" b="1" i="1" dirty="0"/>
              <a:t> find other exploitable DCE/RPC interfaces, please submit these separately</a:t>
            </a:r>
            <a:r>
              <a:rPr lang="en-US" i="1" dirty="0"/>
              <a:t>.  Doing so will allow us to investigate each one individually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IL" dirty="0"/>
              <a:t>Azure AD</a:t>
            </a:r>
          </a:p>
          <a:p>
            <a:pPr lvl="1"/>
            <a:r>
              <a:rPr lang="en-IL" dirty="0"/>
              <a:t>MS Acknowledged the issue and replied: “</a:t>
            </a:r>
            <a:r>
              <a:rPr lang="en-US" i="1" dirty="0"/>
              <a:t>Thank you for reaching out. </a:t>
            </a:r>
            <a:r>
              <a:rPr lang="en-US" b="1" i="1" dirty="0"/>
              <a:t>MitM requirement requires another vulnerability to be exploited to achieve a successful MitM, or a compromised connection</a:t>
            </a:r>
            <a:r>
              <a:rPr lang="en-US" i="1" dirty="0"/>
              <a:t>, or some level of privileges. We also strongly recommend to treat AD Connect server as a domain controller, following hardened security practices</a:t>
            </a:r>
            <a:r>
              <a:rPr lang="en-IL" dirty="0"/>
              <a:t>”</a:t>
            </a:r>
          </a:p>
          <a:p>
            <a:endParaRPr lang="en-IL" dirty="0"/>
          </a:p>
          <a:p>
            <a:r>
              <a:rPr lang="en-IL" dirty="0"/>
              <a:t>Channel Bindings</a:t>
            </a:r>
          </a:p>
          <a:p>
            <a:pPr lvl="1"/>
            <a:r>
              <a:rPr lang="en-IL" dirty="0"/>
              <a:t>MS Acknowledged the issue and replied: : “</a:t>
            </a:r>
            <a:r>
              <a:rPr lang="en-US" i="1" dirty="0"/>
              <a:t>Microsoft has decided that it will not be fixing this vulnerability in the current version and we are closing this case.</a:t>
            </a:r>
            <a:r>
              <a:rPr lang="en-IL" dirty="0"/>
              <a:t>”</a:t>
            </a:r>
          </a:p>
          <a:p>
            <a:endParaRPr lang="en-IL" dirty="0"/>
          </a:p>
          <a:p>
            <a:r>
              <a:rPr lang="en-IL" dirty="0"/>
              <a:t>Kerberos Injection</a:t>
            </a:r>
          </a:p>
          <a:p>
            <a:pPr lvl="1"/>
            <a:r>
              <a:rPr lang="en-US" dirty="0"/>
              <a:t>A few vendors are working on fixing their Kerberos clients – expect updates soon</a:t>
            </a:r>
            <a:r>
              <a:rPr lang="en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3889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Remarks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MITM is not a security boundary (at least for Microsoft)</a:t>
            </a:r>
          </a:p>
          <a:p>
            <a:endParaRPr lang="en-IL" dirty="0"/>
          </a:p>
          <a:p>
            <a:r>
              <a:rPr lang="en-IL" dirty="0"/>
              <a:t>More Technically:</a:t>
            </a:r>
          </a:p>
          <a:p>
            <a:pPr lvl="1"/>
            <a:r>
              <a:rPr lang="en-IL" dirty="0"/>
              <a:t>Securing Protocols from MITM is hard</a:t>
            </a:r>
          </a:p>
          <a:p>
            <a:pPr lvl="1"/>
            <a:r>
              <a:rPr lang="en-IL" dirty="0"/>
              <a:t>Kerberos is </a:t>
            </a:r>
            <a:r>
              <a:rPr lang="en-IL" u="sng" dirty="0"/>
              <a:t>not</a:t>
            </a:r>
            <a:r>
              <a:rPr lang="en-IL" dirty="0"/>
              <a:t> validating DC identity properly</a:t>
            </a:r>
          </a:p>
          <a:p>
            <a:pPr lvl="1"/>
            <a:r>
              <a:rPr lang="en-IL" dirty="0"/>
              <a:t>GSS-API does not guarentee protection from MITM</a:t>
            </a:r>
          </a:p>
        </p:txBody>
      </p:sp>
    </p:spTree>
    <p:extLst>
      <p:ext uri="{BB962C8B-B14F-4D97-AF65-F5344CB8AC3E}">
        <p14:creationId xmlns:p14="http://schemas.microsoft.com/office/powerpoint/2010/main" val="1653078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BA73-7E65-9D4C-ABC6-6A7E97D2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Tips for Defenders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8A89-AE4A-9D4D-93F6-6DE419EF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L" dirty="0"/>
              <a:t>Network Hardening </a:t>
            </a:r>
          </a:p>
          <a:p>
            <a:pPr lvl="1"/>
            <a:r>
              <a:rPr lang="en-IL" dirty="0"/>
              <a:t>Enable server/client signing</a:t>
            </a:r>
          </a:p>
          <a:p>
            <a:pPr lvl="1"/>
            <a:r>
              <a:rPr lang="en-IL" dirty="0"/>
              <a:t>Regularily patch software</a:t>
            </a:r>
          </a:p>
          <a:p>
            <a:pPr lvl="1"/>
            <a:r>
              <a:rPr lang="en-IL" dirty="0"/>
              <a:t>Treat critical servers (e.g., AAD Connect) the same as DC</a:t>
            </a:r>
          </a:p>
          <a:p>
            <a:pPr marL="0" indent="0">
              <a:buNone/>
            </a:pPr>
            <a:endParaRPr lang="en-IL" dirty="0"/>
          </a:p>
          <a:p>
            <a:r>
              <a:rPr lang="en-IL" dirty="0"/>
              <a:t>Kerberos Injection</a:t>
            </a:r>
          </a:p>
          <a:p>
            <a:pPr lvl="1"/>
            <a:r>
              <a:rPr lang="en-IL" dirty="0"/>
              <a:t>Monitor suspiciously registered SPNs</a:t>
            </a:r>
          </a:p>
          <a:p>
            <a:endParaRPr lang="en-IL" dirty="0"/>
          </a:p>
          <a:p>
            <a:r>
              <a:rPr lang="en-IL" dirty="0"/>
              <a:t>Microsoft Recommendation: Avoid being MITM’d… :P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60371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{943612EE-3AE9-C140-83B3-88E760671F84}tf10001070</Template>
  <TotalTime>21280</TotalTime>
  <Words>1749</Words>
  <Application>Microsoft Office PowerPoint</Application>
  <PresentationFormat>Widescreen</PresentationFormat>
  <Paragraphs>359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Adventures in MitM-land</vt:lpstr>
      <vt:lpstr>About Us</vt:lpstr>
      <vt:lpstr>Is MITM an Important Technique?</vt:lpstr>
      <vt:lpstr>NTLM Basics</vt:lpstr>
      <vt:lpstr>Kerberos Basics</vt:lpstr>
      <vt:lpstr>Kerberos vs. NTLM</vt:lpstr>
      <vt:lpstr>NTLM Relay 101</vt:lpstr>
      <vt:lpstr>NTLM Relay over DCE/RPC</vt:lpstr>
      <vt:lpstr>DCE/RPC Relay Mitigation is Broken</vt:lpstr>
      <vt:lpstr>Printer Spooler LPE (CVE-2020-1048)</vt:lpstr>
      <vt:lpstr>CVE-2021-1678</vt:lpstr>
      <vt:lpstr>CVE-2021-1678</vt:lpstr>
      <vt:lpstr>PowerPoint Presentation</vt:lpstr>
      <vt:lpstr>MS15-011</vt:lpstr>
      <vt:lpstr>MS15-011 Explained</vt:lpstr>
      <vt:lpstr>MS Fixes for MS15-011</vt:lpstr>
      <vt:lpstr>Azure AD Connect</vt:lpstr>
      <vt:lpstr>Azure AD Connect MITM Attack</vt:lpstr>
      <vt:lpstr>PowerPoint Presentation</vt:lpstr>
      <vt:lpstr>Kerberos Relay</vt:lpstr>
      <vt:lpstr>Kerberos Relay – Cont.</vt:lpstr>
      <vt:lpstr>Kerberos Relay over TLS</vt:lpstr>
      <vt:lpstr>PowerPoint Presentation</vt:lpstr>
      <vt:lpstr>PowerPoint Presentation</vt:lpstr>
      <vt:lpstr>KDC Spoofing</vt:lpstr>
      <vt:lpstr>KDC Spoofing Protection</vt:lpstr>
      <vt:lpstr>Kerberos Injection</vt:lpstr>
      <vt:lpstr>Kerberos Injection</vt:lpstr>
      <vt:lpstr>DC Selection Process</vt:lpstr>
      <vt:lpstr>Kerberos Injection</vt:lpstr>
      <vt:lpstr>Kerberos Injection</vt:lpstr>
      <vt:lpstr>Kerberos Injection – Attack Scenario</vt:lpstr>
      <vt:lpstr>Kerberos Injection – How to Mitigate?</vt:lpstr>
      <vt:lpstr>PowerPoint Presentation</vt:lpstr>
      <vt:lpstr>Responsible Disclosure</vt:lpstr>
      <vt:lpstr>Closing Remarks</vt:lpstr>
      <vt:lpstr>Tips for Defenders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Adventures in MitM-land</dc:title>
  <dc:creator>Yaron Ziner</dc:creator>
  <cp:lastModifiedBy>Sagi Sheinfeld</cp:lastModifiedBy>
  <cp:revision>146</cp:revision>
  <cp:lastPrinted>2021-07-19T08:49:35Z</cp:lastPrinted>
  <dcterms:created xsi:type="dcterms:W3CDTF">2021-06-29T16:22:23Z</dcterms:created>
  <dcterms:modified xsi:type="dcterms:W3CDTF">2021-07-20T06:49:18Z</dcterms:modified>
</cp:coreProperties>
</file>